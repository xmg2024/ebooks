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3.svg" ContentType="image/svg+xml"/>
  <Override PartName="/ppt/media/image105.svg" ContentType="image/svg+xml"/>
  <Override PartName="/ppt/media/image107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9.svg" ContentType="image/svg+xml"/>
  <Override PartName="/ppt/media/image13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7.svg" ContentType="image/svg+xml"/>
  <Override PartName="/ppt/media/image149.svg" ContentType="image/svg+xml"/>
  <Override PartName="/ppt/media/image15.svg" ContentType="image/svg+xml"/>
  <Override PartName="/ppt/media/image151.svg" ContentType="image/svg+xml"/>
  <Override PartName="/ppt/media/image155.svg" ContentType="image/svg+xml"/>
  <Override PartName="/ppt/media/image157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7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大家好，欢迎参加本次分享。今天我们将深入探讨一个颠覆性的AI Agent——Hermes。在2025年的“龙虾热”之后，我们都意识到“养AI”的潜力，但手动配置的繁琐也成为了瓶颈。Hermes的出现，正是为了解决这个问题。它首次将Harness Engineering理念产品化，实现了从“人给AI造缰绳”到“AI自己给自己造缰绳”的革命性转变。接下来，让我们一起揭开Hermes的神秘面纱，从入门到精通。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首先，我们要明确，Hermes并不是又一个普通的AI Agent。它诞生的背景，是2025年“龙虾热”带来的反思：养AI很酷，但手动造缰绳太痛苦了。Harness Engineering理念应运而生，它主张通过不断添加规则来约束AI。而Hermes，正是这一理念的第一个产品化成果。它把过去需要人手动完成的规则编写、记忆维护等工作全部自动化，让AI能够自我进化。简单来说，OpenClaw是你费心喂养的宠物，而Hermes是能自己成长的伙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让我们用60秒快速了解Hermes的全貌。它的核心是一个不断学习和进化的循环。在技术实现上，它拥有三层记忆系统、能自动创建和改进的Skill系统，以及超过40个内置工具和连接6000多个外部应用的MCP接口。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从数据上看，它发布仅两个月就获得了超过27000颗星，并且可以在每月5美元的VPS上运行。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这张对比表清晰地展示了它与OpenClaw的本质区别：Hermes是一个能够自我进化的系统，而不是一个需要手动配置的框架。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Hermes的基本情况后，我们现在进入第二部分，深入解析它的核心机制。这部分将揭示Hermes为何能够“自己造缰绳”，以及它的智能是如何实现的。我们将重点探讨它的学习循环、记忆系统、用户建模和技能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rmes的核心，就是这个学习循环。它不是简单地记录对话，而是像一个优秀的学生，在每次任务后都会主动复盘、总结经验、优化方法。这个循环包含五个关键环节：策划记忆、创建Skill、Skill自改进、跨会话召回和用户建模。这五个环节形成了一个强大的飞轮效应，让Hermes越用越聪明，越用越懂你。这正是它能够“自己造缰绳”的关键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说学习循环是Hermes的心脏，那么记忆系统就是它的大脑。传统AI的记忆就像金鱼，转头就忘。而Hermes的目标是成为你的老友，它通过三层记忆系统来实现这一点。会话记忆记录发生了什么，持久记忆记住你是谁，而Skill记忆学会了怎么做事。这三层记忆协同工作，比如当你让它部署项目时，它会结合历史问题、你的个人偏好和标准流程来完成任务，真正做到了智能和个性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Hermes的大脑还有一个进阶功能——Honcho用户建模。它不仅仅是记录你的话，更是在分析你的行为，试图理解你这个人。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它会推断你的技术水平、工作节奏、沟通风格，甚至你的情绪模式。比如，如果你是个新手，它会给出更详细的解释；如果你是个专家，它会直接给出结论。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这种深层次的理解，让Hermes的交互体验远超普通AI，真正做到了“比你更了解你自己”。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Hermes的技能系统是其进化能力的关键体现。Skill就是它的做事方法，以简单的Markdown文件形式存在。它的Skill有三个来源：自带的、自己创建的和社区共享的。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最核心的特性是“自改进”，它能根据你的反馈自动优化做事方法。更重要的是，它遵循agentskills.io标准，这意味着你在其他平台积累的技能可以无缝迁移到Hermes，你的能力资产不再被锁定。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如果说记忆和技能是大脑，那么工具就是Hermes的手脚。它内置了超过40种工具，覆盖了从执行代码到信息检索的各种需求。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更强大的是MCP协议，它就像一个万能接口，让Hermes能够轻松连接外部的6000多个应用，比如GitHub和Slack。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同时，通过Toolset机制和沙箱环境，Hermes在强大的同时也保证了安全性，遵循最小权限原则。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对复杂任务，单个Agent可能会遇到上下文爆炸和效率瓶颈。Hermes通过子Agent委派机制解决了这个问题。它可以启动多个子Agent并行工作，每个子Agent负责一部分任务，比如一个调研，一个写代码，一个测试。这种模式不仅提高了效率，还通过为每个子Agent设置受限的工具集，保证了安全性。相比固定的三Agent架构，Hermes的模式更加灵活，是任务驱动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理论部分就到这里。接下来，我们进入第三部分，看看如何快速上手Hermes，并通过一些实践来感受它的强大能力。我们将从安装配置开始，一步步体验它的自动进化、多平台接入等功能。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装Hermes非常简单，主要有三种方式。如果你想快速体验，可以选择本地安装，一条命令即可完成。如果需要隔离环境，Docker是最佳选择。而我最推荐的是第三种方式：花大约5美元一个月，在VPS上部署一个24小时在线的Hermes。这样，无论你在哪里，都能随时连接到你的AI助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安装完成后，你的第一次对话就将见证Hermes的魔力。你只需要像和朋友聊天一样和它对话，比如介绍一下自己，或者让它帮你完成一个小任务。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在你看不到的后台，Hermes正在悄悄地记录你的信息、创建新的技能、并根据你的反馈优化这些技能。整个过程完全自动化，你唯一需要做的就是使用它。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这就是“你不需要配置，只需要用”的核心体验。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为了让你能随时随地连接到Hermes，它提供了强大的多平台接入能力。通过Messaging Gateway，你可以在Telegram、Discord等多个平台上使用同一个Hermes大脑。配置非常简单，以Telegram为例，只需几步就能创建一个属于你自己的AI Bot。结合前面提到的$5 VPS方案，你就可以以极低的成本，拥有一个24小时在线、无处不在的智能助手。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除了让Hermes自己学习，你也可以主动教它新技能。Skill的本质就是一个简单的Markdown文件，你可以用自然语言来定义它的行为。比如，你可以创建一个规范Git Commit信息的Skill。你也可以从社区安装别人分享的Skill，或者将你在其他平台积累的Skill无缝迁移过来。这再次体现了`agentskills.io`标准的价值，让你的能力资产真正属于你自己。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MCP协议的强大之处在于它能轻松连接你的整个工具栈。比如，通过简单的配置，你就可以用自然语言让Hermes帮你操作GitHub，创建Issue或者审查PR。你也可以让它直接查询数据库。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当MCP与Skill结合时，威力更加强大。MCP负责连接工具，Skill负责定义使用工具的标准，两者结合可以实现高度自动化的工作流，比如按照你自定义的标准自动审查代码。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了解了基本操作后，我们来看几个具体的实战场景，看看Hermes在实际工作中能发挥什么样的作用。这部分将涵盖个人知识管理、开发自动化和内容创作等领域。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场景是作为个人知识助手。想象一下，你正在进行一个长达数周的调研项目。使用传统AI，每次对话都要重新介绍背景，非常低效。而Hermes的长期记忆能力让它成为你的完美私人助理。你可以随时中断和继续，它记得你之前讨论过的所有细节，甚至能总结你的调研方法并形成可复用的技能。这种连续性是传统AI无法比拟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场景是开发自动化。Hermes可以扮演一个7x24小时的“管家”角色。比如，每天早上，它可以自动帮你审查新的代码提交，运行测试，甚至生成项目日报。这让开发者可以专注于创造性的工作，而将重复性的后台任务交给Hermes。它与Claude Code这样的交互式编码工具形成了完美互补，一个负责创造，一个负责维护。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第三个场景是持续内容创作。如果你在写一个系列文章，传统AI每次都需要你重新设定风格。而Hermes的记忆系统能记住你的写作偏好，实现无缝衔接。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更强大的是，它可以派多个子Agent并行进行调研，大大提高效率。而且，你对文章的修改意见会被它学习，形成不断进化的写作风格Skill，让你的创作越来越得心应手。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看过了这么多实战场景，我们来到最后一部分：总结与展望。我们将回顾Hermes的核心价值，并探讨自改进Agent带来的一些深层思考。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现在我们来对比一下市面上的几种主流AI Agent工具。Claude Code像一个工匠，擅长实时编码；OpenClaw像一条标准化生产线，适合团队构建统一的Agent；而Hermes则像一个管家，擅长后台自动化和长期任务。它们各有优势，并非互相取代的关系。未来，真正的高手是那些懂得根据不同场景，组合使用这些工具的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Hermes的自改进能力带来了巨大的便利，但也引发了我们的思考：自改进的边界在哪里？从技术上讲，Hermes是可控的，它的改进过程是透明的。但风险可能来自人的惰性，我们可能会过度依赖它而忽略审查。自改进的天花板在于反馈的质量，最终还是需要人来定义目标和方向。因此，最佳状态是人机协作，人负责战略，机器负责优化执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最后，我们来总结一下。Hermes通过自改进学习循环，实现了AI Agent的自主进化。它的三层记忆和Skill系统是智能的核心，而MCP和Gateway则赋予了它强大的连接能力。它特别适合处理需要长期记忆和自主运行的任务。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我强烈建议大家动手尝试，从安装开始，配置一个Telegram Bot，接入一个MCP，真正体验它的魅力。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感谢大家的聆听，现在是问答环节。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再次感谢大家的参与。希望这次分享能帮助大家更好地理解Hermes Agent，并激发大家探索AI Agent更多可能性的兴趣。谢谢！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3.svg"/><Relationship Id="rId13" Type="http://schemas.openxmlformats.org/officeDocument/2006/relationships/image" Target="../media/image22.png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4.sv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jpeg"/><Relationship Id="rId2" Type="http://schemas.openxmlformats.org/officeDocument/2006/relationships/image" Target="../media/image36.sv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47.svg"/><Relationship Id="rId7" Type="http://schemas.openxmlformats.org/officeDocument/2006/relationships/image" Target="../media/image46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45.svg"/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image" Target="../media/image49.svg"/><Relationship Id="rId1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svg"/><Relationship Id="rId7" Type="http://schemas.openxmlformats.org/officeDocument/2006/relationships/image" Target="../media/image62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13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5.sv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svg"/><Relationship Id="rId8" Type="http://schemas.openxmlformats.org/officeDocument/2006/relationships/image" Target="../media/image71.png"/><Relationship Id="rId7" Type="http://schemas.openxmlformats.org/officeDocument/2006/relationships/image" Target="../media/image70.jpeg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36.sv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75.jpeg"/><Relationship Id="rId11" Type="http://schemas.openxmlformats.org/officeDocument/2006/relationships/image" Target="../media/image74.svg"/><Relationship Id="rId10" Type="http://schemas.openxmlformats.org/officeDocument/2006/relationships/image" Target="../media/image73.png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80.svg"/><Relationship Id="rId3" Type="http://schemas.openxmlformats.org/officeDocument/2006/relationships/image" Target="../media/image79.png"/><Relationship Id="rId2" Type="http://schemas.openxmlformats.org/officeDocument/2006/relationships/image" Target="../media/image78.svg"/><Relationship Id="rId1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" Type="http://schemas.openxmlformats.org/officeDocument/2006/relationships/image" Target="../media/image61.svg"/><Relationship Id="rId3" Type="http://schemas.openxmlformats.org/officeDocument/2006/relationships/image" Target="../media/image85.png"/><Relationship Id="rId2" Type="http://schemas.openxmlformats.org/officeDocument/2006/relationships/image" Target="../media/image84.svg"/><Relationship Id="rId1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6.svg"/><Relationship Id="rId7" Type="http://schemas.openxmlformats.org/officeDocument/2006/relationships/image" Target="../media/image93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" Type="http://schemas.openxmlformats.org/officeDocument/2006/relationships/image" Target="../media/image74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png"/><Relationship Id="rId8" Type="http://schemas.openxmlformats.org/officeDocument/2006/relationships/image" Target="../media/image17.svg"/><Relationship Id="rId7" Type="http://schemas.openxmlformats.org/officeDocument/2006/relationships/image" Target="../media/image99.png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96.svg"/><Relationship Id="rId3" Type="http://schemas.openxmlformats.org/officeDocument/2006/relationships/image" Target="../media/image95.png"/><Relationship Id="rId2" Type="http://schemas.openxmlformats.org/officeDocument/2006/relationships/image" Target="../media/image41.svg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3.svg"/><Relationship Id="rId1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7.svg"/><Relationship Id="rId7" Type="http://schemas.openxmlformats.org/officeDocument/2006/relationships/image" Target="../media/image106.png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4" Type="http://schemas.openxmlformats.org/officeDocument/2006/relationships/image" Target="../media/image103.svg"/><Relationship Id="rId3" Type="http://schemas.openxmlformats.org/officeDocument/2006/relationships/image" Target="../media/image102.png"/><Relationship Id="rId2" Type="http://schemas.openxmlformats.org/officeDocument/2006/relationships/image" Target="../media/image55.sv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Relationship Id="rId3" Type="http://schemas.openxmlformats.org/officeDocument/2006/relationships/image" Target="../media/image109.png"/><Relationship Id="rId2" Type="http://schemas.openxmlformats.org/officeDocument/2006/relationships/image" Target="../media/image32.sv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6.svg"/><Relationship Id="rId1" Type="http://schemas.openxmlformats.org/officeDocument/2006/relationships/image" Target="../media/image10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3.svg"/><Relationship Id="rId7" Type="http://schemas.openxmlformats.org/officeDocument/2006/relationships/image" Target="../media/image122.png"/><Relationship Id="rId6" Type="http://schemas.openxmlformats.org/officeDocument/2006/relationships/image" Target="../media/image121.svg"/><Relationship Id="rId5" Type="http://schemas.openxmlformats.org/officeDocument/2006/relationships/image" Target="../media/image120.png"/><Relationship Id="rId4" Type="http://schemas.openxmlformats.org/officeDocument/2006/relationships/image" Target="../media/image5.svg"/><Relationship Id="rId3" Type="http://schemas.openxmlformats.org/officeDocument/2006/relationships/image" Target="../media/image119.png"/><Relationship Id="rId2" Type="http://schemas.openxmlformats.org/officeDocument/2006/relationships/image" Target="../media/image118.svg"/><Relationship Id="rId13" Type="http://schemas.openxmlformats.org/officeDocument/2006/relationships/notesSlide" Target="../notesSlides/notesSlide1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6.jpeg"/><Relationship Id="rId10" Type="http://schemas.openxmlformats.org/officeDocument/2006/relationships/image" Target="../media/image125.svg"/><Relationship Id="rId1" Type="http://schemas.openxmlformats.org/officeDocument/2006/relationships/image" Target="../media/image117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png"/><Relationship Id="rId8" Type="http://schemas.openxmlformats.org/officeDocument/2006/relationships/image" Target="../media/image133.svg"/><Relationship Id="rId7" Type="http://schemas.openxmlformats.org/officeDocument/2006/relationships/image" Target="../media/image132.png"/><Relationship Id="rId6" Type="http://schemas.openxmlformats.org/officeDocument/2006/relationships/image" Target="../media/image131.svg"/><Relationship Id="rId5" Type="http://schemas.openxmlformats.org/officeDocument/2006/relationships/image" Target="../media/image130.png"/><Relationship Id="rId4" Type="http://schemas.openxmlformats.org/officeDocument/2006/relationships/image" Target="../media/image129.svg"/><Relationship Id="rId3" Type="http://schemas.openxmlformats.org/officeDocument/2006/relationships/image" Target="../media/image128.png"/><Relationship Id="rId2" Type="http://schemas.openxmlformats.org/officeDocument/2006/relationships/image" Target="../media/image53.sv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36.jpeg"/><Relationship Id="rId10" Type="http://schemas.openxmlformats.org/officeDocument/2006/relationships/image" Target="../media/image135.svg"/><Relationship Id="rId1" Type="http://schemas.openxmlformats.org/officeDocument/2006/relationships/image" Target="../media/image1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6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png"/><Relationship Id="rId8" Type="http://schemas.openxmlformats.org/officeDocument/2006/relationships/image" Target="../media/image41.svg"/><Relationship Id="rId7" Type="http://schemas.openxmlformats.org/officeDocument/2006/relationships/image" Target="../media/image94.png"/><Relationship Id="rId6" Type="http://schemas.openxmlformats.org/officeDocument/2006/relationships/image" Target="../media/image125.svg"/><Relationship Id="rId5" Type="http://schemas.openxmlformats.org/officeDocument/2006/relationships/image" Target="../media/image124.png"/><Relationship Id="rId4" Type="http://schemas.openxmlformats.org/officeDocument/2006/relationships/image" Target="../media/image138.svg"/><Relationship Id="rId3" Type="http://schemas.openxmlformats.org/officeDocument/2006/relationships/image" Target="../media/image137.png"/><Relationship Id="rId2" Type="http://schemas.openxmlformats.org/officeDocument/2006/relationships/image" Target="../media/image96.svg"/><Relationship Id="rId16" Type="http://schemas.openxmlformats.org/officeDocument/2006/relationships/notesSlide" Target="../notesSlides/notesSlide2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44.svg"/><Relationship Id="rId13" Type="http://schemas.openxmlformats.org/officeDocument/2006/relationships/image" Target="../media/image143.png"/><Relationship Id="rId12" Type="http://schemas.openxmlformats.org/officeDocument/2006/relationships/image" Target="../media/image142.svg"/><Relationship Id="rId11" Type="http://schemas.openxmlformats.org/officeDocument/2006/relationships/image" Target="../media/image141.png"/><Relationship Id="rId10" Type="http://schemas.openxmlformats.org/officeDocument/2006/relationships/image" Target="../media/image140.svg"/><Relationship Id="rId1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1.svg"/><Relationship Id="rId7" Type="http://schemas.openxmlformats.org/officeDocument/2006/relationships/image" Target="../media/image150.png"/><Relationship Id="rId6" Type="http://schemas.openxmlformats.org/officeDocument/2006/relationships/image" Target="../media/image149.svg"/><Relationship Id="rId5" Type="http://schemas.openxmlformats.org/officeDocument/2006/relationships/image" Target="../media/image148.png"/><Relationship Id="rId4" Type="http://schemas.openxmlformats.org/officeDocument/2006/relationships/image" Target="../media/image147.svg"/><Relationship Id="rId3" Type="http://schemas.openxmlformats.org/officeDocument/2006/relationships/image" Target="../media/image146.png"/><Relationship Id="rId2" Type="http://schemas.openxmlformats.org/officeDocument/2006/relationships/image" Target="../media/image63.svg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14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3.png"/><Relationship Id="rId8" Type="http://schemas.openxmlformats.org/officeDocument/2006/relationships/image" Target="../media/image92.svg"/><Relationship Id="rId7" Type="http://schemas.openxmlformats.org/officeDocument/2006/relationships/image" Target="../media/image91.png"/><Relationship Id="rId6" Type="http://schemas.openxmlformats.org/officeDocument/2006/relationships/image" Target="../media/image59.svg"/><Relationship Id="rId5" Type="http://schemas.openxmlformats.org/officeDocument/2006/relationships/image" Target="../media/image152.png"/><Relationship Id="rId4" Type="http://schemas.openxmlformats.org/officeDocument/2006/relationships/image" Target="../media/image131.svg"/><Relationship Id="rId3" Type="http://schemas.openxmlformats.org/officeDocument/2006/relationships/image" Target="../media/image130.png"/><Relationship Id="rId20" Type="http://schemas.openxmlformats.org/officeDocument/2006/relationships/notesSlide" Target="../notesSlides/notesSlide24.xml"/><Relationship Id="rId2" Type="http://schemas.openxmlformats.org/officeDocument/2006/relationships/image" Target="../media/image80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57.svg"/><Relationship Id="rId17" Type="http://schemas.openxmlformats.org/officeDocument/2006/relationships/image" Target="../media/image156.png"/><Relationship Id="rId16" Type="http://schemas.openxmlformats.org/officeDocument/2006/relationships/image" Target="../media/image140.svg"/><Relationship Id="rId15" Type="http://schemas.openxmlformats.org/officeDocument/2006/relationships/image" Target="../media/image139.png"/><Relationship Id="rId14" Type="http://schemas.openxmlformats.org/officeDocument/2006/relationships/image" Target="../media/image155.svg"/><Relationship Id="rId13" Type="http://schemas.openxmlformats.org/officeDocument/2006/relationships/image" Target="../media/image154.png"/><Relationship Id="rId12" Type="http://schemas.openxmlformats.org/officeDocument/2006/relationships/image" Target="../media/image125.svg"/><Relationship Id="rId11" Type="http://schemas.openxmlformats.org/officeDocument/2006/relationships/image" Target="../media/image124.png"/><Relationship Id="rId10" Type="http://schemas.openxmlformats.org/officeDocument/2006/relationships/image" Target="../media/image43.svg"/><Relationship Id="rId1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9.png"/><Relationship Id="rId1" Type="http://schemas.openxmlformats.org/officeDocument/2006/relationships/image" Target="../media/image15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Agent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115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从入门到精通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127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HARNESS ENGINEERING 的首次产品化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48895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2026.04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不是又一个Agent — Harness Engineering的首次产品化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1625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58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背景：从「养虾」到「造缰」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2025年OpenClaw热潮让“养AI”流行，但手动编写SOUL.md与维护记忆成为瓶颈。核心痛点已不再是模型能力，而是如何</a:t>
            </a:r>
            <a:r>
              <a:rPr lang="en-US" sz="11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有效约束和引导AI的行为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270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1524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1625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158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Harness Engineering 理念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222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由Terraform之父Mitchell Hashimoto提出。核心逻辑：</a:t>
            </a:r>
            <a:r>
              <a:rPr lang="en-US" sz="11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“每次AI犯错，就加一条规则”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，让AI永远不再重复同一错误，为AI打造可进化的“缰绳”。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270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82000" y="15240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3600" y="1625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158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Hermes：理念的首次产品化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2225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将手动的规则编写、记忆维护、反馈循环全部自动化。实现了从</a:t>
            </a:r>
            <a:r>
              <a:rPr lang="en-US" sz="11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“人给AI造缰绳”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到</a:t>
            </a:r>
            <a:r>
              <a:rPr lang="en-US" sz="11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“AI自己给自己造缰绳”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的范式转变。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937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4127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206500" y="4254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OpenClaw：人工驱动的「静态配置」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206500" y="4635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“配置即行为”，完全依赖用户编写SOUL.md定义一切，维护成本随复杂度指数级上升。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275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13500" y="4254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Hermes：自主进化的「动态机制」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13500" y="4635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内置自主后台与自改进循环，Agent在实际使用中自动学习规则、进化能力，实现系统的持续自我优化。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778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524000" y="5715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“龙虾热教会了我们AI可以是‘养出来的’，但痛点在于缰绳全得自己造。Hermes的思路是：把缰绳焊进出厂设置，并让缰绳随着AI的成长</a:t>
            </a:r>
            <a:r>
              <a:rPr lang="en-US" sz="1100" b="1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自己长大</a:t>
            </a:r>
            <a:r>
              <a:rPr lang="en-US" sz="1100" b="0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。”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Agent全景速览（60秒看懂）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254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587500"/>
            <a:ext cx="152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27k+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GitHub Stars (发布仅2月)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1397000"/>
            <a:ext cx="254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0000" y="1587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445000" y="1587500"/>
            <a:ext cx="152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40+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10000" y="2159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内置原生工具 (开箱即用)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048000"/>
            <a:ext cx="254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238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238500"/>
            <a:ext cx="152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12+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3810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支持多端平台 (广泛适配)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3048000"/>
            <a:ext cx="254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0000" y="3238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445000" y="3238500"/>
            <a:ext cx="152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6k+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810000" y="3810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MCP可接入第三方应用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254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889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4889500"/>
            <a:ext cx="152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$5/月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46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最低VPS部署运行成本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556000" y="4699000"/>
            <a:ext cx="2540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10000" y="4889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445000" y="4889500"/>
            <a:ext cx="152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MIT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810000" y="5461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完全开源免费协议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1397000"/>
            <a:ext cx="5080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04000" y="1587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核心差异：Hermes Agent vs OpenClaw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2095500"/>
            <a:ext cx="2159000" cy="1905000"/>
          </a:xfrm>
          <a:prstGeom prst="roundRect">
            <a:avLst>
              <a:gd name="adj" fmla="val 5333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731000" y="2222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(自进化)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731000" y="26670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核心理念：自改进学习循环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记忆系统：三层动态演进记忆</a:t>
            </a:r>
            <a:endParaRPr lang="en-US" sz="11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技能维护：Agent自动创建/迭代</a:t>
            </a:r>
            <a:endParaRPr lang="en-US" sz="11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890000" y="2095500"/>
            <a:ext cx="2159000" cy="1905000"/>
          </a:xfrm>
          <a:prstGeom prst="roundRect">
            <a:avLst>
              <a:gd name="adj" fmla="val 533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017000" y="2222500"/>
            <a:ext cx="190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OpenClaw (配置化)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017000" y="26670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核心理念：SOUL.md 配置即行为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记忆系统：单一、扁平的功能记忆</a:t>
            </a:r>
            <a:endParaRPr lang="en-US" sz="11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技能维护：完全依赖人工编写</a:t>
            </a:r>
            <a:endParaRPr lang="en-US" sz="11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350000" y="4572000"/>
            <a:ext cx="5080000" cy="1524000"/>
          </a:xfrm>
          <a:prstGeom prst="roundRect">
            <a:avLst>
              <a:gd name="adj" fmla="val 1000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48260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175500" y="48260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1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“一句话区分：OpenClaw是你养出来的龙虾，Hermes是自己会长大的龙虾。一个靠你用心喂养，一个靠自己从经验中不断学习进化。”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PART 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核心机制深度解析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CORE MECHANISM ANALYSIS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学习循环——Agent自己造缰绳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68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最核心的特性，一个持续改进的闭环机制，让 Agent 在实践中不断沉淀经验，实现“越用越好用”的智能进化。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6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1968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68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策划记忆 (Episodic)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41400" y="254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对话结束后主动筛选关键信息存入记忆库，拒绝被动堆积无意义的历史记录。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6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4400" y="1968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1968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创建Skill (Procedural)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24400" y="254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完成复杂任务后，自动将解决方案提炼为结构化、可复用的 Skill 工具文件。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96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7400" y="1968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1968500"/>
            <a:ext cx="228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 自改进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407400" y="2540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基于用户的实时反馈与执行结果，自动迭代、优化现有的 Skill 文件逻辑。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24000" y="3683000"/>
            <a:ext cx="444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524000" y="38735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3400" y="3937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413000" y="3873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FTS5 跨会话精准召回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413000" y="42926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新对话启动时，利用全文索引技术，根据当前话题动态检索历史记忆，实现上下文的长程关联。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3683000"/>
            <a:ext cx="4445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38735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2400" y="3937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12000" y="3873500"/>
            <a:ext cx="317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用户建模 (User Modeling)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112000" y="42926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Honcho 系统，持续分析用户行为数据，推理并构建用户的偏好、习惯与深层目标画像。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65F4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飞轮效应：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记忆喂养 Skill，Skill 产生新记忆，记忆触发改进，改进提升结果，结果优化建模。五个环节相互促进，形成正向增强闭环。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622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75757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“传统AI工具的记忆是录像带，Hermes的记忆是经验的笔记本。”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大脑：三层记忆系统（从金鱼到老友）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825500"/>
          </a:xfrm>
          <a:prstGeom prst="roundRect">
            <a:avLst>
              <a:gd name="adj" fmla="val 18461"/>
            </a:avLst>
          </a:prstGeom>
          <a:solidFill>
            <a:srgbClr val="ECFDF5">
              <a:alpha val="100000"/>
            </a:srgbClr>
          </a:solidFill>
          <a:ln cap="flat" cmpd="sng">
            <a:solidFill>
              <a:srgbClr val="BDE4D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397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333500"/>
            <a:ext cx="952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记忆的挑战：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传统AI记忆如“金鱼”般易遗忘、上下文易溢出。好的系统核心在于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“找得准”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，而非单纯的“存得多”。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t="27074" b="27075"/>
          <a:stretch>
            <a:fillRect/>
          </a:stretch>
        </p:blipFill>
        <p:spPr>
          <a:xfrm>
            <a:off x="1016000" y="2286000"/>
            <a:ext cx="10160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62000" y="3492500"/>
            <a:ext cx="3302000" cy="1460500"/>
          </a:xfrm>
          <a:prstGeom prst="roundRect">
            <a:avLst>
              <a:gd name="adj" fmla="val 139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46500"/>
            <a:ext cx="558800" cy="558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683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会话记忆 (Episodic)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回答“发生了什么？”。存储全量对话内容，利用FTS5索引实现海量历史的快速检索。</a:t>
            </a:r>
            <a:endParaRPr lang="en-US" sz="11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3492500"/>
            <a:ext cx="3302000" cy="1460500"/>
          </a:xfrm>
          <a:prstGeom prst="roundRect">
            <a:avLst>
              <a:gd name="adj" fmla="val 139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374650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3683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持久记忆 (Semantic)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回答“你是谁？”。提炼并存储用户偏好、项目背景等长效信息，构建用户画像。</a:t>
            </a:r>
            <a:endParaRPr lang="en-US" sz="11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3492500"/>
            <a:ext cx="3302000" cy="1460500"/>
          </a:xfrm>
          <a:prstGeom prst="roundRect">
            <a:avLst>
              <a:gd name="adj" fmla="val 1391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374650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3683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Skill记忆 (Procedural)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回答“怎么做事？”。以Markdown文件存储标准SOP、方法论，提供可执行的操作指引。</a:t>
            </a:r>
            <a:endParaRPr lang="en-US" sz="11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10668000" cy="1206500"/>
          </a:xfrm>
          <a:prstGeom prst="roundRect">
            <a:avLst>
              <a:gd name="adj" fmla="val 12631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334000"/>
            <a:ext cx="1016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▎ 协作实战：当用户说“帮我部署这个项目”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715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会话层：</a:t>
            </a:r>
            <a:r>
              <a:rPr lang="en-US" sz="1100" b="0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检索到“上次部署遇到端口冲突”的历史上下文。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5715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持久层：</a:t>
            </a:r>
            <a:r>
              <a:rPr lang="en-US" sz="1100" b="0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关联到“用户使用阿里云ECS + Nginx”的技术栈偏好。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74000" y="5715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Skill层：</a:t>
            </a:r>
            <a:r>
              <a:rPr lang="en-US" sz="1100" b="0" i="0" u="none" strike="noStrike">
                <a:solidFill>
                  <a:srgbClr val="E5E7E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自动加载 `deployment-checklist` 技能包，按标准步骤执行。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大脑进阶：Honcho用户建模（比你更了解你自己）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9525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762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3716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一个可选的外挂系统，实现“辩证用户建模”。它不只是简单记录用户的输入，而是深度分析用户行为数据，从中推理出更深层次的人格特征与行为模式。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616200"/>
            <a:ext cx="736600" cy="736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0300" y="2794000"/>
            <a:ext cx="381000" cy="381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603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技术水平洞察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905000" y="298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基于代码交互的深度与模式，精准推断用户处于新手、中级还是专家阶段。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886200"/>
            <a:ext cx="736600" cy="736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0300" y="40640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3873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工作节奏分析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425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长期跟踪用户的活跃时间段与任务间隔，总结并适应其独特的工作习惯与节律。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5156200"/>
            <a:ext cx="736600" cy="736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53340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5143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沟通风格偏好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905000" y="552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判断用户是偏好开门见山的直接结论，还是需要详尽的步骤解释与背景铺垫。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2413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2616200"/>
            <a:ext cx="736600" cy="736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1300" y="27940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2603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潜在目标预判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66000" y="298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串联用户的历史任务序列，智能推断用户当前可能正在进行的项目类型与阶段。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3683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13500" y="3886200"/>
            <a:ext cx="736600" cy="736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1300" y="4064000"/>
            <a:ext cx="381000" cy="381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66000" y="3873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情绪模式感知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66000" y="425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敏锐捕捉代码报错时的反馈语气，实时调整后续的沟通策略，提供更具温度的帮助。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223000" y="4953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413500" y="5156200"/>
            <a:ext cx="736600" cy="736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0" y="5334000"/>
            <a:ext cx="381000" cy="381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366000" y="5143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言行矛盾洞察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366000" y="5524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记录并分析用户“口头期望”与“实际行为”的差异（如说要写注释却从不写），从而提供更贴合真实需求的建议。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技能：会自我进化的Skill系统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762000" cy="762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18415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65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 是什么？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159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记录 Agent 完成任务的程序性记忆，以独立的 Markdown 文件形式，持久化存储在本地目录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~/.hermes/skills/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中。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651000"/>
            <a:ext cx="762000" cy="762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841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1651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 的三大来源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93000" y="2159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Bundled: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安装自带的 40+ 预置核心能力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Self-created: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完成复杂任务后自动提炼生成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Skills Hub: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开发者社区共享的扩展技能包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3683000"/>
            <a:ext cx="762000" cy="762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38735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368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核心特性：自我进化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4191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基于用户反馈闭环更新：执行 → 反馈 → 优化 → 复用。区别于传统静态脚本，Hermes Skill 是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“活的”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能力，随使用经验自动迭代。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429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3683000"/>
            <a:ext cx="762000" cy="762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8735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368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统一标准：agentskills.io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4191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 的通用互操作语言，打破平台壁垒。你在 Claude Code 编写的 Skill，可无缝迁移至 Hermes，让能力资产真正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“为你所有”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101600" cy="1016000"/>
          </a:xfrm>
          <a:prstGeom prst="roundRect">
            <a:avLst>
              <a:gd name="adj" fmla="val 1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143000" y="5461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“OpenClaw 的 Skill 需要你手动写、手动维护。而 Hermes 的 Skill 会自己长出来，并且在使用过程中，还会根据你的反馈自己变得更好。”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手脚：工具集与MCP协议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812800" cy="8128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1854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65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内置工具集 (40+)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159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覆盖执行、信息、媒体、记忆、协调五大类。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亮点：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session_search(跨会话检索) / moa(多模型推理) / cronjob(自然语言定时)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651000"/>
            <a:ext cx="812800" cy="8128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1854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165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Toolset 动态机制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93000" y="2159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config.yaml 按需启用/禁用工具组，实现 Agent 能力的精确控制。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优势：减少注意力分散、提升运行速度、构建安全权限边界。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000500"/>
            <a:ext cx="812800" cy="8128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42037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32000" y="3937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MCP 模型上下文协议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4445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AI工具世界的“USB接口”，无需定制开发即可快速接入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6000+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外部应用 (GitHub/Slack/Jira)。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683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000500"/>
            <a:ext cx="812800" cy="8128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0200" y="42037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3937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多重安全防护体系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4445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① 粗粒度 Toolset 开关控制 ② 代码沙箱隔离运行环境 ③ 子 Agent 权限精确管控。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842000"/>
            <a:ext cx="381000" cy="381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651000" y="57150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0596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“Agent 再聪明，没有工具也干不了实事。工具集与 MCP 协议共同构成了 Agent 强大的‘手脚’。”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协作：子Agent委派与多Agent编排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76200" cy="8890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4859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397000"/>
            <a:ext cx="927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为什么需要多Agent？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解决单Agent面临的“上下文爆炸”信息过载问题，以及复杂任务下的“时间瓶颈”效率低下问题。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▍ delegate_task 核心机制与场景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1115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302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175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并发与隔离特性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支持启动3个并发子Agent，各拥有独立上下文、受限工具集及独立终端会话，互不干扰。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38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2545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最小权限安全设计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为子Agent分配受限工具集，是核心安全机制，有效防止权限滥用。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 l="10277" r="10277"/>
          <a:stretch>
            <a:fillRect/>
          </a:stretch>
        </p:blipFill>
        <p:spPr>
          <a:xfrm>
            <a:off x="1016000" y="5207000"/>
            <a:ext cx="469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223000" y="2413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603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▍ 主流架构模式对比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3111500"/>
            <a:ext cx="4699000" cy="825500"/>
          </a:xfrm>
          <a:prstGeom prst="roundRect">
            <a:avLst>
              <a:gd name="adj" fmla="val 12307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302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3175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Anthropic 三Agent架构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固定角色（规划/执行/评估），严格的链式传递，结构固定。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0640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2926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41275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灵活编排模式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任务驱动，角色动态分配，采用星形结构，支持多任务并行执行，灵活性更高。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rcRect l="5755" r="5755"/>
          <a:stretch>
            <a:fillRect/>
          </a:stretch>
        </p:blipFill>
        <p:spPr>
          <a:xfrm>
            <a:off x="6477000" y="5207000"/>
            <a:ext cx="4699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第三部分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spc="400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快速上手与实践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800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GETTING STARTED &amp; PRACTICE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安装与配置：三种方式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1803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01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方式一：本地安装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1082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5分钟极速上手体验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143000" y="2794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curl -fsSL https://raw.githubusercontent.com/NousResearch/hermes-agent/main/scripts/install.sh | bash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06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安装完成后，编辑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~/.hermes/config.yaml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填入 LLM API Key，终端执行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即可启动。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1651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400" y="1803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1701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方式二：Docker部署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21082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环境隔离 · 数据持久化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2667000"/>
            <a:ext cx="2794000" cy="1270000"/>
          </a:xfrm>
          <a:prstGeom prst="roundRect">
            <a:avLst>
              <a:gd name="adj" fmla="val 8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826000" y="2794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docker pull nousresearch/hermes-agent:latest</a:t>
            </a:r>
            <a:br>
              <a:rPr lang="en-US" sz="10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0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docker run -v ~/.hermes:/opt/data ...:latest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0" y="4191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核心参数</a:t>
            </a:r>
            <a:r>
              <a:rPr lang="en-US" sz="12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-v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将宿主机配置目录映射至容器内，确保重启后配置与数据不丢失。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1397000"/>
            <a:ext cx="3302000" cy="4826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1651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0" y="1803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144000" y="17018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方式三：VPS 云端运行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2108200"/>
            <a:ext cx="203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$5/月 · 24/7 随时在线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2667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509000" y="2794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推荐：Hetzner CX22 ($4/月) 或 DigitalOcean Droplet ($5/月)。安装过程与本地一致。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3937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572500" y="4127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1" u="none" strike="noStrike">
                <a:solidFill>
                  <a:srgbClr val="0596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“一杯咖啡的钱，换一个24小时在线、随叫随到的AI助手。”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82000" y="533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内存占用极低 (&lt; 500MB)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第一次对话：见证自动进化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556000" cy="4826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交互过程：自然对话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无需任何繁琐的配置步骤，用户只需进行简单的自我介绍、描述个人偏好，或下达具体任务，即可开启对话。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810000"/>
            <a:ext cx="3048000" cy="1651000"/>
          </a:xfrm>
          <a:prstGeom prst="roundRect">
            <a:avLst>
              <a:gd name="adj" fmla="val 923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10B981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06500" y="4064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核心体验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06500" y="45720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“你不需要配置</a:t>
            </a:r>
            <a:b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只需要用”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99000" y="1397000"/>
            <a:ext cx="6731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953000" y="1651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1841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096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记忆写入：构建专属知识库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2032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后台自动将用户的自我介绍写入会话记忆，并提炼关键偏好信息持久化存储，为后续的个性化交互建立认知基础。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048000"/>
            <a:ext cx="6731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953000" y="3302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3500" y="3492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096000" y="3238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02. Skill 创建：任务逻辑自动沉淀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3683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当完成复杂任务（如“Markdown转公众号HTML”）时，系统会自动生成对应的Skill文件，将一次性的执行逻辑固化为可复用的能力。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0" y="4699000"/>
            <a:ext cx="6731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953000" y="4953000"/>
            <a:ext cx="889000" cy="889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43500" y="5143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096000" y="4889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03. Skill 自改进：反馈驱动持续进化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096000" y="5334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若用户对结果提出修改意见，Hermes在修正输出结果的同时，会同步更新对应的Skill文件，让能力随着每一次交互不断迭代优化。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多平台接入：随时随地连接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3800" y="1828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778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核心：统一网关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794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引入 Messaging Gateway 统一进程，打破平台壁垒，让 Telegram、Discord 等所有端共享同一个 Hermes 智能大脑。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6510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6800" y="18288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88000" y="1778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首选：Telegram Bot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540000"/>
            <a:ext cx="2794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2794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 对话 @BotFather 创建 Bot 并获取 Token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 在 config.yaml 中配置 gateway.telegram.token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3. 重启 Hermes，手机端即刻交互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397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1651000"/>
            <a:ext cx="711200" cy="7112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800" y="18288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71000" y="1778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低成本部署方案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540000"/>
            <a:ext cx="2794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382000" y="2794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运行环境：$5/月 VPS (核心+网关)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交互入口：Telegram / Discord / Slack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 大模型：OpenRouter / Ollama 后端支持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699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143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778000" y="4953000"/>
            <a:ext cx="927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整套成本仅需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VPS $5/月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+ 模型调用费(轻度使用约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$2-5/月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)。这不到一杯精品咖啡的价格，就能让你拥有一个</a:t>
            </a:r>
            <a:r>
              <a:rPr lang="en-US" sz="1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有记忆、有能力、24小时在线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的跨平台 AI 私人助手。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自定义Skill：教Hermes新技能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76200" cy="17780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714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 的本质：简单的定义文件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286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 并非复杂的代码，而是一个简单的 Markdown 文件。你可以直接使用自然语言来描述和定义 Agent 的具体行为规则。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76200" cy="17780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14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手动创建：Git Commit Style 示例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66000" y="2286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 `~/.hermes/skills/` 目录下新建 `git-commit-style.md`，定义触发条件与行为。保存后 Hermes 会自动识别并激活该技能。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556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3556000"/>
            <a:ext cx="76200" cy="17780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3873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05000" y="387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社区安装：一键获取他人经验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05000" y="4445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直接在对话中询问“有什么可用的社区 Skill？”，浏览后告诉 Hermes “安装 XX Skill”，即可完成一键部署，复用社区智慧。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556000"/>
            <a:ext cx="5207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3556000"/>
            <a:ext cx="76200" cy="17780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873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387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无缝迁移：跨平台能力复用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366000" y="4445000"/>
            <a:ext cx="368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 `agentskills.io` 通用标准，你在 Claude Code、Cursor 等平台积累的 Skill 文件，可直接复制到 Hermes 目录使用。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6515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8928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651000" y="5816600"/>
            <a:ext cx="952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“Skill 不再是某个 Agent 的专属资产。你在 Claude Code、Cursor、Gemini CLI 里积累的 Skill，在 Hermes 里可以直接复用，真正实现能力资产私有化。”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MCP集成：连接你的工具栈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778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752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实战：接入 GitHub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035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 生成具有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repo权限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 Personal Access Token。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 在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config.yaml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中配置 MCP Server。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3. 即可用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自然语言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操作 Issue 与 PR。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0" y="1651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1778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1752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实战：接入数据库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4699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99000" y="26035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 在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config.yaml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中配置 PG Server 及连接串。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 直接使用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自然语言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进行复杂数据查询。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例：“查一下这个月注册用户的总数”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1397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16510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1778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1752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MCP + Skill 组合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626">
            <a:off x="8382014" y="2406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82000" y="26035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MCP：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解决“能连什么” (连接外部工具)。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解决“怎么用” (定义使用标准)。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结合：实现高度自动化的自定义工作流。</a:t>
            </a:r>
            <a:endParaRPr lang="en-US" sz="12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4826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826000"/>
            <a:ext cx="76200" cy="1397000"/>
          </a:xfrm>
          <a:prstGeom prst="roundRect">
            <a:avLst>
              <a:gd name="adj" fmla="val 20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5143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905000" y="5080000"/>
            <a:ext cx="901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“MCP让Hermes接入GitHub、数据库、Slack、Jira等6000多个外部服务，无需编写任何适配代码，真正实现了用自然语言统一操作整个工具栈。”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PART 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048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42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实战场景应用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444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PRACTICAL SCENARIO APPLICATION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实战一：个人知识助手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905000" y="1651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AI Agent 部署方案调研场景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2032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针对持续数周的技术方案调研工作，需要对大量信息进行整合、对比与排除。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14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66000" y="1651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9E0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传统 AI 的低效痛点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66000" y="2032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每次开启新对话，都需要花费大量时间重新铺垫上下文，历史信息无法延续。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175000"/>
            <a:ext cx="33782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34290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启动成本为零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393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直接说“继续看Serverless方案”，无需重复解释背景，即刻进入工作状态。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94200" y="3175000"/>
            <a:ext cx="33782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8200" y="3429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410200" y="34290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调研具备连续性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10200" y="393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记忆系统会自动留存已排除方案与确认信息，彻底避免重复的信息检索工作。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26400" y="3175000"/>
            <a:ext cx="33782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80400" y="3429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42400" y="34290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方法论持续成长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42400" y="393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调研过程中总结的分析框架会被存为 Skill，沉淀为资产供后续项目复用。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397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1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“传统AI像旅馆前台，每天换人，你每次都得重新自我介绍。Hermes像你的私人助理，认识你三个月了，知道你喜欢喝美式、讨厌写周报、最近在调研什么项目。”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实战二：开发自动化流水线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1600" cy="889000"/>
          </a:xfrm>
          <a:prstGeom prst="roundRect">
            <a:avLst>
              <a:gd name="adj" fmla="val 1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1397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应用场景：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开发者的早晨，Hermes 自动完成代码审查、测试监控、报告汇总等多项后台任务，释放研发创造力。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自动化流程核心环节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699000" cy="571500"/>
          </a:xfrm>
          <a:prstGeom prst="roundRect">
            <a:avLst>
              <a:gd name="adj" fmla="val 1777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149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073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自动代码审查：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Cron定时触发，按Skill标准自动审查新PR代码质量。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4699000" cy="571500"/>
          </a:xfrm>
          <a:prstGeom prst="roundRect">
            <a:avLst>
              <a:gd name="adj" fmla="val 1777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37846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708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自动测试与监控：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自动生成测试用例，实时监控CI流水线执行状态。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18000"/>
            <a:ext cx="4699000" cy="571500"/>
          </a:xfrm>
          <a:prstGeom prst="roundRect">
            <a:avLst>
              <a:gd name="adj" fmla="val 1777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4196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4343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自动报告汇总：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基于活动日志生成项目日报/周报，同步团队进展。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413000"/>
            <a:ext cx="4953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2603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人机协作分工模式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048000"/>
            <a:ext cx="4445000" cy="825500"/>
          </a:xfrm>
          <a:prstGeom prst="roundRect">
            <a:avLst>
              <a:gd name="adj" fmla="val 15384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213100"/>
            <a:ext cx="482600" cy="482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366000" y="31496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Claude Code · 工匠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0A5F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负责实时交互、逻辑编写，专注创造性代码工作。</a:t>
            </a:r>
            <a:endParaRPr lang="en-US" sz="1100" b="0" i="0" u="none" strike="noStrike">
              <a:solidFill>
                <a:srgbClr val="60A5FA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4000500"/>
            <a:ext cx="4445000" cy="825500"/>
          </a:xfrm>
          <a:prstGeom prst="roundRect">
            <a:avLst>
              <a:gd name="adj" fmla="val 15384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4165600"/>
            <a:ext cx="482600" cy="482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66000" y="41021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· 管家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34D39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负责后台巡检、流程监控、报告汇总，处理重复任务。</a:t>
            </a:r>
            <a:endParaRPr lang="en-US" sz="1100" b="0" i="0" u="none" strike="noStrike">
              <a:solidFill>
                <a:srgbClr val="34D399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62000" y="5588000"/>
            <a:ext cx="10414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rcRect t="19509" b="19509"/>
          <a:stretch>
            <a:fillRect/>
          </a:stretch>
        </p:blipFill>
        <p:spPr>
          <a:xfrm>
            <a:off x="889000" y="5651500"/>
            <a:ext cx="10160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实战三：持续内容创作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4318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18034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65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核心应用场景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159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针对AI Agent相关的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系列长文创作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需求，解决长篇连载过程中的风格统一与素材复用难题。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4318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810000"/>
            <a:ext cx="609600" cy="609600"/>
          </a:xfrm>
          <a:prstGeom prst="ellipse">
            <a:avLst/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3962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810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传统AI写作痛点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318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每次生成都需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重新定义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文章风格与读者画像，无法继承历史对话中的修改偏好，导致创作效率低下。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461000" y="139700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智能解决方案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461000" y="2032000"/>
            <a:ext cx="1841500" cy="19050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2286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715000" y="29210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全流程记忆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715000" y="3302000"/>
            <a:ext cx="146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自动留存系列定位与风格偏好，实现无缝衔接创作。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29500" y="2032000"/>
            <a:ext cx="1841500" cy="19050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3500" y="2286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83500" y="29210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多Agent并行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83500" y="3302000"/>
            <a:ext cx="146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同时派多个子Agent调研不同维度，大幅缩短耗时。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398000" y="2032000"/>
            <a:ext cx="1841500" cy="19050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2000" y="2286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652000" y="2921000"/>
            <a:ext cx="146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技能自动进化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3302000"/>
            <a:ext cx="146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将审校反馈转化为Skill，写作风格随反馈持续优化。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461000" y="4191000"/>
            <a:ext cx="5969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rcRect l="18309" r="18309"/>
          <a:stretch>
            <a:fillRect/>
          </a:stretch>
        </p:blipFill>
        <p:spPr>
          <a:xfrm>
            <a:off x="5588000" y="4318000"/>
            <a:ext cx="5715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PART 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SUMMARY AND OUTLOOK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5207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工具对比：Hermes vs OpenClaw vs Claude Code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1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Claude Code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2159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交互式编码 · 极致工匠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67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专注实时编码与代码重构，像经验丰富的工匠般，细致打磨每一行代码细节。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17145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184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171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OpenClaw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2159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配置即行为 · 标准产线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2667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基于配置驱动的Agent框架，为团队构建统一、可复用的标准化工作流体系。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397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1397000"/>
            <a:ext cx="330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82000" y="1714500"/>
            <a:ext cx="609600" cy="6096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1841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144000" y="17145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Agent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0" y="2159000"/>
            <a:ext cx="2159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自主后台引擎 · 智能管家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2667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全天候自主运行的后台Agent，像管家一样默默处理监控、审查等长期任务。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3683000"/>
            <a:ext cx="2794000" cy="406400"/>
          </a:xfrm>
          <a:prstGeom prst="roundRect">
            <a:avLst>
              <a:gd name="adj" fmla="val 50000"/>
            </a:avLst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37084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不是选择题，是组合题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3180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43180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4508500"/>
            <a:ext cx="635000" cy="635000"/>
          </a:xfrm>
          <a:prstGeom prst="roundRect">
            <a:avLst>
              <a:gd name="adj" fmla="val 24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4635500"/>
            <a:ext cx="381000" cy="381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905000" y="4445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场景：代码编写 / 深度重构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905000" y="48260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最佳拍档：Claude Code（交互性强，对代码上下文理解深）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23000" y="43180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223000" y="43180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477000" y="4508500"/>
            <a:ext cx="635000" cy="635000"/>
          </a:xfrm>
          <a:prstGeom prst="roundRect">
            <a:avLst>
              <a:gd name="adj" fmla="val 24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635500"/>
            <a:ext cx="381000" cy="381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366000" y="44450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场景：团队 Agent 标准化建设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366000" y="48260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最佳拍档：OpenClaw（配置驱动，便于团队统一维护管理）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62000" y="55245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762000" y="55245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1016000" y="5715000"/>
            <a:ext cx="635000" cy="635000"/>
          </a:xfrm>
          <a:prstGeom prst="roundRect">
            <a:avLst>
              <a:gd name="adj" fmla="val 24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3000" y="5842000"/>
            <a:ext cx="381000" cy="3810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1905000" y="5651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场景：7x24h 后台监控 / 合规审查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905000" y="60325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最佳拍档：Hermes Agent（后台常驻，自主执行周期性任务）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223000" y="55245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4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6223000" y="5524500"/>
            <a:ext cx="762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6477000" y="5715000"/>
            <a:ext cx="635000" cy="635000"/>
          </a:xfrm>
          <a:prstGeom prst="roundRect">
            <a:avLst>
              <a:gd name="adj" fmla="val 24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7" name="Picture 4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5842000"/>
            <a:ext cx="381000" cy="381000"/>
          </a:xfrm>
          <a:prstGeom prst="rect">
            <a:avLst/>
          </a:prstGeom>
        </p:spPr>
      </p:pic>
      <p:sp>
        <p:nvSpPr>
          <p:cNvPr id="48" name="AutoShape 48"/>
          <p:cNvSpPr/>
          <p:nvPr/>
        </p:nvSpPr>
        <p:spPr>
          <a:xfrm>
            <a:off x="7366000" y="5651500"/>
            <a:ext cx="368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场景：个人知识库 / 长期项目维护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7366000" y="6032500"/>
            <a:ext cx="368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最佳拍档：Hermes Agent（具备长程记忆，持续跟进项目状态）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深度思考：自改进Agent的边界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7018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752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技术层面的可控性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215">
            <a:off x="1066815" y="2406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66800" y="2667000"/>
            <a:ext cx="26924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Skill文件可读：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改进结果以可审计的Markdown文件呈现。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记忆数据本地存储：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用户可直接访问和完全管理数据。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工具权限有沙箱：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执行边界清晰，杜绝越权风险。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800" y="17018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1752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实际层面的风险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6215">
            <a:off x="4749815" y="2406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749800" y="2667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人的惰性陷阱：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倾向于“不用管它”，从而忽略了对改进结果的必要审查。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信任的悖论：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开源依赖自身审计能力，闭源则依赖商业动机。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397000"/>
            <a:ext cx="3302000" cy="330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17018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0" y="1752600"/>
            <a:ext cx="203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自改进的天花板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6215">
            <a:off x="8432815" y="2406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432800" y="2667000"/>
            <a:ext cx="26924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反馈信号的质量：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无人监督时，Agent无法判断优化方向的正确性。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人的核心作用：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人定义“做什么”，Agent负责优化“怎么做”。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70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143500"/>
            <a:ext cx="952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1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“最好的状态可能是：让Agent在‘怎么做’上自改进，你只管‘做什么’和‘别做什么’。这不是偷懒，是另一种 On the Loop（人机协同）。”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总结与下一步行动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核心回顾 · Core Review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4511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2349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核心：基于自改进学习循环的产品化进化路径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213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14500" y="3111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智能基石：三层记忆系统 + 灵活可扩展的 Skill 技能系统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810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3975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3873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强大连接：MCP 协议 + 多平台 Gateway，实现广泛的外部接入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72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6500" y="4737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714500" y="4635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最佳适配：适用于需要长期记忆、自主运行的自动化后台任务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397000"/>
            <a:ext cx="5207000" cy="3683000"/>
          </a:xfrm>
          <a:prstGeom prst="roundRect">
            <a:avLst>
              <a:gd name="adj" fmla="val 413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65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行动指南 · Next Steps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286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2451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75500" y="2349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动手部署：在 VPS 或本地安装 Hermes，亲身体验其自动进化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048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32131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75500" y="3111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私人助手：配置 Telegram Bot，打造专属的 24/7 在线智能响应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810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39751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75500" y="3873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工具互联：接入 GitHub 等 MCP 工具，感受外部资源调用的便利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4572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67500" y="47371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175500" y="4635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生态共建：关注 Nous Research 与 agentskills.io 社区的最新发展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22857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10B981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91000" y="5626100"/>
            <a:ext cx="457200" cy="4572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4826000" y="5461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Q &amp; A 交流环节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Thank You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0B98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HERMES AGENT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EXPLORING THE INFINITE POSSIBILITIES OF AI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7231</Words>
  <Application>WPS 演示</Application>
  <PresentationFormat/>
  <Paragraphs>497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Roboto Mono</vt:lpstr>
      <vt:lpstr>Segoe Print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冰侠客</cp:lastModifiedBy>
  <cp:revision>1</cp:revision>
  <dcterms:created xsi:type="dcterms:W3CDTF">2026-04-15T08:48:34Z</dcterms:created>
  <dcterms:modified xsi:type="dcterms:W3CDTF">2026-04-15T08:48:35Z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5FB5CF6BC3424881B7A88513A5058504_13</vt:lpwstr>
  </property>
  <property fmtid="{D5CDD505-2E9C-101B-9397-08002B2CF9AE}" pid="3" name="KSOProductBuildVer">
    <vt:lpwstr>2052-12.1.0.25225</vt:lpwstr>
  </property>
</Properties>
</file>