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media/image10.svg" ContentType="image/svg+xml"/>
  <Override PartName="/ppt/media/image101.svg" ContentType="image/svg+xml"/>
  <Override PartName="/ppt/media/image107.svg" ContentType="image/svg+xml"/>
  <Override PartName="/ppt/media/image109.svg" ContentType="image/svg+xml"/>
  <Override PartName="/ppt/media/image111.svg" ContentType="image/svg+xml"/>
  <Override PartName="/ppt/media/image113.svg" ContentType="image/svg+xml"/>
  <Override PartName="/ppt/media/image115.svg" ContentType="image/svg+xml"/>
  <Override PartName="/ppt/media/image118.svg" ContentType="image/svg+xml"/>
  <Override PartName="/ppt/media/image12.svg" ContentType="image/svg+xml"/>
  <Override PartName="/ppt/media/image120.svg" ContentType="image/svg+xml"/>
  <Override PartName="/ppt/media/image122.svg" ContentType="image/svg+xml"/>
  <Override PartName="/ppt/media/image124.svg" ContentType="image/svg+xml"/>
  <Override PartName="/ppt/media/image126.svg" ContentType="image/svg+xml"/>
  <Override PartName="/ppt/media/image129.svg" ContentType="image/svg+xml"/>
  <Override PartName="/ppt/media/image131.svg" ContentType="image/svg+xml"/>
  <Override PartName="/ppt/media/image134.svg" ContentType="image/svg+xml"/>
  <Override PartName="/ppt/media/image14.svg" ContentType="image/svg+xml"/>
  <Override PartName="/ppt/media/image16.svg" ContentType="image/svg+xml"/>
  <Override PartName="/ppt/media/image18.svg" ContentType="image/svg+xml"/>
  <Override PartName="/ppt/media/image20.svg" ContentType="image/svg+xml"/>
  <Override PartName="/ppt/media/image22.svg" ContentType="image/svg+xml"/>
  <Override PartName="/ppt/media/image24.svg" ContentType="image/svg+xml"/>
  <Override PartName="/ppt/media/image26.svg" ContentType="image/svg+xml"/>
  <Override PartName="/ppt/media/image28.svg" ContentType="image/svg+xml"/>
  <Override PartName="/ppt/media/image30.svg" ContentType="image/svg+xml"/>
  <Override PartName="/ppt/media/image32.svg" ContentType="image/svg+xml"/>
  <Override PartName="/ppt/media/image34.svg" ContentType="image/svg+xml"/>
  <Override PartName="/ppt/media/image36.svg" ContentType="image/svg+xml"/>
  <Override PartName="/ppt/media/image38.svg" ContentType="image/svg+xml"/>
  <Override PartName="/ppt/media/image4.svg" ContentType="image/svg+xml"/>
  <Override PartName="/ppt/media/image40.svg" ContentType="image/svg+xml"/>
  <Override PartName="/ppt/media/image42.svg" ContentType="image/svg+xml"/>
  <Override PartName="/ppt/media/image44.svg" ContentType="image/svg+xml"/>
  <Override PartName="/ppt/media/image46.svg" ContentType="image/svg+xml"/>
  <Override PartName="/ppt/media/image48.svg" ContentType="image/svg+xml"/>
  <Override PartName="/ppt/media/image51.svg" ContentType="image/svg+xml"/>
  <Override PartName="/ppt/media/image53.svg" ContentType="image/svg+xml"/>
  <Override PartName="/ppt/media/image55.svg" ContentType="image/svg+xml"/>
  <Override PartName="/ppt/media/image57.svg" ContentType="image/svg+xml"/>
  <Override PartName="/ppt/media/image59.svg" ContentType="image/svg+xml"/>
  <Override PartName="/ppt/media/image6.svg" ContentType="image/svg+xml"/>
  <Override PartName="/ppt/media/image61.svg" ContentType="image/svg+xml"/>
  <Override PartName="/ppt/media/image63.svg" ContentType="image/svg+xml"/>
  <Override PartName="/ppt/media/image65.svg" ContentType="image/svg+xml"/>
  <Override PartName="/ppt/media/image67.svg" ContentType="image/svg+xml"/>
  <Override PartName="/ppt/media/image70.svg" ContentType="image/svg+xml"/>
  <Override PartName="/ppt/media/image72.svg" ContentType="image/svg+xml"/>
  <Override PartName="/ppt/media/image74.svg" ContentType="image/svg+xml"/>
  <Override PartName="/ppt/media/image76.svg" ContentType="image/svg+xml"/>
  <Override PartName="/ppt/media/image78.svg" ContentType="image/svg+xml"/>
  <Override PartName="/ppt/media/image8.svg" ContentType="image/svg+xml"/>
  <Override PartName="/ppt/media/image81.svg" ContentType="image/svg+xml"/>
  <Override PartName="/ppt/media/image83.svg" ContentType="image/svg+xml"/>
  <Override PartName="/ppt/media/image85.svg" ContentType="image/svg+xml"/>
  <Override PartName="/ppt/media/image87.svg" ContentType="image/svg+xml"/>
  <Override PartName="/ppt/media/image90.svg" ContentType="image/svg+xml"/>
  <Override PartName="/ppt/media/image92.svg" ContentType="image/svg+xml"/>
  <Override PartName="/ppt/media/image94.svg" ContentType="image/svg+xml"/>
  <Override PartName="/ppt/media/image96.svg" ContentType="image/svg+xml"/>
  <Override PartName="/ppt/media/image99.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autoCompressPictures="0">
  <p:sldMasterIdLst>
    <p:sldMasterId id="2147483648" r:id="rId1"/>
    <p:sldMasterId id="2147483660" r:id="rId3"/>
  </p:sldMasterIdLst>
  <p:notesMasterIdLst>
    <p:notesMasterId r:id="rId5"/>
  </p:notesMasterIdLst>
  <p:sldIdLst>
    <p:sldId id="256" r:id="rId4"/>
    <p:sldId id="257" r:id="rId6"/>
    <p:sldId id="258" r:id="rId7"/>
    <p:sldId id="259" r:id="rId8"/>
    <p:sldId id="260" r:id="rId9"/>
    <p:sldId id="261" r:id="rId10"/>
    <p:sldId id="262" r:id="rId11"/>
    <p:sldId id="263" r:id="rId12"/>
    <p:sldId id="264" r:id="rId13"/>
    <p:sldId id="265" r:id="rId14"/>
    <p:sldId id="266" r:id="rId15"/>
    <p:sldId id="267" r:id="rId16"/>
    <p:sldId id="268" r:id="rId17"/>
    <p:sldId id="269" r:id="rId18"/>
    <p:sldId id="270" r:id="rId19"/>
    <p:sldId id="271" r:id="rId20"/>
    <p:sldId id="272" r:id="rId21"/>
    <p:sldId id="273" r:id="rId22"/>
    <p:sldId id="274" r:id="rId23"/>
    <p:sldId id="275" r:id="rId24"/>
    <p:sldId id="276" r:id="rId25"/>
    <p:sldId id="277" r:id="rId26"/>
    <p:sldId id="278" r:id="rId27"/>
    <p:sldId id="279" r:id="rId28"/>
    <p:sldId id="280" r:id="rId29"/>
    <p:sldId id="281" r:id="rId30"/>
    <p:sldId id="282" r:id="rId31"/>
    <p:sldId id="283" r:id="rId32"/>
    <p:sldId id="284" r:id="rId33"/>
  </p:sldIdLst>
  <p:sldSz cx="12192000" cy="6858000"/>
  <p:notesSz cx="6858000" cy="9144000"/>
  <p:defaultTextStyle>
    <a:defPPr marR="0" lvl="0" algn="l" rtl="0">
      <a:lnSpc>
        <a:spcPct val="100000"/>
      </a:lnSpc>
      <a:spcBef>
        <a:spcPts val="0"/>
      </a:spcBef>
      <a:spcAft>
        <a:spcPts val="0"/>
      </a:spcAft>
    </a:defPPr>
    <a:lvl1pPr marL="0"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L="457200"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L="914400"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L="1371600"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L="1828800"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L="2286000"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L="2743200"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L="3200400"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L="3657600"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defaultTextStyle>
  <p:extLst>
    <p:ext uri="{EFAFB233-063F-42B5-8137-9DF3F51BA10A}">
      <p15:sldGuideLst xmlns:p15="http://schemas.microsoft.com/office/powerpoint/2012/main">
        <p15:guide id="1" orient="horz" pos="1620" userDrawn="1">
          <p15:clr>
            <a:srgbClr val="747775"/>
          </p15:clr>
        </p15:guide>
        <p15:guide id="2" pos="2880" userDrawn="1">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showComments="0">
  <p:normalViewPr>
    <p:restoredLeft sz="15620"/>
    <p:restoredTop sz="94660"/>
  </p:normalViewPr>
  <p:slideViewPr>
    <p:cSldViewPr snapToGrid="0" showGuides="1">
      <p:cViewPr varScale="1">
        <p:scale>
          <a:sx n="100" d="100"/>
          <a:sy n="100" d="100"/>
        </p:scale>
        <p:origin x="0" y="0"/>
      </p:cViewPr>
      <p:guideLst>
        <p:guide orient="horz" pos="1620"/>
        <p:guide pos="2880"/>
      </p:guideLst>
    </p:cSldViewPr>
  </p:slide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5.xml"/><Relationship Id="rId8" Type="http://schemas.openxmlformats.org/officeDocument/2006/relationships/slide" Target="slides/slide4.xml"/><Relationship Id="rId7" Type="http://schemas.openxmlformats.org/officeDocument/2006/relationships/slide" Target="slides/slide3.xml"/><Relationship Id="rId6" Type="http://schemas.openxmlformats.org/officeDocument/2006/relationships/slide" Target="slides/slide2.xml"/><Relationship Id="rId5" Type="http://schemas.openxmlformats.org/officeDocument/2006/relationships/notesMaster" Target="notesMasters/notesMaster1.xml"/><Relationship Id="rId4" Type="http://schemas.openxmlformats.org/officeDocument/2006/relationships/slide" Target="slides/slide1.xml"/><Relationship Id="rId36" Type="http://schemas.openxmlformats.org/officeDocument/2006/relationships/tableStyles" Target="tableStyles.xml"/><Relationship Id="rId35" Type="http://schemas.openxmlformats.org/officeDocument/2006/relationships/viewProps" Target="viewProps.xml"/><Relationship Id="rId34" Type="http://schemas.openxmlformats.org/officeDocument/2006/relationships/presProps" Target="presProps.xml"/><Relationship Id="rId33" Type="http://schemas.openxmlformats.org/officeDocument/2006/relationships/slide" Target="slides/slide29.xml"/><Relationship Id="rId32" Type="http://schemas.openxmlformats.org/officeDocument/2006/relationships/slide" Target="slides/slide28.xml"/><Relationship Id="rId31" Type="http://schemas.openxmlformats.org/officeDocument/2006/relationships/slide" Target="slides/slide27.xml"/><Relationship Id="rId30" Type="http://schemas.openxmlformats.org/officeDocument/2006/relationships/slide" Target="slides/slide26.xml"/><Relationship Id="rId3" Type="http://schemas.openxmlformats.org/officeDocument/2006/relationships/slideMaster" Target="slideMasters/slideMaster2.xml"/><Relationship Id="rId29" Type="http://schemas.openxmlformats.org/officeDocument/2006/relationships/slide" Target="slides/slide25.xml"/><Relationship Id="rId28" Type="http://schemas.openxmlformats.org/officeDocument/2006/relationships/slide" Target="slides/slide24.xml"/><Relationship Id="rId27" Type="http://schemas.openxmlformats.org/officeDocument/2006/relationships/slide" Target="slides/slide23.xml"/><Relationship Id="rId26" Type="http://schemas.openxmlformats.org/officeDocument/2006/relationships/slide" Target="slides/slide22.xml"/><Relationship Id="rId25" Type="http://schemas.openxmlformats.org/officeDocument/2006/relationships/slide" Target="slides/slide21.xml"/><Relationship Id="rId24" Type="http://schemas.openxmlformats.org/officeDocument/2006/relationships/slide" Target="slides/slide20.xml"/><Relationship Id="rId23" Type="http://schemas.openxmlformats.org/officeDocument/2006/relationships/slide" Target="slides/slide19.xml"/><Relationship Id="rId22" Type="http://schemas.openxmlformats.org/officeDocument/2006/relationships/slide" Target="slides/slide18.xml"/><Relationship Id="rId21" Type="http://schemas.openxmlformats.org/officeDocument/2006/relationships/slide" Target="slides/slide17.xml"/><Relationship Id="rId20" Type="http://schemas.openxmlformats.org/officeDocument/2006/relationships/slide" Target="slides/slide16.xml"/><Relationship Id="rId2" Type="http://schemas.openxmlformats.org/officeDocument/2006/relationships/theme" Target="theme/theme1.xml"/><Relationship Id="rId19" Type="http://schemas.openxmlformats.org/officeDocument/2006/relationships/slide" Target="slides/slide15.xml"/><Relationship Id="rId18" Type="http://schemas.openxmlformats.org/officeDocument/2006/relationships/slide" Target="slides/slide14.xml"/><Relationship Id="rId17" Type="http://schemas.openxmlformats.org/officeDocument/2006/relationships/slide" Target="slides/slide13.xml"/><Relationship Id="rId16" Type="http://schemas.openxmlformats.org/officeDocument/2006/relationships/slide" Target="slides/slide12.xml"/><Relationship Id="rId15" Type="http://schemas.openxmlformats.org/officeDocument/2006/relationships/slide" Target="slides/slide11.xml"/><Relationship Id="rId14" Type="http://schemas.openxmlformats.org/officeDocument/2006/relationships/slide" Target="slides/slide10.xml"/><Relationship Id="rId13" Type="http://schemas.openxmlformats.org/officeDocument/2006/relationships/slide" Target="slides/slide9.xml"/><Relationship Id="rId12" Type="http://schemas.openxmlformats.org/officeDocument/2006/relationships/slide" Target="slides/slide8.xml"/><Relationship Id="rId11" Type="http://schemas.openxmlformats.org/officeDocument/2006/relationships/slide" Target="slides/slide7.xml"/><Relationship Id="rId10" Type="http://schemas.openxmlformats.org/officeDocument/2006/relationships/slide" Target="slides/slide6.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cs-CZ"/>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fld>
            <a:endParaRPr lang="cs-CZ"/>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9.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大家好，欢迎参加今天的分享。我们即将进入一个由AI重塑的创业新纪元。这份《创始人手册》将为您揭示，在2026年及以后，如何利用AI的力量，以全新的方式构建一家成功的AI原生公司。让我们一起探索这个激动人心的新范式。</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本次分享将分为六个部分。首先，我们将探讨AI如何从根本上改变创业的游戏规则。接着，我们会深入创业的四个核心阶段——创意、MVP、发布和规模化，详细介绍每个阶段的目标、挑战以及如何利用AI工具。最后，我们将进行总结并提供丰富的学习资源。</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我们正处在一个转折点。AI不仅是一个工具，它正在重塑创业的整个生命周期。过去需要一个团队完成的工作，现在一个创始人借助AI就能实现。技术壁垒被打破，团队规模被压缩，创意的价值被前所未有地放大。传统的创业循环正在被一个更高效、更敏捷的AI原生模式所取代。</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AI带来的最大变革之一，是创始人角色的演变。过去，技术和非技术创始人之间有明确的分工。但现在，AI溶解了这层壁垒。创始人不再需要事必躬亲地执行，而是成为了一个“指挥家”，负责产生伟大的想法，并指挥AI系统去实现它。这为那些拥有深刻行业洞察但缺乏技术背景的创业者打开了大门。</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AI通过三大支柱赋能精益创业。首先，对话式智能为你提供了一个全天候的研究专家和战略伙伴。其次，智能编码让你能用自然语言构建产品，极大地缩短了开发周期。最后，工作流自动化接管了繁琐的运营任务。这三者结合，让一个小团队甚至单个创始人，能爆发出大公司的能量。</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现在我们进入创业的第一个阶段：创意阶段。这个阶段的核心目标不是构建，而是验证。在写第一行代码之前，我们必须回答一个根本问题：这值得构建吗？我们需要通过严谨的研究，将模糊的观察转化为可测试的假设，确保我们瞄准的是一个真实存在且有价值的问题。</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那么，我们如何知道何时可以结束创意阶段，进入构建呢？答案是找到“问题-解决方案契合”。这意味着你必须能清晰地描述问题，证明你的解决方案能有效应对，并且有足够的证据表明值得投入资源去构建一个最小可行产品。记住，我们追求的不是绝对的确定性，而是理性决策的依据。</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在创意阶段，我们需要警惕三个常见的陷阱。首先，不要因为AI让构建变得容易，就跳过验证，直接去做产品，这是导致创业失败的首要原因。其次，不要过早规模化，要确保你的认知始终领先于你的构建速度。最后，要警惕AI成为你确认偏误的工具，要利用它进行批判性思考，而不是寻找支持自己的证据。</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那么，如何利用AI来进行创意阶段的研究呢？第一步，利用像Claude这样的对话式AI，将你模糊的想法打磨成一个具体、可测试的假设。然后，让AI扮演魔鬼代言人，对你的假设进行压力测试，找出潜在的漏洞和反面证据。这能帮助你在接触真实用户之前，先进行一轮严格的自我审查。</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接下来，进行市场和竞品分析。AI可以帮助你绘制完整的竞争格局图，并深入分析每个对手的优势。更重要的是，通过分析公开的客户反馈，AI能帮你发现现有解决方案的痛点和未被满足的需求，这是几乎免费的定性研究。同时，AI还能追踪社区讨论和行业趋势，帮助你判断最佳的市场进入时机。</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在客户发现阶段，AI可以帮助你规划访谈，从定义用户画像到设计访谈问题，甚至可以自动化邮件发送和日程管理。访谈结束后，AI能帮你快速分析笔记，提炼关键信息。最后，当你需要一个原型来与用户互动时，AI编码工具可以帮你快速构建一个只包含核心功能的轻量级原型，用于验证你的想法。</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完成了创意阶段的验证，我们进入第二阶段：MVP阶段。这个阶段的目标是从问题验证转向产品验证。我们需要构建一个最小可行产品，来收集真实用户的反馈，证明我们的解决方案是有价值的。同时，我们要在快速构建的过程中，注意避免技术债，并建立良好的文档和架构，让AI能够持续有效地帮助我们。</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MVP阶段的终点是获得“产品-市场契合”的真实证据。这些证据主要体现在三个方面：用户留存、用户付费和用户推荐。当你看到这些指标出现积极信号时，就意味着你的产品找到了市场的切入点。这是一个需要结合数据和创始人直觉来做出的关键判断。</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MVP阶段同样充满挑战。首先是“智能技术债”，AI带来的速度可能导致代码结构混乱，难以维护。其次，要警惕“虚假的产品-市场契合”，早期数据可能具有欺骗性。第三，避免“零摩擦的范围蔓延”，不要因为构建容易就随意添加功能。最后，绝不能忽视安全，AI生成的代码需要经过严格的安全审查。</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为了构建高质量的MVP，第一步也是最重要的一步，是在编写代码前定义架构。利用AI帮助你思考并记录下架构决策，形成一个项目级的“记忆”文件。第二步，明确MVP的范围，写清楚产品做什么、不做什么。这能有效防止范围蔓延，并确保你始终专注于核心目标。</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第三步，使用AI编码工具来构建产品，但要始终带着你的架构文档，确保AI的工作在正确的框架内。第四步，在产品上线前，必须进行安全审查，AI可以作为初步审查工具，但不能替代专业的安全流程。最后，建立衡量框架，定义好成功的指标，这样才能准确评估产品的表现。</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在MVP阶段，AI可以帮助你自动化管理用户反馈，让你更专注于分析和决策。迭代的方向应该是朝向证据，而不是追求功能的完整性。我们可以使用Sean Ellis测试等方法来判断是否接近产品-市场契合。如果经过多次迭代仍无进展，就需要考虑转型。这时，AI可以帮助你分析数据，找出问题的根源。</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恭喜你找到了产品-市场契合！现在我们进入第三阶段：发布阶段。这个阶段的目标是将早期的成功转化为可持续的增长。核心任务包括：确保产品能承受真实的用户流量，加固基础设施以保证安全合规，以及建立一套成熟的运营体系，让创始人从日常事务中解放出来。</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发布阶段的结束标志是，你的公司已经建立起一套成熟的体系。具体来说，你的增长必须是可重复、可预测的；你的产品和基础设施必须足够稳固，能应对真实世界的挑战；并且，你的日常运营不再依赖创始人，已经实现了流程化和自动化。</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发布阶段同样面临挑战。首先，MVP阶段积累的技术债会到期，需要进行系统性的重构。其次，创始人容易成为公司发展的瓶颈，必须学会放权和系统化。第三，安全与合规不再是可选项，而是必选项。最后，要抵制过早扩张的诱惑，巩固好现有的产品-市场契合。</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在发布阶段，AI的作用是帮助你构建一个可持续的增长引擎。核心策略是协同使用AI的不同能力。用AI代码工具审计和重构技术债；用AI自动化工具将创始人从日常运营中解放出来；用AI扫描和处理安全合规问题；用AI设计和执行产品管理流程。让AI系统之间相互协作，形成一个强大的自动化体系。</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现在我们来到最后一个阶段：规模化阶段。这个阶段的目标是将你的创业公司从一个高风险的赌注，转变为一个可持续发展的成熟业务。核心任务包括：建立系统化的增长机制，构建难以被复制的竞争护城河，以及建立完善的内部治理和合规体系，以应对来自外部的审视。</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规模化阶段的终点，是你的公司能够在没有你直接参与日常运营的情况下，依然健康、可持续地发展。这意味着你的增长是系统化的，你的护城河是坚固的，你的运营是成熟的。达到这个阶段的标志通常是实现可持续盈利、准备IPO或被大型企业收购。</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规模化阶段的挑战主要在于组织和系统的成熟。创始人必须学会下放权力，将个人知识转化为公司系统。技术运营需要提升到企业级标准，以满足大客户的要求。同时，公司需要建立起完整的后台职能部门，并构建专业的市场、销售团队来驱动下一阶段的增长。</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在规模化阶段，AI的角色是帮助你保持优势。你可以利用AI来自动化更多的日常任务，将自己从运营中彻底解放出来。利用AI来构建和维护企业级的技术运营体系，满足大客户的高标准要求。同时，利用AI来辅助构建专业的市场和销售职能，为下一阶段的增长做好准备。</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要建立长期的竞争优势，你需要构建护城河。首先，将你的领域专业知识转化为AI的专有上下文，让你的产品具备深度优势。其次，利用用户数据形成数据飞轮效应，让产品越用越聪明。最后，通过提供丰富的集成，创建工作流锁定，让用户难以离开你的产品生态。</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总结一下，AI时代的创业，核心工作并未改变，但实现路径发生了革命性的变化。AI极大地压缩了验证、构建、发布和运营的周期。这意味着，创业的最终瓶颈不再是技术实现能力，而是创始人的战略选择能力——你选择去解决什么问题，比你能解决什么问题更重要。</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为了帮助大家更好地实践，我们提供了丰富的官方资源，包括AI代理构建指南、Claude Code文档等。同时，许多初创公司已经通过AI取得了成功，比如YC的创业公司利用AI快速推向市场，Carta Healthcare利用AI大幅提升效率，Duvo则构建了完全基于AI的自动化流程。这些案例都值得我们学习和借鉴。</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感谢大家的聆听。AI为创业带来了前所未有的机遇，未来将由那些懂得如何利用AI的创始人来塑造。希望这份手册能成为你们创业路上的得力助手。谢谢大家！</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matchingName="标题幻灯片">
  <p:cSld name="TITLE">
    <p:spTree>
      <p:nvGrpSpPr>
        <p:cNvPr id="11" name="Shape 11"/>
        <p:cNvGrpSpPr/>
        <p:nvPr/>
      </p:nvGrpSpPr>
      <p:grpSpPr>
        <a:xfrm>
          <a:off x="0" y="0"/>
          <a:ext cx="0" cy="0"/>
          <a:chOff x="0" y="0"/>
          <a:chExt cx="0" cy="0"/>
        </a:xfrm>
      </p:grpSpPr>
      <p:sp>
        <p:nvSpPr>
          <p:cNvPr id="12" name="Shape 30"/>
          <p:cNvSpPr txBox="1"/>
          <p:nvPr>
            <p:ph type="ctrTitle"/>
          </p:nvPr>
        </p:nvSpPr>
        <p:spPr>
          <a:xfrm>
            <a:off x="1143000" y="841772"/>
            <a:ext cx="6858000" cy="1790700"/>
          </a:xfrm>
          <a:prstGeom prst="rect">
            <a:avLst/>
          </a:prstGeom>
          <a:noFill/>
          <a:ln>
            <a:noFill/>
          </a:ln>
        </p:spPr>
        <p:txBody>
          <a:bodyPr spcFirstLastPara="1" wrap="square" lIns="68575" tIns="34275" rIns="68575" bIns="34275" anchor="b" anchorCtr="0">
            <a:normAutofit/>
          </a:bodyPr>
          <a:lstStyle>
            <a:lvl1pPr lvl="0" algn="ctr">
              <a:lnSpc>
                <a:spcPct val="90000"/>
              </a:lnSpc>
              <a:spcBef>
                <a:spcPts val="0"/>
              </a:spcBef>
              <a:spcAft>
                <a:spcPts val="0"/>
              </a:spcAft>
              <a:buClr>
                <a:schemeClr val="dk1"/>
              </a:buClr>
              <a:buSzPts val="4500"/>
              <a:buFont typeface="Arial" panose="020B0604020202020204"/>
              <a:buNone/>
              <a:defRPr sz="45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13" name="Shape 31"/>
          <p:cNvSpPr txBox="1"/>
          <p:nvPr>
            <p:ph type="subTitle" idx="1"/>
          </p:nvPr>
        </p:nvSpPr>
        <p:spPr>
          <a:xfrm>
            <a:off x="1143000" y="2701528"/>
            <a:ext cx="6858000" cy="1241821"/>
          </a:xfrm>
          <a:prstGeom prst="rect">
            <a:avLst/>
          </a:prstGeom>
          <a:noFill/>
          <a:ln>
            <a:noFill/>
          </a:ln>
        </p:spPr>
        <p:txBody>
          <a:bodyPr spcFirstLastPara="1" wrap="square" lIns="68575" tIns="34275" rIns="68575" bIns="34275" anchor="t" anchorCtr="0">
            <a:normAutofit/>
          </a:bodyPr>
          <a:lstStyle>
            <a:lvl1pPr lvl="0" algn="ctr">
              <a:lnSpc>
                <a:spcPct val="90000"/>
              </a:lnSpc>
              <a:spcBef>
                <a:spcPts val="800"/>
              </a:spcBef>
              <a:spcAft>
                <a:spcPts val="0"/>
              </a:spcAft>
              <a:buClr>
                <a:schemeClr val="dk1"/>
              </a:buClr>
              <a:buSzPts val="1800"/>
              <a:buNone/>
              <a:defRPr sz="1800"/>
            </a:lvl1pPr>
            <a:lvl2pPr lvl="1" algn="ctr">
              <a:lnSpc>
                <a:spcPct val="90000"/>
              </a:lnSpc>
              <a:spcBef>
                <a:spcPts val="400"/>
              </a:spcBef>
              <a:spcAft>
                <a:spcPts val="0"/>
              </a:spcAft>
              <a:buClr>
                <a:schemeClr val="dk1"/>
              </a:buClr>
              <a:buSzPts val="1500"/>
              <a:buNone/>
              <a:defRPr sz="1500"/>
            </a:lvl2pPr>
            <a:lvl3pPr lvl="2" algn="ctr">
              <a:lnSpc>
                <a:spcPct val="90000"/>
              </a:lnSpc>
              <a:spcBef>
                <a:spcPts val="400"/>
              </a:spcBef>
              <a:spcAft>
                <a:spcPts val="0"/>
              </a:spcAft>
              <a:buClr>
                <a:schemeClr val="dk1"/>
              </a:buClr>
              <a:buSzPts val="1400"/>
              <a:buNone/>
              <a:defRPr sz="1400"/>
            </a:lvl3pPr>
            <a:lvl4pPr lvl="3" algn="ctr">
              <a:lnSpc>
                <a:spcPct val="90000"/>
              </a:lnSpc>
              <a:spcBef>
                <a:spcPts val="400"/>
              </a:spcBef>
              <a:spcAft>
                <a:spcPts val="0"/>
              </a:spcAft>
              <a:buClr>
                <a:schemeClr val="dk1"/>
              </a:buClr>
              <a:buSzPts val="1200"/>
              <a:buNone/>
              <a:defRPr sz="1200"/>
            </a:lvl4pPr>
            <a:lvl5pPr lvl="4" algn="ctr">
              <a:lnSpc>
                <a:spcPct val="90000"/>
              </a:lnSpc>
              <a:spcBef>
                <a:spcPts val="400"/>
              </a:spcBef>
              <a:spcAft>
                <a:spcPts val="0"/>
              </a:spcAft>
              <a:buClr>
                <a:schemeClr val="dk1"/>
              </a:buClr>
              <a:buSzPts val="1200"/>
              <a:buNone/>
              <a:defRPr sz="1200"/>
            </a:lvl5pPr>
            <a:lvl6pPr lvl="5" algn="ctr">
              <a:lnSpc>
                <a:spcPct val="90000"/>
              </a:lnSpc>
              <a:spcBef>
                <a:spcPts val="400"/>
              </a:spcBef>
              <a:spcAft>
                <a:spcPts val="0"/>
              </a:spcAft>
              <a:buClr>
                <a:schemeClr val="dk1"/>
              </a:buClr>
              <a:buSzPts val="1200"/>
              <a:buNone/>
              <a:defRPr sz="1200"/>
            </a:lvl6pPr>
            <a:lvl7pPr lvl="6" algn="ctr">
              <a:lnSpc>
                <a:spcPct val="90000"/>
              </a:lnSpc>
              <a:spcBef>
                <a:spcPts val="400"/>
              </a:spcBef>
              <a:spcAft>
                <a:spcPts val="0"/>
              </a:spcAft>
              <a:buClr>
                <a:schemeClr val="dk1"/>
              </a:buClr>
              <a:buSzPts val="1200"/>
              <a:buNone/>
              <a:defRPr sz="1200"/>
            </a:lvl7pPr>
            <a:lvl8pPr lvl="7" algn="ctr">
              <a:lnSpc>
                <a:spcPct val="90000"/>
              </a:lnSpc>
              <a:spcBef>
                <a:spcPts val="400"/>
              </a:spcBef>
              <a:spcAft>
                <a:spcPts val="0"/>
              </a:spcAft>
              <a:buClr>
                <a:schemeClr val="dk1"/>
              </a:buClr>
              <a:buSzPts val="1200"/>
              <a:buNone/>
              <a:defRPr sz="1200"/>
            </a:lvl8pPr>
            <a:lvl9pPr lvl="8" algn="ctr">
              <a:lnSpc>
                <a:spcPct val="90000"/>
              </a:lnSpc>
              <a:spcBef>
                <a:spcPts val="400"/>
              </a:spcBef>
              <a:spcAft>
                <a:spcPts val="0"/>
              </a:spcAft>
              <a:buClr>
                <a:schemeClr val="dk1"/>
              </a:buClr>
              <a:buSzPts val="1200"/>
              <a:buNone/>
              <a:defRPr sz="1200"/>
            </a:lvl9pPr>
          </a:lstStyle>
          <a:p/>
        </p:txBody>
      </p:sp>
      <p:sp>
        <p:nvSpPr>
          <p:cNvPr id="14" name="Shape 32"/>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5" name="Shape 33"/>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6" name="Shape 34"/>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matchingName="标题和内容">
  <p:cSld name="OBJECT">
    <p:spTree>
      <p:nvGrpSpPr>
        <p:cNvPr id="17" name="Shape 17"/>
        <p:cNvGrpSpPr/>
        <p:nvPr/>
      </p:nvGrpSpPr>
      <p:grpSpPr>
        <a:xfrm>
          <a:off x="0" y="0"/>
          <a:ext cx="0" cy="0"/>
          <a:chOff x="0" y="0"/>
          <a:chExt cx="0" cy="0"/>
        </a:xfrm>
      </p:grpSpPr>
      <p:sp>
        <p:nvSpPr>
          <p:cNvPr id="18" name="Shape 54"/>
          <p:cNvSpPr txBox="1"/>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19" name="Shape 55"/>
          <p:cNvSpPr txBox="1"/>
          <p:nvPr>
            <p:ph type="body" idx="1"/>
          </p:nvPr>
        </p:nvSpPr>
        <p:spPr>
          <a:xfrm>
            <a:off x="628650" y="1369219"/>
            <a:ext cx="7886700" cy="3263504"/>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p:txBody>
      </p:sp>
      <p:sp>
        <p:nvSpPr>
          <p:cNvPr id="20" name="Shape 56"/>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1" name="Shape 57"/>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2" name="Shape 58"/>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matchingName="节标题">
  <p:cSld name="SECTION_HEADER">
    <p:spTree>
      <p:nvGrpSpPr>
        <p:cNvPr id="23" name="Shape 23"/>
        <p:cNvGrpSpPr/>
        <p:nvPr/>
      </p:nvGrpSpPr>
      <p:grpSpPr>
        <a:xfrm>
          <a:off x="0" y="0"/>
          <a:ext cx="0" cy="0"/>
          <a:chOff x="0" y="0"/>
          <a:chExt cx="0" cy="0"/>
        </a:xfrm>
      </p:grpSpPr>
      <p:sp>
        <p:nvSpPr>
          <p:cNvPr id="24" name="Shape 59"/>
          <p:cNvSpPr txBox="1"/>
          <p:nvPr>
            <p:ph type="title"/>
          </p:nvPr>
        </p:nvSpPr>
        <p:spPr>
          <a:xfrm>
            <a:off x="623888" y="1282304"/>
            <a:ext cx="7886700" cy="2139553"/>
          </a:xfrm>
          <a:prstGeom prst="rect">
            <a:avLst/>
          </a:prstGeom>
          <a:noFill/>
          <a:ln>
            <a:noFill/>
          </a:ln>
        </p:spPr>
        <p:txBody>
          <a:bodyPr spcFirstLastPara="1" wrap="square" lIns="68575" tIns="34275" rIns="68575" bIns="34275" anchor="b" anchorCtr="0">
            <a:normAutofit/>
          </a:bodyPr>
          <a:lstStyle>
            <a:lvl1pPr lvl="0" algn="l">
              <a:lnSpc>
                <a:spcPct val="90000"/>
              </a:lnSpc>
              <a:spcBef>
                <a:spcPts val="0"/>
              </a:spcBef>
              <a:spcAft>
                <a:spcPts val="0"/>
              </a:spcAft>
              <a:buClr>
                <a:schemeClr val="dk1"/>
              </a:buClr>
              <a:buSzPts val="4500"/>
              <a:buFont typeface="Arial" panose="020B0604020202020204"/>
              <a:buNone/>
              <a:defRPr sz="45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25" name="Shape 60"/>
          <p:cNvSpPr txBox="1"/>
          <p:nvPr>
            <p:ph type="body" idx="1"/>
          </p:nvPr>
        </p:nvSpPr>
        <p:spPr>
          <a:xfrm>
            <a:off x="623888" y="3442097"/>
            <a:ext cx="7886700" cy="1125140"/>
          </a:xfrm>
          <a:prstGeom prst="rect">
            <a:avLst/>
          </a:prstGeom>
          <a:noFill/>
          <a:ln>
            <a:noFill/>
          </a:ln>
        </p:spPr>
        <p:txBody>
          <a:bodyPr spcFirstLastPara="1" wrap="square" lIns="68575" tIns="34275" rIns="68575" bIns="34275" anchor="t" anchorCtr="0">
            <a:normAutofit/>
          </a:bodyPr>
          <a:lstStyle>
            <a:lvl1pPr marL="457200" lvl="0" indent="-228600" algn="l">
              <a:lnSpc>
                <a:spcPct val="90000"/>
              </a:lnSpc>
              <a:spcBef>
                <a:spcPts val="800"/>
              </a:spcBef>
              <a:spcAft>
                <a:spcPts val="0"/>
              </a:spcAft>
              <a:buClr>
                <a:srgbClr val="888888"/>
              </a:buClr>
              <a:buSzPts val="1800"/>
              <a:buNone/>
              <a:defRPr sz="1800">
                <a:solidFill>
                  <a:srgbClr val="888888"/>
                </a:solidFill>
              </a:defRPr>
            </a:lvl1pPr>
            <a:lvl2pPr marL="914400" lvl="1" indent="-228600" algn="l">
              <a:lnSpc>
                <a:spcPct val="90000"/>
              </a:lnSpc>
              <a:spcBef>
                <a:spcPts val="400"/>
              </a:spcBef>
              <a:spcAft>
                <a:spcPts val="0"/>
              </a:spcAft>
              <a:buClr>
                <a:srgbClr val="888888"/>
              </a:buClr>
              <a:buSzPts val="1500"/>
              <a:buNone/>
              <a:defRPr sz="1500">
                <a:solidFill>
                  <a:srgbClr val="888888"/>
                </a:solidFill>
              </a:defRPr>
            </a:lvl2pPr>
            <a:lvl3pPr marL="1371600" lvl="2" indent="-228600" algn="l">
              <a:lnSpc>
                <a:spcPct val="90000"/>
              </a:lnSpc>
              <a:spcBef>
                <a:spcPts val="400"/>
              </a:spcBef>
              <a:spcAft>
                <a:spcPts val="0"/>
              </a:spcAft>
              <a:buClr>
                <a:srgbClr val="888888"/>
              </a:buClr>
              <a:buSzPts val="1400"/>
              <a:buNone/>
              <a:defRPr sz="1400">
                <a:solidFill>
                  <a:srgbClr val="888888"/>
                </a:solidFill>
              </a:defRPr>
            </a:lvl3pPr>
            <a:lvl4pPr marL="1828800" lvl="3" indent="-228600" algn="l">
              <a:lnSpc>
                <a:spcPct val="90000"/>
              </a:lnSpc>
              <a:spcBef>
                <a:spcPts val="400"/>
              </a:spcBef>
              <a:spcAft>
                <a:spcPts val="0"/>
              </a:spcAft>
              <a:buClr>
                <a:srgbClr val="888888"/>
              </a:buClr>
              <a:buSzPts val="1200"/>
              <a:buNone/>
              <a:defRPr sz="1200">
                <a:solidFill>
                  <a:srgbClr val="888888"/>
                </a:solidFill>
              </a:defRPr>
            </a:lvl4pPr>
            <a:lvl5pPr marL="2286000" lvl="4" indent="-228600" algn="l">
              <a:lnSpc>
                <a:spcPct val="90000"/>
              </a:lnSpc>
              <a:spcBef>
                <a:spcPts val="400"/>
              </a:spcBef>
              <a:spcAft>
                <a:spcPts val="0"/>
              </a:spcAft>
              <a:buClr>
                <a:srgbClr val="888888"/>
              </a:buClr>
              <a:buSzPts val="1200"/>
              <a:buNone/>
              <a:defRPr sz="1200">
                <a:solidFill>
                  <a:srgbClr val="888888"/>
                </a:solidFill>
              </a:defRPr>
            </a:lvl5pPr>
            <a:lvl6pPr marL="2743200" lvl="5" indent="-228600" algn="l">
              <a:lnSpc>
                <a:spcPct val="90000"/>
              </a:lnSpc>
              <a:spcBef>
                <a:spcPts val="400"/>
              </a:spcBef>
              <a:spcAft>
                <a:spcPts val="0"/>
              </a:spcAft>
              <a:buClr>
                <a:srgbClr val="888888"/>
              </a:buClr>
              <a:buSzPts val="1200"/>
              <a:buNone/>
              <a:defRPr sz="1200">
                <a:solidFill>
                  <a:srgbClr val="888888"/>
                </a:solidFill>
              </a:defRPr>
            </a:lvl6pPr>
            <a:lvl7pPr marL="3200400" lvl="6" indent="-228600" algn="l">
              <a:lnSpc>
                <a:spcPct val="90000"/>
              </a:lnSpc>
              <a:spcBef>
                <a:spcPts val="400"/>
              </a:spcBef>
              <a:spcAft>
                <a:spcPts val="0"/>
              </a:spcAft>
              <a:buClr>
                <a:srgbClr val="888888"/>
              </a:buClr>
              <a:buSzPts val="1200"/>
              <a:buNone/>
              <a:defRPr sz="1200">
                <a:solidFill>
                  <a:srgbClr val="888888"/>
                </a:solidFill>
              </a:defRPr>
            </a:lvl7pPr>
            <a:lvl8pPr marL="3657600" lvl="7" indent="-228600" algn="l">
              <a:lnSpc>
                <a:spcPct val="90000"/>
              </a:lnSpc>
              <a:spcBef>
                <a:spcPts val="400"/>
              </a:spcBef>
              <a:spcAft>
                <a:spcPts val="0"/>
              </a:spcAft>
              <a:buClr>
                <a:srgbClr val="888888"/>
              </a:buClr>
              <a:buSzPts val="1200"/>
              <a:buNone/>
              <a:defRPr sz="1200">
                <a:solidFill>
                  <a:srgbClr val="888888"/>
                </a:solidFill>
              </a:defRPr>
            </a:lvl8pPr>
            <a:lvl9pPr marL="4114800" lvl="8" indent="-228600" algn="l">
              <a:lnSpc>
                <a:spcPct val="90000"/>
              </a:lnSpc>
              <a:spcBef>
                <a:spcPts val="400"/>
              </a:spcBef>
              <a:spcAft>
                <a:spcPts val="0"/>
              </a:spcAft>
              <a:buClr>
                <a:srgbClr val="888888"/>
              </a:buClr>
              <a:buSzPts val="1200"/>
              <a:buNone/>
              <a:defRPr sz="1200">
                <a:solidFill>
                  <a:srgbClr val="888888"/>
                </a:solidFill>
              </a:defRPr>
            </a:lvl9pPr>
          </a:lstStyle>
          <a:p/>
        </p:txBody>
      </p:sp>
      <p:sp>
        <p:nvSpPr>
          <p:cNvPr id="26" name="Shape 61"/>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7" name="Shape 62"/>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8" name="Shape 63"/>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matchingName="两栏内容">
  <p:cSld name="TWO_OBJECTS">
    <p:spTree>
      <p:nvGrpSpPr>
        <p:cNvPr id="29" name="Shape 29"/>
        <p:cNvGrpSpPr/>
        <p:nvPr/>
      </p:nvGrpSpPr>
      <p:grpSpPr>
        <a:xfrm>
          <a:off x="0" y="0"/>
          <a:ext cx="0" cy="0"/>
          <a:chOff x="0" y="0"/>
          <a:chExt cx="0" cy="0"/>
        </a:xfrm>
      </p:grpSpPr>
      <p:sp>
        <p:nvSpPr>
          <p:cNvPr id="30" name="Shape 9"/>
          <p:cNvSpPr txBox="1"/>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31" name="Shape 10"/>
          <p:cNvSpPr txBox="1"/>
          <p:nvPr>
            <p:ph type="body" idx="1"/>
          </p:nvPr>
        </p:nvSpPr>
        <p:spPr>
          <a:xfrm>
            <a:off x="628650" y="1369219"/>
            <a:ext cx="3886200" cy="3263504"/>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p:txBody>
      </p:sp>
      <p:sp>
        <p:nvSpPr>
          <p:cNvPr id="32" name="Shape 11"/>
          <p:cNvSpPr txBox="1"/>
          <p:nvPr>
            <p:ph type="body" idx="2"/>
          </p:nvPr>
        </p:nvSpPr>
        <p:spPr>
          <a:xfrm>
            <a:off x="4629150" y="1369219"/>
            <a:ext cx="3886200" cy="3263504"/>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p:txBody>
      </p:sp>
      <p:sp>
        <p:nvSpPr>
          <p:cNvPr id="33" name="Shape 12"/>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34" name="Shape 13"/>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35" name="Shape 14"/>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matchingName="比较">
  <p:cSld name="TWO_OBJECTS_WITH_TEXT">
    <p:spTree>
      <p:nvGrpSpPr>
        <p:cNvPr id="36" name="Shape 36"/>
        <p:cNvGrpSpPr/>
        <p:nvPr/>
      </p:nvGrpSpPr>
      <p:grpSpPr>
        <a:xfrm>
          <a:off x="0" y="0"/>
          <a:ext cx="0" cy="0"/>
          <a:chOff x="0" y="0"/>
          <a:chExt cx="0" cy="0"/>
        </a:xfrm>
      </p:grpSpPr>
      <p:sp>
        <p:nvSpPr>
          <p:cNvPr id="37" name="Shape 35"/>
          <p:cNvSpPr txBox="1"/>
          <p:nvPr>
            <p:ph type="title"/>
          </p:nvPr>
        </p:nvSpPr>
        <p:spPr>
          <a:xfrm>
            <a:off x="629841"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38" name="Shape 36"/>
          <p:cNvSpPr txBox="1"/>
          <p:nvPr>
            <p:ph type="body" idx="1"/>
          </p:nvPr>
        </p:nvSpPr>
        <p:spPr>
          <a:xfrm>
            <a:off x="629841" y="1260872"/>
            <a:ext cx="3868340" cy="617934"/>
          </a:xfrm>
          <a:prstGeom prst="rect">
            <a:avLst/>
          </a:prstGeom>
          <a:noFill/>
          <a:ln>
            <a:noFill/>
          </a:ln>
        </p:spPr>
        <p:txBody>
          <a:bodyPr spcFirstLastPara="1" wrap="square" lIns="68575" tIns="34275" rIns="68575" bIns="34275" anchor="b" anchorCtr="0">
            <a:normAutofit/>
          </a:bodyPr>
          <a:lstStyle>
            <a:lvl1pPr marL="457200" lvl="0" indent="-228600" algn="l">
              <a:lnSpc>
                <a:spcPct val="90000"/>
              </a:lnSpc>
              <a:spcBef>
                <a:spcPts val="800"/>
              </a:spcBef>
              <a:spcAft>
                <a:spcPts val="0"/>
              </a:spcAft>
              <a:buClr>
                <a:schemeClr val="dk1"/>
              </a:buClr>
              <a:buSzPts val="1800"/>
              <a:buNone/>
              <a:defRPr sz="1800" b="1"/>
            </a:lvl1pPr>
            <a:lvl2pPr marL="914400" lvl="1" indent="-228600" algn="l">
              <a:lnSpc>
                <a:spcPct val="90000"/>
              </a:lnSpc>
              <a:spcBef>
                <a:spcPts val="400"/>
              </a:spcBef>
              <a:spcAft>
                <a:spcPts val="0"/>
              </a:spcAft>
              <a:buClr>
                <a:schemeClr val="dk1"/>
              </a:buClr>
              <a:buSzPts val="1500"/>
              <a:buNone/>
              <a:defRPr sz="1500" b="1"/>
            </a:lvl2pPr>
            <a:lvl3pPr marL="1371600" lvl="2" indent="-228600" algn="l">
              <a:lnSpc>
                <a:spcPct val="90000"/>
              </a:lnSpc>
              <a:spcBef>
                <a:spcPts val="400"/>
              </a:spcBef>
              <a:spcAft>
                <a:spcPts val="0"/>
              </a:spcAft>
              <a:buClr>
                <a:schemeClr val="dk1"/>
              </a:buClr>
              <a:buSzPts val="1400"/>
              <a:buNone/>
              <a:defRPr sz="1400" b="1"/>
            </a:lvl3pPr>
            <a:lvl4pPr marL="1828800" lvl="3" indent="-228600" algn="l">
              <a:lnSpc>
                <a:spcPct val="90000"/>
              </a:lnSpc>
              <a:spcBef>
                <a:spcPts val="400"/>
              </a:spcBef>
              <a:spcAft>
                <a:spcPts val="0"/>
              </a:spcAft>
              <a:buClr>
                <a:schemeClr val="dk1"/>
              </a:buClr>
              <a:buSzPts val="1200"/>
              <a:buNone/>
              <a:defRPr sz="1200" b="1"/>
            </a:lvl4pPr>
            <a:lvl5pPr marL="2286000" lvl="4" indent="-228600" algn="l">
              <a:lnSpc>
                <a:spcPct val="90000"/>
              </a:lnSpc>
              <a:spcBef>
                <a:spcPts val="400"/>
              </a:spcBef>
              <a:spcAft>
                <a:spcPts val="0"/>
              </a:spcAft>
              <a:buClr>
                <a:schemeClr val="dk1"/>
              </a:buClr>
              <a:buSzPts val="1200"/>
              <a:buNone/>
              <a:defRPr sz="1200" b="1"/>
            </a:lvl5pPr>
            <a:lvl6pPr marL="2743200" lvl="5" indent="-228600" algn="l">
              <a:lnSpc>
                <a:spcPct val="90000"/>
              </a:lnSpc>
              <a:spcBef>
                <a:spcPts val="400"/>
              </a:spcBef>
              <a:spcAft>
                <a:spcPts val="0"/>
              </a:spcAft>
              <a:buClr>
                <a:schemeClr val="dk1"/>
              </a:buClr>
              <a:buSzPts val="1200"/>
              <a:buNone/>
              <a:defRPr sz="1200" b="1"/>
            </a:lvl6pPr>
            <a:lvl7pPr marL="3200400" lvl="6" indent="-228600" algn="l">
              <a:lnSpc>
                <a:spcPct val="90000"/>
              </a:lnSpc>
              <a:spcBef>
                <a:spcPts val="400"/>
              </a:spcBef>
              <a:spcAft>
                <a:spcPts val="0"/>
              </a:spcAft>
              <a:buClr>
                <a:schemeClr val="dk1"/>
              </a:buClr>
              <a:buSzPts val="1200"/>
              <a:buNone/>
              <a:defRPr sz="1200" b="1"/>
            </a:lvl7pPr>
            <a:lvl8pPr marL="3657600" lvl="7" indent="-228600" algn="l">
              <a:lnSpc>
                <a:spcPct val="90000"/>
              </a:lnSpc>
              <a:spcBef>
                <a:spcPts val="400"/>
              </a:spcBef>
              <a:spcAft>
                <a:spcPts val="0"/>
              </a:spcAft>
              <a:buClr>
                <a:schemeClr val="dk1"/>
              </a:buClr>
              <a:buSzPts val="1200"/>
              <a:buNone/>
              <a:defRPr sz="1200" b="1"/>
            </a:lvl8pPr>
            <a:lvl9pPr marL="4114800" lvl="8" indent="-228600" algn="l">
              <a:lnSpc>
                <a:spcPct val="90000"/>
              </a:lnSpc>
              <a:spcBef>
                <a:spcPts val="400"/>
              </a:spcBef>
              <a:spcAft>
                <a:spcPts val="0"/>
              </a:spcAft>
              <a:buClr>
                <a:schemeClr val="dk1"/>
              </a:buClr>
              <a:buSzPts val="1200"/>
              <a:buNone/>
              <a:defRPr sz="1200" b="1"/>
            </a:lvl9pPr>
          </a:lstStyle>
          <a:p/>
        </p:txBody>
      </p:sp>
      <p:sp>
        <p:nvSpPr>
          <p:cNvPr id="39" name="Shape 37"/>
          <p:cNvSpPr txBox="1"/>
          <p:nvPr>
            <p:ph type="body" idx="2"/>
          </p:nvPr>
        </p:nvSpPr>
        <p:spPr>
          <a:xfrm>
            <a:off x="629841" y="1878806"/>
            <a:ext cx="3868340" cy="2763441"/>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p:txBody>
      </p:sp>
      <p:sp>
        <p:nvSpPr>
          <p:cNvPr id="40" name="Shape 38"/>
          <p:cNvSpPr txBox="1"/>
          <p:nvPr>
            <p:ph type="body" idx="3"/>
          </p:nvPr>
        </p:nvSpPr>
        <p:spPr>
          <a:xfrm>
            <a:off x="4629150" y="1260872"/>
            <a:ext cx="3887391" cy="617934"/>
          </a:xfrm>
          <a:prstGeom prst="rect">
            <a:avLst/>
          </a:prstGeom>
          <a:noFill/>
          <a:ln>
            <a:noFill/>
          </a:ln>
        </p:spPr>
        <p:txBody>
          <a:bodyPr spcFirstLastPara="1" wrap="square" lIns="68575" tIns="34275" rIns="68575" bIns="34275" anchor="b" anchorCtr="0">
            <a:normAutofit/>
          </a:bodyPr>
          <a:lstStyle>
            <a:lvl1pPr marL="457200" lvl="0" indent="-228600" algn="l">
              <a:lnSpc>
                <a:spcPct val="90000"/>
              </a:lnSpc>
              <a:spcBef>
                <a:spcPts val="800"/>
              </a:spcBef>
              <a:spcAft>
                <a:spcPts val="0"/>
              </a:spcAft>
              <a:buClr>
                <a:schemeClr val="dk1"/>
              </a:buClr>
              <a:buSzPts val="1800"/>
              <a:buNone/>
              <a:defRPr sz="1800" b="1"/>
            </a:lvl1pPr>
            <a:lvl2pPr marL="914400" lvl="1" indent="-228600" algn="l">
              <a:lnSpc>
                <a:spcPct val="90000"/>
              </a:lnSpc>
              <a:spcBef>
                <a:spcPts val="400"/>
              </a:spcBef>
              <a:spcAft>
                <a:spcPts val="0"/>
              </a:spcAft>
              <a:buClr>
                <a:schemeClr val="dk1"/>
              </a:buClr>
              <a:buSzPts val="1500"/>
              <a:buNone/>
              <a:defRPr sz="1500" b="1"/>
            </a:lvl2pPr>
            <a:lvl3pPr marL="1371600" lvl="2" indent="-228600" algn="l">
              <a:lnSpc>
                <a:spcPct val="90000"/>
              </a:lnSpc>
              <a:spcBef>
                <a:spcPts val="400"/>
              </a:spcBef>
              <a:spcAft>
                <a:spcPts val="0"/>
              </a:spcAft>
              <a:buClr>
                <a:schemeClr val="dk1"/>
              </a:buClr>
              <a:buSzPts val="1400"/>
              <a:buNone/>
              <a:defRPr sz="1400" b="1"/>
            </a:lvl3pPr>
            <a:lvl4pPr marL="1828800" lvl="3" indent="-228600" algn="l">
              <a:lnSpc>
                <a:spcPct val="90000"/>
              </a:lnSpc>
              <a:spcBef>
                <a:spcPts val="400"/>
              </a:spcBef>
              <a:spcAft>
                <a:spcPts val="0"/>
              </a:spcAft>
              <a:buClr>
                <a:schemeClr val="dk1"/>
              </a:buClr>
              <a:buSzPts val="1200"/>
              <a:buNone/>
              <a:defRPr sz="1200" b="1"/>
            </a:lvl4pPr>
            <a:lvl5pPr marL="2286000" lvl="4" indent="-228600" algn="l">
              <a:lnSpc>
                <a:spcPct val="90000"/>
              </a:lnSpc>
              <a:spcBef>
                <a:spcPts val="400"/>
              </a:spcBef>
              <a:spcAft>
                <a:spcPts val="0"/>
              </a:spcAft>
              <a:buClr>
                <a:schemeClr val="dk1"/>
              </a:buClr>
              <a:buSzPts val="1200"/>
              <a:buNone/>
              <a:defRPr sz="1200" b="1"/>
            </a:lvl5pPr>
            <a:lvl6pPr marL="2743200" lvl="5" indent="-228600" algn="l">
              <a:lnSpc>
                <a:spcPct val="90000"/>
              </a:lnSpc>
              <a:spcBef>
                <a:spcPts val="400"/>
              </a:spcBef>
              <a:spcAft>
                <a:spcPts val="0"/>
              </a:spcAft>
              <a:buClr>
                <a:schemeClr val="dk1"/>
              </a:buClr>
              <a:buSzPts val="1200"/>
              <a:buNone/>
              <a:defRPr sz="1200" b="1"/>
            </a:lvl6pPr>
            <a:lvl7pPr marL="3200400" lvl="6" indent="-228600" algn="l">
              <a:lnSpc>
                <a:spcPct val="90000"/>
              </a:lnSpc>
              <a:spcBef>
                <a:spcPts val="400"/>
              </a:spcBef>
              <a:spcAft>
                <a:spcPts val="0"/>
              </a:spcAft>
              <a:buClr>
                <a:schemeClr val="dk1"/>
              </a:buClr>
              <a:buSzPts val="1200"/>
              <a:buNone/>
              <a:defRPr sz="1200" b="1"/>
            </a:lvl7pPr>
            <a:lvl8pPr marL="3657600" lvl="7" indent="-228600" algn="l">
              <a:lnSpc>
                <a:spcPct val="90000"/>
              </a:lnSpc>
              <a:spcBef>
                <a:spcPts val="400"/>
              </a:spcBef>
              <a:spcAft>
                <a:spcPts val="0"/>
              </a:spcAft>
              <a:buClr>
                <a:schemeClr val="dk1"/>
              </a:buClr>
              <a:buSzPts val="1200"/>
              <a:buNone/>
              <a:defRPr sz="1200" b="1"/>
            </a:lvl8pPr>
            <a:lvl9pPr marL="4114800" lvl="8" indent="-228600" algn="l">
              <a:lnSpc>
                <a:spcPct val="90000"/>
              </a:lnSpc>
              <a:spcBef>
                <a:spcPts val="400"/>
              </a:spcBef>
              <a:spcAft>
                <a:spcPts val="0"/>
              </a:spcAft>
              <a:buClr>
                <a:schemeClr val="dk1"/>
              </a:buClr>
              <a:buSzPts val="1200"/>
              <a:buNone/>
              <a:defRPr sz="1200" b="1"/>
            </a:lvl9pPr>
          </a:lstStyle>
          <a:p/>
        </p:txBody>
      </p:sp>
      <p:sp>
        <p:nvSpPr>
          <p:cNvPr id="41" name="Shape 39"/>
          <p:cNvSpPr txBox="1"/>
          <p:nvPr>
            <p:ph type="body" idx="4"/>
          </p:nvPr>
        </p:nvSpPr>
        <p:spPr>
          <a:xfrm>
            <a:off x="4629150" y="1878806"/>
            <a:ext cx="3887391" cy="2763441"/>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p:txBody>
      </p:sp>
      <p:sp>
        <p:nvSpPr>
          <p:cNvPr id="42" name="Shape 40"/>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43" name="Shape 41"/>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44" name="Shape 42"/>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matchingName="仅标题">
  <p:cSld name="TITLE_ONLY">
    <p:spTree>
      <p:nvGrpSpPr>
        <p:cNvPr id="45" name="Shape 45"/>
        <p:cNvGrpSpPr/>
        <p:nvPr/>
      </p:nvGrpSpPr>
      <p:grpSpPr>
        <a:xfrm>
          <a:off x="0" y="0"/>
          <a:ext cx="0" cy="0"/>
          <a:chOff x="0" y="0"/>
          <a:chExt cx="0" cy="0"/>
        </a:xfrm>
      </p:grpSpPr>
      <p:sp>
        <p:nvSpPr>
          <p:cNvPr id="46" name="Shape 20"/>
          <p:cNvSpPr txBox="1"/>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47" name="Shape 21"/>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48" name="Shape 22"/>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49" name="Shape 23"/>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matchingName="空白">
  <p:cSld name="BLANK">
    <p:spTree>
      <p:nvGrpSpPr>
        <p:cNvPr id="50" name="Shape 50"/>
        <p:cNvGrpSpPr/>
        <p:nvPr/>
      </p:nvGrpSpPr>
      <p:grpSpPr>
        <a:xfrm>
          <a:off x="0" y="0"/>
          <a:ext cx="0" cy="0"/>
          <a:chOff x="0" y="0"/>
          <a:chExt cx="0" cy="0"/>
        </a:xfrm>
      </p:grpSpPr>
      <p:sp>
        <p:nvSpPr>
          <p:cNvPr id="51" name="Shape 6"/>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52" name="Shape 7"/>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53" name="Shape 8"/>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matchingName="内容与标题">
  <p:cSld name="OBJECT_WITH_CAPTION_TEXT">
    <p:spTree>
      <p:nvGrpSpPr>
        <p:cNvPr id="54" name="Shape 54"/>
        <p:cNvGrpSpPr/>
        <p:nvPr/>
      </p:nvGrpSpPr>
      <p:grpSpPr>
        <a:xfrm>
          <a:off x="0" y="0"/>
          <a:ext cx="0" cy="0"/>
          <a:chOff x="0" y="0"/>
          <a:chExt cx="0" cy="0"/>
        </a:xfrm>
      </p:grpSpPr>
      <p:sp>
        <p:nvSpPr>
          <p:cNvPr id="55" name="Shape 43"/>
          <p:cNvSpPr txBox="1"/>
          <p:nvPr>
            <p:ph type="title"/>
          </p:nvPr>
        </p:nvSpPr>
        <p:spPr>
          <a:xfrm>
            <a:off x="629841" y="342900"/>
            <a:ext cx="2949178" cy="1200150"/>
          </a:xfrm>
          <a:prstGeom prst="rect">
            <a:avLst/>
          </a:prstGeom>
          <a:noFill/>
          <a:ln>
            <a:noFill/>
          </a:ln>
        </p:spPr>
        <p:txBody>
          <a:bodyPr spcFirstLastPara="1" wrap="square" lIns="68575" tIns="34275" rIns="68575" bIns="34275" anchor="b" anchorCtr="0">
            <a:normAutofit/>
          </a:bodyPr>
          <a:lstStyle>
            <a:lvl1pPr lvl="0" algn="l">
              <a:lnSpc>
                <a:spcPct val="90000"/>
              </a:lnSpc>
              <a:spcBef>
                <a:spcPts val="0"/>
              </a:spcBef>
              <a:spcAft>
                <a:spcPts val="0"/>
              </a:spcAft>
              <a:buClr>
                <a:schemeClr val="dk1"/>
              </a:buClr>
              <a:buSzPts val="2400"/>
              <a:buFont typeface="Arial" panose="020B0604020202020204"/>
              <a:buNone/>
              <a:defRPr sz="24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56" name="Shape 44"/>
          <p:cNvSpPr txBox="1"/>
          <p:nvPr>
            <p:ph type="body" idx="1"/>
          </p:nvPr>
        </p:nvSpPr>
        <p:spPr>
          <a:xfrm>
            <a:off x="3887391" y="740569"/>
            <a:ext cx="4629150" cy="3655219"/>
          </a:xfrm>
          <a:prstGeom prst="rect">
            <a:avLst/>
          </a:prstGeom>
          <a:noFill/>
          <a:ln>
            <a:noFill/>
          </a:ln>
        </p:spPr>
        <p:txBody>
          <a:bodyPr spcFirstLastPara="1" wrap="square" lIns="68575" tIns="34275" rIns="68575" bIns="34275" anchor="t" anchorCtr="0">
            <a:normAutofit/>
          </a:bodyPr>
          <a:lstStyle>
            <a:lvl1pPr marL="457200" lvl="0" indent="-381000" algn="l">
              <a:lnSpc>
                <a:spcPct val="90000"/>
              </a:lnSpc>
              <a:spcBef>
                <a:spcPts val="800"/>
              </a:spcBef>
              <a:spcAft>
                <a:spcPts val="0"/>
              </a:spcAft>
              <a:buClr>
                <a:schemeClr val="dk1"/>
              </a:buClr>
              <a:buSzPts val="2400"/>
              <a:buChar char="•"/>
              <a:defRPr sz="2400"/>
            </a:lvl1pPr>
            <a:lvl2pPr marL="914400" lvl="1" indent="-361950" algn="l">
              <a:lnSpc>
                <a:spcPct val="90000"/>
              </a:lnSpc>
              <a:spcBef>
                <a:spcPts val="400"/>
              </a:spcBef>
              <a:spcAft>
                <a:spcPts val="0"/>
              </a:spcAft>
              <a:buClr>
                <a:schemeClr val="dk1"/>
              </a:buClr>
              <a:buSzPts val="2100"/>
              <a:buChar char="•"/>
              <a:defRPr sz="2100"/>
            </a:lvl2pPr>
            <a:lvl3pPr marL="1371600" lvl="2" indent="-342900" algn="l">
              <a:lnSpc>
                <a:spcPct val="90000"/>
              </a:lnSpc>
              <a:spcBef>
                <a:spcPts val="400"/>
              </a:spcBef>
              <a:spcAft>
                <a:spcPts val="0"/>
              </a:spcAft>
              <a:buClr>
                <a:schemeClr val="dk1"/>
              </a:buClr>
              <a:buSzPts val="1800"/>
              <a:buChar char="•"/>
              <a:defRPr sz="1800"/>
            </a:lvl3pPr>
            <a:lvl4pPr marL="1828800" lvl="3" indent="-323850" algn="l">
              <a:lnSpc>
                <a:spcPct val="90000"/>
              </a:lnSpc>
              <a:spcBef>
                <a:spcPts val="400"/>
              </a:spcBef>
              <a:spcAft>
                <a:spcPts val="0"/>
              </a:spcAft>
              <a:buClr>
                <a:schemeClr val="dk1"/>
              </a:buClr>
              <a:buSzPts val="1500"/>
              <a:buChar char="•"/>
              <a:defRPr sz="1500"/>
            </a:lvl4pPr>
            <a:lvl5pPr marL="2286000" lvl="4" indent="-323850" algn="l">
              <a:lnSpc>
                <a:spcPct val="90000"/>
              </a:lnSpc>
              <a:spcBef>
                <a:spcPts val="400"/>
              </a:spcBef>
              <a:spcAft>
                <a:spcPts val="0"/>
              </a:spcAft>
              <a:buClr>
                <a:schemeClr val="dk1"/>
              </a:buClr>
              <a:buSzPts val="1500"/>
              <a:buChar char="•"/>
              <a:defRPr sz="1500"/>
            </a:lvl5pPr>
            <a:lvl6pPr marL="2743200" lvl="5" indent="-323850" algn="l">
              <a:lnSpc>
                <a:spcPct val="90000"/>
              </a:lnSpc>
              <a:spcBef>
                <a:spcPts val="400"/>
              </a:spcBef>
              <a:spcAft>
                <a:spcPts val="0"/>
              </a:spcAft>
              <a:buClr>
                <a:schemeClr val="dk1"/>
              </a:buClr>
              <a:buSzPts val="1500"/>
              <a:buChar char="•"/>
              <a:defRPr sz="1500"/>
            </a:lvl6pPr>
            <a:lvl7pPr marL="3200400" lvl="6" indent="-323850" algn="l">
              <a:lnSpc>
                <a:spcPct val="90000"/>
              </a:lnSpc>
              <a:spcBef>
                <a:spcPts val="400"/>
              </a:spcBef>
              <a:spcAft>
                <a:spcPts val="0"/>
              </a:spcAft>
              <a:buClr>
                <a:schemeClr val="dk1"/>
              </a:buClr>
              <a:buSzPts val="1500"/>
              <a:buChar char="•"/>
              <a:defRPr sz="1500"/>
            </a:lvl7pPr>
            <a:lvl8pPr marL="3657600" lvl="7" indent="-323850" algn="l">
              <a:lnSpc>
                <a:spcPct val="90000"/>
              </a:lnSpc>
              <a:spcBef>
                <a:spcPts val="400"/>
              </a:spcBef>
              <a:spcAft>
                <a:spcPts val="0"/>
              </a:spcAft>
              <a:buClr>
                <a:schemeClr val="dk1"/>
              </a:buClr>
              <a:buSzPts val="1500"/>
              <a:buChar char="•"/>
              <a:defRPr sz="1500"/>
            </a:lvl8pPr>
            <a:lvl9pPr marL="4114800" lvl="8" indent="-323850" algn="l">
              <a:lnSpc>
                <a:spcPct val="90000"/>
              </a:lnSpc>
              <a:spcBef>
                <a:spcPts val="400"/>
              </a:spcBef>
              <a:spcAft>
                <a:spcPts val="0"/>
              </a:spcAft>
              <a:buClr>
                <a:schemeClr val="dk1"/>
              </a:buClr>
              <a:buSzPts val="1500"/>
              <a:buChar char="•"/>
              <a:defRPr sz="1500"/>
            </a:lvl9pPr>
          </a:lstStyle>
          <a:p/>
        </p:txBody>
      </p:sp>
      <p:sp>
        <p:nvSpPr>
          <p:cNvPr id="57" name="Shape 45"/>
          <p:cNvSpPr txBox="1"/>
          <p:nvPr>
            <p:ph type="body" idx="2"/>
          </p:nvPr>
        </p:nvSpPr>
        <p:spPr>
          <a:xfrm>
            <a:off x="629841" y="1543050"/>
            <a:ext cx="2949178" cy="2858691"/>
          </a:xfrm>
          <a:prstGeom prst="rect">
            <a:avLst/>
          </a:prstGeom>
          <a:noFill/>
          <a:ln>
            <a:noFill/>
          </a:ln>
        </p:spPr>
        <p:txBody>
          <a:bodyPr spcFirstLastPara="1" wrap="square" lIns="68575" tIns="34275" rIns="68575" bIns="34275" anchor="t" anchorCtr="0">
            <a:normAutofit/>
          </a:bodyPr>
          <a:lstStyle>
            <a:lvl1pPr marL="457200" lvl="0" indent="-228600" algn="l">
              <a:lnSpc>
                <a:spcPct val="90000"/>
              </a:lnSpc>
              <a:spcBef>
                <a:spcPts val="800"/>
              </a:spcBef>
              <a:spcAft>
                <a:spcPts val="0"/>
              </a:spcAft>
              <a:buClr>
                <a:schemeClr val="dk1"/>
              </a:buClr>
              <a:buSzPts val="1200"/>
              <a:buNone/>
              <a:defRPr sz="1200"/>
            </a:lvl1pPr>
            <a:lvl2pPr marL="914400" lvl="1" indent="-228600" algn="l">
              <a:lnSpc>
                <a:spcPct val="90000"/>
              </a:lnSpc>
              <a:spcBef>
                <a:spcPts val="400"/>
              </a:spcBef>
              <a:spcAft>
                <a:spcPts val="0"/>
              </a:spcAft>
              <a:buClr>
                <a:schemeClr val="dk1"/>
              </a:buClr>
              <a:buSzPts val="1100"/>
              <a:buNone/>
              <a:defRPr sz="1100"/>
            </a:lvl2pPr>
            <a:lvl3pPr marL="1371600" lvl="2" indent="-228600" algn="l">
              <a:lnSpc>
                <a:spcPct val="90000"/>
              </a:lnSpc>
              <a:spcBef>
                <a:spcPts val="400"/>
              </a:spcBef>
              <a:spcAft>
                <a:spcPts val="0"/>
              </a:spcAft>
              <a:buClr>
                <a:schemeClr val="dk1"/>
              </a:buClr>
              <a:buSzPts val="900"/>
              <a:buNone/>
              <a:defRPr sz="900"/>
            </a:lvl3pPr>
            <a:lvl4pPr marL="1828800" lvl="3" indent="-228600" algn="l">
              <a:lnSpc>
                <a:spcPct val="90000"/>
              </a:lnSpc>
              <a:spcBef>
                <a:spcPts val="400"/>
              </a:spcBef>
              <a:spcAft>
                <a:spcPts val="0"/>
              </a:spcAft>
              <a:buClr>
                <a:schemeClr val="dk1"/>
              </a:buClr>
              <a:buSzPts val="800"/>
              <a:buNone/>
              <a:defRPr sz="800"/>
            </a:lvl4pPr>
            <a:lvl5pPr marL="2286000" lvl="4" indent="-228600" algn="l">
              <a:lnSpc>
                <a:spcPct val="90000"/>
              </a:lnSpc>
              <a:spcBef>
                <a:spcPts val="400"/>
              </a:spcBef>
              <a:spcAft>
                <a:spcPts val="0"/>
              </a:spcAft>
              <a:buClr>
                <a:schemeClr val="dk1"/>
              </a:buClr>
              <a:buSzPts val="800"/>
              <a:buNone/>
              <a:defRPr sz="800"/>
            </a:lvl5pPr>
            <a:lvl6pPr marL="2743200" lvl="5" indent="-228600" algn="l">
              <a:lnSpc>
                <a:spcPct val="90000"/>
              </a:lnSpc>
              <a:spcBef>
                <a:spcPts val="400"/>
              </a:spcBef>
              <a:spcAft>
                <a:spcPts val="0"/>
              </a:spcAft>
              <a:buClr>
                <a:schemeClr val="dk1"/>
              </a:buClr>
              <a:buSzPts val="800"/>
              <a:buNone/>
              <a:defRPr sz="800"/>
            </a:lvl6pPr>
            <a:lvl7pPr marL="3200400" lvl="6" indent="-228600" algn="l">
              <a:lnSpc>
                <a:spcPct val="90000"/>
              </a:lnSpc>
              <a:spcBef>
                <a:spcPts val="400"/>
              </a:spcBef>
              <a:spcAft>
                <a:spcPts val="0"/>
              </a:spcAft>
              <a:buClr>
                <a:schemeClr val="dk1"/>
              </a:buClr>
              <a:buSzPts val="800"/>
              <a:buNone/>
              <a:defRPr sz="800"/>
            </a:lvl7pPr>
            <a:lvl8pPr marL="3657600" lvl="7" indent="-228600" algn="l">
              <a:lnSpc>
                <a:spcPct val="90000"/>
              </a:lnSpc>
              <a:spcBef>
                <a:spcPts val="400"/>
              </a:spcBef>
              <a:spcAft>
                <a:spcPts val="0"/>
              </a:spcAft>
              <a:buClr>
                <a:schemeClr val="dk1"/>
              </a:buClr>
              <a:buSzPts val="800"/>
              <a:buNone/>
              <a:defRPr sz="800"/>
            </a:lvl8pPr>
            <a:lvl9pPr marL="4114800" lvl="8" indent="-228600" algn="l">
              <a:lnSpc>
                <a:spcPct val="90000"/>
              </a:lnSpc>
              <a:spcBef>
                <a:spcPts val="400"/>
              </a:spcBef>
              <a:spcAft>
                <a:spcPts val="0"/>
              </a:spcAft>
              <a:buClr>
                <a:schemeClr val="dk1"/>
              </a:buClr>
              <a:buSzPts val="800"/>
              <a:buNone/>
              <a:defRPr sz="800"/>
            </a:lvl9pPr>
          </a:lstStyle>
          <a:p/>
        </p:txBody>
      </p:sp>
      <p:sp>
        <p:nvSpPr>
          <p:cNvPr id="58" name="Shape 46"/>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59" name="Shape 47"/>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60" name="Shape 48"/>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matchingName="图片与标题">
  <p:cSld name="PICTURE_WITH_CAPTION_TEXT">
    <p:spTree>
      <p:nvGrpSpPr>
        <p:cNvPr id="61" name="Shape 61"/>
        <p:cNvGrpSpPr/>
        <p:nvPr/>
      </p:nvGrpSpPr>
      <p:grpSpPr>
        <a:xfrm>
          <a:off x="0" y="0"/>
          <a:ext cx="0" cy="0"/>
          <a:chOff x="0" y="0"/>
          <a:chExt cx="0" cy="0"/>
        </a:xfrm>
      </p:grpSpPr>
      <p:sp>
        <p:nvSpPr>
          <p:cNvPr id="62" name="Shape 24"/>
          <p:cNvSpPr txBox="1"/>
          <p:nvPr>
            <p:ph type="title"/>
          </p:nvPr>
        </p:nvSpPr>
        <p:spPr>
          <a:xfrm>
            <a:off x="629841" y="342900"/>
            <a:ext cx="2949178" cy="1200150"/>
          </a:xfrm>
          <a:prstGeom prst="rect">
            <a:avLst/>
          </a:prstGeom>
          <a:noFill/>
          <a:ln>
            <a:noFill/>
          </a:ln>
        </p:spPr>
        <p:txBody>
          <a:bodyPr spcFirstLastPara="1" wrap="square" lIns="68575" tIns="34275" rIns="68575" bIns="34275" anchor="b" anchorCtr="0">
            <a:normAutofit/>
          </a:bodyPr>
          <a:lstStyle>
            <a:lvl1pPr lvl="0" algn="l">
              <a:lnSpc>
                <a:spcPct val="90000"/>
              </a:lnSpc>
              <a:spcBef>
                <a:spcPts val="0"/>
              </a:spcBef>
              <a:spcAft>
                <a:spcPts val="0"/>
              </a:spcAft>
              <a:buClr>
                <a:schemeClr val="dk1"/>
              </a:buClr>
              <a:buSzPts val="2400"/>
              <a:buFont typeface="Arial" panose="020B0604020202020204"/>
              <a:buNone/>
              <a:defRPr sz="24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63" name="Shape 25"/>
          <p:cNvSpPr/>
          <p:nvPr>
            <p:ph type="pic" idx="2"/>
          </p:nvPr>
        </p:nvSpPr>
        <p:spPr>
          <a:xfrm>
            <a:off x="3887391" y="740569"/>
            <a:ext cx="4629150" cy="3655219"/>
          </a:xfrm>
          <a:prstGeom prst="rect">
            <a:avLst/>
          </a:prstGeom>
          <a:noFill/>
          <a:ln>
            <a:noFill/>
          </a:ln>
        </p:spPr>
      </p:sp>
      <p:sp>
        <p:nvSpPr>
          <p:cNvPr id="64" name="Shape 26"/>
          <p:cNvSpPr txBox="1"/>
          <p:nvPr>
            <p:ph type="body" idx="1"/>
          </p:nvPr>
        </p:nvSpPr>
        <p:spPr>
          <a:xfrm>
            <a:off x="629841" y="1543050"/>
            <a:ext cx="2949178" cy="2858691"/>
          </a:xfrm>
          <a:prstGeom prst="rect">
            <a:avLst/>
          </a:prstGeom>
          <a:noFill/>
          <a:ln>
            <a:noFill/>
          </a:ln>
        </p:spPr>
        <p:txBody>
          <a:bodyPr spcFirstLastPara="1" wrap="square" lIns="68575" tIns="34275" rIns="68575" bIns="34275" anchor="t" anchorCtr="0">
            <a:normAutofit/>
          </a:bodyPr>
          <a:lstStyle>
            <a:lvl1pPr marL="457200" lvl="0" indent="-228600" algn="l">
              <a:lnSpc>
                <a:spcPct val="90000"/>
              </a:lnSpc>
              <a:spcBef>
                <a:spcPts val="800"/>
              </a:spcBef>
              <a:spcAft>
                <a:spcPts val="0"/>
              </a:spcAft>
              <a:buClr>
                <a:schemeClr val="dk1"/>
              </a:buClr>
              <a:buSzPts val="1200"/>
              <a:buNone/>
              <a:defRPr sz="1200"/>
            </a:lvl1pPr>
            <a:lvl2pPr marL="914400" lvl="1" indent="-228600" algn="l">
              <a:lnSpc>
                <a:spcPct val="90000"/>
              </a:lnSpc>
              <a:spcBef>
                <a:spcPts val="400"/>
              </a:spcBef>
              <a:spcAft>
                <a:spcPts val="0"/>
              </a:spcAft>
              <a:buClr>
                <a:schemeClr val="dk1"/>
              </a:buClr>
              <a:buSzPts val="1100"/>
              <a:buNone/>
              <a:defRPr sz="1100"/>
            </a:lvl2pPr>
            <a:lvl3pPr marL="1371600" lvl="2" indent="-228600" algn="l">
              <a:lnSpc>
                <a:spcPct val="90000"/>
              </a:lnSpc>
              <a:spcBef>
                <a:spcPts val="400"/>
              </a:spcBef>
              <a:spcAft>
                <a:spcPts val="0"/>
              </a:spcAft>
              <a:buClr>
                <a:schemeClr val="dk1"/>
              </a:buClr>
              <a:buSzPts val="900"/>
              <a:buNone/>
              <a:defRPr sz="900"/>
            </a:lvl3pPr>
            <a:lvl4pPr marL="1828800" lvl="3" indent="-228600" algn="l">
              <a:lnSpc>
                <a:spcPct val="90000"/>
              </a:lnSpc>
              <a:spcBef>
                <a:spcPts val="400"/>
              </a:spcBef>
              <a:spcAft>
                <a:spcPts val="0"/>
              </a:spcAft>
              <a:buClr>
                <a:schemeClr val="dk1"/>
              </a:buClr>
              <a:buSzPts val="800"/>
              <a:buNone/>
              <a:defRPr sz="800"/>
            </a:lvl4pPr>
            <a:lvl5pPr marL="2286000" lvl="4" indent="-228600" algn="l">
              <a:lnSpc>
                <a:spcPct val="90000"/>
              </a:lnSpc>
              <a:spcBef>
                <a:spcPts val="400"/>
              </a:spcBef>
              <a:spcAft>
                <a:spcPts val="0"/>
              </a:spcAft>
              <a:buClr>
                <a:schemeClr val="dk1"/>
              </a:buClr>
              <a:buSzPts val="800"/>
              <a:buNone/>
              <a:defRPr sz="800"/>
            </a:lvl5pPr>
            <a:lvl6pPr marL="2743200" lvl="5" indent="-228600" algn="l">
              <a:lnSpc>
                <a:spcPct val="90000"/>
              </a:lnSpc>
              <a:spcBef>
                <a:spcPts val="400"/>
              </a:spcBef>
              <a:spcAft>
                <a:spcPts val="0"/>
              </a:spcAft>
              <a:buClr>
                <a:schemeClr val="dk1"/>
              </a:buClr>
              <a:buSzPts val="800"/>
              <a:buNone/>
              <a:defRPr sz="800"/>
            </a:lvl6pPr>
            <a:lvl7pPr marL="3200400" lvl="6" indent="-228600" algn="l">
              <a:lnSpc>
                <a:spcPct val="90000"/>
              </a:lnSpc>
              <a:spcBef>
                <a:spcPts val="400"/>
              </a:spcBef>
              <a:spcAft>
                <a:spcPts val="0"/>
              </a:spcAft>
              <a:buClr>
                <a:schemeClr val="dk1"/>
              </a:buClr>
              <a:buSzPts val="800"/>
              <a:buNone/>
              <a:defRPr sz="800"/>
            </a:lvl7pPr>
            <a:lvl8pPr marL="3657600" lvl="7" indent="-228600" algn="l">
              <a:lnSpc>
                <a:spcPct val="90000"/>
              </a:lnSpc>
              <a:spcBef>
                <a:spcPts val="400"/>
              </a:spcBef>
              <a:spcAft>
                <a:spcPts val="0"/>
              </a:spcAft>
              <a:buClr>
                <a:schemeClr val="dk1"/>
              </a:buClr>
              <a:buSzPts val="800"/>
              <a:buNone/>
              <a:defRPr sz="800"/>
            </a:lvl8pPr>
            <a:lvl9pPr marL="4114800" lvl="8" indent="-228600" algn="l">
              <a:lnSpc>
                <a:spcPct val="90000"/>
              </a:lnSpc>
              <a:spcBef>
                <a:spcPts val="400"/>
              </a:spcBef>
              <a:spcAft>
                <a:spcPts val="0"/>
              </a:spcAft>
              <a:buClr>
                <a:schemeClr val="dk1"/>
              </a:buClr>
              <a:buSzPts val="800"/>
              <a:buNone/>
              <a:defRPr sz="800"/>
            </a:lvl9pPr>
          </a:lstStyle>
          <a:p/>
        </p:txBody>
      </p:sp>
      <p:sp>
        <p:nvSpPr>
          <p:cNvPr id="65" name="Shape 27"/>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66" name="Shape 28"/>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67" name="Shape 29"/>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matchingName="标题和竖排文字">
  <p:cSld name="VERTICAL_TEXT">
    <p:spTree>
      <p:nvGrpSpPr>
        <p:cNvPr id="68" name="Shape 68"/>
        <p:cNvGrpSpPr/>
        <p:nvPr/>
      </p:nvGrpSpPr>
      <p:grpSpPr>
        <a:xfrm>
          <a:off x="0" y="0"/>
          <a:ext cx="0" cy="0"/>
          <a:chOff x="0" y="0"/>
          <a:chExt cx="0" cy="0"/>
        </a:xfrm>
      </p:grpSpPr>
      <p:sp>
        <p:nvSpPr>
          <p:cNvPr id="69" name="Shape 49"/>
          <p:cNvSpPr txBox="1"/>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70" name="Shape 50"/>
          <p:cNvSpPr txBox="1"/>
          <p:nvPr>
            <p:ph type="body" idx="1"/>
          </p:nvPr>
        </p:nvSpPr>
        <p:spPr>
          <a:xfrm rot="5400000">
            <a:off x="2940248" y="-942379"/>
            <a:ext cx="3263504" cy="7886700"/>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p:txBody>
      </p:sp>
      <p:sp>
        <p:nvSpPr>
          <p:cNvPr id="71" name="Shape 51"/>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2" name="Shape 52"/>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3" name="Shape 53"/>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matchingName="竖排标题与文本">
  <p:cSld name="VERTICAL_TITLE_AND_VERTICAL_TEXT">
    <p:spTree>
      <p:nvGrpSpPr>
        <p:cNvPr id="74" name="Shape 74"/>
        <p:cNvGrpSpPr/>
        <p:nvPr/>
      </p:nvGrpSpPr>
      <p:grpSpPr>
        <a:xfrm>
          <a:off x="0" y="0"/>
          <a:ext cx="0" cy="0"/>
          <a:chOff x="0" y="0"/>
          <a:chExt cx="0" cy="0"/>
        </a:xfrm>
      </p:grpSpPr>
      <p:sp>
        <p:nvSpPr>
          <p:cNvPr id="75" name="Shape 15"/>
          <p:cNvSpPr txBox="1"/>
          <p:nvPr>
            <p:ph type="title"/>
          </p:nvPr>
        </p:nvSpPr>
        <p:spPr>
          <a:xfrm rot="5400000">
            <a:off x="5350073" y="1467445"/>
            <a:ext cx="4358879" cy="1971675"/>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76" name="Shape 16"/>
          <p:cNvSpPr txBox="1"/>
          <p:nvPr>
            <p:ph type="body" idx="1"/>
          </p:nvPr>
        </p:nvSpPr>
        <p:spPr>
          <a:xfrm rot="5400000">
            <a:off x="1349573" y="-447080"/>
            <a:ext cx="4358879" cy="5800725"/>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p:txBody>
      </p:sp>
      <p:sp>
        <p:nvSpPr>
          <p:cNvPr id="77" name="Shape 17"/>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8" name="Shape 18"/>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9" name="Shape 19"/>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2" Type="http://schemas.openxmlformats.org/officeDocument/2006/relationships/theme" Target="../theme/theme2.xml"/><Relationship Id="rId1" Type="http://schemas.openxmlformats.org/officeDocument/2006/relationships/slideLayout" Target="../slideLayouts/slideLayout1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5" name="Shape 5"/>
        <p:cNvGrpSpPr/>
        <p:nvPr/>
      </p:nvGrpSpPr>
      <p:grpSpPr>
        <a:xfrm>
          <a:off x="0" y="0"/>
          <a:ext cx="0" cy="0"/>
          <a:chOff x="0" y="0"/>
          <a:chExt cx="0" cy="0"/>
        </a:xfrm>
      </p:grpSpPr>
      <p:sp>
        <p:nvSpPr>
          <p:cNvPr id="6" name="Shape 1"/>
          <p:cNvSpPr txBox="1"/>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marR="0" lvl="0" algn="l" rtl="0">
              <a:lnSpc>
                <a:spcPct val="90000"/>
              </a:lnSpc>
              <a:spcBef>
                <a:spcPts val="0"/>
              </a:spcBef>
              <a:spcAft>
                <a:spcPts val="0"/>
              </a:spcAft>
              <a:buClr>
                <a:schemeClr val="dk1"/>
              </a:buClr>
              <a:buSzPts val="3300"/>
              <a:buFont typeface="Arial" panose="020B0604020202020204"/>
              <a:buNone/>
              <a:defRPr sz="3300" b="0" i="0" u="none" strike="noStrike" cap="none">
                <a:solidFill>
                  <a:schemeClr val="dk1"/>
                </a:solidFill>
                <a:latin typeface="Arial" panose="020B0604020202020204"/>
                <a:ea typeface="Arial" panose="020B0604020202020204"/>
                <a:cs typeface="Arial" panose="020B0604020202020204"/>
                <a:sym typeface="Arial" panose="020B0604020202020204"/>
              </a:defRPr>
            </a:lvl1pPr>
            <a:lvl2pPr lvl="1">
              <a:spcBef>
                <a:spcPts val="0"/>
              </a:spcBef>
              <a:spcAft>
                <a:spcPts val="0"/>
              </a:spcAft>
              <a:buSzPts val="1100"/>
              <a:buNone/>
              <a:defRPr sz="1400"/>
            </a:lvl2pPr>
            <a:lvl3pPr lvl="2">
              <a:spcBef>
                <a:spcPts val="0"/>
              </a:spcBef>
              <a:spcAft>
                <a:spcPts val="0"/>
              </a:spcAft>
              <a:buSzPts val="1100"/>
              <a:buNone/>
              <a:defRPr sz="1400"/>
            </a:lvl3pPr>
            <a:lvl4pPr lvl="3">
              <a:spcBef>
                <a:spcPts val="0"/>
              </a:spcBef>
              <a:spcAft>
                <a:spcPts val="0"/>
              </a:spcAft>
              <a:buSzPts val="1100"/>
              <a:buNone/>
              <a:defRPr sz="1400"/>
            </a:lvl4pPr>
            <a:lvl5pPr lvl="4">
              <a:spcBef>
                <a:spcPts val="0"/>
              </a:spcBef>
              <a:spcAft>
                <a:spcPts val="0"/>
              </a:spcAft>
              <a:buSzPts val="1100"/>
              <a:buNone/>
              <a:defRPr sz="1400"/>
            </a:lvl5pPr>
            <a:lvl6pPr lvl="5">
              <a:spcBef>
                <a:spcPts val="0"/>
              </a:spcBef>
              <a:spcAft>
                <a:spcPts val="0"/>
              </a:spcAft>
              <a:buSzPts val="1100"/>
              <a:buNone/>
              <a:defRPr sz="1400"/>
            </a:lvl6pPr>
            <a:lvl7pPr lvl="6">
              <a:spcBef>
                <a:spcPts val="0"/>
              </a:spcBef>
              <a:spcAft>
                <a:spcPts val="0"/>
              </a:spcAft>
              <a:buSzPts val="1100"/>
              <a:buNone/>
              <a:defRPr sz="1400"/>
            </a:lvl7pPr>
            <a:lvl8pPr lvl="7">
              <a:spcBef>
                <a:spcPts val="0"/>
              </a:spcBef>
              <a:spcAft>
                <a:spcPts val="0"/>
              </a:spcAft>
              <a:buSzPts val="1100"/>
              <a:buNone/>
              <a:defRPr sz="1400"/>
            </a:lvl8pPr>
            <a:lvl9pPr lvl="8">
              <a:spcBef>
                <a:spcPts val="0"/>
              </a:spcBef>
              <a:spcAft>
                <a:spcPts val="0"/>
              </a:spcAft>
              <a:buSzPts val="1100"/>
              <a:buNone/>
              <a:defRPr sz="1400"/>
            </a:lvl9pPr>
          </a:lstStyle>
          <a:p/>
        </p:txBody>
      </p:sp>
      <p:sp>
        <p:nvSpPr>
          <p:cNvPr id="7" name="Shape 2"/>
          <p:cNvSpPr txBox="1"/>
          <p:nvPr>
            <p:ph type="body" idx="1"/>
          </p:nvPr>
        </p:nvSpPr>
        <p:spPr>
          <a:xfrm>
            <a:off x="628650" y="1369219"/>
            <a:ext cx="7886700" cy="3263504"/>
          </a:xfrm>
          <a:prstGeom prst="rect">
            <a:avLst/>
          </a:prstGeom>
          <a:noFill/>
          <a:ln>
            <a:noFill/>
          </a:ln>
        </p:spPr>
        <p:txBody>
          <a:bodyPr spcFirstLastPara="1" wrap="square" lIns="68575" tIns="34275" rIns="68575" bIns="34275" anchor="t" anchorCtr="0">
            <a:normAutofit/>
          </a:bodyPr>
          <a:lstStyle>
            <a:lvl1pPr marL="457200" marR="0" lvl="0" indent="-361950" algn="l" rtl="0">
              <a:lnSpc>
                <a:spcPct val="90000"/>
              </a:lnSpc>
              <a:spcBef>
                <a:spcPts val="800"/>
              </a:spcBef>
              <a:spcAft>
                <a:spcPts val="0"/>
              </a:spcAft>
              <a:buClr>
                <a:schemeClr val="dk1"/>
              </a:buClr>
              <a:buSzPts val="2100"/>
              <a:buFont typeface="Arial" panose="020B0604020202020204"/>
              <a:buChar char="•"/>
              <a:defRPr sz="2100" b="0" i="0" u="none" strike="noStrike" cap="none">
                <a:solidFill>
                  <a:schemeClr val="dk1"/>
                </a:solidFill>
                <a:latin typeface="Arial" panose="020B0604020202020204"/>
                <a:ea typeface="Arial" panose="020B0604020202020204"/>
                <a:cs typeface="Arial" panose="020B0604020202020204"/>
                <a:sym typeface="Arial" panose="020B0604020202020204"/>
              </a:defRPr>
            </a:lvl1pPr>
            <a:lvl2pPr marL="914400" marR="0" lvl="1" indent="-342900" algn="l" rtl="0">
              <a:lnSpc>
                <a:spcPct val="90000"/>
              </a:lnSpc>
              <a:spcBef>
                <a:spcPts val="400"/>
              </a:spcBef>
              <a:spcAft>
                <a:spcPts val="0"/>
              </a:spcAft>
              <a:buClr>
                <a:schemeClr val="dk1"/>
              </a:buClr>
              <a:buSzPts val="1800"/>
              <a:buFont typeface="Arial" panose="020B0604020202020204"/>
              <a:buChar char="•"/>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2pPr>
            <a:lvl3pPr marL="1371600" marR="0" lvl="2" indent="-323850" algn="l" rtl="0">
              <a:lnSpc>
                <a:spcPct val="90000"/>
              </a:lnSpc>
              <a:spcBef>
                <a:spcPts val="400"/>
              </a:spcBef>
              <a:spcAft>
                <a:spcPts val="0"/>
              </a:spcAft>
              <a:buClr>
                <a:schemeClr val="dk1"/>
              </a:buClr>
              <a:buSzPts val="1500"/>
              <a:buFont typeface="Arial" panose="020B0604020202020204"/>
              <a:buChar char="•"/>
              <a:defRPr sz="1500" b="0" i="0" u="none" strike="noStrike" cap="none">
                <a:solidFill>
                  <a:schemeClr val="dk1"/>
                </a:solidFill>
                <a:latin typeface="Arial" panose="020B0604020202020204"/>
                <a:ea typeface="Arial" panose="020B0604020202020204"/>
                <a:cs typeface="Arial" panose="020B0604020202020204"/>
                <a:sym typeface="Arial" panose="020B0604020202020204"/>
              </a:defRPr>
            </a:lvl3pPr>
            <a:lvl4pPr marL="1828800" marR="0" lvl="3" indent="-317500" algn="l" rtl="0">
              <a:lnSpc>
                <a:spcPct val="90000"/>
              </a:lnSpc>
              <a:spcBef>
                <a:spcPts val="400"/>
              </a:spcBef>
              <a:spcAft>
                <a:spcPts val="0"/>
              </a:spcAft>
              <a:buClr>
                <a:schemeClr val="dk1"/>
              </a:buClr>
              <a:buSzPts val="1400"/>
              <a:buFont typeface="Arial" panose="020B0604020202020204"/>
              <a:buChar char="•"/>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4pPr>
            <a:lvl5pPr marL="2286000" marR="0" lvl="4" indent="-317500" algn="l" rtl="0">
              <a:lnSpc>
                <a:spcPct val="90000"/>
              </a:lnSpc>
              <a:spcBef>
                <a:spcPts val="400"/>
              </a:spcBef>
              <a:spcAft>
                <a:spcPts val="0"/>
              </a:spcAft>
              <a:buClr>
                <a:schemeClr val="dk1"/>
              </a:buClr>
              <a:buSzPts val="1400"/>
              <a:buFont typeface="Arial" panose="020B0604020202020204"/>
              <a:buChar char="•"/>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5pPr>
            <a:lvl6pPr marL="2743200" marR="0" lvl="5" indent="-317500" algn="l" rtl="0">
              <a:lnSpc>
                <a:spcPct val="90000"/>
              </a:lnSpc>
              <a:spcBef>
                <a:spcPts val="400"/>
              </a:spcBef>
              <a:spcAft>
                <a:spcPts val="0"/>
              </a:spcAft>
              <a:buClr>
                <a:schemeClr val="dk1"/>
              </a:buClr>
              <a:buSzPts val="1400"/>
              <a:buFont typeface="Arial" panose="020B0604020202020204"/>
              <a:buChar char="•"/>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6pPr>
            <a:lvl7pPr marL="3200400" marR="0" lvl="6" indent="-317500" algn="l" rtl="0">
              <a:lnSpc>
                <a:spcPct val="90000"/>
              </a:lnSpc>
              <a:spcBef>
                <a:spcPts val="400"/>
              </a:spcBef>
              <a:spcAft>
                <a:spcPts val="0"/>
              </a:spcAft>
              <a:buClr>
                <a:schemeClr val="dk1"/>
              </a:buClr>
              <a:buSzPts val="1400"/>
              <a:buFont typeface="Arial" panose="020B0604020202020204"/>
              <a:buChar char="•"/>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7pPr>
            <a:lvl8pPr marL="3657600" marR="0" lvl="7" indent="-317500" algn="l" rtl="0">
              <a:lnSpc>
                <a:spcPct val="90000"/>
              </a:lnSpc>
              <a:spcBef>
                <a:spcPts val="400"/>
              </a:spcBef>
              <a:spcAft>
                <a:spcPts val="0"/>
              </a:spcAft>
              <a:buClr>
                <a:schemeClr val="dk1"/>
              </a:buClr>
              <a:buSzPts val="1400"/>
              <a:buFont typeface="Arial" panose="020B0604020202020204"/>
              <a:buChar char="•"/>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8pPr>
            <a:lvl9pPr marL="4114800" marR="0" lvl="8" indent="-317500" algn="l" rtl="0">
              <a:lnSpc>
                <a:spcPct val="90000"/>
              </a:lnSpc>
              <a:spcBef>
                <a:spcPts val="400"/>
              </a:spcBef>
              <a:spcAft>
                <a:spcPts val="0"/>
              </a:spcAft>
              <a:buClr>
                <a:schemeClr val="dk1"/>
              </a:buClr>
              <a:buSzPts val="1400"/>
              <a:buFont typeface="Arial" panose="020B0604020202020204"/>
              <a:buChar char="•"/>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9pPr>
          </a:lstStyle>
          <a:p/>
        </p:txBody>
      </p:sp>
      <p:sp>
        <p:nvSpPr>
          <p:cNvPr id="8" name="Shape 3"/>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marR="0" lvl="0" algn="l" rtl="0">
              <a:spcBef>
                <a:spcPts val="0"/>
              </a:spcBef>
              <a:spcAft>
                <a:spcPts val="0"/>
              </a:spcAft>
              <a:buSzPts val="1100"/>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1pPr>
            <a:lvl2pPr marR="0" lvl="1"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2pPr>
            <a:lvl3pPr marR="0" lvl="2"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3pPr>
            <a:lvl4pPr marR="0" lvl="3"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4pPr>
            <a:lvl5pPr marR="0" lvl="4"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5pPr>
            <a:lvl6pPr marR="0" lvl="5"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6pPr>
            <a:lvl7pPr marR="0" lvl="6"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7pPr>
            <a:lvl8pPr marR="0" lvl="7"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8pPr>
            <a:lvl9pPr marR="0" lvl="8"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9pPr>
          </a:lstStyle>
          <a:p/>
        </p:txBody>
      </p:sp>
      <p:sp>
        <p:nvSpPr>
          <p:cNvPr id="9" name="Shape 4"/>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marR="0" lvl="0" algn="ctr" rtl="0">
              <a:spcBef>
                <a:spcPts val="0"/>
              </a:spcBef>
              <a:spcAft>
                <a:spcPts val="0"/>
              </a:spcAft>
              <a:buSzPts val="1100"/>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1pPr>
            <a:lvl2pPr marR="0" lvl="1"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2pPr>
            <a:lvl3pPr marR="0" lvl="2"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3pPr>
            <a:lvl4pPr marR="0" lvl="3"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4pPr>
            <a:lvl5pPr marR="0" lvl="4"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5pPr>
            <a:lvl6pPr marR="0" lvl="5"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6pPr>
            <a:lvl7pPr marR="0" lvl="6"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7pPr>
            <a:lvl8pPr marR="0" lvl="7"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8pPr>
            <a:lvl9pPr marR="0" lvl="8"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9pPr>
          </a:lstStyle>
          <a:p/>
        </p:txBody>
      </p:sp>
      <p:sp>
        <p:nvSpPr>
          <p:cNvPr id="10" name="Shape 5"/>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marR="0" lvl="0"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1pPr>
            <a:lvl2pPr marL="0" marR="0" lvl="1"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2pPr>
            <a:lvl3pPr marL="0" marR="0" lvl="2"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3pPr>
            <a:lvl4pPr marL="0" marR="0" lvl="3"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4pPr>
            <a:lvl5pPr marL="0" marR="0" lvl="4"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5pPr>
            <a:lvl6pPr marL="0" marR="0" lvl="5"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6pPr>
            <a:lvl7pPr marL="0" marR="0" lvl="6"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7pPr>
            <a:lvl8pPr marL="0" marR="0" lvl="7"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8pPr>
            <a:lvl9pPr marL="0" marR="0" lvl="8"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9pPr>
          </a:lstStyle>
          <a:p>
            <a:pPr marL="0" lvl="0" indent="0" algn="r" rtl="0">
              <a:spcBef>
                <a:spcPts val="0"/>
              </a:spcBef>
              <a:spcAft>
                <a:spcPts val="0"/>
              </a:spcAft>
              <a:buNone/>
            </a:pPr>
            <a:fld id="{00000000-1234-1234-1234-123412341234}" type="slidenum">
              <a:rPr lang="zh-CN"/>
            </a:fld>
            <a:endParaRPr lang="zh-CN"/>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5" name="Shape 5"/>
        <p:cNvGrpSpPr/>
        <p:nvPr/>
      </p:nvGrpSpPr>
      <p:grpSpPr>
        <a:xfrm>
          <a:off x="0" y="0"/>
          <a:ext cx="0" cy="0"/>
          <a:chOff x="0" y="0"/>
          <a:chExt cx="0" cy="0"/>
        </a:xfrm>
      </p:grpSpPr>
    </p:spTree>
  </p:cSld>
  <p:clrMap bg1="lt1" tx1="dk1" bg2="dk2" tx2="lt2" accent1="accent1" accent2="accent2" accent3="accent3" accent4="accent4" accent5="accent5" accent6="accent6" hlink="hlink" folHlink="folHlink"/>
  <p:sldLayoutIdLst>
    <p:sldLayoutId id="2147483661" r:id="rId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12.xml"/><Relationship Id="rId1" Type="http://schemas.openxmlformats.org/officeDocument/2006/relationships/image" Target="../media/image1.jpeg"/></Relationships>
</file>

<file path=ppt/slides/_rels/slide2.xml.rels><?xml version="1.0" encoding="UTF-8" standalone="yes"?>
<Relationships xmlns="http://schemas.openxmlformats.org/package/2006/relationships"><Relationship Id="rId9" Type="http://schemas.openxmlformats.org/officeDocument/2006/relationships/image" Target="../media/image10.svg"/><Relationship Id="rId8" Type="http://schemas.openxmlformats.org/officeDocument/2006/relationships/image" Target="../media/image9.png"/><Relationship Id="rId7" Type="http://schemas.openxmlformats.org/officeDocument/2006/relationships/image" Target="../media/image8.svg"/><Relationship Id="rId6" Type="http://schemas.openxmlformats.org/officeDocument/2006/relationships/image" Target="../media/image7.png"/><Relationship Id="rId5" Type="http://schemas.openxmlformats.org/officeDocument/2006/relationships/image" Target="../media/image6.svg"/><Relationship Id="rId4" Type="http://schemas.openxmlformats.org/officeDocument/2006/relationships/image" Target="../media/image5.png"/><Relationship Id="rId3" Type="http://schemas.openxmlformats.org/officeDocument/2006/relationships/image" Target="../media/image4.svg"/><Relationship Id="rId2" Type="http://schemas.openxmlformats.org/officeDocument/2006/relationships/image" Target="../media/image3.png"/><Relationship Id="rId15" Type="http://schemas.openxmlformats.org/officeDocument/2006/relationships/notesSlide" Target="../notesSlides/notesSlide2.xml"/><Relationship Id="rId14" Type="http://schemas.openxmlformats.org/officeDocument/2006/relationships/slideLayout" Target="../slideLayouts/slideLayout12.xml"/><Relationship Id="rId13" Type="http://schemas.openxmlformats.org/officeDocument/2006/relationships/image" Target="../media/image14.svg"/><Relationship Id="rId12" Type="http://schemas.openxmlformats.org/officeDocument/2006/relationships/image" Target="../media/image13.png"/><Relationship Id="rId11" Type="http://schemas.openxmlformats.org/officeDocument/2006/relationships/image" Target="../media/image12.svg"/><Relationship Id="rId10" Type="http://schemas.openxmlformats.org/officeDocument/2006/relationships/image" Target="../media/image11.png"/><Relationship Id="rId1" Type="http://schemas.openxmlformats.org/officeDocument/2006/relationships/image" Target="../media/image2.jpeg"/></Relationships>
</file>

<file path=ppt/slides/_rels/slide3.xml.rels><?xml version="1.0" encoding="UTF-8" standalone="yes"?>
<Relationships xmlns="http://schemas.openxmlformats.org/package/2006/relationships"><Relationship Id="rId9" Type="http://schemas.openxmlformats.org/officeDocument/2006/relationships/image" Target="../media/image18.svg"/><Relationship Id="rId8" Type="http://schemas.openxmlformats.org/officeDocument/2006/relationships/image" Target="../media/image17.png"/><Relationship Id="rId7" Type="http://schemas.openxmlformats.org/officeDocument/2006/relationships/image" Target="../media/image6.svg"/><Relationship Id="rId6" Type="http://schemas.openxmlformats.org/officeDocument/2006/relationships/image" Target="../media/image5.png"/><Relationship Id="rId5" Type="http://schemas.openxmlformats.org/officeDocument/2006/relationships/image" Target="../media/image16.svg"/><Relationship Id="rId4" Type="http://schemas.openxmlformats.org/officeDocument/2006/relationships/image" Target="../media/image15.png"/><Relationship Id="rId3" Type="http://schemas.openxmlformats.org/officeDocument/2006/relationships/image" Target="../media/image8.svg"/><Relationship Id="rId2" Type="http://schemas.openxmlformats.org/officeDocument/2006/relationships/image" Target="../media/image7.png"/><Relationship Id="rId11" Type="http://schemas.openxmlformats.org/officeDocument/2006/relationships/notesSlide" Target="../notesSlides/notesSlide3.xml"/><Relationship Id="rId10" Type="http://schemas.openxmlformats.org/officeDocument/2006/relationships/slideLayout" Target="../slideLayouts/slideLayout12.xml"/><Relationship Id="rId1" Type="http://schemas.openxmlformats.org/officeDocument/2006/relationships/image" Target="../media/image2.jpeg"/></Relationships>
</file>

<file path=ppt/slides/_rels/slide4.xml.rels><?xml version="1.0" encoding="UTF-8" standalone="yes"?>
<Relationships xmlns="http://schemas.openxmlformats.org/package/2006/relationships"><Relationship Id="rId7" Type="http://schemas.openxmlformats.org/officeDocument/2006/relationships/notesSlide" Target="../notesSlides/notesSlide4.xml"/><Relationship Id="rId6" Type="http://schemas.openxmlformats.org/officeDocument/2006/relationships/slideLayout" Target="../slideLayouts/slideLayout12.xml"/><Relationship Id="rId5" Type="http://schemas.openxmlformats.org/officeDocument/2006/relationships/image" Target="../media/image22.svg"/><Relationship Id="rId4" Type="http://schemas.openxmlformats.org/officeDocument/2006/relationships/image" Target="../media/image21.png"/><Relationship Id="rId3" Type="http://schemas.openxmlformats.org/officeDocument/2006/relationships/image" Target="../media/image20.svg"/><Relationship Id="rId2" Type="http://schemas.openxmlformats.org/officeDocument/2006/relationships/image" Target="../media/image19.png"/><Relationship Id="rId1" Type="http://schemas.openxmlformats.org/officeDocument/2006/relationships/image" Target="../media/image2.jpeg"/></Relationships>
</file>

<file path=ppt/slides/_rels/slide5.xml.rels><?xml version="1.0" encoding="UTF-8" standalone="yes"?>
<Relationships xmlns="http://schemas.openxmlformats.org/package/2006/relationships"><Relationship Id="rId9" Type="http://schemas.openxmlformats.org/officeDocument/2006/relationships/image" Target="../media/image30.svg"/><Relationship Id="rId8" Type="http://schemas.openxmlformats.org/officeDocument/2006/relationships/image" Target="../media/image29.png"/><Relationship Id="rId7" Type="http://schemas.openxmlformats.org/officeDocument/2006/relationships/image" Target="../media/image28.svg"/><Relationship Id="rId6" Type="http://schemas.openxmlformats.org/officeDocument/2006/relationships/image" Target="../media/image27.png"/><Relationship Id="rId5" Type="http://schemas.openxmlformats.org/officeDocument/2006/relationships/image" Target="../media/image26.svg"/><Relationship Id="rId4" Type="http://schemas.openxmlformats.org/officeDocument/2006/relationships/image" Target="../media/image25.png"/><Relationship Id="rId3" Type="http://schemas.openxmlformats.org/officeDocument/2006/relationships/image" Target="../media/image24.svg"/><Relationship Id="rId2" Type="http://schemas.openxmlformats.org/officeDocument/2006/relationships/image" Target="../media/image23.png"/><Relationship Id="rId11" Type="http://schemas.openxmlformats.org/officeDocument/2006/relationships/notesSlide" Target="../notesSlides/notesSlide5.xml"/><Relationship Id="rId10" Type="http://schemas.openxmlformats.org/officeDocument/2006/relationships/slideLayout" Target="../slideLayouts/slideLayout12.xml"/><Relationship Id="rId1" Type="http://schemas.openxmlformats.org/officeDocument/2006/relationships/image" Target="../media/image2.jpeg"/></Relationships>
</file>

<file path=ppt/slides/_rels/slide6.xml.rels><?xml version="1.0" encoding="UTF-8" standalone="yes"?>
<Relationships xmlns="http://schemas.openxmlformats.org/package/2006/relationships"><Relationship Id="rId9" Type="http://schemas.openxmlformats.org/officeDocument/2006/relationships/notesSlide" Target="../notesSlides/notesSlide6.xml"/><Relationship Id="rId8" Type="http://schemas.openxmlformats.org/officeDocument/2006/relationships/slideLayout" Target="../slideLayouts/slideLayout12.xml"/><Relationship Id="rId7" Type="http://schemas.openxmlformats.org/officeDocument/2006/relationships/image" Target="../media/image34.svg"/><Relationship Id="rId6" Type="http://schemas.openxmlformats.org/officeDocument/2006/relationships/image" Target="../media/image33.png"/><Relationship Id="rId5" Type="http://schemas.openxmlformats.org/officeDocument/2006/relationships/image" Target="../media/image32.svg"/><Relationship Id="rId4" Type="http://schemas.openxmlformats.org/officeDocument/2006/relationships/image" Target="../media/image31.png"/><Relationship Id="rId3" Type="http://schemas.openxmlformats.org/officeDocument/2006/relationships/image" Target="../media/image18.svg"/><Relationship Id="rId2" Type="http://schemas.openxmlformats.org/officeDocument/2006/relationships/image" Target="../media/image17.png"/><Relationship Id="rId1" Type="http://schemas.openxmlformats.org/officeDocument/2006/relationships/image" Target="../media/image2.jpeg"/></Relationships>
</file>

<file path=ppt/slides/_rels/slide7.xml.rels><?xml version="1.0" encoding="UTF-8" standalone="yes"?>
<Relationships xmlns="http://schemas.openxmlformats.org/package/2006/relationships"><Relationship Id="rId9" Type="http://schemas.openxmlformats.org/officeDocument/2006/relationships/notesSlide" Target="../notesSlides/notesSlide7.xml"/><Relationship Id="rId8" Type="http://schemas.openxmlformats.org/officeDocument/2006/relationships/slideLayout" Target="../slideLayouts/slideLayout12.xml"/><Relationship Id="rId7" Type="http://schemas.openxmlformats.org/officeDocument/2006/relationships/image" Target="../media/image40.svg"/><Relationship Id="rId6" Type="http://schemas.openxmlformats.org/officeDocument/2006/relationships/image" Target="../media/image39.png"/><Relationship Id="rId5" Type="http://schemas.openxmlformats.org/officeDocument/2006/relationships/image" Target="../media/image38.svg"/><Relationship Id="rId4" Type="http://schemas.openxmlformats.org/officeDocument/2006/relationships/image" Target="../media/image37.png"/><Relationship Id="rId3" Type="http://schemas.openxmlformats.org/officeDocument/2006/relationships/image" Target="../media/image36.svg"/><Relationship Id="rId2" Type="http://schemas.openxmlformats.org/officeDocument/2006/relationships/image" Target="../media/image35.png"/><Relationship Id="rId1" Type="http://schemas.openxmlformats.org/officeDocument/2006/relationships/image" Target="../media/image2.jpeg"/></Relationships>
</file>

<file path=ppt/slides/_rels/slide8.xml.rels><?xml version="1.0" encoding="UTF-8" standalone="yes"?>
<Relationships xmlns="http://schemas.openxmlformats.org/package/2006/relationships"><Relationship Id="rId9" Type="http://schemas.openxmlformats.org/officeDocument/2006/relationships/notesSlide" Target="../notesSlides/notesSlide8.xml"/><Relationship Id="rId8" Type="http://schemas.openxmlformats.org/officeDocument/2006/relationships/slideLayout" Target="../slideLayouts/slideLayout12.xml"/><Relationship Id="rId7" Type="http://schemas.openxmlformats.org/officeDocument/2006/relationships/image" Target="../media/image44.svg"/><Relationship Id="rId6" Type="http://schemas.openxmlformats.org/officeDocument/2006/relationships/image" Target="../media/image43.png"/><Relationship Id="rId5" Type="http://schemas.openxmlformats.org/officeDocument/2006/relationships/image" Target="../media/image12.svg"/><Relationship Id="rId4" Type="http://schemas.openxmlformats.org/officeDocument/2006/relationships/image" Target="../media/image11.png"/><Relationship Id="rId3" Type="http://schemas.openxmlformats.org/officeDocument/2006/relationships/image" Target="../media/image42.svg"/><Relationship Id="rId2" Type="http://schemas.openxmlformats.org/officeDocument/2006/relationships/image" Target="../media/image41.png"/><Relationship Id="rId1" Type="http://schemas.openxmlformats.org/officeDocument/2006/relationships/image" Target="../media/image2.jpeg"/></Relationships>
</file>

<file path=ppt/slides/_rels/slide9.xml.rels><?xml version="1.0" encoding="UTF-8" standalone="yes"?>
<Relationships xmlns="http://schemas.openxmlformats.org/package/2006/relationships"><Relationship Id="rId9" Type="http://schemas.openxmlformats.org/officeDocument/2006/relationships/image" Target="../media/image52.png"/><Relationship Id="rId8" Type="http://schemas.openxmlformats.org/officeDocument/2006/relationships/image" Target="../media/image51.svg"/><Relationship Id="rId7" Type="http://schemas.openxmlformats.org/officeDocument/2006/relationships/image" Target="../media/image50.png"/><Relationship Id="rId6" Type="http://schemas.openxmlformats.org/officeDocument/2006/relationships/image" Target="../media/image49.jpeg"/><Relationship Id="rId5" Type="http://schemas.openxmlformats.org/officeDocument/2006/relationships/image" Target="../media/image48.svg"/><Relationship Id="rId4" Type="http://schemas.openxmlformats.org/officeDocument/2006/relationships/image" Target="../media/image47.png"/><Relationship Id="rId3" Type="http://schemas.openxmlformats.org/officeDocument/2006/relationships/image" Target="../media/image46.svg"/><Relationship Id="rId2" Type="http://schemas.openxmlformats.org/officeDocument/2006/relationships/image" Target="../media/image45.png"/><Relationship Id="rId12" Type="http://schemas.openxmlformats.org/officeDocument/2006/relationships/notesSlide" Target="../notesSlides/notesSlide9.xml"/><Relationship Id="rId11" Type="http://schemas.openxmlformats.org/officeDocument/2006/relationships/slideLayout" Target="../slideLayouts/slideLayout12.xml"/><Relationship Id="rId10" Type="http://schemas.openxmlformats.org/officeDocument/2006/relationships/image" Target="../media/image53.svg"/><Relationship Id="rId1" Type="http://schemas.openxmlformats.org/officeDocument/2006/relationships/image" Target="../media/image2.jpeg"/></Relationships>
</file>

<file path=ppt/slides/_rels/slide10.xml.rels><?xml version="1.0" encoding="UTF-8" standalone="yes"?>
<Relationships xmlns="http://schemas.openxmlformats.org/package/2006/relationships"><Relationship Id="rId9" Type="http://schemas.openxmlformats.org/officeDocument/2006/relationships/notesSlide" Target="../notesSlides/notesSlide10.xml"/><Relationship Id="rId8" Type="http://schemas.openxmlformats.org/officeDocument/2006/relationships/slideLayout" Target="../slideLayouts/slideLayout12.xml"/><Relationship Id="rId7" Type="http://schemas.openxmlformats.org/officeDocument/2006/relationships/image" Target="../media/image55.svg"/><Relationship Id="rId6" Type="http://schemas.openxmlformats.org/officeDocument/2006/relationships/image" Target="../media/image54.png"/><Relationship Id="rId5" Type="http://schemas.openxmlformats.org/officeDocument/2006/relationships/image" Target="../media/image36.svg"/><Relationship Id="rId4" Type="http://schemas.openxmlformats.org/officeDocument/2006/relationships/image" Target="../media/image35.png"/><Relationship Id="rId3" Type="http://schemas.openxmlformats.org/officeDocument/2006/relationships/image" Target="../media/image30.svg"/><Relationship Id="rId2" Type="http://schemas.openxmlformats.org/officeDocument/2006/relationships/image" Target="../media/image29.png"/><Relationship Id="rId1" Type="http://schemas.openxmlformats.org/officeDocument/2006/relationships/image" Target="../media/image2.jpeg"/></Relationships>
</file>

<file path=ppt/slides/_rels/slide11.xml.rels><?xml version="1.0" encoding="UTF-8" standalone="yes"?>
<Relationships xmlns="http://schemas.openxmlformats.org/package/2006/relationships"><Relationship Id="rId9" Type="http://schemas.openxmlformats.org/officeDocument/2006/relationships/notesSlide" Target="../notesSlides/notesSlide11.xml"/><Relationship Id="rId8" Type="http://schemas.openxmlformats.org/officeDocument/2006/relationships/slideLayout" Target="../slideLayouts/slideLayout12.xml"/><Relationship Id="rId7" Type="http://schemas.openxmlformats.org/officeDocument/2006/relationships/image" Target="../media/image61.svg"/><Relationship Id="rId6" Type="http://schemas.openxmlformats.org/officeDocument/2006/relationships/image" Target="../media/image60.png"/><Relationship Id="rId5" Type="http://schemas.openxmlformats.org/officeDocument/2006/relationships/image" Target="../media/image59.svg"/><Relationship Id="rId4" Type="http://schemas.openxmlformats.org/officeDocument/2006/relationships/image" Target="../media/image58.png"/><Relationship Id="rId3" Type="http://schemas.openxmlformats.org/officeDocument/2006/relationships/image" Target="../media/image57.svg"/><Relationship Id="rId2" Type="http://schemas.openxmlformats.org/officeDocument/2006/relationships/image" Target="../media/image56.png"/><Relationship Id="rId1" Type="http://schemas.openxmlformats.org/officeDocument/2006/relationships/image" Target="../media/image2.jpeg"/></Relationships>
</file>

<file path=ppt/slides/_rels/slide12.xml.rels><?xml version="1.0" encoding="UTF-8" standalone="yes"?>
<Relationships xmlns="http://schemas.openxmlformats.org/package/2006/relationships"><Relationship Id="rId9" Type="http://schemas.openxmlformats.org/officeDocument/2006/relationships/image" Target="../media/image4.svg"/><Relationship Id="rId8" Type="http://schemas.openxmlformats.org/officeDocument/2006/relationships/image" Target="../media/image68.png"/><Relationship Id="rId7" Type="http://schemas.openxmlformats.org/officeDocument/2006/relationships/image" Target="../media/image67.svg"/><Relationship Id="rId6" Type="http://schemas.openxmlformats.org/officeDocument/2006/relationships/image" Target="../media/image66.png"/><Relationship Id="rId5" Type="http://schemas.openxmlformats.org/officeDocument/2006/relationships/image" Target="../media/image65.svg"/><Relationship Id="rId4" Type="http://schemas.openxmlformats.org/officeDocument/2006/relationships/image" Target="../media/image64.png"/><Relationship Id="rId3" Type="http://schemas.openxmlformats.org/officeDocument/2006/relationships/image" Target="../media/image63.svg"/><Relationship Id="rId2" Type="http://schemas.openxmlformats.org/officeDocument/2006/relationships/image" Target="../media/image62.png"/><Relationship Id="rId11" Type="http://schemas.openxmlformats.org/officeDocument/2006/relationships/notesSlide" Target="../notesSlides/notesSlide12.xml"/><Relationship Id="rId10" Type="http://schemas.openxmlformats.org/officeDocument/2006/relationships/slideLayout" Target="../slideLayouts/slideLayout12.xml"/><Relationship Id="rId1" Type="http://schemas.openxmlformats.org/officeDocument/2006/relationships/image" Target="../media/image2.jpeg"/></Relationships>
</file>

<file path=ppt/slides/_rels/slide13.xml.rels><?xml version="1.0" encoding="UTF-8" standalone="yes"?>
<Relationships xmlns="http://schemas.openxmlformats.org/package/2006/relationships"><Relationship Id="rId9" Type="http://schemas.openxmlformats.org/officeDocument/2006/relationships/image" Target="../media/image76.svg"/><Relationship Id="rId8" Type="http://schemas.openxmlformats.org/officeDocument/2006/relationships/image" Target="../media/image75.png"/><Relationship Id="rId7" Type="http://schemas.openxmlformats.org/officeDocument/2006/relationships/image" Target="../media/image74.svg"/><Relationship Id="rId6" Type="http://schemas.openxmlformats.org/officeDocument/2006/relationships/image" Target="../media/image73.png"/><Relationship Id="rId5" Type="http://schemas.openxmlformats.org/officeDocument/2006/relationships/image" Target="../media/image72.svg"/><Relationship Id="rId4" Type="http://schemas.openxmlformats.org/officeDocument/2006/relationships/image" Target="../media/image71.png"/><Relationship Id="rId3" Type="http://schemas.openxmlformats.org/officeDocument/2006/relationships/image" Target="../media/image70.svg"/><Relationship Id="rId2" Type="http://schemas.openxmlformats.org/officeDocument/2006/relationships/image" Target="../media/image69.png"/><Relationship Id="rId11" Type="http://schemas.openxmlformats.org/officeDocument/2006/relationships/notesSlide" Target="../notesSlides/notesSlide13.xml"/><Relationship Id="rId10" Type="http://schemas.openxmlformats.org/officeDocument/2006/relationships/slideLayout" Target="../slideLayouts/slideLayout12.xml"/><Relationship Id="rId1" Type="http://schemas.openxmlformats.org/officeDocument/2006/relationships/image" Target="../media/image2.jpeg"/></Relationships>
</file>

<file path=ppt/slides/_rels/slide14.xml.rels><?xml version="1.0" encoding="UTF-8" standalone="yes"?>
<Relationships xmlns="http://schemas.openxmlformats.org/package/2006/relationships"><Relationship Id="rId9" Type="http://schemas.openxmlformats.org/officeDocument/2006/relationships/image" Target="../media/image83.svg"/><Relationship Id="rId8" Type="http://schemas.openxmlformats.org/officeDocument/2006/relationships/image" Target="../media/image82.png"/><Relationship Id="rId7" Type="http://schemas.openxmlformats.org/officeDocument/2006/relationships/image" Target="../media/image81.svg"/><Relationship Id="rId6" Type="http://schemas.openxmlformats.org/officeDocument/2006/relationships/image" Target="../media/image80.png"/><Relationship Id="rId5" Type="http://schemas.openxmlformats.org/officeDocument/2006/relationships/image" Target="../media/image12.svg"/><Relationship Id="rId4" Type="http://schemas.openxmlformats.org/officeDocument/2006/relationships/image" Target="../media/image79.png"/><Relationship Id="rId3" Type="http://schemas.openxmlformats.org/officeDocument/2006/relationships/image" Target="../media/image78.svg"/><Relationship Id="rId2" Type="http://schemas.openxmlformats.org/officeDocument/2006/relationships/image" Target="../media/image77.png"/><Relationship Id="rId11" Type="http://schemas.openxmlformats.org/officeDocument/2006/relationships/notesSlide" Target="../notesSlides/notesSlide14.xml"/><Relationship Id="rId10" Type="http://schemas.openxmlformats.org/officeDocument/2006/relationships/slideLayout" Target="../slideLayouts/slideLayout12.xml"/><Relationship Id="rId1" Type="http://schemas.openxmlformats.org/officeDocument/2006/relationships/image" Target="../media/image2.jpeg"/></Relationships>
</file>

<file path=ppt/slides/_rels/slide15.xml.rels><?xml version="1.0" encoding="UTF-8" standalone="yes"?>
<Relationships xmlns="http://schemas.openxmlformats.org/package/2006/relationships"><Relationship Id="rId7" Type="http://schemas.openxmlformats.org/officeDocument/2006/relationships/notesSlide" Target="../notesSlides/notesSlide15.xml"/><Relationship Id="rId6" Type="http://schemas.openxmlformats.org/officeDocument/2006/relationships/slideLayout" Target="../slideLayouts/slideLayout12.xml"/><Relationship Id="rId5" Type="http://schemas.openxmlformats.org/officeDocument/2006/relationships/image" Target="../media/image87.svg"/><Relationship Id="rId4" Type="http://schemas.openxmlformats.org/officeDocument/2006/relationships/image" Target="../media/image86.png"/><Relationship Id="rId3" Type="http://schemas.openxmlformats.org/officeDocument/2006/relationships/image" Target="../media/image85.svg"/><Relationship Id="rId2" Type="http://schemas.openxmlformats.org/officeDocument/2006/relationships/image" Target="../media/image84.png"/><Relationship Id="rId1" Type="http://schemas.openxmlformats.org/officeDocument/2006/relationships/image" Target="../media/image2.jpeg"/></Relationships>
</file>

<file path=ppt/slides/_rels/slide16.xml.rels><?xml version="1.0" encoding="UTF-8" standalone="yes"?>
<Relationships xmlns="http://schemas.openxmlformats.org/package/2006/relationships"><Relationship Id="rId9" Type="http://schemas.openxmlformats.org/officeDocument/2006/relationships/notesSlide" Target="../notesSlides/notesSlide16.xml"/><Relationship Id="rId8" Type="http://schemas.openxmlformats.org/officeDocument/2006/relationships/slideLayout" Target="../slideLayouts/slideLayout12.xml"/><Relationship Id="rId7" Type="http://schemas.openxmlformats.org/officeDocument/2006/relationships/image" Target="../media/image92.svg"/><Relationship Id="rId6" Type="http://schemas.openxmlformats.org/officeDocument/2006/relationships/image" Target="../media/image91.png"/><Relationship Id="rId5" Type="http://schemas.openxmlformats.org/officeDocument/2006/relationships/image" Target="../media/image90.svg"/><Relationship Id="rId4" Type="http://schemas.openxmlformats.org/officeDocument/2006/relationships/image" Target="../media/image89.png"/><Relationship Id="rId3" Type="http://schemas.openxmlformats.org/officeDocument/2006/relationships/image" Target="../media/image26.svg"/><Relationship Id="rId2" Type="http://schemas.openxmlformats.org/officeDocument/2006/relationships/image" Target="../media/image88.png"/><Relationship Id="rId1" Type="http://schemas.openxmlformats.org/officeDocument/2006/relationships/image" Target="../media/image2.jpeg"/></Relationships>
</file>

<file path=ppt/slides/_rels/slide17.xml.rels><?xml version="1.0" encoding="UTF-8" standalone="yes"?>
<Relationships xmlns="http://schemas.openxmlformats.org/package/2006/relationships"><Relationship Id="rId9" Type="http://schemas.openxmlformats.org/officeDocument/2006/relationships/notesSlide" Target="../notesSlides/notesSlide17.xml"/><Relationship Id="rId8" Type="http://schemas.openxmlformats.org/officeDocument/2006/relationships/slideLayout" Target="../slideLayouts/slideLayout12.xml"/><Relationship Id="rId7" Type="http://schemas.openxmlformats.org/officeDocument/2006/relationships/image" Target="../media/image96.svg"/><Relationship Id="rId6" Type="http://schemas.openxmlformats.org/officeDocument/2006/relationships/image" Target="../media/image95.png"/><Relationship Id="rId5" Type="http://schemas.openxmlformats.org/officeDocument/2006/relationships/image" Target="../media/image12.svg"/><Relationship Id="rId4" Type="http://schemas.openxmlformats.org/officeDocument/2006/relationships/image" Target="../media/image79.png"/><Relationship Id="rId3" Type="http://schemas.openxmlformats.org/officeDocument/2006/relationships/image" Target="../media/image94.svg"/><Relationship Id="rId2" Type="http://schemas.openxmlformats.org/officeDocument/2006/relationships/image" Target="../media/image93.png"/><Relationship Id="rId1" Type="http://schemas.openxmlformats.org/officeDocument/2006/relationships/image" Target="../media/image2.jpeg"/></Relationships>
</file>

<file path=ppt/slides/_rels/slide18.xml.rels><?xml version="1.0" encoding="UTF-8" standalone="yes"?>
<Relationships xmlns="http://schemas.openxmlformats.org/package/2006/relationships"><Relationship Id="rId9" Type="http://schemas.openxmlformats.org/officeDocument/2006/relationships/image" Target="../media/image67.svg"/><Relationship Id="rId8" Type="http://schemas.openxmlformats.org/officeDocument/2006/relationships/image" Target="../media/image66.png"/><Relationship Id="rId7" Type="http://schemas.openxmlformats.org/officeDocument/2006/relationships/image" Target="../media/image101.svg"/><Relationship Id="rId6" Type="http://schemas.openxmlformats.org/officeDocument/2006/relationships/image" Target="../media/image100.png"/><Relationship Id="rId5" Type="http://schemas.openxmlformats.org/officeDocument/2006/relationships/image" Target="../media/image99.svg"/><Relationship Id="rId4" Type="http://schemas.openxmlformats.org/officeDocument/2006/relationships/image" Target="../media/image98.png"/><Relationship Id="rId3" Type="http://schemas.openxmlformats.org/officeDocument/2006/relationships/image" Target="../media/image18.svg"/><Relationship Id="rId2" Type="http://schemas.openxmlformats.org/officeDocument/2006/relationships/image" Target="../media/image97.png"/><Relationship Id="rId11" Type="http://schemas.openxmlformats.org/officeDocument/2006/relationships/notesSlide" Target="../notesSlides/notesSlide18.xml"/><Relationship Id="rId10" Type="http://schemas.openxmlformats.org/officeDocument/2006/relationships/slideLayout" Target="../slideLayouts/slideLayout12.xml"/><Relationship Id="rId1" Type="http://schemas.openxmlformats.org/officeDocument/2006/relationships/image" Target="../media/image2.jpeg"/></Relationships>
</file>

<file path=ppt/slides/_rels/slide19.xml.rels><?xml version="1.0" encoding="UTF-8" standalone="yes"?>
<Relationships xmlns="http://schemas.openxmlformats.org/package/2006/relationships"><Relationship Id="rId9" Type="http://schemas.openxmlformats.org/officeDocument/2006/relationships/notesSlide" Target="../notesSlides/notesSlide19.xml"/><Relationship Id="rId8" Type="http://schemas.openxmlformats.org/officeDocument/2006/relationships/slideLayout" Target="../slideLayouts/slideLayout12.xml"/><Relationship Id="rId7" Type="http://schemas.openxmlformats.org/officeDocument/2006/relationships/image" Target="../media/image28.svg"/><Relationship Id="rId6" Type="http://schemas.openxmlformats.org/officeDocument/2006/relationships/image" Target="../media/image103.png"/><Relationship Id="rId5" Type="http://schemas.openxmlformats.org/officeDocument/2006/relationships/image" Target="../media/image99.svg"/><Relationship Id="rId4" Type="http://schemas.openxmlformats.org/officeDocument/2006/relationships/image" Target="../media/image98.png"/><Relationship Id="rId3" Type="http://schemas.openxmlformats.org/officeDocument/2006/relationships/image" Target="../media/image40.svg"/><Relationship Id="rId2" Type="http://schemas.openxmlformats.org/officeDocument/2006/relationships/image" Target="../media/image102.png"/><Relationship Id="rId1" Type="http://schemas.openxmlformats.org/officeDocument/2006/relationships/image" Target="../media/image2.jpeg"/></Relationships>
</file>

<file path=ppt/slides/_rels/slide20.xml.rels><?xml version="1.0" encoding="UTF-8" standalone="yes"?>
<Relationships xmlns="http://schemas.openxmlformats.org/package/2006/relationships"><Relationship Id="rId9" Type="http://schemas.openxmlformats.org/officeDocument/2006/relationships/image" Target="../media/image12.svg"/><Relationship Id="rId8" Type="http://schemas.openxmlformats.org/officeDocument/2006/relationships/image" Target="../media/image79.png"/><Relationship Id="rId7" Type="http://schemas.openxmlformats.org/officeDocument/2006/relationships/image" Target="../media/image101.svg"/><Relationship Id="rId6" Type="http://schemas.openxmlformats.org/officeDocument/2006/relationships/image" Target="../media/image100.png"/><Relationship Id="rId5" Type="http://schemas.openxmlformats.org/officeDocument/2006/relationships/image" Target="../media/image20.svg"/><Relationship Id="rId4" Type="http://schemas.openxmlformats.org/officeDocument/2006/relationships/image" Target="../media/image105.png"/><Relationship Id="rId3" Type="http://schemas.openxmlformats.org/officeDocument/2006/relationships/image" Target="../media/image46.svg"/><Relationship Id="rId2" Type="http://schemas.openxmlformats.org/officeDocument/2006/relationships/image" Target="../media/image104.png"/><Relationship Id="rId11" Type="http://schemas.openxmlformats.org/officeDocument/2006/relationships/notesSlide" Target="../notesSlides/notesSlide20.xml"/><Relationship Id="rId10" Type="http://schemas.openxmlformats.org/officeDocument/2006/relationships/slideLayout" Target="../slideLayouts/slideLayout12.xml"/><Relationship Id="rId1" Type="http://schemas.openxmlformats.org/officeDocument/2006/relationships/image" Target="../media/image2.jpeg"/></Relationships>
</file>

<file path=ppt/slides/_rels/slide21.xml.rels><?xml version="1.0" encoding="UTF-8" standalone="yes"?>
<Relationships xmlns="http://schemas.openxmlformats.org/package/2006/relationships"><Relationship Id="rId9" Type="http://schemas.openxmlformats.org/officeDocument/2006/relationships/image" Target="../media/image107.svg"/><Relationship Id="rId8" Type="http://schemas.openxmlformats.org/officeDocument/2006/relationships/image" Target="../media/image106.png"/><Relationship Id="rId7" Type="http://schemas.openxmlformats.org/officeDocument/2006/relationships/image" Target="../media/image90.svg"/><Relationship Id="rId6" Type="http://schemas.openxmlformats.org/officeDocument/2006/relationships/image" Target="../media/image89.png"/><Relationship Id="rId5" Type="http://schemas.openxmlformats.org/officeDocument/2006/relationships/image" Target="../media/image20.svg"/><Relationship Id="rId4" Type="http://schemas.openxmlformats.org/officeDocument/2006/relationships/image" Target="../media/image105.png"/><Relationship Id="rId3" Type="http://schemas.openxmlformats.org/officeDocument/2006/relationships/image" Target="../media/image26.svg"/><Relationship Id="rId2" Type="http://schemas.openxmlformats.org/officeDocument/2006/relationships/image" Target="../media/image88.png"/><Relationship Id="rId11" Type="http://schemas.openxmlformats.org/officeDocument/2006/relationships/notesSlide" Target="../notesSlides/notesSlide21.xml"/><Relationship Id="rId10" Type="http://schemas.openxmlformats.org/officeDocument/2006/relationships/slideLayout" Target="../slideLayouts/slideLayout12.xml"/><Relationship Id="rId1" Type="http://schemas.openxmlformats.org/officeDocument/2006/relationships/image" Target="../media/image2.jpeg"/></Relationships>
</file>

<file path=ppt/slides/_rels/slide22.xml.rels><?xml version="1.0" encoding="UTF-8" standalone="yes"?>
<Relationships xmlns="http://schemas.openxmlformats.org/package/2006/relationships"><Relationship Id="rId9" Type="http://schemas.openxmlformats.org/officeDocument/2006/relationships/notesSlide" Target="../notesSlides/notesSlide22.xml"/><Relationship Id="rId8" Type="http://schemas.openxmlformats.org/officeDocument/2006/relationships/slideLayout" Target="../slideLayouts/slideLayout12.xml"/><Relationship Id="rId7" Type="http://schemas.openxmlformats.org/officeDocument/2006/relationships/image" Target="../media/image109.svg"/><Relationship Id="rId6" Type="http://schemas.openxmlformats.org/officeDocument/2006/relationships/image" Target="../media/image108.png"/><Relationship Id="rId5" Type="http://schemas.openxmlformats.org/officeDocument/2006/relationships/image" Target="../media/image101.svg"/><Relationship Id="rId4" Type="http://schemas.openxmlformats.org/officeDocument/2006/relationships/image" Target="../media/image100.png"/><Relationship Id="rId3" Type="http://schemas.openxmlformats.org/officeDocument/2006/relationships/image" Target="../media/image40.svg"/><Relationship Id="rId2" Type="http://schemas.openxmlformats.org/officeDocument/2006/relationships/image" Target="../media/image102.png"/><Relationship Id="rId1" Type="http://schemas.openxmlformats.org/officeDocument/2006/relationships/image" Target="../media/image2.jpeg"/></Relationships>
</file>

<file path=ppt/slides/_rels/slide23.xml.rels><?xml version="1.0" encoding="UTF-8" standalone="yes"?>
<Relationships xmlns="http://schemas.openxmlformats.org/package/2006/relationships"><Relationship Id="rId7" Type="http://schemas.openxmlformats.org/officeDocument/2006/relationships/notesSlide" Target="../notesSlides/notesSlide23.xml"/><Relationship Id="rId6" Type="http://schemas.openxmlformats.org/officeDocument/2006/relationships/slideLayout" Target="../slideLayouts/slideLayout12.xml"/><Relationship Id="rId5" Type="http://schemas.openxmlformats.org/officeDocument/2006/relationships/image" Target="../media/image111.svg"/><Relationship Id="rId4" Type="http://schemas.openxmlformats.org/officeDocument/2006/relationships/image" Target="../media/image110.png"/><Relationship Id="rId3" Type="http://schemas.openxmlformats.org/officeDocument/2006/relationships/image" Target="../media/image12.svg"/><Relationship Id="rId2" Type="http://schemas.openxmlformats.org/officeDocument/2006/relationships/image" Target="../media/image79.png"/><Relationship Id="rId1" Type="http://schemas.openxmlformats.org/officeDocument/2006/relationships/image" Target="../media/image2.jpeg"/></Relationships>
</file>

<file path=ppt/slides/_rels/slide24.xml.rels><?xml version="1.0" encoding="UTF-8" standalone="yes"?>
<Relationships xmlns="http://schemas.openxmlformats.org/package/2006/relationships"><Relationship Id="rId9" Type="http://schemas.openxmlformats.org/officeDocument/2006/relationships/image" Target="../media/image55.svg"/><Relationship Id="rId8" Type="http://schemas.openxmlformats.org/officeDocument/2006/relationships/image" Target="../media/image116.png"/><Relationship Id="rId7" Type="http://schemas.openxmlformats.org/officeDocument/2006/relationships/image" Target="../media/image115.svg"/><Relationship Id="rId6" Type="http://schemas.openxmlformats.org/officeDocument/2006/relationships/image" Target="../media/image114.png"/><Relationship Id="rId5" Type="http://schemas.openxmlformats.org/officeDocument/2006/relationships/image" Target="../media/image99.svg"/><Relationship Id="rId4" Type="http://schemas.openxmlformats.org/officeDocument/2006/relationships/image" Target="../media/image98.png"/><Relationship Id="rId3" Type="http://schemas.openxmlformats.org/officeDocument/2006/relationships/image" Target="../media/image113.svg"/><Relationship Id="rId2" Type="http://schemas.openxmlformats.org/officeDocument/2006/relationships/image" Target="../media/image112.png"/><Relationship Id="rId11" Type="http://schemas.openxmlformats.org/officeDocument/2006/relationships/notesSlide" Target="../notesSlides/notesSlide24.xml"/><Relationship Id="rId10" Type="http://schemas.openxmlformats.org/officeDocument/2006/relationships/slideLayout" Target="../slideLayouts/slideLayout12.xml"/><Relationship Id="rId1" Type="http://schemas.openxmlformats.org/officeDocument/2006/relationships/image" Target="../media/image2.jpeg"/></Relationships>
</file>

<file path=ppt/slides/_rels/slide25.xml.rels><?xml version="1.0" encoding="UTF-8" standalone="yes"?>
<Relationships xmlns="http://schemas.openxmlformats.org/package/2006/relationships"><Relationship Id="rId9" Type="http://schemas.openxmlformats.org/officeDocument/2006/relationships/notesSlide" Target="../notesSlides/notesSlide25.xml"/><Relationship Id="rId8" Type="http://schemas.openxmlformats.org/officeDocument/2006/relationships/slideLayout" Target="../slideLayouts/slideLayout12.xml"/><Relationship Id="rId7" Type="http://schemas.openxmlformats.org/officeDocument/2006/relationships/image" Target="../media/image55.svg"/><Relationship Id="rId6" Type="http://schemas.openxmlformats.org/officeDocument/2006/relationships/image" Target="../media/image116.png"/><Relationship Id="rId5" Type="http://schemas.openxmlformats.org/officeDocument/2006/relationships/image" Target="../media/image78.svg"/><Relationship Id="rId4" Type="http://schemas.openxmlformats.org/officeDocument/2006/relationships/image" Target="../media/image77.png"/><Relationship Id="rId3" Type="http://schemas.openxmlformats.org/officeDocument/2006/relationships/image" Target="../media/image107.svg"/><Relationship Id="rId2" Type="http://schemas.openxmlformats.org/officeDocument/2006/relationships/image" Target="../media/image106.png"/><Relationship Id="rId1" Type="http://schemas.openxmlformats.org/officeDocument/2006/relationships/image" Target="../media/image2.jpeg"/></Relationships>
</file>

<file path=ppt/slides/_rels/slide26.xml.rels><?xml version="1.0" encoding="UTF-8" standalone="yes"?>
<Relationships xmlns="http://schemas.openxmlformats.org/package/2006/relationships"><Relationship Id="rId9" Type="http://schemas.openxmlformats.org/officeDocument/2006/relationships/notesSlide" Target="../notesSlides/notesSlide26.xml"/><Relationship Id="rId8" Type="http://schemas.openxmlformats.org/officeDocument/2006/relationships/slideLayout" Target="../slideLayouts/slideLayout12.xml"/><Relationship Id="rId7" Type="http://schemas.openxmlformats.org/officeDocument/2006/relationships/image" Target="../media/image122.svg"/><Relationship Id="rId6" Type="http://schemas.openxmlformats.org/officeDocument/2006/relationships/image" Target="../media/image121.png"/><Relationship Id="rId5" Type="http://schemas.openxmlformats.org/officeDocument/2006/relationships/image" Target="../media/image120.svg"/><Relationship Id="rId4" Type="http://schemas.openxmlformats.org/officeDocument/2006/relationships/image" Target="../media/image119.png"/><Relationship Id="rId3" Type="http://schemas.openxmlformats.org/officeDocument/2006/relationships/image" Target="../media/image118.svg"/><Relationship Id="rId2" Type="http://schemas.openxmlformats.org/officeDocument/2006/relationships/image" Target="../media/image117.png"/><Relationship Id="rId1" Type="http://schemas.openxmlformats.org/officeDocument/2006/relationships/image" Target="../media/image2.jpeg"/></Relationships>
</file>

<file path=ppt/slides/_rels/slide27.xml.rels><?xml version="1.0" encoding="UTF-8" standalone="yes"?>
<Relationships xmlns="http://schemas.openxmlformats.org/package/2006/relationships"><Relationship Id="rId9" Type="http://schemas.openxmlformats.org/officeDocument/2006/relationships/image" Target="../media/image12.svg"/><Relationship Id="rId8" Type="http://schemas.openxmlformats.org/officeDocument/2006/relationships/image" Target="../media/image79.png"/><Relationship Id="rId7" Type="http://schemas.openxmlformats.org/officeDocument/2006/relationships/image" Target="../media/image10.svg"/><Relationship Id="rId6" Type="http://schemas.openxmlformats.org/officeDocument/2006/relationships/image" Target="../media/image127.png"/><Relationship Id="rId5" Type="http://schemas.openxmlformats.org/officeDocument/2006/relationships/image" Target="../media/image126.svg"/><Relationship Id="rId4" Type="http://schemas.openxmlformats.org/officeDocument/2006/relationships/image" Target="../media/image125.png"/><Relationship Id="rId3" Type="http://schemas.openxmlformats.org/officeDocument/2006/relationships/image" Target="../media/image124.svg"/><Relationship Id="rId2" Type="http://schemas.openxmlformats.org/officeDocument/2006/relationships/image" Target="../media/image123.png"/><Relationship Id="rId13" Type="http://schemas.openxmlformats.org/officeDocument/2006/relationships/notesSlide" Target="../notesSlides/notesSlide27.xml"/><Relationship Id="rId12" Type="http://schemas.openxmlformats.org/officeDocument/2006/relationships/slideLayout" Target="../slideLayouts/slideLayout12.xml"/><Relationship Id="rId11" Type="http://schemas.openxmlformats.org/officeDocument/2006/relationships/image" Target="../media/image129.svg"/><Relationship Id="rId10" Type="http://schemas.openxmlformats.org/officeDocument/2006/relationships/image" Target="../media/image128.png"/><Relationship Id="rId1" Type="http://schemas.openxmlformats.org/officeDocument/2006/relationships/image" Target="../media/image2.jpeg"/></Relationships>
</file>

<file path=ppt/slides/_rels/slide28.xml.rels><?xml version="1.0" encoding="UTF-8" standalone="yes"?>
<Relationships xmlns="http://schemas.openxmlformats.org/package/2006/relationships"><Relationship Id="rId9" Type="http://schemas.openxmlformats.org/officeDocument/2006/relationships/image" Target="../media/image135.jpeg"/><Relationship Id="rId8" Type="http://schemas.openxmlformats.org/officeDocument/2006/relationships/image" Target="../media/image134.svg"/><Relationship Id="rId7" Type="http://schemas.openxmlformats.org/officeDocument/2006/relationships/image" Target="../media/image133.png"/><Relationship Id="rId6" Type="http://schemas.openxmlformats.org/officeDocument/2006/relationships/image" Target="../media/image132.jpeg"/><Relationship Id="rId5" Type="http://schemas.openxmlformats.org/officeDocument/2006/relationships/image" Target="../media/image111.svg"/><Relationship Id="rId4" Type="http://schemas.openxmlformats.org/officeDocument/2006/relationships/image" Target="../media/image110.png"/><Relationship Id="rId3" Type="http://schemas.openxmlformats.org/officeDocument/2006/relationships/image" Target="../media/image131.svg"/><Relationship Id="rId2" Type="http://schemas.openxmlformats.org/officeDocument/2006/relationships/image" Target="../media/image130.png"/><Relationship Id="rId12" Type="http://schemas.openxmlformats.org/officeDocument/2006/relationships/notesSlide" Target="../notesSlides/notesSlide28.xml"/><Relationship Id="rId11" Type="http://schemas.openxmlformats.org/officeDocument/2006/relationships/slideLayout" Target="../slideLayouts/slideLayout12.xml"/><Relationship Id="rId10" Type="http://schemas.openxmlformats.org/officeDocument/2006/relationships/image" Target="../media/image136.jpeg"/><Relationship Id="rId1" Type="http://schemas.openxmlformats.org/officeDocument/2006/relationships/image" Target="../media/image2.jpeg"/></Relationships>
</file>

<file path=ppt/slides/_rels/slide29.xml.rels><?xml version="1.0" encoding="UTF-8" standalone="yes"?>
<Relationships xmlns="http://schemas.openxmlformats.org/package/2006/relationships"><Relationship Id="rId4" Type="http://schemas.openxmlformats.org/officeDocument/2006/relationships/notesSlide" Target="../notesSlides/notesSlide29.xml"/><Relationship Id="rId3" Type="http://schemas.openxmlformats.org/officeDocument/2006/relationships/slideLayout" Target="../slideLayouts/slideLayout12.xml"/><Relationship Id="rId2" Type="http://schemas.openxmlformats.org/officeDocument/2006/relationships/image" Target="../media/image138.png"/><Relationship Id="rId1" Type="http://schemas.openxmlformats.org/officeDocument/2006/relationships/image" Target="../media/image137.jpeg"/></Relationships>
</file>

<file path=ppt/slides/slide1.xml><?xml version="1.0" encoding="utf-8"?>
<p:sld xmlns:a="http://schemas.openxmlformats.org/drawingml/2006/main" xmlns:r="http://schemas.openxmlformats.org/officeDocument/2006/relationships" xmlns:p="http://schemas.openxmlformats.org/presentationml/2006/main">
  <p:cSld>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0A0F19">
              <a:alpha val="65000"/>
            </a:srgbClr>
          </a:solidFill>
          <a:ln w="25400" cap="flat" cmpd="sng">
            <a:noFill/>
            <a:prstDash val="solid"/>
            <a:round/>
          </a:ln>
        </p:spPr>
        <p:txBody>
          <a:bodyPr vert="horz" wrap="square" lIns="63500" tIns="63500" rIns="63500" bIns="63500" rtlCol="0" anchor="ctr"/>
          <a:lstStyle/>
          <a:p>
            <a:pPr algn="ctr">
              <a:defRPr/>
            </a:pPr>
          </a:p>
        </p:txBody>
      </p:sp>
      <p:sp>
        <p:nvSpPr>
          <p:cNvPr id="3" name="AutoShape 3"/>
          <p:cNvSpPr/>
          <p:nvPr/>
        </p:nvSpPr>
        <p:spPr>
          <a:xfrm>
            <a:off x="635000" y="2413000"/>
            <a:ext cx="10922000" cy="889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5200" b="1" i="0" u="none" strike="noStrike">
                <a:solidFill>
                  <a:srgbClr val="FFFFFF"/>
                </a:solidFill>
                <a:latin typeface="Poppins"/>
                <a:ea typeface="Poppins"/>
                <a:cs typeface="Poppins"/>
                <a:sym typeface="Poppins"/>
              </a:rPr>
              <a:t>The Founder’s Playbook</a:t>
            </a:r>
            <a:endParaRPr lang="en-US" sz="1100"/>
          </a:p>
        </p:txBody>
      </p:sp>
      <p:sp>
        <p:nvSpPr>
          <p:cNvPr id="4" name="AutoShape 4"/>
          <p:cNvSpPr/>
          <p:nvPr/>
        </p:nvSpPr>
        <p:spPr>
          <a:xfrm>
            <a:off x="635000" y="3556000"/>
            <a:ext cx="10922000" cy="508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2600" b="1" i="0" u="none" strike="noStrike">
                <a:solidFill>
                  <a:srgbClr val="00E5FF"/>
                </a:solidFill>
                <a:latin typeface="Poppins"/>
                <a:ea typeface="Poppins"/>
                <a:cs typeface="Poppins"/>
                <a:sym typeface="Poppins"/>
              </a:rPr>
              <a:t>Building an AI-Native Startup</a:t>
            </a:r>
            <a:endParaRPr lang="en-US" sz="1100"/>
          </a:p>
        </p:txBody>
      </p:sp>
      <p:sp>
        <p:nvSpPr>
          <p:cNvPr id="5" name="AutoShape 5"/>
          <p:cNvSpPr/>
          <p:nvPr/>
        </p:nvSpPr>
        <p:spPr>
          <a:xfrm>
            <a:off x="5588000" y="4318000"/>
            <a:ext cx="1016000" cy="38100"/>
          </a:xfrm>
          <a:prstGeom prst="roundRect">
            <a:avLst>
              <a:gd name="adj" fmla="val 0"/>
            </a:avLst>
          </a:prstGeom>
          <a:solidFill>
            <a:srgbClr val="00E5FF">
              <a:alpha val="80000"/>
            </a:srgbClr>
          </a:solidFill>
          <a:ln cap="flat" cmpd="sng">
            <a:solidFill>
              <a:srgbClr val="00CEE6">
                <a:alpha val="80000"/>
              </a:srgbClr>
            </a:solidFill>
            <a:prstDash val="solid"/>
            <a:round/>
          </a:ln>
        </p:spPr>
        <p:txBody>
          <a:bodyPr vert="horz" wrap="square" lIns="63500" tIns="63500" rIns="63500" bIns="63500" rtlCol="0" anchor="ctr"/>
          <a:lstStyle/>
          <a:p>
            <a:pPr algn="ctr">
              <a:defRPr/>
            </a:pPr>
          </a:p>
        </p:txBody>
      </p:sp>
      <p:sp>
        <p:nvSpPr>
          <p:cNvPr id="6" name="AutoShape 6"/>
          <p:cNvSpPr/>
          <p:nvPr/>
        </p:nvSpPr>
        <p:spPr>
          <a:xfrm>
            <a:off x="635000" y="4635500"/>
            <a:ext cx="10922000" cy="381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1800" b="0" i="0" u="none" strike="noStrike">
                <a:solidFill>
                  <a:srgbClr val="E5E7EB">
                    <a:alpha val="90196"/>
                  </a:srgbClr>
                </a:solidFill>
                <a:latin typeface="Noto Sans SC" panose="020B0500000000000000" charset="-122"/>
                <a:ea typeface="Noto Sans SC" panose="020B0500000000000000" charset="-122"/>
                <a:cs typeface="Noto Sans SC" panose="020B0500000000000000" charset="-122"/>
                <a:sym typeface="Noto Sans SC" panose="020B0500000000000000" charset="-122"/>
              </a:rPr>
              <a:t>为2026年重启的创业生命周期</a:t>
            </a:r>
            <a:endParaRPr lang="en-US" sz="110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000000">
              <a:alpha val="80000"/>
            </a:srgbClr>
          </a:solidFill>
          <a:ln w="25400" cap="flat" cmpd="sng">
            <a:noFill/>
            <a:prstDash val="solid"/>
            <a:round/>
          </a:ln>
        </p:spPr>
        <p:txBody>
          <a:bodyPr vert="horz" wrap="square" lIns="63500" tIns="63500" rIns="63500" bIns="63500" rtlCol="0" anchor="ctr"/>
          <a:lstStyle/>
          <a:p>
            <a:pPr algn="ctr">
              <a:defRPr/>
            </a:pPr>
          </a:p>
        </p:txBody>
      </p:sp>
      <p:sp>
        <p:nvSpPr>
          <p:cNvPr id="3" name="AutoShape 3"/>
          <p:cNvSpPr/>
          <p:nvPr/>
        </p:nvSpPr>
        <p:spPr>
          <a:xfrm>
            <a:off x="762000" y="635000"/>
            <a:ext cx="6350000" cy="5715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3200" b="1" i="0" u="none" strike="noStrike">
                <a:solidFill>
                  <a:srgbClr val="FFFFFF"/>
                </a:solidFill>
                <a:latin typeface="Noto Sans SC" panose="020B0500000000000000" charset="-122"/>
                <a:ea typeface="Noto Sans SC" panose="020B0500000000000000" charset="-122"/>
                <a:cs typeface="Noto Sans SC" panose="020B0500000000000000" charset="-122"/>
                <a:sym typeface="Noto Sans SC" panose="020B0500000000000000" charset="-122"/>
              </a:rPr>
              <a:t>目录 CONTENTS</a:t>
            </a:r>
            <a:endParaRPr lang="en-US" sz="1100"/>
          </a:p>
        </p:txBody>
      </p:sp>
      <p:sp>
        <p:nvSpPr>
          <p:cNvPr id="4" name="AutoShape 4"/>
          <p:cNvSpPr/>
          <p:nvPr/>
        </p:nvSpPr>
        <p:spPr>
          <a:xfrm>
            <a:off x="762000" y="1524000"/>
            <a:ext cx="5080000" cy="1524000"/>
          </a:xfrm>
          <a:prstGeom prst="roundRect">
            <a:avLst>
              <a:gd name="adj" fmla="val 8333"/>
            </a:avLst>
          </a:prstGeom>
          <a:solidFill>
            <a:srgbClr val="FFFFFF">
              <a:alpha val="8000"/>
            </a:srgbClr>
          </a:solidFill>
          <a:ln w="12700" cap="flat" cmpd="sng">
            <a:solidFill>
              <a:srgbClr val="00E5FF">
                <a:alpha val="40000"/>
              </a:srgbClr>
            </a:solidFill>
            <a:prstDash val="solid"/>
            <a:round/>
          </a:ln>
        </p:spPr>
        <p:txBody>
          <a:bodyPr vert="horz" wrap="square" lIns="63500" tIns="63500" rIns="63500" bIns="63500" rtlCol="0" anchor="ctr"/>
          <a:lstStyle/>
          <a:p>
            <a:pPr algn="ctr">
              <a:defRPr/>
            </a:pPr>
          </a:p>
        </p:txBody>
      </p:sp>
      <p:pic>
        <p:nvPicPr>
          <p:cNvPr id="5" name="Picture 5"/>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016000" y="1727200"/>
            <a:ext cx="304800" cy="304800"/>
          </a:xfrm>
          <a:prstGeom prst="rect">
            <a:avLst/>
          </a:prstGeom>
        </p:spPr>
      </p:pic>
      <p:sp>
        <p:nvSpPr>
          <p:cNvPr id="6" name="AutoShape 6"/>
          <p:cNvSpPr/>
          <p:nvPr/>
        </p:nvSpPr>
        <p:spPr>
          <a:xfrm>
            <a:off x="1460500" y="1714500"/>
            <a:ext cx="4191000" cy="3302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FFFFFF"/>
                </a:solidFill>
                <a:latin typeface="Noto Sans SC" panose="020B0500000000000000" charset="-122"/>
                <a:ea typeface="Noto Sans SC" panose="020B0500000000000000" charset="-122"/>
                <a:cs typeface="Noto Sans SC" panose="020B0500000000000000" charset="-122"/>
                <a:sym typeface="Noto Sans SC" panose="020B0500000000000000" charset="-122"/>
              </a:rPr>
              <a:t>01. 开篇：AI重塑创业新范式</a:t>
            </a:r>
            <a:endParaRPr lang="en-US" sz="1100"/>
          </a:p>
        </p:txBody>
      </p:sp>
      <p:sp>
        <p:nvSpPr>
          <p:cNvPr id="7" name="AutoShape 7"/>
          <p:cNvSpPr/>
          <p:nvPr/>
        </p:nvSpPr>
        <p:spPr>
          <a:xfrm>
            <a:off x="1460500" y="2133600"/>
            <a:ext cx="4191000" cy="762000"/>
          </a:xfrm>
          <a:prstGeom prst="rect">
            <a:avLst/>
          </a:prstGeom>
          <a:noFill/>
          <a:ln w="12700" cap="flat" cmpd="sng">
            <a:noFill/>
            <a:prstDash val="solid"/>
            <a:round/>
          </a:ln>
        </p:spPr>
        <p:txBody>
          <a:bodyPr vert="horz" wrap="square" lIns="0" tIns="0" rIns="0" bIns="0" rtlCol="0" anchor="t" anchorCtr="0"/>
          <a:lstStyle/>
          <a:p>
            <a:pPr indent="0" algn="l">
              <a:lnSpc>
                <a:spcPct val="108000"/>
              </a:lnSpc>
              <a:defRPr/>
            </a:pPr>
            <a:r>
              <a:rPr lang="en-US" sz="1100" b="0" i="0" u="none" strike="noStrike">
                <a:solidFill>
                  <a:srgbClr val="D1D5DB"/>
                </a:solidFill>
                <a:latin typeface="Noto Sans SC" panose="020B0500000000000000" charset="-122"/>
                <a:ea typeface="Noto Sans SC" panose="020B0500000000000000" charset="-122"/>
                <a:cs typeface="Noto Sans SC" panose="020B0500000000000000" charset="-122"/>
                <a:sym typeface="Noto Sans SC" panose="020B0500000000000000" charset="-122"/>
              </a:rPr>
              <a:t>• AI如何颠覆传统创业模式 • 创始人角色的演变 • AI赋能精益创业</a:t>
            </a:r>
            <a:endParaRPr lang="en-US" sz="1100"/>
          </a:p>
        </p:txBody>
      </p:sp>
      <p:sp>
        <p:nvSpPr>
          <p:cNvPr id="8" name="AutoShape 8"/>
          <p:cNvSpPr/>
          <p:nvPr/>
        </p:nvSpPr>
        <p:spPr>
          <a:xfrm>
            <a:off x="762000" y="3302000"/>
            <a:ext cx="5080000" cy="1524000"/>
          </a:xfrm>
          <a:prstGeom prst="roundRect">
            <a:avLst>
              <a:gd name="adj" fmla="val 8333"/>
            </a:avLst>
          </a:prstGeom>
          <a:solidFill>
            <a:srgbClr val="FFFFFF">
              <a:alpha val="8000"/>
            </a:srgbClr>
          </a:solidFill>
          <a:ln w="12700" cap="flat" cmpd="sng">
            <a:solidFill>
              <a:srgbClr val="00E5FF">
                <a:alpha val="40000"/>
              </a:srgbClr>
            </a:solidFill>
            <a:prstDash val="solid"/>
            <a:round/>
          </a:ln>
        </p:spPr>
        <p:txBody>
          <a:bodyPr vert="horz" wrap="square" lIns="63500" tIns="63500" rIns="63500" bIns="63500" rtlCol="0" anchor="ctr"/>
          <a:lstStyle/>
          <a:p>
            <a:pPr algn="ctr">
              <a:defRPr/>
            </a:pPr>
          </a:p>
        </p:txBody>
      </p:sp>
      <p:pic>
        <p:nvPicPr>
          <p:cNvPr id="9" name="Picture 9"/>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016000" y="3505200"/>
            <a:ext cx="304800" cy="304800"/>
          </a:xfrm>
          <a:prstGeom prst="rect">
            <a:avLst/>
          </a:prstGeom>
        </p:spPr>
      </p:pic>
      <p:sp>
        <p:nvSpPr>
          <p:cNvPr id="10" name="AutoShape 10"/>
          <p:cNvSpPr/>
          <p:nvPr/>
        </p:nvSpPr>
        <p:spPr>
          <a:xfrm>
            <a:off x="1460500" y="3492500"/>
            <a:ext cx="4191000" cy="3302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FFFFFF"/>
                </a:solidFill>
                <a:latin typeface="Noto Sans SC" panose="020B0500000000000000" charset="-122"/>
                <a:ea typeface="Noto Sans SC" panose="020B0500000000000000" charset="-122"/>
                <a:cs typeface="Noto Sans SC" panose="020B0500000000000000" charset="-122"/>
                <a:sym typeface="Noto Sans SC" panose="020B0500000000000000" charset="-122"/>
              </a:rPr>
              <a:t>02. 第一阶段：创意阶段 (Idea Stage)</a:t>
            </a:r>
            <a:endParaRPr lang="en-US" sz="1100"/>
          </a:p>
        </p:txBody>
      </p:sp>
      <p:sp>
        <p:nvSpPr>
          <p:cNvPr id="11" name="AutoShape 11"/>
          <p:cNvSpPr/>
          <p:nvPr/>
        </p:nvSpPr>
        <p:spPr>
          <a:xfrm>
            <a:off x="1460500" y="3911600"/>
            <a:ext cx="4191000" cy="762000"/>
          </a:xfrm>
          <a:prstGeom prst="rect">
            <a:avLst/>
          </a:prstGeom>
          <a:noFill/>
          <a:ln w="12700" cap="flat" cmpd="sng">
            <a:noFill/>
            <a:prstDash val="solid"/>
            <a:round/>
          </a:ln>
        </p:spPr>
        <p:txBody>
          <a:bodyPr vert="horz" wrap="square" lIns="0" tIns="0" rIns="0" bIns="0" rtlCol="0" anchor="t" anchorCtr="0"/>
          <a:lstStyle/>
          <a:p>
            <a:pPr indent="0" algn="l">
              <a:lnSpc>
                <a:spcPct val="108000"/>
              </a:lnSpc>
              <a:defRPr/>
            </a:pPr>
            <a:r>
              <a:rPr lang="en-US" sz="1100" b="0" i="0" u="none" strike="noStrike">
                <a:solidFill>
                  <a:srgbClr val="D1D5DB"/>
                </a:solidFill>
                <a:latin typeface="Noto Sans SC" panose="020B0500000000000000" charset="-122"/>
                <a:ea typeface="Noto Sans SC" panose="020B0500000000000000" charset="-122"/>
                <a:cs typeface="Noto Sans SC" panose="020B0500000000000000" charset="-122"/>
                <a:sym typeface="Noto Sans SC" panose="020B0500000000000000" charset="-122"/>
              </a:rPr>
              <a:t>• 核心目标与关键挑战识别 • AI辅助的市场痛点挖掘与验证 • 利用AI头脑风暴拓展创意边界</a:t>
            </a:r>
            <a:endParaRPr lang="en-US" sz="1100"/>
          </a:p>
        </p:txBody>
      </p:sp>
      <p:sp>
        <p:nvSpPr>
          <p:cNvPr id="12" name="AutoShape 12"/>
          <p:cNvSpPr/>
          <p:nvPr/>
        </p:nvSpPr>
        <p:spPr>
          <a:xfrm>
            <a:off x="762000" y="5080000"/>
            <a:ext cx="5080000" cy="1524000"/>
          </a:xfrm>
          <a:prstGeom prst="roundRect">
            <a:avLst>
              <a:gd name="adj" fmla="val 8333"/>
            </a:avLst>
          </a:prstGeom>
          <a:solidFill>
            <a:srgbClr val="FFFFFF">
              <a:alpha val="8000"/>
            </a:srgbClr>
          </a:solidFill>
          <a:ln w="12700" cap="flat" cmpd="sng">
            <a:solidFill>
              <a:srgbClr val="00E5FF">
                <a:alpha val="40000"/>
              </a:srgbClr>
            </a:solidFill>
            <a:prstDash val="solid"/>
            <a:round/>
          </a:ln>
        </p:spPr>
        <p:txBody>
          <a:bodyPr vert="horz" wrap="square" lIns="63500" tIns="63500" rIns="63500" bIns="63500" rtlCol="0" anchor="ctr"/>
          <a:lstStyle/>
          <a:p>
            <a:pPr algn="ctr">
              <a:defRPr/>
            </a:pPr>
          </a:p>
        </p:txBody>
      </p:sp>
      <p:pic>
        <p:nvPicPr>
          <p:cNvPr id="13" name="Picture 13"/>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1016000" y="5283200"/>
            <a:ext cx="304800" cy="304800"/>
          </a:xfrm>
          <a:prstGeom prst="rect">
            <a:avLst/>
          </a:prstGeom>
        </p:spPr>
      </p:pic>
      <p:sp>
        <p:nvSpPr>
          <p:cNvPr id="14" name="AutoShape 14"/>
          <p:cNvSpPr/>
          <p:nvPr/>
        </p:nvSpPr>
        <p:spPr>
          <a:xfrm>
            <a:off x="1460500" y="5270500"/>
            <a:ext cx="4191000" cy="3302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FFFFFF"/>
                </a:solidFill>
                <a:latin typeface="Noto Sans SC" panose="020B0500000000000000" charset="-122"/>
                <a:ea typeface="Noto Sans SC" panose="020B0500000000000000" charset="-122"/>
                <a:cs typeface="Noto Sans SC" panose="020B0500000000000000" charset="-122"/>
                <a:sym typeface="Noto Sans SC" panose="020B0500000000000000" charset="-122"/>
              </a:rPr>
              <a:t>03. 第二阶段：MVP阶段 (MVP Stage)</a:t>
            </a:r>
            <a:endParaRPr lang="en-US" sz="1100"/>
          </a:p>
        </p:txBody>
      </p:sp>
      <p:sp>
        <p:nvSpPr>
          <p:cNvPr id="15" name="AutoShape 15"/>
          <p:cNvSpPr/>
          <p:nvPr/>
        </p:nvSpPr>
        <p:spPr>
          <a:xfrm>
            <a:off x="1460500" y="5689600"/>
            <a:ext cx="4191000" cy="762000"/>
          </a:xfrm>
          <a:prstGeom prst="rect">
            <a:avLst/>
          </a:prstGeom>
          <a:noFill/>
          <a:ln w="12700" cap="flat" cmpd="sng">
            <a:noFill/>
            <a:prstDash val="solid"/>
            <a:round/>
          </a:ln>
        </p:spPr>
        <p:txBody>
          <a:bodyPr vert="horz" wrap="square" lIns="0" tIns="0" rIns="0" bIns="0" rtlCol="0" anchor="t" anchorCtr="0"/>
          <a:lstStyle/>
          <a:p>
            <a:pPr indent="0" algn="l">
              <a:lnSpc>
                <a:spcPct val="108000"/>
              </a:lnSpc>
              <a:defRPr/>
            </a:pPr>
            <a:r>
              <a:rPr lang="en-US" sz="1100" b="0" i="0" u="none" strike="noStrike">
                <a:solidFill>
                  <a:srgbClr val="D1D5DB"/>
                </a:solidFill>
                <a:latin typeface="Noto Sans SC" panose="020B0500000000000000" charset="-122"/>
                <a:ea typeface="Noto Sans SC" panose="020B0500000000000000" charset="-122"/>
                <a:cs typeface="Noto Sans SC" panose="020B0500000000000000" charset="-122"/>
                <a:sym typeface="Noto Sans SC" panose="020B0500000000000000" charset="-122"/>
              </a:rPr>
              <a:t>• 低成本构建核心功能原型 • AI驱动的用户反馈快速收集与分析 • 利用AI模拟数据验证产品逻辑</a:t>
            </a:r>
            <a:endParaRPr lang="en-US" sz="1100"/>
          </a:p>
        </p:txBody>
      </p:sp>
      <p:sp>
        <p:nvSpPr>
          <p:cNvPr id="16" name="AutoShape 16"/>
          <p:cNvSpPr/>
          <p:nvPr/>
        </p:nvSpPr>
        <p:spPr>
          <a:xfrm>
            <a:off x="6350000" y="1524000"/>
            <a:ext cx="5080000" cy="1524000"/>
          </a:xfrm>
          <a:prstGeom prst="roundRect">
            <a:avLst>
              <a:gd name="adj" fmla="val 8333"/>
            </a:avLst>
          </a:prstGeom>
          <a:solidFill>
            <a:srgbClr val="FFFFFF">
              <a:alpha val="8000"/>
            </a:srgbClr>
          </a:solidFill>
          <a:ln w="12700" cap="flat" cmpd="sng">
            <a:solidFill>
              <a:srgbClr val="00E5FF">
                <a:alpha val="40000"/>
              </a:srgbClr>
            </a:solidFill>
            <a:prstDash val="solid"/>
            <a:round/>
          </a:ln>
        </p:spPr>
        <p:txBody>
          <a:bodyPr vert="horz" wrap="square" lIns="63500" tIns="63500" rIns="63500" bIns="63500" rtlCol="0" anchor="ctr"/>
          <a:lstStyle/>
          <a:p>
            <a:pPr algn="ctr">
              <a:defRPr/>
            </a:pPr>
          </a:p>
        </p:txBody>
      </p:sp>
      <p:pic>
        <p:nvPicPr>
          <p:cNvPr id="17" name="Picture 17"/>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6604000" y="1727200"/>
            <a:ext cx="304800" cy="304800"/>
          </a:xfrm>
          <a:prstGeom prst="rect">
            <a:avLst/>
          </a:prstGeom>
        </p:spPr>
      </p:pic>
      <p:sp>
        <p:nvSpPr>
          <p:cNvPr id="18" name="AutoShape 18"/>
          <p:cNvSpPr/>
          <p:nvPr/>
        </p:nvSpPr>
        <p:spPr>
          <a:xfrm>
            <a:off x="7048500" y="1714500"/>
            <a:ext cx="4191000" cy="3302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FFFFFF"/>
                </a:solidFill>
                <a:latin typeface="Noto Sans SC" panose="020B0500000000000000" charset="-122"/>
                <a:ea typeface="Noto Sans SC" panose="020B0500000000000000" charset="-122"/>
                <a:cs typeface="Noto Sans SC" panose="020B0500000000000000" charset="-122"/>
                <a:sym typeface="Noto Sans SC" panose="020B0500000000000000" charset="-122"/>
              </a:rPr>
              <a:t>04. 第三阶段：发布阶段 (Launch Stage)</a:t>
            </a:r>
            <a:endParaRPr lang="en-US" sz="1100"/>
          </a:p>
        </p:txBody>
      </p:sp>
      <p:sp>
        <p:nvSpPr>
          <p:cNvPr id="19" name="AutoShape 19"/>
          <p:cNvSpPr/>
          <p:nvPr/>
        </p:nvSpPr>
        <p:spPr>
          <a:xfrm>
            <a:off x="7048500" y="2133600"/>
            <a:ext cx="4191000" cy="762000"/>
          </a:xfrm>
          <a:prstGeom prst="rect">
            <a:avLst/>
          </a:prstGeom>
          <a:noFill/>
          <a:ln w="12700" cap="flat" cmpd="sng">
            <a:noFill/>
            <a:prstDash val="solid"/>
            <a:round/>
          </a:ln>
        </p:spPr>
        <p:txBody>
          <a:bodyPr vert="horz" wrap="square" lIns="0" tIns="0" rIns="0" bIns="0" rtlCol="0" anchor="t" anchorCtr="0"/>
          <a:lstStyle/>
          <a:p>
            <a:pPr indent="0" algn="l">
              <a:lnSpc>
                <a:spcPct val="108000"/>
              </a:lnSpc>
              <a:defRPr/>
            </a:pPr>
            <a:r>
              <a:rPr lang="en-US" sz="1100" b="0" i="0" u="none" strike="noStrike">
                <a:solidFill>
                  <a:srgbClr val="D1D5DB"/>
                </a:solidFill>
                <a:latin typeface="Noto Sans SC" panose="020B0500000000000000" charset="-122"/>
                <a:ea typeface="Noto Sans SC" panose="020B0500000000000000" charset="-122"/>
                <a:cs typeface="Noto Sans SC" panose="020B0500000000000000" charset="-122"/>
                <a:sym typeface="Noto Sans SC" panose="020B0500000000000000" charset="-122"/>
              </a:rPr>
              <a:t>• 制定Go-to-Market市场切入策略 • AI赋能的营销内容自动化生成与投放 • 实时舆情监控与危机公关预案</a:t>
            </a:r>
            <a:endParaRPr lang="en-US" sz="1100"/>
          </a:p>
        </p:txBody>
      </p:sp>
      <p:sp>
        <p:nvSpPr>
          <p:cNvPr id="20" name="AutoShape 20"/>
          <p:cNvSpPr/>
          <p:nvPr/>
        </p:nvSpPr>
        <p:spPr>
          <a:xfrm>
            <a:off x="6350000" y="3302000"/>
            <a:ext cx="5080000" cy="1524000"/>
          </a:xfrm>
          <a:prstGeom prst="roundRect">
            <a:avLst>
              <a:gd name="adj" fmla="val 8333"/>
            </a:avLst>
          </a:prstGeom>
          <a:solidFill>
            <a:srgbClr val="FFFFFF">
              <a:alpha val="8000"/>
            </a:srgbClr>
          </a:solidFill>
          <a:ln w="12700" cap="flat" cmpd="sng">
            <a:solidFill>
              <a:srgbClr val="00E5FF">
                <a:alpha val="40000"/>
              </a:srgbClr>
            </a:solidFill>
            <a:prstDash val="solid"/>
            <a:round/>
          </a:ln>
        </p:spPr>
        <p:txBody>
          <a:bodyPr vert="horz" wrap="square" lIns="63500" tIns="63500" rIns="63500" bIns="63500" rtlCol="0" anchor="ctr"/>
          <a:lstStyle/>
          <a:p>
            <a:pPr algn="ctr">
              <a:defRPr/>
            </a:pPr>
          </a:p>
        </p:txBody>
      </p:sp>
      <p:pic>
        <p:nvPicPr>
          <p:cNvPr id="21" name="Picture 21"/>
          <p:cNvPicPr>
            <a:picLocks noChangeAspect="1"/>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6604000" y="3505200"/>
            <a:ext cx="304800" cy="304800"/>
          </a:xfrm>
          <a:prstGeom prst="rect">
            <a:avLst/>
          </a:prstGeom>
        </p:spPr>
      </p:pic>
      <p:sp>
        <p:nvSpPr>
          <p:cNvPr id="22" name="AutoShape 22"/>
          <p:cNvSpPr/>
          <p:nvPr/>
        </p:nvSpPr>
        <p:spPr>
          <a:xfrm>
            <a:off x="7048500" y="3492500"/>
            <a:ext cx="4191000" cy="3302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FFFFFF"/>
                </a:solidFill>
                <a:latin typeface="Noto Sans SC" panose="020B0500000000000000" charset="-122"/>
                <a:ea typeface="Noto Sans SC" panose="020B0500000000000000" charset="-122"/>
                <a:cs typeface="Noto Sans SC" panose="020B0500000000000000" charset="-122"/>
                <a:sym typeface="Noto Sans SC" panose="020B0500000000000000" charset="-122"/>
              </a:rPr>
              <a:t>05. 第四阶段：规模化阶段 (Scale Stage)</a:t>
            </a:r>
            <a:endParaRPr lang="en-US" sz="1100"/>
          </a:p>
        </p:txBody>
      </p:sp>
      <p:sp>
        <p:nvSpPr>
          <p:cNvPr id="23" name="AutoShape 23"/>
          <p:cNvSpPr/>
          <p:nvPr/>
        </p:nvSpPr>
        <p:spPr>
          <a:xfrm>
            <a:off x="7048500" y="3911600"/>
            <a:ext cx="4191000" cy="762000"/>
          </a:xfrm>
          <a:prstGeom prst="rect">
            <a:avLst/>
          </a:prstGeom>
          <a:noFill/>
          <a:ln w="12700" cap="flat" cmpd="sng">
            <a:noFill/>
            <a:prstDash val="solid"/>
            <a:round/>
          </a:ln>
        </p:spPr>
        <p:txBody>
          <a:bodyPr vert="horz" wrap="square" lIns="0" tIns="0" rIns="0" bIns="0" rtlCol="0" anchor="t" anchorCtr="0"/>
          <a:lstStyle/>
          <a:p>
            <a:pPr indent="0" algn="l">
              <a:lnSpc>
                <a:spcPct val="108000"/>
              </a:lnSpc>
              <a:defRPr/>
            </a:pPr>
            <a:r>
              <a:rPr lang="en-US" sz="1100" b="0" i="0" u="none" strike="noStrike">
                <a:solidFill>
                  <a:srgbClr val="D1D5DB"/>
                </a:solidFill>
                <a:latin typeface="Noto Sans SC" panose="020B0500000000000000" charset="-122"/>
                <a:ea typeface="Noto Sans SC" panose="020B0500000000000000" charset="-122"/>
                <a:cs typeface="Noto Sans SC" panose="020B0500000000000000" charset="-122"/>
                <a:sym typeface="Noto Sans SC" panose="020B0500000000000000" charset="-122"/>
              </a:rPr>
              <a:t>• 业务增长瓶颈的突破与优化 • 基于AI大数据的精细化运营与用户留存 • 智能化决策系统提升商业效率</a:t>
            </a:r>
            <a:endParaRPr lang="en-US" sz="1100"/>
          </a:p>
        </p:txBody>
      </p:sp>
      <p:sp>
        <p:nvSpPr>
          <p:cNvPr id="24" name="AutoShape 24"/>
          <p:cNvSpPr/>
          <p:nvPr/>
        </p:nvSpPr>
        <p:spPr>
          <a:xfrm>
            <a:off x="6350000" y="5080000"/>
            <a:ext cx="5080000" cy="1524000"/>
          </a:xfrm>
          <a:prstGeom prst="roundRect">
            <a:avLst>
              <a:gd name="adj" fmla="val 8333"/>
            </a:avLst>
          </a:prstGeom>
          <a:solidFill>
            <a:srgbClr val="FFFFFF">
              <a:alpha val="8000"/>
            </a:srgbClr>
          </a:solidFill>
          <a:ln w="12700" cap="flat" cmpd="sng">
            <a:solidFill>
              <a:srgbClr val="00E5FF">
                <a:alpha val="40000"/>
              </a:srgbClr>
            </a:solidFill>
            <a:prstDash val="solid"/>
            <a:round/>
          </a:ln>
        </p:spPr>
        <p:txBody>
          <a:bodyPr vert="horz" wrap="square" lIns="63500" tIns="63500" rIns="63500" bIns="63500" rtlCol="0" anchor="ctr"/>
          <a:lstStyle/>
          <a:p>
            <a:pPr algn="ctr">
              <a:defRPr/>
            </a:pPr>
          </a:p>
        </p:txBody>
      </p:sp>
      <p:pic>
        <p:nvPicPr>
          <p:cNvPr id="25" name="Picture 25"/>
          <p:cNvPicPr>
            <a:picLocks noChangeAspect="1"/>
          </p:cNvPicPr>
          <p:nvPr/>
        </p:nvPicPr>
        <p:blipFill>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tretch>
            <a:fillRect/>
          </a:stretch>
        </p:blipFill>
        <p:spPr>
          <a:xfrm>
            <a:off x="6604000" y="5283200"/>
            <a:ext cx="304800" cy="304800"/>
          </a:xfrm>
          <a:prstGeom prst="rect">
            <a:avLst/>
          </a:prstGeom>
        </p:spPr>
      </p:pic>
      <p:sp>
        <p:nvSpPr>
          <p:cNvPr id="26" name="AutoShape 26"/>
          <p:cNvSpPr/>
          <p:nvPr/>
        </p:nvSpPr>
        <p:spPr>
          <a:xfrm>
            <a:off x="7048500" y="5270500"/>
            <a:ext cx="4191000" cy="3302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FFFFFF"/>
                </a:solidFill>
                <a:latin typeface="Noto Sans SC" panose="020B0500000000000000" charset="-122"/>
                <a:ea typeface="Noto Sans SC" panose="020B0500000000000000" charset="-122"/>
                <a:cs typeface="Noto Sans SC" panose="020B0500000000000000" charset="-122"/>
                <a:sym typeface="Noto Sans SC" panose="020B0500000000000000" charset="-122"/>
              </a:rPr>
              <a:t>06. 总结与资源：新机遇与新视野</a:t>
            </a:r>
            <a:endParaRPr lang="en-US" sz="1100"/>
          </a:p>
        </p:txBody>
      </p:sp>
      <p:sp>
        <p:nvSpPr>
          <p:cNvPr id="27" name="AutoShape 27"/>
          <p:cNvSpPr/>
          <p:nvPr/>
        </p:nvSpPr>
        <p:spPr>
          <a:xfrm>
            <a:off x="7048500" y="5689600"/>
            <a:ext cx="4191000" cy="762000"/>
          </a:xfrm>
          <a:prstGeom prst="rect">
            <a:avLst/>
          </a:prstGeom>
          <a:noFill/>
          <a:ln w="12700" cap="flat" cmpd="sng">
            <a:noFill/>
            <a:prstDash val="solid"/>
            <a:round/>
          </a:ln>
        </p:spPr>
        <p:txBody>
          <a:bodyPr vert="horz" wrap="square" lIns="0" tIns="0" rIns="0" bIns="0" rtlCol="0" anchor="t" anchorCtr="0"/>
          <a:lstStyle/>
          <a:p>
            <a:pPr indent="0" algn="l">
              <a:lnSpc>
                <a:spcPct val="108000"/>
              </a:lnSpc>
              <a:defRPr/>
            </a:pPr>
            <a:r>
              <a:rPr lang="en-US" sz="1100" b="0" i="0" u="none" strike="noStrike">
                <a:solidFill>
                  <a:srgbClr val="D1D5DB"/>
                </a:solidFill>
                <a:latin typeface="Noto Sans SC" panose="020B0500000000000000" charset="-122"/>
                <a:ea typeface="Noto Sans SC" panose="020B0500000000000000" charset="-122"/>
                <a:cs typeface="Noto Sans SC" panose="020B0500000000000000" charset="-122"/>
                <a:sym typeface="Noto Sans SC" panose="020B0500000000000000" charset="-122"/>
              </a:rPr>
              <a:t>• AI时代创业的核心规则复盘 • 精选AI工具资源库与学习路径 • 未来创业趋势展望与行动建议</a:t>
            </a:r>
            <a:endParaRPr lang="en-US" sz="110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111827">
              <a:alpha val="80000"/>
            </a:srgbClr>
          </a:solidFill>
          <a:ln w="25400" cap="flat" cmpd="sng">
            <a:noFill/>
            <a:prstDash val="solid"/>
            <a:round/>
          </a:ln>
        </p:spPr>
        <p:txBody>
          <a:bodyPr vert="horz" wrap="square" lIns="63500" tIns="63500" rIns="63500" bIns="63500" rtlCol="0" anchor="ctr"/>
          <a:lstStyle/>
          <a:p>
            <a:pPr algn="ctr">
              <a:defRPr/>
            </a:pPr>
          </a:p>
        </p:txBody>
      </p:sp>
      <p:sp>
        <p:nvSpPr>
          <p:cNvPr id="3" name="AutoShape 3"/>
          <p:cNvSpPr/>
          <p:nvPr/>
        </p:nvSpPr>
        <p:spPr>
          <a:xfrm>
            <a:off x="762000" y="635000"/>
            <a:ext cx="10668000" cy="5715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3200" b="1" i="0" u="none" strike="noStrike">
                <a:solidFill>
                  <a:srgbClr val="FFFFFF"/>
                </a:solidFill>
                <a:latin typeface="Noto Sans SC" panose="020B0500000000000000" charset="-122"/>
                <a:ea typeface="Noto Sans SC" panose="020B0500000000000000" charset="-122"/>
                <a:cs typeface="Noto Sans SC" panose="020B0500000000000000" charset="-122"/>
                <a:sym typeface="Noto Sans SC" panose="020B0500000000000000" charset="-122"/>
              </a:rPr>
              <a:t>创业生命周期，为2026年重启</a:t>
            </a:r>
            <a:endParaRPr lang="en-US" sz="1100"/>
          </a:p>
        </p:txBody>
      </p:sp>
      <p:sp>
        <p:nvSpPr>
          <p:cNvPr id="4" name="AutoShape 4"/>
          <p:cNvSpPr/>
          <p:nvPr/>
        </p:nvSpPr>
        <p:spPr>
          <a:xfrm>
            <a:off x="762000" y="1333500"/>
            <a:ext cx="10668000" cy="381000"/>
          </a:xfrm>
          <a:prstGeom prst="rect">
            <a:avLst/>
          </a:prstGeom>
          <a:noFill/>
          <a:ln w="12700" cap="flat" cmpd="sng">
            <a:noFill/>
            <a:prstDash val="solid"/>
            <a:round/>
          </a:ln>
        </p:spPr>
        <p:txBody>
          <a:bodyPr vert="horz" wrap="square" lIns="0" tIns="0" rIns="0" bIns="0" rtlCol="0" anchor="t" anchorCtr="0"/>
          <a:lstStyle/>
          <a:p>
            <a:pPr indent="0" algn="l">
              <a:lnSpc>
                <a:spcPct val="125000"/>
              </a:lnSpc>
              <a:defRPr/>
            </a:pPr>
            <a:r>
              <a:rPr lang="en-US" sz="1600" b="1" i="0" u="none" strike="noStrike">
                <a:solidFill>
                  <a:srgbClr val="00E5FF"/>
                </a:solidFill>
                <a:latin typeface="Noto Sans SC" panose="020B0500000000000000" charset="-122"/>
                <a:ea typeface="Noto Sans SC" panose="020B0500000000000000" charset="-122"/>
                <a:cs typeface="Noto Sans SC" panose="020B0500000000000000" charset="-122"/>
                <a:sym typeface="Noto Sans SC" panose="020B0500000000000000" charset="-122"/>
              </a:rPr>
              <a:t>核心观点：AI正在从根本上改变创业公司的构建方式。</a:t>
            </a:r>
            <a:endParaRPr lang="en-US" sz="1100"/>
          </a:p>
        </p:txBody>
      </p:sp>
      <p:sp>
        <p:nvSpPr>
          <p:cNvPr id="5" name="AutoShape 5"/>
          <p:cNvSpPr/>
          <p:nvPr/>
        </p:nvSpPr>
        <p:spPr>
          <a:xfrm>
            <a:off x="762000" y="2032000"/>
            <a:ext cx="5207000" cy="4318000"/>
          </a:xfrm>
          <a:prstGeom prst="roundRect">
            <a:avLst>
              <a:gd name="adj" fmla="val 3529"/>
            </a:avLst>
          </a:prstGeom>
          <a:solidFill>
            <a:srgbClr val="FFFFFF">
              <a:alpha val="8000"/>
            </a:srgbClr>
          </a:solidFill>
          <a:ln w="12700" cap="flat" cmpd="sng">
            <a:solidFill>
              <a:srgbClr val="00E5FF">
                <a:alpha val="30000"/>
              </a:srgbClr>
            </a:solidFill>
            <a:prstDash val="solid"/>
            <a:round/>
          </a:ln>
        </p:spPr>
        <p:txBody>
          <a:bodyPr vert="horz" wrap="square" lIns="63500" tIns="63500" rIns="63500" bIns="63500" rtlCol="0" anchor="ctr"/>
          <a:lstStyle/>
          <a:p>
            <a:pPr algn="ctr">
              <a:defRPr/>
            </a:pPr>
          </a:p>
        </p:txBody>
      </p:sp>
      <p:sp>
        <p:nvSpPr>
          <p:cNvPr id="6" name="AutoShape 6"/>
          <p:cNvSpPr/>
          <p:nvPr/>
        </p:nvSpPr>
        <p:spPr>
          <a:xfrm>
            <a:off x="1016000" y="2286000"/>
            <a:ext cx="4699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FFFFFF"/>
                </a:solidFill>
                <a:latin typeface="Noto Sans SC" panose="020B0500000000000000" charset="-122"/>
                <a:ea typeface="Noto Sans SC" panose="020B0500000000000000" charset="-122"/>
                <a:cs typeface="Noto Sans SC" panose="020B0500000000000000" charset="-122"/>
                <a:sym typeface="Noto Sans SC" panose="020B0500000000000000" charset="-122"/>
              </a:rPr>
              <a:t>关键变革趋势</a:t>
            </a:r>
            <a:endParaRPr lang="en-US" sz="1100"/>
          </a:p>
        </p:txBody>
      </p:sp>
      <p:cxnSp>
        <p:nvCxnSpPr>
          <p:cNvPr id="7" name="Connector 7"/>
          <p:cNvCxnSpPr/>
          <p:nvPr/>
        </p:nvCxnSpPr>
        <p:spPr>
          <a:xfrm rot="-9291">
            <a:off x="1016009" y="2724150"/>
            <a:ext cx="4699000" cy="12700"/>
          </a:xfrm>
          <a:prstGeom prst="straightConnector1">
            <a:avLst/>
          </a:prstGeom>
          <a:solidFill>
            <a:srgbClr val="DEE0E3">
              <a:alpha val="100000"/>
            </a:srgbClr>
          </a:solidFill>
          <a:ln w="12700" cap="flat" cmpd="sng">
            <a:solidFill>
              <a:srgbClr val="00E5FF">
                <a:alpha val="20000"/>
              </a:srgbClr>
            </a:solidFill>
            <a:prstDash val="solid"/>
            <a:round/>
            <a:headEnd type="none" w="med" len="med"/>
            <a:tailEnd type="none" w="med" len="med"/>
          </a:ln>
        </p:spPr>
      </p:cxnSp>
      <p:pic>
        <p:nvPicPr>
          <p:cNvPr id="8" name="Picture 8"/>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016000" y="2984500"/>
            <a:ext cx="304800" cy="304800"/>
          </a:xfrm>
          <a:prstGeom prst="rect">
            <a:avLst/>
          </a:prstGeom>
        </p:spPr>
      </p:pic>
      <p:sp>
        <p:nvSpPr>
          <p:cNvPr id="9" name="AutoShape 9"/>
          <p:cNvSpPr/>
          <p:nvPr/>
        </p:nvSpPr>
        <p:spPr>
          <a:xfrm>
            <a:off x="1460500" y="2984500"/>
            <a:ext cx="4318000" cy="3048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500" b="1" i="0" u="none" strike="noStrike">
                <a:solidFill>
                  <a:srgbClr val="FFFFFF"/>
                </a:solidFill>
                <a:latin typeface="Noto Sans SC" panose="020B0500000000000000" charset="-122"/>
                <a:ea typeface="Noto Sans SC" panose="020B0500000000000000" charset="-122"/>
                <a:cs typeface="Noto Sans SC" panose="020B0500000000000000" charset="-122"/>
                <a:sym typeface="Noto Sans SC" panose="020B0500000000000000" charset="-122"/>
              </a:rPr>
              <a:t>技术壁垒消除</a:t>
            </a:r>
            <a:endParaRPr lang="en-US" sz="1100"/>
          </a:p>
        </p:txBody>
      </p:sp>
      <p:sp>
        <p:nvSpPr>
          <p:cNvPr id="10" name="AutoShape 10"/>
          <p:cNvSpPr/>
          <p:nvPr/>
        </p:nvSpPr>
        <p:spPr>
          <a:xfrm>
            <a:off x="1460500" y="3327400"/>
            <a:ext cx="4318000" cy="508000"/>
          </a:xfrm>
          <a:prstGeom prst="rect">
            <a:avLst/>
          </a:prstGeom>
          <a:noFill/>
          <a:ln w="12700" cap="flat" cmpd="sng">
            <a:noFill/>
            <a:prstDash val="solid"/>
            <a:round/>
          </a:ln>
        </p:spPr>
        <p:txBody>
          <a:bodyPr vert="horz" wrap="square" lIns="0" tIns="0" rIns="0" bIns="0" rtlCol="0" anchor="t" anchorCtr="0"/>
          <a:lstStyle/>
          <a:p>
            <a:pPr indent="0" algn="l">
              <a:lnSpc>
                <a:spcPct val="108000"/>
              </a:lnSpc>
              <a:defRPr/>
            </a:pPr>
            <a:r>
              <a:rPr lang="en-US" sz="1200" b="0" i="0" u="none" strike="noStrike">
                <a:solidFill>
                  <a:srgbClr val="D1D5DB"/>
                </a:solidFill>
                <a:latin typeface="Noto Sans SC" panose="020B0500000000000000" charset="-122"/>
                <a:ea typeface="Noto Sans SC" panose="020B0500000000000000" charset="-122"/>
                <a:cs typeface="Noto Sans SC" panose="020B0500000000000000" charset="-122"/>
                <a:sym typeface="Noto Sans SC" panose="020B0500000000000000" charset="-122"/>
              </a:rPr>
              <a:t>无代码背景创始人也能发布生产级应用。AI赋能全流程，从编码、调研到运营。</a:t>
            </a:r>
            <a:endParaRPr lang="en-US" sz="1100"/>
          </a:p>
        </p:txBody>
      </p:sp>
      <p:pic>
        <p:nvPicPr>
          <p:cNvPr id="11" name="Picture 11"/>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016000" y="4064000"/>
            <a:ext cx="304800" cy="304800"/>
          </a:xfrm>
          <a:prstGeom prst="rect">
            <a:avLst/>
          </a:prstGeom>
        </p:spPr>
      </p:pic>
      <p:sp>
        <p:nvSpPr>
          <p:cNvPr id="12" name="AutoShape 12"/>
          <p:cNvSpPr/>
          <p:nvPr/>
        </p:nvSpPr>
        <p:spPr>
          <a:xfrm>
            <a:off x="1460500" y="4064000"/>
            <a:ext cx="4318000" cy="3048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500" b="1" i="0" u="none" strike="noStrike">
                <a:solidFill>
                  <a:srgbClr val="FFFFFF"/>
                </a:solidFill>
                <a:latin typeface="Noto Sans SC" panose="020B0500000000000000" charset="-122"/>
                <a:ea typeface="Noto Sans SC" panose="020B0500000000000000" charset="-122"/>
                <a:cs typeface="Noto Sans SC" panose="020B0500000000000000" charset="-122"/>
                <a:sym typeface="Noto Sans SC" panose="020B0500000000000000" charset="-122"/>
              </a:rPr>
              <a:t>团队规模压缩</a:t>
            </a:r>
            <a:endParaRPr lang="en-US" sz="1100"/>
          </a:p>
        </p:txBody>
      </p:sp>
      <p:sp>
        <p:nvSpPr>
          <p:cNvPr id="13" name="AutoShape 13"/>
          <p:cNvSpPr/>
          <p:nvPr/>
        </p:nvSpPr>
        <p:spPr>
          <a:xfrm>
            <a:off x="1460500" y="4406900"/>
            <a:ext cx="4318000" cy="508000"/>
          </a:xfrm>
          <a:prstGeom prst="rect">
            <a:avLst/>
          </a:prstGeom>
          <a:noFill/>
          <a:ln w="12700" cap="flat" cmpd="sng">
            <a:noFill/>
            <a:prstDash val="solid"/>
            <a:round/>
          </a:ln>
        </p:spPr>
        <p:txBody>
          <a:bodyPr vert="horz" wrap="square" lIns="0" tIns="0" rIns="0" bIns="0" rtlCol="0" anchor="t" anchorCtr="0"/>
          <a:lstStyle/>
          <a:p>
            <a:pPr indent="0" algn="l">
              <a:lnSpc>
                <a:spcPct val="108000"/>
              </a:lnSpc>
              <a:defRPr/>
            </a:pPr>
            <a:r>
              <a:rPr lang="en-US" sz="1200" b="0" i="0" u="none" strike="noStrike">
                <a:solidFill>
                  <a:srgbClr val="D1D5DB"/>
                </a:solidFill>
                <a:latin typeface="Noto Sans SC" panose="020B0500000000000000" charset="-122"/>
                <a:ea typeface="Noto Sans SC" panose="020B0500000000000000" charset="-122"/>
                <a:cs typeface="Noto Sans SC" panose="020B0500000000000000" charset="-122"/>
                <a:sym typeface="Noto Sans SC" panose="020B0500000000000000" charset="-122"/>
              </a:rPr>
              <a:t>“精益十人独角兽”成为可行方案。AI打破了企业发展阶段必须扩容的传统魔咒。</a:t>
            </a:r>
            <a:endParaRPr lang="en-US" sz="1100"/>
          </a:p>
        </p:txBody>
      </p:sp>
      <p:pic>
        <p:nvPicPr>
          <p:cNvPr id="14" name="Picture 14"/>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1016000" y="5143500"/>
            <a:ext cx="304800" cy="304800"/>
          </a:xfrm>
          <a:prstGeom prst="rect">
            <a:avLst/>
          </a:prstGeom>
        </p:spPr>
      </p:pic>
      <p:sp>
        <p:nvSpPr>
          <p:cNvPr id="15" name="AutoShape 15"/>
          <p:cNvSpPr/>
          <p:nvPr/>
        </p:nvSpPr>
        <p:spPr>
          <a:xfrm>
            <a:off x="1460500" y="5143500"/>
            <a:ext cx="4318000" cy="3048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500" b="1" i="0" u="none" strike="noStrike">
                <a:solidFill>
                  <a:srgbClr val="FFFFFF"/>
                </a:solidFill>
                <a:latin typeface="Noto Sans SC" panose="020B0500000000000000" charset="-122"/>
                <a:ea typeface="Noto Sans SC" panose="020B0500000000000000" charset="-122"/>
                <a:cs typeface="Noto Sans SC" panose="020B0500000000000000" charset="-122"/>
                <a:sym typeface="Noto Sans SC" panose="020B0500000000000000" charset="-122"/>
              </a:rPr>
              <a:t>创意价值凸显</a:t>
            </a:r>
            <a:endParaRPr lang="en-US" sz="1100"/>
          </a:p>
        </p:txBody>
      </p:sp>
      <p:sp>
        <p:nvSpPr>
          <p:cNvPr id="16" name="AutoShape 16"/>
          <p:cNvSpPr/>
          <p:nvPr/>
        </p:nvSpPr>
        <p:spPr>
          <a:xfrm>
            <a:off x="1460500" y="5486400"/>
            <a:ext cx="4318000" cy="508000"/>
          </a:xfrm>
          <a:prstGeom prst="rect">
            <a:avLst/>
          </a:prstGeom>
          <a:noFill/>
          <a:ln w="12700" cap="flat" cmpd="sng">
            <a:noFill/>
            <a:prstDash val="solid"/>
            <a:round/>
          </a:ln>
        </p:spPr>
        <p:txBody>
          <a:bodyPr vert="horz" wrap="square" lIns="0" tIns="0" rIns="0" bIns="0" rtlCol="0" anchor="t" anchorCtr="0"/>
          <a:lstStyle/>
          <a:p>
            <a:pPr indent="0" algn="l">
              <a:lnSpc>
                <a:spcPct val="108000"/>
              </a:lnSpc>
              <a:defRPr/>
            </a:pPr>
            <a:r>
              <a:rPr lang="en-US" sz="1200" b="0" i="0" u="none" strike="noStrike">
                <a:solidFill>
                  <a:srgbClr val="D1D5DB"/>
                </a:solidFill>
                <a:latin typeface="Noto Sans SC" panose="020B0500000000000000" charset="-122"/>
                <a:ea typeface="Noto Sans SC" panose="020B0500000000000000" charset="-122"/>
                <a:cs typeface="Noto Sans SC" panose="020B0500000000000000" charset="-122"/>
                <a:sym typeface="Noto Sans SC" panose="020B0500000000000000" charset="-122"/>
              </a:rPr>
              <a:t>优质创意的边际效应最大化。AI将团队级工程能力压缩至个人可及范围。</a:t>
            </a:r>
            <a:endParaRPr lang="en-US" sz="1100"/>
          </a:p>
        </p:txBody>
      </p:sp>
      <p:sp>
        <p:nvSpPr>
          <p:cNvPr id="17" name="AutoShape 17"/>
          <p:cNvSpPr/>
          <p:nvPr/>
        </p:nvSpPr>
        <p:spPr>
          <a:xfrm>
            <a:off x="6223000" y="2032000"/>
            <a:ext cx="5207000" cy="4318000"/>
          </a:xfrm>
          <a:prstGeom prst="roundRect">
            <a:avLst>
              <a:gd name="adj" fmla="val 3529"/>
            </a:avLst>
          </a:prstGeom>
          <a:solidFill>
            <a:srgbClr val="FFFFFF">
              <a:alpha val="8000"/>
            </a:srgbClr>
          </a:solidFill>
          <a:ln w="12700" cap="flat" cmpd="sng">
            <a:solidFill>
              <a:srgbClr val="00E5FF">
                <a:alpha val="30000"/>
              </a:srgbClr>
            </a:solidFill>
            <a:prstDash val="solid"/>
            <a:round/>
          </a:ln>
        </p:spPr>
        <p:txBody>
          <a:bodyPr vert="horz" wrap="square" lIns="63500" tIns="63500" rIns="63500" bIns="63500" rtlCol="0" anchor="ctr"/>
          <a:lstStyle/>
          <a:p>
            <a:pPr algn="ctr">
              <a:defRPr/>
            </a:pPr>
          </a:p>
        </p:txBody>
      </p:sp>
      <p:sp>
        <p:nvSpPr>
          <p:cNvPr id="18" name="AutoShape 18"/>
          <p:cNvSpPr/>
          <p:nvPr/>
        </p:nvSpPr>
        <p:spPr>
          <a:xfrm>
            <a:off x="6477000" y="2286000"/>
            <a:ext cx="4699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FFFFFF"/>
                </a:solidFill>
                <a:latin typeface="Noto Sans SC" panose="020B0500000000000000" charset="-122"/>
                <a:ea typeface="Noto Sans SC" panose="020B0500000000000000" charset="-122"/>
                <a:cs typeface="Noto Sans SC" panose="020B0500000000000000" charset="-122"/>
                <a:sym typeface="Noto Sans SC" panose="020B0500000000000000" charset="-122"/>
              </a:rPr>
              <a:t>创业范式重构</a:t>
            </a:r>
            <a:endParaRPr lang="en-US" sz="1100"/>
          </a:p>
        </p:txBody>
      </p:sp>
      <p:cxnSp>
        <p:nvCxnSpPr>
          <p:cNvPr id="19" name="Connector 19"/>
          <p:cNvCxnSpPr/>
          <p:nvPr/>
        </p:nvCxnSpPr>
        <p:spPr>
          <a:xfrm rot="-9291">
            <a:off x="6477009" y="2724150"/>
            <a:ext cx="4699000" cy="12700"/>
          </a:xfrm>
          <a:prstGeom prst="straightConnector1">
            <a:avLst/>
          </a:prstGeom>
          <a:solidFill>
            <a:srgbClr val="DEE0E3">
              <a:alpha val="100000"/>
            </a:srgbClr>
          </a:solidFill>
          <a:ln w="12700" cap="flat" cmpd="sng">
            <a:solidFill>
              <a:srgbClr val="00E5FF">
                <a:alpha val="20000"/>
              </a:srgbClr>
            </a:solidFill>
            <a:prstDash val="solid"/>
            <a:round/>
            <a:headEnd type="none" w="med" len="med"/>
            <a:tailEnd type="none" w="med" len="med"/>
          </a:ln>
        </p:spPr>
      </p:cxnSp>
      <p:sp>
        <p:nvSpPr>
          <p:cNvPr id="20" name="AutoShape 20"/>
          <p:cNvSpPr/>
          <p:nvPr/>
        </p:nvSpPr>
        <p:spPr>
          <a:xfrm>
            <a:off x="6477000" y="2921000"/>
            <a:ext cx="4699000" cy="1079500"/>
          </a:xfrm>
          <a:prstGeom prst="roundRect">
            <a:avLst>
              <a:gd name="adj" fmla="val 9411"/>
            </a:avLst>
          </a:prstGeom>
          <a:solidFill>
            <a:srgbClr val="6B7280">
              <a:alpha val="20000"/>
            </a:srgbClr>
          </a:solidFill>
          <a:ln w="25400" cap="flat" cmpd="sng">
            <a:noFill/>
            <a:prstDash val="solid"/>
            <a:round/>
          </a:ln>
        </p:spPr>
        <p:txBody>
          <a:bodyPr vert="horz" wrap="square" lIns="63500" tIns="63500" rIns="63500" bIns="63500" rtlCol="0" anchor="ctr"/>
          <a:lstStyle/>
          <a:p>
            <a:pPr algn="ctr">
              <a:defRPr/>
            </a:pPr>
          </a:p>
        </p:txBody>
      </p:sp>
      <p:sp>
        <p:nvSpPr>
          <p:cNvPr id="21" name="AutoShape 21"/>
          <p:cNvSpPr/>
          <p:nvPr/>
        </p:nvSpPr>
        <p:spPr>
          <a:xfrm>
            <a:off x="6604000" y="3048000"/>
            <a:ext cx="4445000" cy="254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300" b="1" i="0" u="none" strike="noStrike">
                <a:solidFill>
                  <a:srgbClr val="9CA3AF"/>
                </a:solidFill>
                <a:latin typeface="Noto Sans SC" panose="020B0500000000000000" charset="-122"/>
                <a:ea typeface="Noto Sans SC" panose="020B0500000000000000" charset="-122"/>
                <a:cs typeface="Noto Sans SC" panose="020B0500000000000000" charset="-122"/>
                <a:sym typeface="Noto Sans SC" panose="020B0500000000000000" charset="-122"/>
              </a:rPr>
              <a:t>传统线性循环模式：</a:t>
            </a:r>
            <a:endParaRPr lang="en-US" sz="1100"/>
          </a:p>
        </p:txBody>
      </p:sp>
      <p:sp>
        <p:nvSpPr>
          <p:cNvPr id="22" name="AutoShape 22"/>
          <p:cNvSpPr/>
          <p:nvPr/>
        </p:nvSpPr>
        <p:spPr>
          <a:xfrm>
            <a:off x="6604000" y="3365500"/>
            <a:ext cx="4445000" cy="508000"/>
          </a:xfrm>
          <a:prstGeom prst="rect">
            <a:avLst/>
          </a:prstGeom>
          <a:noFill/>
          <a:ln w="12700" cap="flat" cmpd="sng">
            <a:noFill/>
            <a:prstDash val="solid"/>
            <a:round/>
          </a:ln>
        </p:spPr>
        <p:txBody>
          <a:bodyPr vert="horz" wrap="square" lIns="0" tIns="0" rIns="0" bIns="0" rtlCol="0" anchor="t" anchorCtr="0"/>
          <a:lstStyle/>
          <a:p>
            <a:pPr indent="0" algn="l">
              <a:lnSpc>
                <a:spcPct val="108000"/>
              </a:lnSpc>
              <a:defRPr/>
            </a:pPr>
            <a:r>
              <a:rPr lang="en-US" sz="1100" b="0" i="0" u="none" strike="noStrike">
                <a:solidFill>
                  <a:srgbClr val="9CA3AF"/>
                </a:solidFill>
                <a:latin typeface="Noto Sans SC" panose="020B0500000000000000" charset="-122"/>
                <a:ea typeface="Noto Sans SC" panose="020B0500000000000000" charset="-122"/>
                <a:cs typeface="Noto Sans SC" panose="020B0500000000000000" charset="-122"/>
                <a:sym typeface="Noto Sans SC" panose="020B0500000000000000" charset="-122"/>
              </a:rPr>
              <a:t>验证 → 融资 → 招聘 → 构建 → 再融资 → 增长 → 再招聘... (陷入资源消耗循环)</a:t>
            </a:r>
            <a:endParaRPr lang="en-US" sz="1100"/>
          </a:p>
        </p:txBody>
      </p:sp>
      <p:sp>
        <p:nvSpPr>
          <p:cNvPr id="23" name="AutoShape 23"/>
          <p:cNvSpPr/>
          <p:nvPr/>
        </p:nvSpPr>
        <p:spPr>
          <a:xfrm>
            <a:off x="6477000" y="4191000"/>
            <a:ext cx="4699000" cy="1206500"/>
          </a:xfrm>
          <a:prstGeom prst="roundRect">
            <a:avLst>
              <a:gd name="adj" fmla="val 8421"/>
            </a:avLst>
          </a:prstGeom>
          <a:solidFill>
            <a:srgbClr val="00E5FF">
              <a:alpha val="15000"/>
            </a:srgbClr>
          </a:solidFill>
          <a:ln w="12700" cap="flat" cmpd="sng">
            <a:solidFill>
              <a:srgbClr val="00E5FF">
                <a:alpha val="40000"/>
              </a:srgbClr>
            </a:solidFill>
            <a:prstDash val="solid"/>
            <a:round/>
          </a:ln>
        </p:spPr>
        <p:txBody>
          <a:bodyPr vert="horz" wrap="square" lIns="63500" tIns="63500" rIns="63500" bIns="63500" rtlCol="0" anchor="ctr"/>
          <a:lstStyle/>
          <a:p>
            <a:pPr algn="ctr">
              <a:defRPr/>
            </a:pPr>
          </a:p>
        </p:txBody>
      </p:sp>
      <p:sp>
        <p:nvSpPr>
          <p:cNvPr id="24" name="AutoShape 24"/>
          <p:cNvSpPr/>
          <p:nvPr/>
        </p:nvSpPr>
        <p:spPr>
          <a:xfrm>
            <a:off x="6604000" y="4318000"/>
            <a:ext cx="4445000" cy="254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300" b="1" i="0" u="none" strike="noStrike">
                <a:solidFill>
                  <a:srgbClr val="00E5FF"/>
                </a:solidFill>
                <a:latin typeface="Noto Sans SC" panose="020B0500000000000000" charset="-122"/>
                <a:ea typeface="Noto Sans SC" panose="020B0500000000000000" charset="-122"/>
                <a:cs typeface="Noto Sans SC" panose="020B0500000000000000" charset="-122"/>
                <a:sym typeface="Noto Sans SC" panose="020B0500000000000000" charset="-122"/>
              </a:rPr>
              <a:t>AI原生敏捷模式：</a:t>
            </a:r>
            <a:endParaRPr lang="en-US" sz="1100"/>
          </a:p>
        </p:txBody>
      </p:sp>
      <p:sp>
        <p:nvSpPr>
          <p:cNvPr id="25" name="AutoShape 25"/>
          <p:cNvSpPr/>
          <p:nvPr/>
        </p:nvSpPr>
        <p:spPr>
          <a:xfrm>
            <a:off x="6604000" y="4635500"/>
            <a:ext cx="4445000" cy="635000"/>
          </a:xfrm>
          <a:prstGeom prst="rect">
            <a:avLst/>
          </a:prstGeom>
          <a:noFill/>
          <a:ln w="12700" cap="flat" cmpd="sng">
            <a:noFill/>
            <a:prstDash val="solid"/>
            <a:round/>
          </a:ln>
        </p:spPr>
        <p:txBody>
          <a:bodyPr vert="horz" wrap="square" lIns="0" tIns="0" rIns="0" bIns="0" rtlCol="0" anchor="t" anchorCtr="0"/>
          <a:lstStyle/>
          <a:p>
            <a:pPr indent="0" algn="l">
              <a:lnSpc>
                <a:spcPct val="108000"/>
              </a:lnSpc>
              <a:defRPr/>
            </a:pPr>
            <a:r>
              <a:rPr lang="en-US" sz="1100" b="0" i="0" u="none" strike="noStrike">
                <a:solidFill>
                  <a:srgbClr val="E5E7EB"/>
                </a:solidFill>
                <a:latin typeface="Noto Sans SC" panose="020B0500000000000000" charset="-122"/>
                <a:ea typeface="Noto Sans SC" panose="020B0500000000000000" charset="-122"/>
                <a:cs typeface="Noto Sans SC" panose="020B0500000000000000" charset="-122"/>
                <a:sym typeface="Noto Sans SC" panose="020B0500000000000000" charset="-122"/>
              </a:rPr>
              <a:t>创意 → 快速验证 → AI辅助构建 → 极速迭代 → 规模化运营 (AI贯穿全流程，缩短试错周期)</a:t>
            </a:r>
            <a:endParaRPr lang="en-US" sz="1100"/>
          </a:p>
        </p:txBody>
      </p:sp>
      <p:cxnSp>
        <p:nvCxnSpPr>
          <p:cNvPr id="26" name="Connector 26"/>
          <p:cNvCxnSpPr/>
          <p:nvPr/>
        </p:nvCxnSpPr>
        <p:spPr>
          <a:xfrm rot="-9291">
            <a:off x="6477009" y="5581650"/>
            <a:ext cx="4699000" cy="12700"/>
          </a:xfrm>
          <a:prstGeom prst="straightConnector1">
            <a:avLst/>
          </a:prstGeom>
          <a:solidFill>
            <a:srgbClr val="DEE0E3">
              <a:alpha val="100000"/>
            </a:srgbClr>
          </a:solidFill>
          <a:ln w="12700" cap="flat" cmpd="sng">
            <a:solidFill>
              <a:srgbClr val="FFFFFF">
                <a:alpha val="10000"/>
              </a:srgbClr>
            </a:solidFill>
            <a:prstDash val="dash"/>
            <a:round/>
            <a:headEnd type="none" w="med" len="med"/>
            <a:tailEnd type="none" w="med" len="med"/>
          </a:ln>
        </p:spPr>
      </p:cxnSp>
      <p:pic>
        <p:nvPicPr>
          <p:cNvPr id="27" name="Picture 27"/>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6477000" y="5842000"/>
            <a:ext cx="203200" cy="203200"/>
          </a:xfrm>
          <a:prstGeom prst="rect">
            <a:avLst/>
          </a:prstGeom>
        </p:spPr>
      </p:pic>
      <p:sp>
        <p:nvSpPr>
          <p:cNvPr id="28" name="AutoShape 28"/>
          <p:cNvSpPr/>
          <p:nvPr/>
        </p:nvSpPr>
        <p:spPr>
          <a:xfrm>
            <a:off x="6756400" y="5816600"/>
            <a:ext cx="4445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200" b="0" i="0" u="none" strike="noStrike">
                <a:solidFill>
                  <a:srgbClr val="FFFFFF"/>
                </a:solidFill>
                <a:latin typeface="Noto Sans SC" panose="020B0500000000000000" charset="-122"/>
                <a:ea typeface="Noto Sans SC" panose="020B0500000000000000" charset="-122"/>
                <a:cs typeface="Noto Sans SC" panose="020B0500000000000000" charset="-122"/>
                <a:sym typeface="Noto Sans SC" panose="020B0500000000000000" charset="-122"/>
              </a:rPr>
              <a:t>本手册目标：重新绘制创业核心阶段，找到从创意到退出的最短路径。</a:t>
            </a:r>
            <a:endParaRPr lang="en-US" sz="110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000000">
              <a:alpha val="80000"/>
            </a:srgbClr>
          </a:solidFill>
          <a:ln w="25400" cap="flat" cmpd="sng">
            <a:noFill/>
            <a:prstDash val="solid"/>
            <a:round/>
          </a:ln>
        </p:spPr>
        <p:txBody>
          <a:bodyPr vert="horz" wrap="square" lIns="63500" tIns="63500" rIns="63500" bIns="63500" rtlCol="0" anchor="ctr"/>
          <a:lstStyle/>
          <a:p>
            <a:pPr algn="ctr">
              <a:defRPr/>
            </a:pPr>
          </a:p>
        </p:txBody>
      </p:sp>
      <p:sp>
        <p:nvSpPr>
          <p:cNvPr id="3" name="AutoShape 3"/>
          <p:cNvSpPr/>
          <p:nvPr/>
        </p:nvSpPr>
        <p:spPr>
          <a:xfrm>
            <a:off x="762000" y="635000"/>
            <a:ext cx="10668000" cy="5715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3200" b="1" i="0" u="none" strike="noStrike">
                <a:solidFill>
                  <a:srgbClr val="FFFFFF"/>
                </a:solidFill>
                <a:latin typeface="Noto Sans SC" panose="020B0500000000000000" charset="-122"/>
                <a:ea typeface="Noto Sans SC" panose="020B0500000000000000" charset="-122"/>
                <a:cs typeface="Noto Sans SC" panose="020B0500000000000000" charset="-122"/>
                <a:sym typeface="Noto Sans SC" panose="020B0500000000000000" charset="-122"/>
              </a:rPr>
              <a:t>创始人的定义正在改变</a:t>
            </a:r>
            <a:endParaRPr lang="en-US" sz="1100"/>
          </a:p>
        </p:txBody>
      </p:sp>
      <p:sp>
        <p:nvSpPr>
          <p:cNvPr id="4" name="AutoShape 4"/>
          <p:cNvSpPr/>
          <p:nvPr/>
        </p:nvSpPr>
        <p:spPr>
          <a:xfrm>
            <a:off x="762000" y="1460500"/>
            <a:ext cx="10668000" cy="1143000"/>
          </a:xfrm>
          <a:prstGeom prst="roundRect">
            <a:avLst>
              <a:gd name="adj" fmla="val 13333"/>
            </a:avLst>
          </a:prstGeom>
          <a:solidFill>
            <a:srgbClr val="00E5FF">
              <a:alpha val="10000"/>
            </a:srgbClr>
          </a:solidFill>
          <a:ln w="12700" cap="flat" cmpd="sng">
            <a:solidFill>
              <a:srgbClr val="00E5FF">
                <a:alpha val="40000"/>
              </a:srgbClr>
            </a:solidFill>
            <a:prstDash val="solid"/>
            <a:round/>
          </a:ln>
        </p:spPr>
        <p:txBody>
          <a:bodyPr vert="horz" wrap="square" lIns="304800" tIns="0" rIns="304800" bIns="0" rtlCol="0" anchor="ctr" anchorCtr="0"/>
          <a:lstStyle/>
          <a:p>
            <a:pPr indent="0" algn="ctr">
              <a:lnSpc>
                <a:spcPct val="117000"/>
              </a:lnSpc>
              <a:defRPr/>
            </a:pPr>
            <a:r>
              <a:rPr lang="en-US" sz="1600" b="0" i="0" u="none" strike="noStrike">
                <a:solidFill>
                  <a:srgbClr val="ECFEFF"/>
                </a:solidFill>
                <a:latin typeface="Noto Sans SC" panose="020B0500000000000000" charset="-122"/>
                <a:ea typeface="Noto Sans SC" panose="020B0500000000000000" charset="-122"/>
                <a:cs typeface="Noto Sans SC" panose="020B0500000000000000" charset="-122"/>
                <a:sym typeface="Noto Sans SC" panose="020B0500000000000000" charset="-122"/>
              </a:rPr>
              <a:t>AI溶解了“能构建者”与“有想法者”之间的壁垒。创始人的角色已从单纯的“执行者”，彻底转变为“AI系统的协调者与指挥家”。</a:t>
            </a:r>
            <a:endParaRPr lang="en-US" sz="1100"/>
          </a:p>
        </p:txBody>
      </p:sp>
      <p:sp>
        <p:nvSpPr>
          <p:cNvPr id="5" name="AutoShape 5"/>
          <p:cNvSpPr/>
          <p:nvPr/>
        </p:nvSpPr>
        <p:spPr>
          <a:xfrm>
            <a:off x="762000" y="2921000"/>
            <a:ext cx="5207000" cy="3556000"/>
          </a:xfrm>
          <a:prstGeom prst="roundRect">
            <a:avLst>
              <a:gd name="adj" fmla="val 4285"/>
            </a:avLst>
          </a:prstGeom>
          <a:solidFill>
            <a:srgbClr val="FFFFFF">
              <a:alpha val="8000"/>
            </a:srgbClr>
          </a:solidFill>
          <a:ln w="12700" cap="flat" cmpd="sng">
            <a:solidFill>
              <a:srgbClr val="FFFFFF">
                <a:alpha val="15000"/>
              </a:srgbClr>
            </a:solidFill>
            <a:prstDash val="solid"/>
            <a:round/>
          </a:ln>
        </p:spPr>
        <p:txBody>
          <a:bodyPr vert="horz" wrap="square" lIns="63500" tIns="63500" rIns="63500" bIns="63500" rtlCol="0" anchor="ctr"/>
          <a:lstStyle/>
          <a:p>
            <a:pPr algn="ctr">
              <a:defRPr/>
            </a:pPr>
          </a:p>
        </p:txBody>
      </p:sp>
      <p:pic>
        <p:nvPicPr>
          <p:cNvPr id="6" name="Picture 6"/>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066800" y="3175000"/>
            <a:ext cx="304800" cy="304800"/>
          </a:xfrm>
          <a:prstGeom prst="rect">
            <a:avLst/>
          </a:prstGeom>
        </p:spPr>
      </p:pic>
      <p:sp>
        <p:nvSpPr>
          <p:cNvPr id="7" name="AutoShape 7"/>
          <p:cNvSpPr/>
          <p:nvPr/>
        </p:nvSpPr>
        <p:spPr>
          <a:xfrm>
            <a:off x="1473200" y="3149600"/>
            <a:ext cx="3810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FFFFFF"/>
                </a:solidFill>
                <a:latin typeface="Noto Sans SC" panose="020B0500000000000000" charset="-122"/>
                <a:ea typeface="Noto Sans SC" panose="020B0500000000000000" charset="-122"/>
                <a:cs typeface="Noto Sans SC" panose="020B0500000000000000" charset="-122"/>
                <a:sym typeface="Noto Sans SC" panose="020B0500000000000000" charset="-122"/>
              </a:rPr>
              <a:t>角色重塑：从执行到指挥</a:t>
            </a:r>
            <a:endParaRPr lang="en-US" sz="1100"/>
          </a:p>
        </p:txBody>
      </p:sp>
      <p:cxnSp>
        <p:nvCxnSpPr>
          <p:cNvPr id="8" name="Connector 8"/>
          <p:cNvCxnSpPr/>
          <p:nvPr/>
        </p:nvCxnSpPr>
        <p:spPr>
          <a:xfrm rot="-9496">
            <a:off x="1066809" y="3625850"/>
            <a:ext cx="4597400" cy="12700"/>
          </a:xfrm>
          <a:prstGeom prst="straightConnector1">
            <a:avLst/>
          </a:prstGeom>
          <a:solidFill>
            <a:srgbClr val="DEE0E3">
              <a:alpha val="100000"/>
            </a:srgbClr>
          </a:solidFill>
          <a:ln w="12700" cap="flat" cmpd="sng">
            <a:solidFill>
              <a:srgbClr val="FFFFFF">
                <a:alpha val="15000"/>
              </a:srgbClr>
            </a:solidFill>
            <a:prstDash val="solid"/>
            <a:round/>
            <a:headEnd type="none" w="med" len="med"/>
            <a:tailEnd type="none" w="med" len="med"/>
          </a:ln>
        </p:spPr>
      </p:cxnSp>
      <p:sp>
        <p:nvSpPr>
          <p:cNvPr id="9" name="AutoShape 9"/>
          <p:cNvSpPr/>
          <p:nvPr/>
        </p:nvSpPr>
        <p:spPr>
          <a:xfrm>
            <a:off x="1066800" y="3810000"/>
            <a:ext cx="4597400" cy="889000"/>
          </a:xfrm>
          <a:prstGeom prst="rect">
            <a:avLst/>
          </a:prstGeom>
          <a:noFill/>
          <a:ln w="12700" cap="flat" cmpd="sng">
            <a:noFill/>
            <a:prstDash val="solid"/>
            <a:round/>
          </a:ln>
        </p:spPr>
        <p:txBody>
          <a:bodyPr vert="horz" wrap="square" lIns="0" tIns="0" rIns="0" bIns="0" rtlCol="0" anchor="t" anchorCtr="0"/>
          <a:lstStyle/>
          <a:p>
            <a:pPr indent="0" algn="l">
              <a:lnSpc>
                <a:spcPct val="108000"/>
              </a:lnSpc>
              <a:defRPr/>
            </a:pPr>
            <a:r>
              <a:rPr lang="en-US" sz="1400" b="1" i="0" u="none" strike="noStrike">
                <a:solidFill>
                  <a:srgbClr val="94A3B8"/>
                </a:solidFill>
                <a:latin typeface="Noto Sans SC" panose="020B0500000000000000" charset="-122"/>
                <a:ea typeface="Noto Sans SC" panose="020B0500000000000000" charset="-122"/>
                <a:cs typeface="Noto Sans SC" panose="020B0500000000000000" charset="-122"/>
                <a:sym typeface="Noto Sans SC" panose="020B0500000000000000" charset="-122"/>
              </a:rPr>
              <a:t>◀ 传统模式 (分工明确)</a:t>
            </a:r>
            <a:endParaRPr lang="en-US" sz="1100"/>
          </a:p>
          <a:p>
            <a:pPr indent="0" algn="l">
              <a:lnSpc>
                <a:spcPct val="108000"/>
              </a:lnSpc>
            </a:pPr>
            <a:r>
              <a:rPr lang="en-US" sz="1200" b="0" i="0" u="none" strike="noStrike">
                <a:solidFill>
                  <a:srgbClr val="CBD5E1">
                    <a:alpha val="80000"/>
                  </a:srgbClr>
                </a:solidFill>
                <a:latin typeface="Noto Sans SC" panose="020B0500000000000000" charset="-122"/>
                <a:ea typeface="Noto Sans SC" panose="020B0500000000000000" charset="-122"/>
                <a:cs typeface="Noto Sans SC" panose="020B0500000000000000" charset="-122"/>
                <a:sym typeface="Noto Sans SC" panose="020B0500000000000000" charset="-122"/>
              </a:rPr>
              <a:t>• 技术创始人：专注写代码，实现产品功能</a:t>
            </a:r>
            <a:endParaRPr lang="en-US" sz="1200" b="0" i="0" u="none" strike="noStrike">
              <a:solidFill>
                <a:srgbClr val="CBD5E1">
                  <a:alpha val="80000"/>
                </a:srgbClr>
              </a:solidFill>
              <a:latin typeface="Noto Sans SC" panose="020B0500000000000000" charset="-122"/>
              <a:ea typeface="Noto Sans SC" panose="020B0500000000000000" charset="-122"/>
              <a:cs typeface="Noto Sans SC" panose="020B0500000000000000" charset="-122"/>
              <a:sym typeface="Noto Sans SC" panose="020B0500000000000000" charset="-122"/>
            </a:endParaRPr>
          </a:p>
          <a:p>
            <a:pPr indent="0" algn="l">
              <a:lnSpc>
                <a:spcPct val="108000"/>
              </a:lnSpc>
            </a:pPr>
            <a:r>
              <a:rPr lang="en-US" sz="1200" b="0" i="0" u="none" strike="noStrike">
                <a:solidFill>
                  <a:srgbClr val="CBD5E1">
                    <a:alpha val="80000"/>
                  </a:srgbClr>
                </a:solidFill>
                <a:latin typeface="Noto Sans SC" panose="020B0500000000000000" charset="-122"/>
                <a:ea typeface="Noto Sans SC" panose="020B0500000000000000" charset="-122"/>
                <a:cs typeface="Noto Sans SC" panose="020B0500000000000000" charset="-122"/>
                <a:sym typeface="Noto Sans SC" panose="020B0500000000000000" charset="-122"/>
              </a:rPr>
              <a:t>• 非技术创始人：专注跑业务，拓展市场渠道</a:t>
            </a:r>
            <a:endParaRPr lang="en-US" sz="1200" b="0" i="0" u="none" strike="noStrike">
              <a:solidFill>
                <a:srgbClr val="CBD5E1">
                  <a:alpha val="80000"/>
                </a:srgbClr>
              </a:solidFill>
              <a:latin typeface="Noto Sans SC" panose="020B0500000000000000" charset="-122"/>
              <a:ea typeface="Noto Sans SC" panose="020B0500000000000000" charset="-122"/>
              <a:cs typeface="Noto Sans SC" panose="020B0500000000000000" charset="-122"/>
              <a:sym typeface="Noto Sans SC" panose="020B0500000000000000" charset="-122"/>
            </a:endParaRPr>
          </a:p>
        </p:txBody>
      </p:sp>
      <p:sp>
        <p:nvSpPr>
          <p:cNvPr id="10" name="AutoShape 10"/>
          <p:cNvSpPr/>
          <p:nvPr/>
        </p:nvSpPr>
        <p:spPr>
          <a:xfrm>
            <a:off x="1066800" y="4889500"/>
            <a:ext cx="4597400" cy="1397000"/>
          </a:xfrm>
          <a:prstGeom prst="rect">
            <a:avLst/>
          </a:prstGeom>
          <a:noFill/>
          <a:ln w="12700" cap="flat" cmpd="sng">
            <a:noFill/>
            <a:prstDash val="solid"/>
            <a:round/>
          </a:ln>
        </p:spPr>
        <p:txBody>
          <a:bodyPr vert="horz" wrap="square" lIns="0" tIns="0" rIns="0" bIns="0" rtlCol="0" anchor="t" anchorCtr="0"/>
          <a:lstStyle/>
          <a:p>
            <a:pPr indent="0" algn="l">
              <a:lnSpc>
                <a:spcPct val="108000"/>
              </a:lnSpc>
              <a:defRPr/>
            </a:pPr>
            <a:r>
              <a:rPr lang="en-US" sz="1400" b="1" i="0" u="none" strike="noStrike">
                <a:solidFill>
                  <a:srgbClr val="00E5FF"/>
                </a:solidFill>
                <a:latin typeface="Noto Sans SC" panose="020B0500000000000000" charset="-122"/>
                <a:ea typeface="Noto Sans SC" panose="020B0500000000000000" charset="-122"/>
                <a:cs typeface="Noto Sans SC" panose="020B0500000000000000" charset="-122"/>
                <a:sym typeface="Noto Sans SC" panose="020B0500000000000000" charset="-122"/>
              </a:rPr>
              <a:t>▶ AI原生时代 (能力融合)</a:t>
            </a:r>
            <a:endParaRPr lang="en-US" sz="1100"/>
          </a:p>
          <a:p>
            <a:pPr indent="0" algn="l">
              <a:lnSpc>
                <a:spcPct val="108000"/>
              </a:lnSpc>
            </a:pPr>
            <a:r>
              <a:rPr lang="en-US" sz="1200" b="0" i="0" u="none" strike="noStrike">
                <a:solidFill>
                  <a:srgbClr val="FFFFFF">
                    <a:alpha val="90196"/>
                  </a:srgbClr>
                </a:solidFill>
                <a:latin typeface="Noto Sans SC" panose="020B0500000000000000" charset="-122"/>
                <a:ea typeface="Noto Sans SC" panose="020B0500000000000000" charset="-122"/>
                <a:cs typeface="Noto Sans SC" panose="020B0500000000000000" charset="-122"/>
                <a:sym typeface="Noto Sans SC" panose="020B0500000000000000" charset="-122"/>
              </a:rPr>
              <a:t>• 打破边界：无技术背景者可直接构建产品原型。</a:t>
            </a:r>
            <a:endParaRPr lang="en-US" sz="1200" b="0" i="0" u="none" strike="noStrike">
              <a:solidFill>
                <a:srgbClr val="FFFFFF">
                  <a:alpha val="90196"/>
                </a:srgbClr>
              </a:solidFill>
              <a:latin typeface="Noto Sans SC" panose="020B0500000000000000" charset="-122"/>
              <a:ea typeface="Noto Sans SC" panose="020B0500000000000000" charset="-122"/>
              <a:cs typeface="Noto Sans SC" panose="020B0500000000000000" charset="-122"/>
              <a:sym typeface="Noto Sans SC" panose="020B0500000000000000" charset="-122"/>
            </a:endParaRPr>
          </a:p>
          <a:p>
            <a:pPr indent="0" algn="l">
              <a:lnSpc>
                <a:spcPct val="108000"/>
              </a:lnSpc>
            </a:pPr>
            <a:r>
              <a:rPr lang="en-US" sz="1200" b="0" i="0" u="none" strike="noStrike">
                <a:solidFill>
                  <a:srgbClr val="FFFFFF">
                    <a:alpha val="90196"/>
                  </a:srgbClr>
                </a:solidFill>
                <a:latin typeface="Noto Sans SC" panose="020B0500000000000000" charset="-122"/>
                <a:ea typeface="Noto Sans SC" panose="020B0500000000000000" charset="-122"/>
                <a:cs typeface="Noto Sans SC" panose="020B0500000000000000" charset="-122"/>
                <a:sym typeface="Noto Sans SC" panose="020B0500000000000000" charset="-122"/>
              </a:rPr>
              <a:t>• 效率跃升：技术专家利用AI快速生成策略、模型与演示文稿。</a:t>
            </a:r>
            <a:endParaRPr lang="en-US" sz="1200" b="0" i="0" u="none" strike="noStrike">
              <a:solidFill>
                <a:srgbClr val="FFFFFF">
                  <a:alpha val="90196"/>
                </a:srgbClr>
              </a:solidFill>
              <a:latin typeface="Noto Sans SC" panose="020B0500000000000000" charset="-122"/>
              <a:ea typeface="Noto Sans SC" panose="020B0500000000000000" charset="-122"/>
              <a:cs typeface="Noto Sans SC" panose="020B0500000000000000" charset="-122"/>
              <a:sym typeface="Noto Sans SC" panose="020B0500000000000000" charset="-122"/>
            </a:endParaRPr>
          </a:p>
          <a:p>
            <a:pPr indent="0" algn="l">
              <a:lnSpc>
                <a:spcPct val="108000"/>
              </a:lnSpc>
            </a:pPr>
            <a:r>
              <a:rPr lang="en-US" sz="1200" b="0" i="0" u="none" strike="noStrike">
                <a:solidFill>
                  <a:srgbClr val="FFFFFF">
                    <a:alpha val="90196"/>
                  </a:srgbClr>
                </a:solidFill>
                <a:latin typeface="Noto Sans SC" panose="020B0500000000000000" charset="-122"/>
                <a:ea typeface="Noto Sans SC" panose="020B0500000000000000" charset="-122"/>
                <a:cs typeface="Noto Sans SC" panose="020B0500000000000000" charset="-122"/>
                <a:sym typeface="Noto Sans SC" panose="020B0500000000000000" charset="-122"/>
              </a:rPr>
              <a:t>• 核心转移：工作重心转向</a:t>
            </a:r>
            <a:r>
              <a:rPr lang="en-US" sz="1200" b="1" i="0" u="none" strike="noStrike">
                <a:solidFill>
                  <a:srgbClr val="00E5FF"/>
                </a:solidFill>
                <a:latin typeface="Noto Sans SC" panose="020B0500000000000000" charset="-122"/>
                <a:ea typeface="Noto Sans SC" panose="020B0500000000000000" charset="-122"/>
                <a:cs typeface="Noto Sans SC" panose="020B0500000000000000" charset="-122"/>
                <a:sym typeface="Noto Sans SC" panose="020B0500000000000000" charset="-122"/>
              </a:rPr>
              <a:t>产生想法与指挥AI执行</a:t>
            </a:r>
            <a:r>
              <a:rPr lang="en-US" sz="1200" b="0" i="0" u="none" strike="noStrike">
                <a:solidFill>
                  <a:srgbClr val="FFFFFF">
                    <a:alpha val="90196"/>
                  </a:srgbClr>
                </a:solidFill>
                <a:latin typeface="Noto Sans SC" panose="020B0500000000000000" charset="-122"/>
                <a:ea typeface="Noto Sans SC" panose="020B0500000000000000" charset="-122"/>
                <a:cs typeface="Noto Sans SC" panose="020B0500000000000000" charset="-122"/>
                <a:sym typeface="Noto Sans SC" panose="020B0500000000000000" charset="-122"/>
              </a:rPr>
              <a:t>。</a:t>
            </a:r>
            <a:endParaRPr lang="en-US" sz="1200" b="0" i="0" u="none" strike="noStrike">
              <a:solidFill>
                <a:srgbClr val="FFFFFF">
                  <a:alpha val="90196"/>
                </a:srgbClr>
              </a:solidFill>
              <a:latin typeface="Noto Sans SC" panose="020B0500000000000000" charset="-122"/>
              <a:ea typeface="Noto Sans SC" panose="020B0500000000000000" charset="-122"/>
              <a:cs typeface="Noto Sans SC" panose="020B0500000000000000" charset="-122"/>
              <a:sym typeface="Noto Sans SC" panose="020B0500000000000000" charset="-122"/>
            </a:endParaRPr>
          </a:p>
        </p:txBody>
      </p:sp>
      <p:sp>
        <p:nvSpPr>
          <p:cNvPr id="11" name="AutoShape 11"/>
          <p:cNvSpPr/>
          <p:nvPr/>
        </p:nvSpPr>
        <p:spPr>
          <a:xfrm>
            <a:off x="6223000" y="2921000"/>
            <a:ext cx="5207000" cy="3556000"/>
          </a:xfrm>
          <a:prstGeom prst="roundRect">
            <a:avLst>
              <a:gd name="adj" fmla="val 4285"/>
            </a:avLst>
          </a:prstGeom>
          <a:solidFill>
            <a:srgbClr val="FFFFFF">
              <a:alpha val="8000"/>
            </a:srgbClr>
          </a:solidFill>
          <a:ln w="12700" cap="flat" cmpd="sng">
            <a:solidFill>
              <a:srgbClr val="FFFFFF">
                <a:alpha val="15000"/>
              </a:srgbClr>
            </a:solidFill>
            <a:prstDash val="solid"/>
            <a:round/>
          </a:ln>
        </p:spPr>
        <p:txBody>
          <a:bodyPr vert="horz" wrap="square" lIns="63500" tIns="63500" rIns="63500" bIns="63500" rtlCol="0" anchor="ctr"/>
          <a:lstStyle/>
          <a:p>
            <a:pPr algn="ctr">
              <a:defRPr/>
            </a:pPr>
          </a:p>
        </p:txBody>
      </p:sp>
      <p:pic>
        <p:nvPicPr>
          <p:cNvPr id="12" name="Picture 12"/>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6527800" y="3175000"/>
            <a:ext cx="304800" cy="304800"/>
          </a:xfrm>
          <a:prstGeom prst="rect">
            <a:avLst/>
          </a:prstGeom>
        </p:spPr>
      </p:pic>
      <p:sp>
        <p:nvSpPr>
          <p:cNvPr id="13" name="AutoShape 13"/>
          <p:cNvSpPr/>
          <p:nvPr/>
        </p:nvSpPr>
        <p:spPr>
          <a:xfrm>
            <a:off x="6934200" y="3149600"/>
            <a:ext cx="3810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FFFFFF"/>
                </a:solidFill>
                <a:latin typeface="Noto Sans SC" panose="020B0500000000000000" charset="-122"/>
                <a:ea typeface="Noto Sans SC" panose="020B0500000000000000" charset="-122"/>
                <a:cs typeface="Noto Sans SC" panose="020B0500000000000000" charset="-122"/>
                <a:sym typeface="Noto Sans SC" panose="020B0500000000000000" charset="-122"/>
              </a:rPr>
              <a:t>变革性影响：释放多元人才</a:t>
            </a:r>
            <a:endParaRPr lang="en-US" sz="1100"/>
          </a:p>
        </p:txBody>
      </p:sp>
      <p:cxnSp>
        <p:nvCxnSpPr>
          <p:cNvPr id="14" name="Connector 14"/>
          <p:cNvCxnSpPr/>
          <p:nvPr/>
        </p:nvCxnSpPr>
        <p:spPr>
          <a:xfrm rot="-9496">
            <a:off x="6527809" y="3625850"/>
            <a:ext cx="4597400" cy="12700"/>
          </a:xfrm>
          <a:prstGeom prst="straightConnector1">
            <a:avLst/>
          </a:prstGeom>
          <a:solidFill>
            <a:srgbClr val="DEE0E3">
              <a:alpha val="100000"/>
            </a:srgbClr>
          </a:solidFill>
          <a:ln w="12700" cap="flat" cmpd="sng">
            <a:solidFill>
              <a:srgbClr val="FFFFFF">
                <a:alpha val="15000"/>
              </a:srgbClr>
            </a:solidFill>
            <a:prstDash val="solid"/>
            <a:round/>
            <a:headEnd type="none" w="med" len="med"/>
            <a:tailEnd type="none" w="med" len="med"/>
          </a:ln>
        </p:spPr>
      </p:cxnSp>
      <p:sp>
        <p:nvSpPr>
          <p:cNvPr id="15" name="AutoShape 15"/>
          <p:cNvSpPr/>
          <p:nvPr/>
        </p:nvSpPr>
        <p:spPr>
          <a:xfrm>
            <a:off x="6527800" y="3810000"/>
            <a:ext cx="4597400" cy="2413000"/>
          </a:xfrm>
          <a:prstGeom prst="rect">
            <a:avLst/>
          </a:prstGeom>
          <a:noFill/>
          <a:ln w="12700" cap="flat" cmpd="sng">
            <a:noFill/>
            <a:prstDash val="solid"/>
            <a:round/>
          </a:ln>
        </p:spPr>
        <p:txBody>
          <a:bodyPr vert="horz" wrap="square" lIns="0" tIns="0" rIns="0" bIns="0" rtlCol="0" anchor="t" anchorCtr="0"/>
          <a:lstStyle/>
          <a:p>
            <a:pPr indent="0" algn="l">
              <a:lnSpc>
                <a:spcPct val="125000"/>
              </a:lnSpc>
              <a:defRPr/>
            </a:pPr>
            <a:r>
              <a:rPr lang="en-US" sz="1300" b="0" i="0" u="none" strike="noStrike">
                <a:solidFill>
                  <a:srgbClr val="E2E8F0"/>
                </a:solidFill>
                <a:latin typeface="Noto Sans SC" panose="020B0500000000000000" charset="-122"/>
                <a:ea typeface="Noto Sans SC" panose="020B0500000000000000" charset="-122"/>
                <a:cs typeface="Noto Sans SC" panose="020B0500000000000000" charset="-122"/>
                <a:sym typeface="Noto Sans SC" panose="020B0500000000000000" charset="-122"/>
              </a:rPr>
              <a:t>AI的普及释放了巨大的创业潜能，特别是对于那些拥有深厚行业知识但缺乏技术背景的“隐形专家”。</a:t>
            </a:r>
            <a:endParaRPr lang="en-US" sz="1100"/>
          </a:p>
          <a:p>
            <a:pPr indent="0" algn="l">
              <a:lnSpc>
                <a:spcPct val="125000"/>
              </a:lnSpc>
            </a:pPr>
            <a:br>
              <a:rPr lang="en-US" sz="1300" b="0" i="0" u="none" strike="noStrike">
                <a:solidFill>
                  <a:srgbClr val="1F2329"/>
                </a:solidFill>
                <a:latin typeface="Noto Sans SC" panose="020B0500000000000000" charset="-122"/>
                <a:ea typeface="Noto Sans SC" panose="020B0500000000000000" charset="-122"/>
                <a:cs typeface="Noto Sans SC" panose="020B0500000000000000" charset="-122"/>
                <a:sym typeface="Noto Sans SC" panose="020B0500000000000000" charset="-122"/>
              </a:rPr>
            </a:br>
            <a:endParaRPr lang="en-US" sz="1300" b="0" i="0" u="none" strike="noStrike">
              <a:solidFill>
                <a:srgbClr val="1F2329"/>
              </a:solidFill>
              <a:latin typeface="Noto Sans SC" panose="020B0500000000000000" charset="-122"/>
              <a:ea typeface="Noto Sans SC" panose="020B0500000000000000" charset="-122"/>
              <a:cs typeface="Noto Sans SC" panose="020B0500000000000000" charset="-122"/>
              <a:sym typeface="Noto Sans SC" panose="020B0500000000000000" charset="-122"/>
            </a:endParaRPr>
          </a:p>
          <a:p>
            <a:pPr indent="0" algn="l">
              <a:lnSpc>
                <a:spcPct val="125000"/>
              </a:lnSpc>
            </a:pPr>
            <a:r>
              <a:rPr lang="en-US" sz="1300" b="1" i="0" u="none" strike="noStrike">
                <a:solidFill>
                  <a:srgbClr val="00E5FF"/>
                </a:solidFill>
                <a:latin typeface="Noto Sans SC" panose="020B0500000000000000" charset="-122"/>
                <a:ea typeface="Noto Sans SC" panose="020B0500000000000000" charset="-122"/>
                <a:cs typeface="Noto Sans SC" panose="020B0500000000000000" charset="-122"/>
                <a:sym typeface="Noto Sans SC" panose="020B0500000000000000" charset="-122"/>
              </a:rPr>
              <a:t>1. 人才涌入：</a:t>
            </a:r>
            <a:r>
              <a:rPr lang="en-US" sz="1300" b="0" i="0" u="none" strike="noStrike">
                <a:solidFill>
                  <a:srgbClr val="CBD5E1"/>
                </a:solidFill>
                <a:latin typeface="Noto Sans SC" panose="020B0500000000000000" charset="-122"/>
                <a:ea typeface="Noto Sans SC" panose="020B0500000000000000" charset="-122"/>
                <a:cs typeface="Noto Sans SC" panose="020B0500000000000000" charset="-122"/>
                <a:sym typeface="Noto Sans SC" panose="020B0500000000000000" charset="-122"/>
              </a:rPr>
              <a:t>更多元化的背景人才进入创业领域，带来了更丰富的视角。</a:t>
            </a:r>
            <a:endParaRPr lang="en-US" sz="1300" b="0" i="0" u="none" strike="noStrike">
              <a:solidFill>
                <a:srgbClr val="CBD5E1"/>
              </a:solidFill>
              <a:latin typeface="Noto Sans SC" panose="020B0500000000000000" charset="-122"/>
              <a:ea typeface="Noto Sans SC" panose="020B0500000000000000" charset="-122"/>
              <a:cs typeface="Noto Sans SC" panose="020B0500000000000000" charset="-122"/>
              <a:sym typeface="Noto Sans SC" panose="020B0500000000000000" charset="-122"/>
            </a:endParaRPr>
          </a:p>
          <a:p>
            <a:pPr indent="0" algn="l">
              <a:lnSpc>
                <a:spcPct val="125000"/>
              </a:lnSpc>
            </a:pPr>
            <a:r>
              <a:rPr lang="en-US" sz="1300" b="1" i="0" u="none" strike="noStrike">
                <a:solidFill>
                  <a:srgbClr val="00E5FF"/>
                </a:solidFill>
                <a:latin typeface="Noto Sans SC" panose="020B0500000000000000" charset="-122"/>
                <a:ea typeface="Noto Sans SC" panose="020B0500000000000000" charset="-122"/>
                <a:cs typeface="Noto Sans SC" panose="020B0500000000000000" charset="-122"/>
                <a:sym typeface="Noto Sans SC" panose="020B0500000000000000" charset="-122"/>
              </a:rPr>
              <a:t>2. 真实洞察：</a:t>
            </a:r>
            <a:r>
              <a:rPr lang="en-US" sz="1300" b="0" i="0" u="none" strike="noStrike">
                <a:solidFill>
                  <a:srgbClr val="CBD5E1"/>
                </a:solidFill>
                <a:latin typeface="Noto Sans SC" panose="020B0500000000000000" charset="-122"/>
                <a:ea typeface="Noto Sans SC" panose="020B0500000000000000" charset="-122"/>
                <a:cs typeface="Noto Sans SC" panose="020B0500000000000000" charset="-122"/>
                <a:sym typeface="Noto Sans SC" panose="020B0500000000000000" charset="-122"/>
              </a:rPr>
              <a:t>他们更善于发现并解决传统技术创始人未曾关注的垂直领域真实痛点，让创新更接地气。</a:t>
            </a:r>
            <a:endParaRPr lang="en-US" sz="1300" b="0" i="0" u="none" strike="noStrike">
              <a:solidFill>
                <a:srgbClr val="CBD5E1"/>
              </a:solidFill>
              <a:latin typeface="Noto Sans SC" panose="020B0500000000000000" charset="-122"/>
              <a:ea typeface="Noto Sans SC" panose="020B0500000000000000" charset="-122"/>
              <a:cs typeface="Noto Sans SC" panose="020B0500000000000000" charset="-122"/>
              <a:sym typeface="Noto Sans SC" panose="020B0500000000000000" charset="-122"/>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0F172A">
              <a:alpha val="80000"/>
            </a:srgbClr>
          </a:solidFill>
          <a:ln w="25400" cap="flat" cmpd="sng">
            <a:noFill/>
            <a:prstDash val="solid"/>
            <a:round/>
          </a:ln>
        </p:spPr>
        <p:txBody>
          <a:bodyPr vert="horz" wrap="square" lIns="63500" tIns="63500" rIns="63500" bIns="63500" rtlCol="0" anchor="ctr"/>
          <a:lstStyle/>
          <a:p>
            <a:pPr algn="ctr">
              <a:defRPr/>
            </a:pPr>
          </a:p>
        </p:txBody>
      </p:sp>
      <p:sp>
        <p:nvSpPr>
          <p:cNvPr id="3" name="AutoShape 3"/>
          <p:cNvSpPr/>
          <p:nvPr/>
        </p:nvSpPr>
        <p:spPr>
          <a:xfrm>
            <a:off x="762000" y="635000"/>
            <a:ext cx="10668000" cy="5715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3200" b="1" i="0" u="none" strike="noStrike">
                <a:solidFill>
                  <a:srgbClr val="FFFFFF"/>
                </a:solidFill>
                <a:latin typeface="Noto Sans SC" panose="020B0500000000000000" charset="-122"/>
                <a:ea typeface="Noto Sans SC" panose="020B0500000000000000" charset="-122"/>
                <a:cs typeface="Noto Sans SC" panose="020B0500000000000000" charset="-122"/>
                <a:sym typeface="Noto Sans SC" panose="020B0500000000000000" charset="-122"/>
              </a:rPr>
              <a:t>AI工具如何让精益创业成为可能</a:t>
            </a:r>
            <a:endParaRPr lang="en-US" sz="1100"/>
          </a:p>
        </p:txBody>
      </p:sp>
      <p:sp>
        <p:nvSpPr>
          <p:cNvPr id="4" name="AutoShape 4"/>
          <p:cNvSpPr/>
          <p:nvPr/>
        </p:nvSpPr>
        <p:spPr>
          <a:xfrm>
            <a:off x="762000" y="1333500"/>
            <a:ext cx="10668000" cy="381000"/>
          </a:xfrm>
          <a:prstGeom prst="rect">
            <a:avLst/>
          </a:prstGeom>
          <a:noFill/>
          <a:ln w="12700" cap="flat" cmpd="sng">
            <a:noFill/>
            <a:prstDash val="solid"/>
            <a:round/>
          </a:ln>
        </p:spPr>
        <p:txBody>
          <a:bodyPr vert="horz" wrap="square" lIns="0" tIns="0" rIns="0" bIns="0" rtlCol="0" anchor="t" anchorCtr="0"/>
          <a:lstStyle/>
          <a:p>
            <a:pPr indent="0" algn="l">
              <a:lnSpc>
                <a:spcPct val="125000"/>
              </a:lnSpc>
              <a:defRPr/>
            </a:pPr>
            <a:r>
              <a:rPr lang="en-US" sz="1400" b="0" i="0" u="none" strike="noStrike">
                <a:solidFill>
                  <a:srgbClr val="D1D5DB"/>
                </a:solidFill>
                <a:latin typeface="Noto Sans SC" panose="020B0500000000000000" charset="-122"/>
                <a:ea typeface="Noto Sans SC" panose="020B0500000000000000" charset="-122"/>
                <a:cs typeface="Noto Sans SC" panose="020B0500000000000000" charset="-122"/>
                <a:sym typeface="Noto Sans SC" panose="020B0500000000000000" charset="-122"/>
              </a:rPr>
              <a:t>核心观点：AI在三个关键领域让初创公司能像规模大得多的组织一样运作。</a:t>
            </a:r>
            <a:endParaRPr lang="en-US" sz="1100"/>
          </a:p>
        </p:txBody>
      </p:sp>
      <p:sp>
        <p:nvSpPr>
          <p:cNvPr id="5" name="AutoShape 5"/>
          <p:cNvSpPr/>
          <p:nvPr/>
        </p:nvSpPr>
        <p:spPr>
          <a:xfrm>
            <a:off x="762000" y="2032000"/>
            <a:ext cx="3378200" cy="3556000"/>
          </a:xfrm>
          <a:prstGeom prst="roundRect">
            <a:avLst>
              <a:gd name="adj" fmla="val 4511"/>
            </a:avLst>
          </a:prstGeom>
          <a:solidFill>
            <a:srgbClr val="1E293B">
              <a:alpha val="60000"/>
            </a:srgbClr>
          </a:solidFill>
          <a:ln w="12700" cap="flat" cmpd="sng">
            <a:solidFill>
              <a:srgbClr val="00E5FF">
                <a:alpha val="30000"/>
              </a:srgbClr>
            </a:solidFill>
            <a:prstDash val="solid"/>
            <a:round/>
          </a:ln>
        </p:spPr>
        <p:txBody>
          <a:bodyPr vert="horz" wrap="square" lIns="63500" tIns="63500" rIns="63500" bIns="63500" rtlCol="0" anchor="ctr"/>
          <a:lstStyle/>
          <a:p>
            <a:pPr algn="ctr">
              <a:defRPr/>
            </a:pPr>
          </a:p>
        </p:txBody>
      </p:sp>
      <p:pic>
        <p:nvPicPr>
          <p:cNvPr id="6" name="Picture 6"/>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066800" y="2336800"/>
            <a:ext cx="457200" cy="457200"/>
          </a:xfrm>
          <a:prstGeom prst="rect">
            <a:avLst/>
          </a:prstGeom>
        </p:spPr>
      </p:pic>
      <p:sp>
        <p:nvSpPr>
          <p:cNvPr id="7" name="AutoShape 7"/>
          <p:cNvSpPr/>
          <p:nvPr/>
        </p:nvSpPr>
        <p:spPr>
          <a:xfrm>
            <a:off x="1066800" y="2921000"/>
            <a:ext cx="2768600" cy="635000"/>
          </a:xfrm>
          <a:prstGeom prst="rect">
            <a:avLst/>
          </a:prstGeom>
          <a:noFill/>
          <a:ln w="12700" cap="flat" cmpd="sng">
            <a:noFill/>
            <a:prstDash val="solid"/>
            <a:round/>
          </a:ln>
        </p:spPr>
        <p:txBody>
          <a:bodyPr vert="horz" wrap="square" lIns="0" tIns="0" rIns="0" bIns="0" rtlCol="0" anchor="t" anchorCtr="0"/>
          <a:lstStyle/>
          <a:p>
            <a:pPr indent="0" algn="l">
              <a:lnSpc>
                <a:spcPct val="125000"/>
              </a:lnSpc>
              <a:defRPr/>
            </a:pPr>
            <a:r>
              <a:rPr lang="en-US" sz="1600" b="1" i="0" u="none" strike="noStrike">
                <a:solidFill>
                  <a:srgbClr val="FFFFFF"/>
                </a:solidFill>
                <a:latin typeface="Noto Sans SC" panose="020B0500000000000000" charset="-122"/>
                <a:ea typeface="Noto Sans SC" panose="020B0500000000000000" charset="-122"/>
                <a:cs typeface="Noto Sans SC" panose="020B0500000000000000" charset="-122"/>
                <a:sym typeface="Noto Sans SC" panose="020B0500000000000000" charset="-122"/>
              </a:rPr>
              <a:t>对话式智能与研究</a:t>
            </a:r>
            <a:endParaRPr lang="en-US" sz="1100"/>
          </a:p>
          <a:p>
            <a:pPr indent="0" algn="l">
              <a:lnSpc>
                <a:spcPct val="125000"/>
              </a:lnSpc>
            </a:pPr>
            <a:r>
              <a:rPr lang="en-US" sz="1000" b="0" i="0" u="none" strike="noStrike">
                <a:solidFill>
                  <a:srgbClr val="94A3B8"/>
                </a:solidFill>
                <a:latin typeface="Noto Sans SC" panose="020B0500000000000000" charset="-122"/>
                <a:ea typeface="Noto Sans SC" panose="020B0500000000000000" charset="-122"/>
                <a:cs typeface="Noto Sans SC" panose="020B0500000000000000" charset="-122"/>
                <a:sym typeface="Noto Sans SC" panose="020B0500000000000000" charset="-122"/>
              </a:rPr>
              <a:t>Conversational Intelligence &amp; Research</a:t>
            </a:r>
            <a:endParaRPr lang="en-US" sz="1000" b="0" i="0" u="none" strike="noStrike">
              <a:solidFill>
                <a:srgbClr val="94A3B8"/>
              </a:solidFill>
              <a:latin typeface="Noto Sans SC" panose="020B0500000000000000" charset="-122"/>
              <a:ea typeface="Noto Sans SC" panose="020B0500000000000000" charset="-122"/>
              <a:cs typeface="Noto Sans SC" panose="020B0500000000000000" charset="-122"/>
              <a:sym typeface="Noto Sans SC" panose="020B0500000000000000" charset="-122"/>
            </a:endParaRPr>
          </a:p>
        </p:txBody>
      </p:sp>
      <p:cxnSp>
        <p:nvCxnSpPr>
          <p:cNvPr id="8" name="Connector 8"/>
          <p:cNvCxnSpPr/>
          <p:nvPr/>
        </p:nvCxnSpPr>
        <p:spPr>
          <a:xfrm rot="-15769">
            <a:off x="1066815" y="3676650"/>
            <a:ext cx="2768600" cy="12700"/>
          </a:xfrm>
          <a:prstGeom prst="straightConnector1">
            <a:avLst/>
          </a:prstGeom>
          <a:solidFill>
            <a:srgbClr val="DEE0E3">
              <a:alpha val="100000"/>
            </a:srgbClr>
          </a:solidFill>
          <a:ln w="12700" cap="flat" cmpd="sng">
            <a:solidFill>
              <a:srgbClr val="FFFFFF">
                <a:alpha val="15000"/>
              </a:srgbClr>
            </a:solidFill>
            <a:prstDash val="solid"/>
            <a:round/>
            <a:headEnd type="none" w="med" len="med"/>
            <a:tailEnd type="none" w="med" len="med"/>
          </a:ln>
        </p:spPr>
      </p:cxnSp>
      <p:sp>
        <p:nvSpPr>
          <p:cNvPr id="9" name="AutoShape 9"/>
          <p:cNvSpPr/>
          <p:nvPr/>
        </p:nvSpPr>
        <p:spPr>
          <a:xfrm>
            <a:off x="1066800" y="3873500"/>
            <a:ext cx="2768600" cy="1651000"/>
          </a:xfrm>
          <a:prstGeom prst="rect">
            <a:avLst/>
          </a:prstGeom>
          <a:noFill/>
          <a:ln w="12700" cap="flat" cmpd="sng">
            <a:noFill/>
            <a:prstDash val="solid"/>
            <a:round/>
          </a:ln>
        </p:spPr>
        <p:txBody>
          <a:bodyPr vert="horz" wrap="square" lIns="0" tIns="0" rIns="0" bIns="0" rtlCol="0" anchor="t" anchorCtr="0"/>
          <a:lstStyle/>
          <a:p>
            <a:pPr indent="0" algn="l">
              <a:lnSpc>
                <a:spcPct val="117000"/>
              </a:lnSpc>
              <a:defRPr/>
            </a:pPr>
            <a:r>
              <a:rPr lang="en-US" sz="1200" b="1" i="0" u="none" strike="noStrike">
                <a:solidFill>
                  <a:srgbClr val="00E5FF"/>
                </a:solidFill>
                <a:latin typeface="Noto Sans SC" panose="020B0500000000000000" charset="-122"/>
                <a:ea typeface="Noto Sans SC" panose="020B0500000000000000" charset="-122"/>
                <a:cs typeface="Noto Sans SC" panose="020B0500000000000000" charset="-122"/>
                <a:sym typeface="Noto Sans SC" panose="020B0500000000000000" charset="-122"/>
              </a:rPr>
              <a:t>定位：</a:t>
            </a:r>
            <a:r>
              <a:rPr lang="en-US" sz="1200" b="0" i="0" u="none" strike="noStrike">
                <a:solidFill>
                  <a:srgbClr val="E2E8F0"/>
                </a:solidFill>
                <a:latin typeface="Noto Sans SC" panose="020B0500000000000000" charset="-122"/>
                <a:ea typeface="Noto Sans SC" panose="020B0500000000000000" charset="-122"/>
                <a:cs typeface="Noto Sans SC" panose="020B0500000000000000" charset="-122"/>
                <a:sym typeface="Noto Sans SC" panose="020B0500000000000000" charset="-122"/>
              </a:rPr>
              <a:t>随叫随到的各领域专家。</a:t>
            </a:r>
            <a:endParaRPr lang="en-US" sz="1100"/>
          </a:p>
          <a:p>
            <a:pPr indent="0" algn="l">
              <a:lnSpc>
                <a:spcPct val="117000"/>
              </a:lnSpc>
            </a:pPr>
            <a:r>
              <a:rPr lang="en-US" sz="1200" b="1" i="0" u="none" strike="noStrike">
                <a:solidFill>
                  <a:srgbClr val="00E5FF"/>
                </a:solidFill>
                <a:latin typeface="Noto Sans SC" panose="020B0500000000000000" charset="-122"/>
                <a:ea typeface="Noto Sans SC" panose="020B0500000000000000" charset="-122"/>
                <a:cs typeface="Noto Sans SC" panose="020B0500000000000000" charset="-122"/>
                <a:sym typeface="Noto Sans SC" panose="020B0500000000000000" charset="-122"/>
              </a:rPr>
              <a:t>能力：</a:t>
            </a:r>
            <a:r>
              <a:rPr lang="en-US" sz="1200" b="0" i="0" u="none" strike="noStrike">
                <a:solidFill>
                  <a:srgbClr val="E2E8F0"/>
                </a:solidFill>
                <a:latin typeface="Noto Sans SC" panose="020B0500000000000000" charset="-122"/>
                <a:ea typeface="Noto Sans SC" panose="020B0500000000000000" charset="-122"/>
                <a:cs typeface="Noto Sans SC" panose="020B0500000000000000" charset="-122"/>
                <a:sym typeface="Noto Sans SC" panose="020B0500000000000000" charset="-122"/>
              </a:rPr>
              <a:t>深度研究、文档起草、战略思考伙伴，辅助创始人快速决策。</a:t>
            </a:r>
            <a:endParaRPr lang="en-US" sz="1200" b="0" i="0" u="none" strike="noStrike">
              <a:solidFill>
                <a:srgbClr val="E2E8F0"/>
              </a:solidFill>
              <a:latin typeface="Noto Sans SC" panose="020B0500000000000000" charset="-122"/>
              <a:ea typeface="Noto Sans SC" panose="020B0500000000000000" charset="-122"/>
              <a:cs typeface="Noto Sans SC" panose="020B0500000000000000" charset="-122"/>
              <a:sym typeface="Noto Sans SC" panose="020B0500000000000000" charset="-122"/>
            </a:endParaRPr>
          </a:p>
        </p:txBody>
      </p:sp>
      <p:sp>
        <p:nvSpPr>
          <p:cNvPr id="10" name="AutoShape 10"/>
          <p:cNvSpPr/>
          <p:nvPr/>
        </p:nvSpPr>
        <p:spPr>
          <a:xfrm>
            <a:off x="4406900" y="2032000"/>
            <a:ext cx="3378200" cy="3556000"/>
          </a:xfrm>
          <a:prstGeom prst="roundRect">
            <a:avLst>
              <a:gd name="adj" fmla="val 4511"/>
            </a:avLst>
          </a:prstGeom>
          <a:solidFill>
            <a:srgbClr val="1E293B">
              <a:alpha val="60000"/>
            </a:srgbClr>
          </a:solidFill>
          <a:ln w="12700" cap="flat" cmpd="sng">
            <a:solidFill>
              <a:srgbClr val="00E5FF">
                <a:alpha val="30000"/>
              </a:srgbClr>
            </a:solidFill>
            <a:prstDash val="solid"/>
            <a:round/>
          </a:ln>
        </p:spPr>
        <p:txBody>
          <a:bodyPr vert="horz" wrap="square" lIns="63500" tIns="63500" rIns="63500" bIns="63500" rtlCol="0" anchor="ctr"/>
          <a:lstStyle/>
          <a:p>
            <a:pPr algn="ctr">
              <a:defRPr/>
            </a:pPr>
          </a:p>
        </p:txBody>
      </p:sp>
      <p:pic>
        <p:nvPicPr>
          <p:cNvPr id="11" name="Picture 11"/>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4711700" y="2336800"/>
            <a:ext cx="457200" cy="457200"/>
          </a:xfrm>
          <a:prstGeom prst="rect">
            <a:avLst/>
          </a:prstGeom>
        </p:spPr>
      </p:pic>
      <p:sp>
        <p:nvSpPr>
          <p:cNvPr id="12" name="AutoShape 12"/>
          <p:cNvSpPr/>
          <p:nvPr/>
        </p:nvSpPr>
        <p:spPr>
          <a:xfrm>
            <a:off x="4711700" y="2921000"/>
            <a:ext cx="2768600" cy="635000"/>
          </a:xfrm>
          <a:prstGeom prst="rect">
            <a:avLst/>
          </a:prstGeom>
          <a:noFill/>
          <a:ln w="12700" cap="flat" cmpd="sng">
            <a:noFill/>
            <a:prstDash val="solid"/>
            <a:round/>
          </a:ln>
        </p:spPr>
        <p:txBody>
          <a:bodyPr vert="horz" wrap="square" lIns="0" tIns="0" rIns="0" bIns="0" rtlCol="0" anchor="t" anchorCtr="0"/>
          <a:lstStyle/>
          <a:p>
            <a:pPr indent="0" algn="l">
              <a:lnSpc>
                <a:spcPct val="125000"/>
              </a:lnSpc>
              <a:defRPr/>
            </a:pPr>
            <a:r>
              <a:rPr lang="en-US" sz="1600" b="1" i="0" u="none" strike="noStrike">
                <a:solidFill>
                  <a:srgbClr val="FFFFFF"/>
                </a:solidFill>
                <a:latin typeface="Noto Sans SC" panose="020B0500000000000000" charset="-122"/>
                <a:ea typeface="Noto Sans SC" panose="020B0500000000000000" charset="-122"/>
                <a:cs typeface="Noto Sans SC" panose="020B0500000000000000" charset="-122"/>
                <a:sym typeface="Noto Sans SC" panose="020B0500000000000000" charset="-122"/>
              </a:rPr>
              <a:t>智能编码</a:t>
            </a:r>
            <a:endParaRPr lang="en-US" sz="1100"/>
          </a:p>
          <a:p>
            <a:pPr indent="0" algn="l">
              <a:lnSpc>
                <a:spcPct val="125000"/>
              </a:lnSpc>
            </a:pPr>
            <a:r>
              <a:rPr lang="en-US" sz="1000" b="0" i="0" u="none" strike="noStrike">
                <a:solidFill>
                  <a:srgbClr val="94A3B8"/>
                </a:solidFill>
                <a:latin typeface="Noto Sans SC" panose="020B0500000000000000" charset="-122"/>
                <a:ea typeface="Noto Sans SC" panose="020B0500000000000000" charset="-122"/>
                <a:cs typeface="Noto Sans SC" panose="020B0500000000000000" charset="-122"/>
                <a:sym typeface="Noto Sans SC" panose="020B0500000000000000" charset="-122"/>
              </a:rPr>
              <a:t>Agentic Coding</a:t>
            </a:r>
            <a:endParaRPr lang="en-US" sz="1000" b="0" i="0" u="none" strike="noStrike">
              <a:solidFill>
                <a:srgbClr val="94A3B8"/>
              </a:solidFill>
              <a:latin typeface="Noto Sans SC" panose="020B0500000000000000" charset="-122"/>
              <a:ea typeface="Noto Sans SC" panose="020B0500000000000000" charset="-122"/>
              <a:cs typeface="Noto Sans SC" panose="020B0500000000000000" charset="-122"/>
              <a:sym typeface="Noto Sans SC" panose="020B0500000000000000" charset="-122"/>
            </a:endParaRPr>
          </a:p>
        </p:txBody>
      </p:sp>
      <p:cxnSp>
        <p:nvCxnSpPr>
          <p:cNvPr id="13" name="Connector 13"/>
          <p:cNvCxnSpPr/>
          <p:nvPr/>
        </p:nvCxnSpPr>
        <p:spPr>
          <a:xfrm rot="-15769">
            <a:off x="4711715" y="3676650"/>
            <a:ext cx="2768600" cy="12700"/>
          </a:xfrm>
          <a:prstGeom prst="straightConnector1">
            <a:avLst/>
          </a:prstGeom>
          <a:solidFill>
            <a:srgbClr val="DEE0E3">
              <a:alpha val="100000"/>
            </a:srgbClr>
          </a:solidFill>
          <a:ln w="12700" cap="flat" cmpd="sng">
            <a:solidFill>
              <a:srgbClr val="FFFFFF">
                <a:alpha val="15000"/>
              </a:srgbClr>
            </a:solidFill>
            <a:prstDash val="solid"/>
            <a:round/>
            <a:headEnd type="none" w="med" len="med"/>
            <a:tailEnd type="none" w="med" len="med"/>
          </a:ln>
        </p:spPr>
      </p:cxnSp>
      <p:sp>
        <p:nvSpPr>
          <p:cNvPr id="14" name="AutoShape 14"/>
          <p:cNvSpPr/>
          <p:nvPr/>
        </p:nvSpPr>
        <p:spPr>
          <a:xfrm>
            <a:off x="4711700" y="3873500"/>
            <a:ext cx="2768600" cy="1651000"/>
          </a:xfrm>
          <a:prstGeom prst="rect">
            <a:avLst/>
          </a:prstGeom>
          <a:noFill/>
          <a:ln w="12700" cap="flat" cmpd="sng">
            <a:noFill/>
            <a:prstDash val="solid"/>
            <a:round/>
          </a:ln>
        </p:spPr>
        <p:txBody>
          <a:bodyPr vert="horz" wrap="square" lIns="0" tIns="0" rIns="0" bIns="0" rtlCol="0" anchor="t" anchorCtr="0"/>
          <a:lstStyle/>
          <a:p>
            <a:pPr indent="0" algn="l">
              <a:lnSpc>
                <a:spcPct val="117000"/>
              </a:lnSpc>
              <a:defRPr/>
            </a:pPr>
            <a:r>
              <a:rPr lang="en-US" sz="1200" b="1" i="0" u="none" strike="noStrike">
                <a:solidFill>
                  <a:srgbClr val="00E5FF"/>
                </a:solidFill>
                <a:latin typeface="Noto Sans SC" panose="020B0500000000000000" charset="-122"/>
                <a:ea typeface="Noto Sans SC" panose="020B0500000000000000" charset="-122"/>
                <a:cs typeface="Noto Sans SC" panose="020B0500000000000000" charset="-122"/>
                <a:sym typeface="Noto Sans SC" panose="020B0500000000000000" charset="-122"/>
              </a:rPr>
              <a:t>定位：</a:t>
            </a:r>
            <a:r>
              <a:rPr lang="en-US" sz="1200" b="0" i="0" u="none" strike="noStrike">
                <a:solidFill>
                  <a:srgbClr val="E2E8F0"/>
                </a:solidFill>
                <a:latin typeface="Noto Sans SC" panose="020B0500000000000000" charset="-122"/>
                <a:ea typeface="Noto Sans SC" panose="020B0500000000000000" charset="-122"/>
                <a:cs typeface="Noto Sans SC" panose="020B0500000000000000" charset="-122"/>
                <a:sym typeface="Noto Sans SC" panose="020B0500000000000000" charset="-122"/>
              </a:rPr>
              <a:t>永不疲倦、永不阻塞的工程师。</a:t>
            </a:r>
            <a:endParaRPr lang="en-US" sz="1100"/>
          </a:p>
          <a:p>
            <a:pPr indent="0" algn="l">
              <a:lnSpc>
                <a:spcPct val="117000"/>
              </a:lnSpc>
            </a:pPr>
            <a:r>
              <a:rPr lang="en-US" sz="1200" b="1" i="0" u="none" strike="noStrike">
                <a:solidFill>
                  <a:srgbClr val="00E5FF"/>
                </a:solidFill>
                <a:latin typeface="Noto Sans SC" panose="020B0500000000000000" charset="-122"/>
                <a:ea typeface="Noto Sans SC" panose="020B0500000000000000" charset="-122"/>
                <a:cs typeface="Noto Sans SC" panose="020B0500000000000000" charset="-122"/>
                <a:sym typeface="Noto Sans SC" panose="020B0500000000000000" charset="-122"/>
              </a:rPr>
              <a:t>能力：</a:t>
            </a:r>
            <a:r>
              <a:rPr lang="en-US" sz="1200" b="0" i="0" u="none" strike="noStrike">
                <a:solidFill>
                  <a:srgbClr val="E2E8F0"/>
                </a:solidFill>
                <a:latin typeface="Noto Sans SC" panose="020B0500000000000000" charset="-122"/>
                <a:ea typeface="Noto Sans SC" panose="020B0500000000000000" charset="-122"/>
                <a:cs typeface="Noto Sans SC" panose="020B0500000000000000" charset="-122"/>
                <a:sym typeface="Noto Sans SC" panose="020B0500000000000000" charset="-122"/>
              </a:rPr>
              <a:t>用自然语言生成、测试、调试和重构生产级代码库，加速产品迭代。</a:t>
            </a:r>
            <a:endParaRPr lang="en-US" sz="1200" b="0" i="0" u="none" strike="noStrike">
              <a:solidFill>
                <a:srgbClr val="E2E8F0"/>
              </a:solidFill>
              <a:latin typeface="Noto Sans SC" panose="020B0500000000000000" charset="-122"/>
              <a:ea typeface="Noto Sans SC" panose="020B0500000000000000" charset="-122"/>
              <a:cs typeface="Noto Sans SC" panose="020B0500000000000000" charset="-122"/>
              <a:sym typeface="Noto Sans SC" panose="020B0500000000000000" charset="-122"/>
            </a:endParaRPr>
          </a:p>
        </p:txBody>
      </p:sp>
      <p:sp>
        <p:nvSpPr>
          <p:cNvPr id="15" name="AutoShape 15"/>
          <p:cNvSpPr/>
          <p:nvPr/>
        </p:nvSpPr>
        <p:spPr>
          <a:xfrm>
            <a:off x="8051800" y="2032000"/>
            <a:ext cx="3378200" cy="3556000"/>
          </a:xfrm>
          <a:prstGeom prst="roundRect">
            <a:avLst>
              <a:gd name="adj" fmla="val 4511"/>
            </a:avLst>
          </a:prstGeom>
          <a:solidFill>
            <a:srgbClr val="1E293B">
              <a:alpha val="60000"/>
            </a:srgbClr>
          </a:solidFill>
          <a:ln w="12700" cap="flat" cmpd="sng">
            <a:solidFill>
              <a:srgbClr val="00E5FF">
                <a:alpha val="30000"/>
              </a:srgbClr>
            </a:solidFill>
            <a:prstDash val="solid"/>
            <a:round/>
          </a:ln>
        </p:spPr>
        <p:txBody>
          <a:bodyPr vert="horz" wrap="square" lIns="63500" tIns="63500" rIns="63500" bIns="63500" rtlCol="0" anchor="ctr"/>
          <a:lstStyle/>
          <a:p>
            <a:pPr algn="ctr">
              <a:defRPr/>
            </a:pPr>
          </a:p>
        </p:txBody>
      </p:sp>
      <p:pic>
        <p:nvPicPr>
          <p:cNvPr id="16" name="Picture 16"/>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8356600" y="2336800"/>
            <a:ext cx="457200" cy="457200"/>
          </a:xfrm>
          <a:prstGeom prst="rect">
            <a:avLst/>
          </a:prstGeom>
        </p:spPr>
      </p:pic>
      <p:sp>
        <p:nvSpPr>
          <p:cNvPr id="17" name="AutoShape 17"/>
          <p:cNvSpPr/>
          <p:nvPr/>
        </p:nvSpPr>
        <p:spPr>
          <a:xfrm>
            <a:off x="8356600" y="2921000"/>
            <a:ext cx="2768600" cy="635000"/>
          </a:xfrm>
          <a:prstGeom prst="rect">
            <a:avLst/>
          </a:prstGeom>
          <a:noFill/>
          <a:ln w="12700" cap="flat" cmpd="sng">
            <a:noFill/>
            <a:prstDash val="solid"/>
            <a:round/>
          </a:ln>
        </p:spPr>
        <p:txBody>
          <a:bodyPr vert="horz" wrap="square" lIns="0" tIns="0" rIns="0" bIns="0" rtlCol="0" anchor="t" anchorCtr="0"/>
          <a:lstStyle/>
          <a:p>
            <a:pPr indent="0" algn="l">
              <a:lnSpc>
                <a:spcPct val="125000"/>
              </a:lnSpc>
              <a:defRPr/>
            </a:pPr>
            <a:r>
              <a:rPr lang="en-US" sz="1600" b="1" i="0" u="none" strike="noStrike">
                <a:solidFill>
                  <a:srgbClr val="FFFFFF"/>
                </a:solidFill>
                <a:latin typeface="Noto Sans SC" panose="020B0500000000000000" charset="-122"/>
                <a:ea typeface="Noto Sans SC" panose="020B0500000000000000" charset="-122"/>
                <a:cs typeface="Noto Sans SC" panose="020B0500000000000000" charset="-122"/>
                <a:sym typeface="Noto Sans SC" panose="020B0500000000000000" charset="-122"/>
              </a:rPr>
              <a:t>工作流自动化</a:t>
            </a:r>
            <a:endParaRPr lang="en-US" sz="1100"/>
          </a:p>
          <a:p>
            <a:pPr indent="0" algn="l">
              <a:lnSpc>
                <a:spcPct val="125000"/>
              </a:lnSpc>
            </a:pPr>
            <a:r>
              <a:rPr lang="en-US" sz="1000" b="0" i="0" u="none" strike="noStrike">
                <a:solidFill>
                  <a:srgbClr val="94A3B8"/>
                </a:solidFill>
                <a:latin typeface="Noto Sans SC" panose="020B0500000000000000" charset="-122"/>
                <a:ea typeface="Noto Sans SC" panose="020B0500000000000000" charset="-122"/>
                <a:cs typeface="Noto Sans SC" panose="020B0500000000000000" charset="-122"/>
                <a:sym typeface="Noto Sans SC" panose="020B0500000000000000" charset="-122"/>
              </a:rPr>
              <a:t>Workflow Automation</a:t>
            </a:r>
            <a:endParaRPr lang="en-US" sz="1000" b="0" i="0" u="none" strike="noStrike">
              <a:solidFill>
                <a:srgbClr val="94A3B8"/>
              </a:solidFill>
              <a:latin typeface="Noto Sans SC" panose="020B0500000000000000" charset="-122"/>
              <a:ea typeface="Noto Sans SC" panose="020B0500000000000000" charset="-122"/>
              <a:cs typeface="Noto Sans SC" panose="020B0500000000000000" charset="-122"/>
              <a:sym typeface="Noto Sans SC" panose="020B0500000000000000" charset="-122"/>
            </a:endParaRPr>
          </a:p>
        </p:txBody>
      </p:sp>
      <p:cxnSp>
        <p:nvCxnSpPr>
          <p:cNvPr id="18" name="Connector 18"/>
          <p:cNvCxnSpPr/>
          <p:nvPr/>
        </p:nvCxnSpPr>
        <p:spPr>
          <a:xfrm rot="-15769">
            <a:off x="8356615" y="3676650"/>
            <a:ext cx="2768600" cy="12700"/>
          </a:xfrm>
          <a:prstGeom prst="straightConnector1">
            <a:avLst/>
          </a:prstGeom>
          <a:solidFill>
            <a:srgbClr val="DEE0E3">
              <a:alpha val="100000"/>
            </a:srgbClr>
          </a:solidFill>
          <a:ln w="12700" cap="flat" cmpd="sng">
            <a:solidFill>
              <a:srgbClr val="FFFFFF">
                <a:alpha val="15000"/>
              </a:srgbClr>
            </a:solidFill>
            <a:prstDash val="solid"/>
            <a:round/>
            <a:headEnd type="none" w="med" len="med"/>
            <a:tailEnd type="none" w="med" len="med"/>
          </a:ln>
        </p:spPr>
      </p:cxnSp>
      <p:sp>
        <p:nvSpPr>
          <p:cNvPr id="19" name="AutoShape 19"/>
          <p:cNvSpPr/>
          <p:nvPr/>
        </p:nvSpPr>
        <p:spPr>
          <a:xfrm>
            <a:off x="8356600" y="3873500"/>
            <a:ext cx="2768600" cy="1651000"/>
          </a:xfrm>
          <a:prstGeom prst="rect">
            <a:avLst/>
          </a:prstGeom>
          <a:noFill/>
          <a:ln w="12700" cap="flat" cmpd="sng">
            <a:noFill/>
            <a:prstDash val="solid"/>
            <a:round/>
          </a:ln>
        </p:spPr>
        <p:txBody>
          <a:bodyPr vert="horz" wrap="square" lIns="0" tIns="0" rIns="0" bIns="0" rtlCol="0" anchor="t" anchorCtr="0"/>
          <a:lstStyle/>
          <a:p>
            <a:pPr indent="0" algn="l">
              <a:lnSpc>
                <a:spcPct val="117000"/>
              </a:lnSpc>
              <a:defRPr/>
            </a:pPr>
            <a:r>
              <a:rPr lang="en-US" sz="1200" b="1" i="0" u="none" strike="noStrike">
                <a:solidFill>
                  <a:srgbClr val="00E5FF"/>
                </a:solidFill>
                <a:latin typeface="Noto Sans SC" panose="020B0500000000000000" charset="-122"/>
                <a:ea typeface="Noto Sans SC" panose="020B0500000000000000" charset="-122"/>
                <a:cs typeface="Noto Sans SC" panose="020B0500000000000000" charset="-122"/>
                <a:sym typeface="Noto Sans SC" panose="020B0500000000000000" charset="-122"/>
              </a:rPr>
              <a:t>定位：</a:t>
            </a:r>
            <a:r>
              <a:rPr lang="en-US" sz="1200" b="0" i="0" u="none" strike="noStrike">
                <a:solidFill>
                  <a:srgbClr val="E2E8F0"/>
                </a:solidFill>
                <a:latin typeface="Noto Sans SC" panose="020B0500000000000000" charset="-122"/>
                <a:ea typeface="Noto Sans SC" panose="020B0500000000000000" charset="-122"/>
                <a:cs typeface="Noto Sans SC" panose="020B0500000000000000" charset="-122"/>
                <a:sym typeface="Noto Sans SC" panose="020B0500000000000000" charset="-122"/>
              </a:rPr>
              <a:t>按需服务的自动化运营团队。</a:t>
            </a:r>
            <a:endParaRPr lang="en-US" sz="1100"/>
          </a:p>
          <a:p>
            <a:pPr indent="0" algn="l">
              <a:lnSpc>
                <a:spcPct val="117000"/>
              </a:lnSpc>
            </a:pPr>
            <a:r>
              <a:rPr lang="en-US" sz="1200" b="1" i="0" u="none" strike="noStrike">
                <a:solidFill>
                  <a:srgbClr val="00E5FF"/>
                </a:solidFill>
                <a:latin typeface="Noto Sans SC" panose="020B0500000000000000" charset="-122"/>
                <a:ea typeface="Noto Sans SC" panose="020B0500000000000000" charset="-122"/>
                <a:cs typeface="Noto Sans SC" panose="020B0500000000000000" charset="-122"/>
                <a:sym typeface="Noto Sans SC" panose="020B0500000000000000" charset="-122"/>
              </a:rPr>
              <a:t>能力：</a:t>
            </a:r>
            <a:r>
              <a:rPr lang="en-US" sz="1200" b="0" i="0" u="none" strike="noStrike">
                <a:solidFill>
                  <a:srgbClr val="E2E8F0"/>
                </a:solidFill>
                <a:latin typeface="Noto Sans SC" panose="020B0500000000000000" charset="-122"/>
                <a:ea typeface="Noto Sans SC" panose="020B0500000000000000" charset="-122"/>
                <a:cs typeface="Noto Sans SC" panose="020B0500000000000000" charset="-122"/>
                <a:sym typeface="Noto Sans SC" panose="020B0500000000000000" charset="-122"/>
              </a:rPr>
              <a:t>自动化处理重复性运营任务，如更新CRM、生成周报、同步文档等，释放人力。</a:t>
            </a:r>
            <a:endParaRPr lang="en-US" sz="1200" b="0" i="0" u="none" strike="noStrike">
              <a:solidFill>
                <a:srgbClr val="E2E8F0"/>
              </a:solidFill>
              <a:latin typeface="Noto Sans SC" panose="020B0500000000000000" charset="-122"/>
              <a:ea typeface="Noto Sans SC" panose="020B0500000000000000" charset="-122"/>
              <a:cs typeface="Noto Sans SC" panose="020B0500000000000000" charset="-122"/>
              <a:sym typeface="Noto Sans SC" panose="020B0500000000000000" charset="-122"/>
            </a:endParaRPr>
          </a:p>
        </p:txBody>
      </p:sp>
      <p:sp>
        <p:nvSpPr>
          <p:cNvPr id="20" name="AutoShape 20"/>
          <p:cNvSpPr/>
          <p:nvPr/>
        </p:nvSpPr>
        <p:spPr>
          <a:xfrm>
            <a:off x="762000" y="5715000"/>
            <a:ext cx="10668000" cy="762000"/>
          </a:xfrm>
          <a:prstGeom prst="roundRect">
            <a:avLst>
              <a:gd name="adj" fmla="val 13333"/>
            </a:avLst>
          </a:prstGeom>
          <a:solidFill>
            <a:srgbClr val="00E5FF">
              <a:alpha val="10000"/>
            </a:srgbClr>
          </a:solidFill>
          <a:ln w="12700" cap="flat" cmpd="sng">
            <a:solidFill>
              <a:srgbClr val="00E5FF">
                <a:alpha val="40000"/>
              </a:srgbClr>
            </a:solidFill>
            <a:prstDash val="solid"/>
            <a:round/>
          </a:ln>
        </p:spPr>
        <p:txBody>
          <a:bodyPr vert="horz" wrap="square" lIns="63500" tIns="63500" rIns="63500" bIns="63500" rtlCol="0" anchor="ctr"/>
          <a:lstStyle/>
          <a:p>
            <a:pPr algn="ctr">
              <a:defRPr/>
            </a:pPr>
          </a:p>
        </p:txBody>
      </p:sp>
      <p:pic>
        <p:nvPicPr>
          <p:cNvPr id="21" name="Picture 21"/>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1016000" y="5943600"/>
            <a:ext cx="304800" cy="304800"/>
          </a:xfrm>
          <a:prstGeom prst="rect">
            <a:avLst/>
          </a:prstGeom>
        </p:spPr>
      </p:pic>
      <p:sp>
        <p:nvSpPr>
          <p:cNvPr id="22" name="AutoShape 22"/>
          <p:cNvSpPr/>
          <p:nvPr/>
        </p:nvSpPr>
        <p:spPr>
          <a:xfrm>
            <a:off x="1460500" y="5842000"/>
            <a:ext cx="96520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300" b="0" i="0" u="none" strike="noStrike">
                <a:solidFill>
                  <a:srgbClr val="FFFFFF"/>
                </a:solidFill>
                <a:latin typeface="Noto Sans SC" panose="020B0500000000000000" charset="-122"/>
                <a:ea typeface="Noto Sans SC" panose="020B0500000000000000" charset="-122"/>
                <a:cs typeface="Noto Sans SC" panose="020B0500000000000000" charset="-122"/>
                <a:sym typeface="Noto Sans SC" panose="020B0500000000000000" charset="-122"/>
              </a:rPr>
              <a:t>结论：有效利用AI的创始人能够构建一个“杠杆率”远超其员工数量的公司，并将大部分时间投入到真正重要的决策工作中。</a:t>
            </a:r>
            <a:endParaRPr lang="en-US" sz="110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111827">
              <a:alpha val="80000"/>
            </a:srgbClr>
          </a:solidFill>
          <a:ln w="25400" cap="flat" cmpd="sng">
            <a:noFill/>
            <a:prstDash val="solid"/>
            <a:round/>
          </a:ln>
        </p:spPr>
        <p:txBody>
          <a:bodyPr vert="horz" wrap="square" lIns="63500" tIns="63500" rIns="63500" bIns="63500" rtlCol="0" anchor="ctr"/>
          <a:lstStyle/>
          <a:p>
            <a:pPr algn="ctr">
              <a:defRPr/>
            </a:pPr>
          </a:p>
        </p:txBody>
      </p:sp>
      <p:sp>
        <p:nvSpPr>
          <p:cNvPr id="3" name="AutoShape 3"/>
          <p:cNvSpPr/>
          <p:nvPr/>
        </p:nvSpPr>
        <p:spPr>
          <a:xfrm>
            <a:off x="762000" y="635000"/>
            <a:ext cx="10668000" cy="5715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3200" b="1" i="0" u="none" strike="noStrike">
                <a:solidFill>
                  <a:srgbClr val="FFFFFF"/>
                </a:solidFill>
                <a:latin typeface="Noto Sans SC" panose="020B0500000000000000" charset="-122"/>
                <a:ea typeface="Noto Sans SC" panose="020B0500000000000000" charset="-122"/>
                <a:cs typeface="Noto Sans SC" panose="020B0500000000000000" charset="-122"/>
                <a:sym typeface="Noto Sans SC" panose="020B0500000000000000" charset="-122"/>
              </a:rPr>
              <a:t>第一阶段：创意阶段 (Idea Stage)</a:t>
            </a:r>
            <a:endParaRPr lang="en-US" sz="1100"/>
          </a:p>
        </p:txBody>
      </p:sp>
      <p:sp>
        <p:nvSpPr>
          <p:cNvPr id="4" name="AutoShape 4"/>
          <p:cNvSpPr/>
          <p:nvPr/>
        </p:nvSpPr>
        <p:spPr>
          <a:xfrm>
            <a:off x="762000" y="1524000"/>
            <a:ext cx="5207000" cy="4826000"/>
          </a:xfrm>
          <a:prstGeom prst="roundRect">
            <a:avLst>
              <a:gd name="adj" fmla="val 3157"/>
            </a:avLst>
          </a:prstGeom>
          <a:solidFill>
            <a:srgbClr val="FFFFFF">
              <a:alpha val="5000"/>
            </a:srgbClr>
          </a:solidFill>
          <a:ln w="12700" cap="flat" cmpd="sng">
            <a:solidFill>
              <a:srgbClr val="00E5FF">
                <a:alpha val="30000"/>
              </a:srgbClr>
            </a:solidFill>
            <a:prstDash val="solid"/>
            <a:round/>
          </a:ln>
        </p:spPr>
        <p:txBody>
          <a:bodyPr vert="horz" wrap="square" lIns="63500" tIns="63500" rIns="63500" bIns="63500" rtlCol="0" anchor="ctr"/>
          <a:lstStyle/>
          <a:p>
            <a:pPr algn="ctr">
              <a:defRPr/>
            </a:pPr>
          </a:p>
        </p:txBody>
      </p:sp>
      <p:pic>
        <p:nvPicPr>
          <p:cNvPr id="5" name="Picture 5"/>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066800" y="1828800"/>
            <a:ext cx="304800" cy="304800"/>
          </a:xfrm>
          <a:prstGeom prst="rect">
            <a:avLst/>
          </a:prstGeom>
        </p:spPr>
      </p:pic>
      <p:sp>
        <p:nvSpPr>
          <p:cNvPr id="6" name="AutoShape 6"/>
          <p:cNvSpPr/>
          <p:nvPr/>
        </p:nvSpPr>
        <p:spPr>
          <a:xfrm>
            <a:off x="1473200" y="1790700"/>
            <a:ext cx="4445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00E5FF"/>
                </a:solidFill>
                <a:latin typeface="Noto Sans SC" panose="020B0500000000000000" charset="-122"/>
                <a:ea typeface="Noto Sans SC" panose="020B0500000000000000" charset="-122"/>
                <a:cs typeface="Noto Sans SC" panose="020B0500000000000000" charset="-122"/>
                <a:sym typeface="Noto Sans SC" panose="020B0500000000000000" charset="-122"/>
              </a:rPr>
              <a:t>阶段目标：在构建前验证</a:t>
            </a:r>
            <a:endParaRPr lang="en-US" sz="1100"/>
          </a:p>
        </p:txBody>
      </p:sp>
      <p:sp>
        <p:nvSpPr>
          <p:cNvPr id="7" name="AutoShape 7"/>
          <p:cNvSpPr/>
          <p:nvPr/>
        </p:nvSpPr>
        <p:spPr>
          <a:xfrm>
            <a:off x="1066800" y="2286000"/>
            <a:ext cx="4597400" cy="762000"/>
          </a:xfrm>
          <a:prstGeom prst="rect">
            <a:avLst/>
          </a:prstGeom>
          <a:noFill/>
          <a:ln w="12700" cap="flat" cmpd="sng">
            <a:noFill/>
            <a:prstDash val="solid"/>
            <a:round/>
          </a:ln>
        </p:spPr>
        <p:txBody>
          <a:bodyPr vert="horz" wrap="square" lIns="0" tIns="0" rIns="0" bIns="0" rtlCol="0" anchor="t" anchorCtr="0"/>
          <a:lstStyle/>
          <a:p>
            <a:pPr indent="0" algn="l">
              <a:lnSpc>
                <a:spcPct val="117000"/>
              </a:lnSpc>
              <a:defRPr/>
            </a:pPr>
            <a:r>
              <a:rPr lang="en-US" sz="1300" b="0" i="0" u="none" strike="noStrike">
                <a:solidFill>
                  <a:srgbClr val="E5E7EB"/>
                </a:solidFill>
                <a:latin typeface="Noto Sans SC" panose="020B0500000000000000" charset="-122"/>
                <a:ea typeface="Noto Sans SC" panose="020B0500000000000000" charset="-122"/>
                <a:cs typeface="Noto Sans SC" panose="020B0500000000000000" charset="-122"/>
                <a:sym typeface="Noto Sans SC" panose="020B0500000000000000" charset="-122"/>
              </a:rPr>
              <a:t>在投入资源构建之前，收集确凿证据证明一个真实的问题存在，并且你的解决方案能有效解决它。</a:t>
            </a:r>
            <a:endParaRPr lang="en-US" sz="1100"/>
          </a:p>
        </p:txBody>
      </p:sp>
      <p:cxnSp>
        <p:nvCxnSpPr>
          <p:cNvPr id="8" name="Connector 8"/>
          <p:cNvCxnSpPr/>
          <p:nvPr/>
        </p:nvCxnSpPr>
        <p:spPr>
          <a:xfrm rot="-9496">
            <a:off x="1066809" y="3232150"/>
            <a:ext cx="4597400" cy="12700"/>
          </a:xfrm>
          <a:prstGeom prst="straightConnector1">
            <a:avLst/>
          </a:prstGeom>
          <a:solidFill>
            <a:srgbClr val="DEE0E3">
              <a:alpha val="100000"/>
            </a:srgbClr>
          </a:solidFill>
          <a:ln w="12700" cap="flat" cmpd="sng">
            <a:solidFill>
              <a:srgbClr val="FFFFFF">
                <a:alpha val="15000"/>
              </a:srgbClr>
            </a:solidFill>
            <a:prstDash val="dash"/>
            <a:round/>
            <a:headEnd type="none" w="med" len="med"/>
            <a:tailEnd type="none" w="med" len="med"/>
          </a:ln>
        </p:spPr>
      </p:cxnSp>
      <p:pic>
        <p:nvPicPr>
          <p:cNvPr id="9" name="Picture 9"/>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066800" y="3543300"/>
            <a:ext cx="304800" cy="304800"/>
          </a:xfrm>
          <a:prstGeom prst="rect">
            <a:avLst/>
          </a:prstGeom>
        </p:spPr>
      </p:pic>
      <p:sp>
        <p:nvSpPr>
          <p:cNvPr id="10" name="AutoShape 10"/>
          <p:cNvSpPr/>
          <p:nvPr/>
        </p:nvSpPr>
        <p:spPr>
          <a:xfrm>
            <a:off x="1473200" y="3505200"/>
            <a:ext cx="4445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00E5FF"/>
                </a:solidFill>
                <a:latin typeface="Noto Sans SC" panose="020B0500000000000000" charset="-122"/>
                <a:ea typeface="Noto Sans SC" panose="020B0500000000000000" charset="-122"/>
                <a:cs typeface="Noto Sans SC" panose="020B0500000000000000" charset="-122"/>
                <a:sym typeface="Noto Sans SC" panose="020B0500000000000000" charset="-122"/>
              </a:rPr>
              <a:t>核心思维转变：观察 → 假设</a:t>
            </a:r>
            <a:endParaRPr lang="en-US" sz="1100"/>
          </a:p>
        </p:txBody>
      </p:sp>
      <p:sp>
        <p:nvSpPr>
          <p:cNvPr id="11" name="AutoShape 11"/>
          <p:cNvSpPr/>
          <p:nvPr/>
        </p:nvSpPr>
        <p:spPr>
          <a:xfrm>
            <a:off x="1066800" y="4000500"/>
            <a:ext cx="4597400" cy="1905000"/>
          </a:xfrm>
          <a:prstGeom prst="rect">
            <a:avLst/>
          </a:prstGeom>
          <a:noFill/>
          <a:ln w="12700" cap="flat" cmpd="sng">
            <a:noFill/>
            <a:prstDash val="solid"/>
            <a:round/>
          </a:ln>
        </p:spPr>
        <p:txBody>
          <a:bodyPr vert="horz" wrap="square" lIns="0" tIns="0" rIns="0" bIns="0" rtlCol="0" anchor="t" anchorCtr="0"/>
          <a:lstStyle/>
          <a:p>
            <a:pPr indent="0" algn="l">
              <a:lnSpc>
                <a:spcPct val="125000"/>
              </a:lnSpc>
              <a:defRPr/>
            </a:pPr>
            <a:r>
              <a:rPr lang="en-US" sz="1300" b="0" i="0" u="none" strike="noStrike">
                <a:solidFill>
                  <a:srgbClr val="9CA3AF"/>
                </a:solidFill>
                <a:latin typeface="Noto Sans SC" panose="020B0500000000000000" charset="-122"/>
                <a:ea typeface="Noto Sans SC" panose="020B0500000000000000" charset="-122"/>
                <a:cs typeface="Noto Sans SC" panose="020B0500000000000000" charset="-122"/>
                <a:sym typeface="Noto Sans SC" panose="020B0500000000000000" charset="-122"/>
              </a:rPr>
              <a:t>日常的观察往往模糊且主观，我们需要将其转化为可验证的具体假设：</a:t>
            </a:r>
            <a:endParaRPr lang="en-US" sz="1100"/>
          </a:p>
          <a:p>
            <a:pPr indent="0" algn="l">
              <a:lnSpc>
                <a:spcPct val="100000"/>
              </a:lnSpc>
            </a:pPr>
          </a:p>
          <a:p>
            <a:pPr indent="0" algn="l">
              <a:lnSpc>
                <a:spcPct val="117000"/>
              </a:lnSpc>
            </a:pPr>
            <a:r>
              <a:rPr lang="en-US" sz="1300" b="1" i="0" u="none" strike="noStrike">
                <a:solidFill>
                  <a:srgbClr val="FFFFFF"/>
                </a:solidFill>
                <a:latin typeface="Noto Sans SC" panose="020B0500000000000000" charset="-122"/>
                <a:ea typeface="Noto Sans SC" panose="020B0500000000000000" charset="-122"/>
                <a:cs typeface="Noto Sans SC" panose="020B0500000000000000" charset="-122"/>
                <a:sym typeface="Noto Sans SC" panose="020B0500000000000000" charset="-122"/>
              </a:rPr>
              <a:t>❌ 初始观察：</a:t>
            </a:r>
            <a:r>
              <a:rPr lang="en-US" sz="1300" b="0" i="0" u="none" strike="noStrike">
                <a:solidFill>
                  <a:srgbClr val="D1D5DB"/>
                </a:solidFill>
                <a:latin typeface="Noto Sans SC" panose="020B0500000000000000" charset="-122"/>
                <a:ea typeface="Noto Sans SC" panose="020B0500000000000000" charset="-122"/>
                <a:cs typeface="Noto Sans SC" panose="020B0500000000000000" charset="-122"/>
                <a:sym typeface="Noto Sans SC" panose="020B0500000000000000" charset="-122"/>
              </a:rPr>
              <a:t>“人们在报销时很挣扎。”</a:t>
            </a:r>
            <a:endParaRPr lang="en-US" sz="1300" b="0" i="0" u="none" strike="noStrike">
              <a:solidFill>
                <a:srgbClr val="D1D5DB"/>
              </a:solidFill>
              <a:latin typeface="Noto Sans SC" panose="020B0500000000000000" charset="-122"/>
              <a:ea typeface="Noto Sans SC" panose="020B0500000000000000" charset="-122"/>
              <a:cs typeface="Noto Sans SC" panose="020B0500000000000000" charset="-122"/>
              <a:sym typeface="Noto Sans SC" panose="020B0500000000000000" charset="-122"/>
            </a:endParaRPr>
          </a:p>
          <a:p>
            <a:pPr indent="0" algn="l">
              <a:lnSpc>
                <a:spcPct val="117000"/>
              </a:lnSpc>
            </a:pPr>
            <a:r>
              <a:rPr lang="en-US" sz="1300" b="1" i="0" u="none" strike="noStrike">
                <a:solidFill>
                  <a:srgbClr val="FFFFFF"/>
                </a:solidFill>
                <a:latin typeface="Noto Sans SC" panose="020B0500000000000000" charset="-122"/>
                <a:ea typeface="Noto Sans SC" panose="020B0500000000000000" charset="-122"/>
                <a:cs typeface="Noto Sans SC" panose="020B0500000000000000" charset="-122"/>
                <a:sym typeface="Noto Sans SC" panose="020B0500000000000000" charset="-122"/>
              </a:rPr>
              <a:t>✅ 可测试假设：</a:t>
            </a:r>
            <a:r>
              <a:rPr lang="en-US" sz="1300" b="0" i="0" u="none" strike="noStrike">
                <a:solidFill>
                  <a:srgbClr val="00E5FF"/>
                </a:solidFill>
                <a:latin typeface="Noto Sans SC" panose="020B0500000000000000" charset="-122"/>
                <a:ea typeface="Noto Sans SC" panose="020B0500000000000000" charset="-122"/>
                <a:cs typeface="Noto Sans SC" panose="020B0500000000000000" charset="-122"/>
                <a:sym typeface="Noto Sans SC" panose="020B0500000000000000" charset="-122"/>
              </a:rPr>
              <a:t>“中型公司的财务经理每周花费超过4小时核对报销申请，因为他们当前的工具无法与会计软件集成。”</a:t>
            </a:r>
            <a:endParaRPr lang="en-US" sz="1300" b="0" i="0" u="none" strike="noStrike">
              <a:solidFill>
                <a:srgbClr val="00E5FF"/>
              </a:solidFill>
              <a:latin typeface="Noto Sans SC" panose="020B0500000000000000" charset="-122"/>
              <a:ea typeface="Noto Sans SC" panose="020B0500000000000000" charset="-122"/>
              <a:cs typeface="Noto Sans SC" panose="020B0500000000000000" charset="-122"/>
              <a:sym typeface="Noto Sans SC" panose="020B0500000000000000" charset="-122"/>
            </a:endParaRPr>
          </a:p>
        </p:txBody>
      </p:sp>
      <p:sp>
        <p:nvSpPr>
          <p:cNvPr id="12" name="AutoShape 12"/>
          <p:cNvSpPr/>
          <p:nvPr/>
        </p:nvSpPr>
        <p:spPr>
          <a:xfrm>
            <a:off x="6223000" y="1524000"/>
            <a:ext cx="5207000" cy="4826000"/>
          </a:xfrm>
          <a:prstGeom prst="roundRect">
            <a:avLst>
              <a:gd name="adj" fmla="val 3157"/>
            </a:avLst>
          </a:prstGeom>
          <a:solidFill>
            <a:srgbClr val="FFFFFF">
              <a:alpha val="5000"/>
            </a:srgbClr>
          </a:solidFill>
          <a:ln w="12700" cap="flat" cmpd="sng">
            <a:solidFill>
              <a:srgbClr val="00E5FF">
                <a:alpha val="30000"/>
              </a:srgbClr>
            </a:solidFill>
            <a:prstDash val="solid"/>
            <a:round/>
          </a:ln>
        </p:spPr>
        <p:txBody>
          <a:bodyPr vert="horz" wrap="square" lIns="63500" tIns="63500" rIns="63500" bIns="63500" rtlCol="0" anchor="ctr"/>
          <a:lstStyle/>
          <a:p>
            <a:pPr algn="ctr">
              <a:defRPr/>
            </a:pPr>
          </a:p>
        </p:txBody>
      </p:sp>
      <p:pic>
        <p:nvPicPr>
          <p:cNvPr id="13" name="Picture 13"/>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6527800" y="1828800"/>
            <a:ext cx="304800" cy="304800"/>
          </a:xfrm>
          <a:prstGeom prst="rect">
            <a:avLst/>
          </a:prstGeom>
        </p:spPr>
      </p:pic>
      <p:sp>
        <p:nvSpPr>
          <p:cNvPr id="14" name="AutoShape 14"/>
          <p:cNvSpPr/>
          <p:nvPr/>
        </p:nvSpPr>
        <p:spPr>
          <a:xfrm>
            <a:off x="6934200" y="1790700"/>
            <a:ext cx="4445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00E5FF"/>
                </a:solidFill>
                <a:latin typeface="Noto Sans SC" panose="020B0500000000000000" charset="-122"/>
                <a:ea typeface="Noto Sans SC" panose="020B0500000000000000" charset="-122"/>
                <a:cs typeface="Noto Sans SC" panose="020B0500000000000000" charset="-122"/>
                <a:sym typeface="Noto Sans SC" panose="020B0500000000000000" charset="-122"/>
              </a:rPr>
              <a:t>关键验证清单：这值得构建吗？</a:t>
            </a:r>
            <a:endParaRPr lang="en-US" sz="1100"/>
          </a:p>
        </p:txBody>
      </p:sp>
      <p:sp>
        <p:nvSpPr>
          <p:cNvPr id="15" name="AutoShape 15"/>
          <p:cNvSpPr/>
          <p:nvPr/>
        </p:nvSpPr>
        <p:spPr>
          <a:xfrm>
            <a:off x="6527800" y="2413000"/>
            <a:ext cx="4597400" cy="825500"/>
          </a:xfrm>
          <a:prstGeom prst="roundRect">
            <a:avLst>
              <a:gd name="adj" fmla="val 12307"/>
            </a:avLst>
          </a:prstGeom>
          <a:solidFill>
            <a:srgbClr val="00E5FF">
              <a:alpha val="8000"/>
            </a:srgbClr>
          </a:solidFill>
          <a:ln w="25400" cap="flat" cmpd="sng">
            <a:noFill/>
            <a:prstDash val="solid"/>
            <a:round/>
          </a:ln>
        </p:spPr>
        <p:txBody>
          <a:bodyPr vert="horz" wrap="square" lIns="63500" tIns="63500" rIns="63500" bIns="63500" rtlCol="0" anchor="ctr"/>
          <a:lstStyle/>
          <a:p>
            <a:pPr algn="ctr">
              <a:defRPr/>
            </a:pPr>
          </a:p>
        </p:txBody>
      </p:sp>
      <p:sp>
        <p:nvSpPr>
          <p:cNvPr id="16" name="AutoShape 16"/>
          <p:cNvSpPr/>
          <p:nvPr/>
        </p:nvSpPr>
        <p:spPr>
          <a:xfrm>
            <a:off x="6667500" y="2476500"/>
            <a:ext cx="4318000" cy="698500"/>
          </a:xfrm>
          <a:prstGeom prst="rect">
            <a:avLst/>
          </a:prstGeom>
          <a:noFill/>
          <a:ln w="12700" cap="flat" cmpd="sng">
            <a:noFill/>
            <a:prstDash val="solid"/>
            <a:round/>
          </a:ln>
        </p:spPr>
        <p:txBody>
          <a:bodyPr vert="horz" wrap="square" lIns="0" tIns="0" rIns="0" bIns="0" rtlCol="0" anchor="ctr" anchorCtr="0"/>
          <a:lstStyle/>
          <a:p>
            <a:pPr indent="0" algn="l">
              <a:lnSpc>
                <a:spcPct val="100000"/>
              </a:lnSpc>
              <a:defRPr/>
            </a:pPr>
            <a:r>
              <a:rPr lang="en-US" sz="1400" b="1" i="0" u="none" strike="noStrike">
                <a:solidFill>
                  <a:srgbClr val="FFFFFF"/>
                </a:solidFill>
                <a:latin typeface="Noto Sans SC" panose="020B0500000000000000" charset="-122"/>
                <a:ea typeface="Noto Sans SC" panose="020B0500000000000000" charset="-122"/>
                <a:cs typeface="Noto Sans SC" panose="020B0500000000000000" charset="-122"/>
                <a:sym typeface="Noto Sans SC" panose="020B0500000000000000" charset="-122"/>
              </a:rPr>
              <a:t>1. 问题真实性 (Problem Reality)</a:t>
            </a:r>
            <a:endParaRPr lang="en-US" sz="1100"/>
          </a:p>
          <a:p>
            <a:pPr indent="0" algn="l">
              <a:lnSpc>
                <a:spcPct val="100000"/>
              </a:lnSpc>
            </a:pPr>
            <a:r>
              <a:rPr lang="en-US" sz="1200" b="0" i="0" u="none" strike="noStrike">
                <a:solidFill>
                  <a:srgbClr val="D1D5DB"/>
                </a:solidFill>
                <a:latin typeface="Noto Sans SC" panose="020B0500000000000000" charset="-122"/>
                <a:ea typeface="Noto Sans SC" panose="020B0500000000000000" charset="-122"/>
                <a:cs typeface="Noto Sans SC" panose="020B0500000000000000" charset="-122"/>
                <a:sym typeface="Noto Sans SC" panose="020B0500000000000000" charset="-122"/>
              </a:rPr>
              <a:t>这个问题是否真实、具体且频繁发生？是普遍痛点还是个别现象？</a:t>
            </a:r>
            <a:endParaRPr lang="en-US" sz="1200" b="0" i="0" u="none" strike="noStrike">
              <a:solidFill>
                <a:srgbClr val="D1D5DB"/>
              </a:solidFill>
              <a:latin typeface="Noto Sans SC" panose="020B0500000000000000" charset="-122"/>
              <a:ea typeface="Noto Sans SC" panose="020B0500000000000000" charset="-122"/>
              <a:cs typeface="Noto Sans SC" panose="020B0500000000000000" charset="-122"/>
              <a:sym typeface="Noto Sans SC" panose="020B0500000000000000" charset="-122"/>
            </a:endParaRPr>
          </a:p>
        </p:txBody>
      </p:sp>
      <p:sp>
        <p:nvSpPr>
          <p:cNvPr id="17" name="AutoShape 17"/>
          <p:cNvSpPr/>
          <p:nvPr/>
        </p:nvSpPr>
        <p:spPr>
          <a:xfrm>
            <a:off x="6527800" y="3429000"/>
            <a:ext cx="4597400" cy="825500"/>
          </a:xfrm>
          <a:prstGeom prst="roundRect">
            <a:avLst>
              <a:gd name="adj" fmla="val 12307"/>
            </a:avLst>
          </a:prstGeom>
          <a:solidFill>
            <a:srgbClr val="00E5FF">
              <a:alpha val="8000"/>
            </a:srgbClr>
          </a:solidFill>
          <a:ln w="25400" cap="flat" cmpd="sng">
            <a:noFill/>
            <a:prstDash val="solid"/>
            <a:round/>
          </a:ln>
        </p:spPr>
        <p:txBody>
          <a:bodyPr vert="horz" wrap="square" lIns="63500" tIns="63500" rIns="63500" bIns="63500" rtlCol="0" anchor="ctr"/>
          <a:lstStyle/>
          <a:p>
            <a:pPr algn="ctr">
              <a:defRPr/>
            </a:pPr>
          </a:p>
        </p:txBody>
      </p:sp>
      <p:sp>
        <p:nvSpPr>
          <p:cNvPr id="18" name="AutoShape 18"/>
          <p:cNvSpPr/>
          <p:nvPr/>
        </p:nvSpPr>
        <p:spPr>
          <a:xfrm>
            <a:off x="6667500" y="3492500"/>
            <a:ext cx="4318000" cy="698500"/>
          </a:xfrm>
          <a:prstGeom prst="rect">
            <a:avLst/>
          </a:prstGeom>
          <a:noFill/>
          <a:ln w="12700" cap="flat" cmpd="sng">
            <a:noFill/>
            <a:prstDash val="solid"/>
            <a:round/>
          </a:ln>
        </p:spPr>
        <p:txBody>
          <a:bodyPr vert="horz" wrap="square" lIns="0" tIns="0" rIns="0" bIns="0" rtlCol="0" anchor="ctr" anchorCtr="0"/>
          <a:lstStyle/>
          <a:p>
            <a:pPr indent="0" algn="l">
              <a:lnSpc>
                <a:spcPct val="100000"/>
              </a:lnSpc>
              <a:defRPr/>
            </a:pPr>
            <a:r>
              <a:rPr lang="en-US" sz="1400" b="1" i="0" u="none" strike="noStrike">
                <a:solidFill>
                  <a:srgbClr val="FFFFFF"/>
                </a:solidFill>
                <a:latin typeface="Noto Sans SC" panose="020B0500000000000000" charset="-122"/>
                <a:ea typeface="Noto Sans SC" panose="020B0500000000000000" charset="-122"/>
                <a:cs typeface="Noto Sans SC" panose="020B0500000000000000" charset="-122"/>
                <a:sym typeface="Noto Sans SC" panose="020B0500000000000000" charset="-122"/>
              </a:rPr>
              <a:t>2. 市场定位 (Market Fit)</a:t>
            </a:r>
            <a:endParaRPr lang="en-US" sz="1100"/>
          </a:p>
          <a:p>
            <a:pPr indent="0" algn="l">
              <a:lnSpc>
                <a:spcPct val="100000"/>
              </a:lnSpc>
            </a:pPr>
            <a:r>
              <a:rPr lang="en-US" sz="1200" b="0" i="0" u="none" strike="noStrike">
                <a:solidFill>
                  <a:srgbClr val="D1D5DB"/>
                </a:solidFill>
                <a:latin typeface="Noto Sans SC" panose="020B0500000000000000" charset="-122"/>
                <a:ea typeface="Noto Sans SC" panose="020B0500000000000000" charset="-122"/>
                <a:cs typeface="Noto Sans SC" panose="020B0500000000000000" charset="-122"/>
                <a:sym typeface="Noto Sans SC" panose="020B0500000000000000" charset="-122"/>
              </a:rPr>
              <a:t>谁有这个问题？这是一个有价值、可触达的细分市场吗？</a:t>
            </a:r>
            <a:endParaRPr lang="en-US" sz="1200" b="0" i="0" u="none" strike="noStrike">
              <a:solidFill>
                <a:srgbClr val="D1D5DB"/>
              </a:solidFill>
              <a:latin typeface="Noto Sans SC" panose="020B0500000000000000" charset="-122"/>
              <a:ea typeface="Noto Sans SC" panose="020B0500000000000000" charset="-122"/>
              <a:cs typeface="Noto Sans SC" panose="020B0500000000000000" charset="-122"/>
              <a:sym typeface="Noto Sans SC" panose="020B0500000000000000" charset="-122"/>
            </a:endParaRPr>
          </a:p>
        </p:txBody>
      </p:sp>
      <p:sp>
        <p:nvSpPr>
          <p:cNvPr id="19" name="AutoShape 19"/>
          <p:cNvSpPr/>
          <p:nvPr/>
        </p:nvSpPr>
        <p:spPr>
          <a:xfrm>
            <a:off x="6527800" y="4445000"/>
            <a:ext cx="4597400" cy="825500"/>
          </a:xfrm>
          <a:prstGeom prst="roundRect">
            <a:avLst>
              <a:gd name="adj" fmla="val 12307"/>
            </a:avLst>
          </a:prstGeom>
          <a:solidFill>
            <a:srgbClr val="00E5FF">
              <a:alpha val="8000"/>
            </a:srgbClr>
          </a:solidFill>
          <a:ln w="25400" cap="flat" cmpd="sng">
            <a:noFill/>
            <a:prstDash val="solid"/>
            <a:round/>
          </a:ln>
        </p:spPr>
        <p:txBody>
          <a:bodyPr vert="horz" wrap="square" lIns="63500" tIns="63500" rIns="63500" bIns="63500" rtlCol="0" anchor="ctr"/>
          <a:lstStyle/>
          <a:p>
            <a:pPr algn="ctr">
              <a:defRPr/>
            </a:pPr>
          </a:p>
        </p:txBody>
      </p:sp>
      <p:sp>
        <p:nvSpPr>
          <p:cNvPr id="20" name="AutoShape 20"/>
          <p:cNvSpPr/>
          <p:nvPr/>
        </p:nvSpPr>
        <p:spPr>
          <a:xfrm>
            <a:off x="6667500" y="4508500"/>
            <a:ext cx="4318000" cy="698500"/>
          </a:xfrm>
          <a:prstGeom prst="rect">
            <a:avLst/>
          </a:prstGeom>
          <a:noFill/>
          <a:ln w="12700" cap="flat" cmpd="sng">
            <a:noFill/>
            <a:prstDash val="solid"/>
            <a:round/>
          </a:ln>
        </p:spPr>
        <p:txBody>
          <a:bodyPr vert="horz" wrap="square" lIns="0" tIns="0" rIns="0" bIns="0" rtlCol="0" anchor="ctr" anchorCtr="0"/>
          <a:lstStyle/>
          <a:p>
            <a:pPr indent="0" algn="l">
              <a:lnSpc>
                <a:spcPct val="100000"/>
              </a:lnSpc>
              <a:defRPr/>
            </a:pPr>
            <a:r>
              <a:rPr lang="en-US" sz="1400" b="1" i="0" u="none" strike="noStrike">
                <a:solidFill>
                  <a:srgbClr val="FFFFFF"/>
                </a:solidFill>
                <a:latin typeface="Noto Sans SC" panose="020B0500000000000000" charset="-122"/>
                <a:ea typeface="Noto Sans SC" panose="020B0500000000000000" charset="-122"/>
                <a:cs typeface="Noto Sans SC" panose="020B0500000000000000" charset="-122"/>
                <a:sym typeface="Noto Sans SC" panose="020B0500000000000000" charset="-122"/>
              </a:rPr>
              <a:t>3. 竞争格局 (Competition)</a:t>
            </a:r>
            <a:endParaRPr lang="en-US" sz="1100"/>
          </a:p>
          <a:p>
            <a:pPr indent="0" algn="l">
              <a:lnSpc>
                <a:spcPct val="100000"/>
              </a:lnSpc>
            </a:pPr>
            <a:r>
              <a:rPr lang="en-US" sz="1200" b="0" i="0" u="none" strike="noStrike">
                <a:solidFill>
                  <a:srgbClr val="D1D5DB"/>
                </a:solidFill>
                <a:latin typeface="Noto Sans SC" panose="020B0500000000000000" charset="-122"/>
                <a:ea typeface="Noto Sans SC" panose="020B0500000000000000" charset="-122"/>
                <a:cs typeface="Noto Sans SC" panose="020B0500000000000000" charset="-122"/>
                <a:sym typeface="Noto Sans SC" panose="020B0500000000000000" charset="-122"/>
              </a:rPr>
              <a:t>有没有其他人在解决它？他们做得怎么样？我们的差异化优势在哪里？</a:t>
            </a:r>
            <a:endParaRPr lang="en-US" sz="1200" b="0" i="0" u="none" strike="noStrike">
              <a:solidFill>
                <a:srgbClr val="D1D5DB"/>
              </a:solidFill>
              <a:latin typeface="Noto Sans SC" panose="020B0500000000000000" charset="-122"/>
              <a:ea typeface="Noto Sans SC" panose="020B0500000000000000" charset="-122"/>
              <a:cs typeface="Noto Sans SC" panose="020B0500000000000000" charset="-122"/>
              <a:sym typeface="Noto Sans SC" panose="020B0500000000000000" charset="-122"/>
            </a:endParaRPr>
          </a:p>
        </p:txBody>
      </p:sp>
      <p:sp>
        <p:nvSpPr>
          <p:cNvPr id="21" name="AutoShape 21"/>
          <p:cNvSpPr/>
          <p:nvPr/>
        </p:nvSpPr>
        <p:spPr>
          <a:xfrm>
            <a:off x="6527800" y="5461000"/>
            <a:ext cx="4597400" cy="825500"/>
          </a:xfrm>
          <a:prstGeom prst="roundRect">
            <a:avLst>
              <a:gd name="adj" fmla="val 12307"/>
            </a:avLst>
          </a:prstGeom>
          <a:solidFill>
            <a:srgbClr val="00E5FF">
              <a:alpha val="8000"/>
            </a:srgbClr>
          </a:solidFill>
          <a:ln w="25400" cap="flat" cmpd="sng">
            <a:noFill/>
            <a:prstDash val="solid"/>
            <a:round/>
          </a:ln>
        </p:spPr>
        <p:txBody>
          <a:bodyPr vert="horz" wrap="square" lIns="63500" tIns="63500" rIns="63500" bIns="63500" rtlCol="0" anchor="ctr"/>
          <a:lstStyle/>
          <a:p>
            <a:pPr algn="ctr">
              <a:defRPr/>
            </a:pPr>
          </a:p>
        </p:txBody>
      </p:sp>
      <p:sp>
        <p:nvSpPr>
          <p:cNvPr id="22" name="AutoShape 22"/>
          <p:cNvSpPr/>
          <p:nvPr/>
        </p:nvSpPr>
        <p:spPr>
          <a:xfrm>
            <a:off x="6667500" y="5524500"/>
            <a:ext cx="4318000" cy="698500"/>
          </a:xfrm>
          <a:prstGeom prst="rect">
            <a:avLst/>
          </a:prstGeom>
          <a:noFill/>
          <a:ln w="12700" cap="flat" cmpd="sng">
            <a:noFill/>
            <a:prstDash val="solid"/>
            <a:round/>
          </a:ln>
        </p:spPr>
        <p:txBody>
          <a:bodyPr vert="horz" wrap="square" lIns="0" tIns="0" rIns="0" bIns="0" rtlCol="0" anchor="ctr" anchorCtr="0"/>
          <a:lstStyle/>
          <a:p>
            <a:pPr indent="0" algn="l">
              <a:lnSpc>
                <a:spcPct val="100000"/>
              </a:lnSpc>
              <a:defRPr/>
            </a:pPr>
            <a:r>
              <a:rPr lang="en-US" sz="1400" b="1" i="0" u="none" strike="noStrike">
                <a:solidFill>
                  <a:srgbClr val="FFFFFF"/>
                </a:solidFill>
                <a:latin typeface="Noto Sans SC" panose="020B0500000000000000" charset="-122"/>
                <a:ea typeface="Noto Sans SC" panose="020B0500000000000000" charset="-122"/>
                <a:cs typeface="Noto Sans SC" panose="020B0500000000000000" charset="-122"/>
                <a:sym typeface="Noto Sans SC" panose="020B0500000000000000" charset="-122"/>
              </a:rPr>
              <a:t>4. 方案有效性 (Solution Viability)</a:t>
            </a:r>
            <a:endParaRPr lang="en-US" sz="1100"/>
          </a:p>
          <a:p>
            <a:pPr indent="0" algn="l">
              <a:lnSpc>
                <a:spcPct val="100000"/>
              </a:lnSpc>
            </a:pPr>
            <a:r>
              <a:rPr lang="en-US" sz="1200" b="0" i="0" u="none" strike="noStrike">
                <a:solidFill>
                  <a:srgbClr val="D1D5DB"/>
                </a:solidFill>
                <a:latin typeface="Noto Sans SC" panose="020B0500000000000000" charset="-122"/>
                <a:ea typeface="Noto Sans SC" panose="020B0500000000000000" charset="-122"/>
                <a:cs typeface="Noto Sans SC" panose="020B0500000000000000" charset="-122"/>
                <a:sym typeface="Noto Sans SC" panose="020B0500000000000000" charset="-122"/>
              </a:rPr>
              <a:t>解决方案需要具备哪些核心功能？我们的技术或方法能实现吗？</a:t>
            </a:r>
            <a:endParaRPr lang="en-US" sz="1200" b="0" i="0" u="none" strike="noStrike">
              <a:solidFill>
                <a:srgbClr val="D1D5DB"/>
              </a:solidFill>
              <a:latin typeface="Noto Sans SC" panose="020B0500000000000000" charset="-122"/>
              <a:ea typeface="Noto Sans SC" panose="020B0500000000000000" charset="-122"/>
              <a:cs typeface="Noto Sans SC" panose="020B0500000000000000" charset="-122"/>
              <a:sym typeface="Noto Sans SC" panose="020B0500000000000000" charset="-122"/>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111827">
              <a:alpha val="80000"/>
            </a:srgbClr>
          </a:solidFill>
          <a:ln w="25400" cap="flat" cmpd="sng">
            <a:noFill/>
            <a:prstDash val="solid"/>
            <a:round/>
          </a:ln>
        </p:spPr>
        <p:txBody>
          <a:bodyPr vert="horz" wrap="square" lIns="63500" tIns="63500" rIns="63500" bIns="63500" rtlCol="0" anchor="ctr"/>
          <a:lstStyle/>
          <a:p>
            <a:pPr algn="ctr">
              <a:defRPr/>
            </a:pPr>
          </a:p>
        </p:txBody>
      </p:sp>
      <p:sp>
        <p:nvSpPr>
          <p:cNvPr id="3" name="AutoShape 3"/>
          <p:cNvSpPr/>
          <p:nvPr/>
        </p:nvSpPr>
        <p:spPr>
          <a:xfrm>
            <a:off x="762000" y="635000"/>
            <a:ext cx="10668000" cy="5588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3200" b="1" i="0" u="none" strike="noStrike">
                <a:solidFill>
                  <a:srgbClr val="FFFFFF"/>
                </a:solidFill>
                <a:latin typeface="Noto Sans SC" panose="020B0500000000000000" charset="-122"/>
                <a:ea typeface="Noto Sans SC" panose="020B0500000000000000" charset="-122"/>
                <a:cs typeface="Noto Sans SC" panose="020B0500000000000000" charset="-122"/>
                <a:sym typeface="Noto Sans SC" panose="020B0500000000000000" charset="-122"/>
              </a:rPr>
              <a:t>何时可以离开创意阶段？</a:t>
            </a:r>
            <a:endParaRPr lang="en-US" sz="1100"/>
          </a:p>
        </p:txBody>
      </p:sp>
      <p:sp>
        <p:nvSpPr>
          <p:cNvPr id="4" name="AutoShape 4"/>
          <p:cNvSpPr/>
          <p:nvPr/>
        </p:nvSpPr>
        <p:spPr>
          <a:xfrm>
            <a:off x="762000" y="1333500"/>
            <a:ext cx="10668000" cy="381000"/>
          </a:xfrm>
          <a:prstGeom prst="rect">
            <a:avLst/>
          </a:prstGeom>
          <a:noFill/>
          <a:ln w="12700" cap="flat" cmpd="sng">
            <a:noFill/>
            <a:prstDash val="solid"/>
            <a:round/>
          </a:ln>
        </p:spPr>
        <p:txBody>
          <a:bodyPr vert="horz" wrap="square" lIns="0" tIns="0" rIns="0" bIns="0" rtlCol="0" anchor="t" anchorCtr="0"/>
          <a:lstStyle/>
          <a:p>
            <a:pPr indent="0" algn="l">
              <a:lnSpc>
                <a:spcPct val="125000"/>
              </a:lnSpc>
              <a:defRPr/>
            </a:pPr>
            <a:r>
              <a:rPr lang="en-US" sz="1800" b="1" i="0" u="none" strike="noStrike">
                <a:solidFill>
                  <a:srgbClr val="00E5FF"/>
                </a:solidFill>
                <a:latin typeface="Noto Sans SC" panose="020B0500000000000000" charset="-122"/>
                <a:ea typeface="Noto Sans SC" panose="020B0500000000000000" charset="-122"/>
                <a:cs typeface="Noto Sans SC" panose="020B0500000000000000" charset="-122"/>
                <a:sym typeface="Noto Sans SC" panose="020B0500000000000000" charset="-122"/>
              </a:rPr>
              <a:t>退出条件：找到问题-解决方案契合 (Problem-Solution Fit)</a:t>
            </a:r>
            <a:endParaRPr lang="en-US" sz="1100"/>
          </a:p>
        </p:txBody>
      </p:sp>
      <p:sp>
        <p:nvSpPr>
          <p:cNvPr id="5" name="AutoShape 5"/>
          <p:cNvSpPr/>
          <p:nvPr/>
        </p:nvSpPr>
        <p:spPr>
          <a:xfrm>
            <a:off x="762000" y="1841500"/>
            <a:ext cx="10668000" cy="304800"/>
          </a:xfrm>
          <a:prstGeom prst="rect">
            <a:avLst/>
          </a:prstGeom>
          <a:noFill/>
          <a:ln w="12700" cap="flat" cmpd="sng">
            <a:noFill/>
            <a:prstDash val="solid"/>
            <a:round/>
          </a:ln>
        </p:spPr>
        <p:txBody>
          <a:bodyPr vert="horz" wrap="square" lIns="0" tIns="0" rIns="0" bIns="0" rtlCol="0" anchor="t" anchorCtr="0"/>
          <a:lstStyle/>
          <a:p>
            <a:pPr indent="0" algn="l">
              <a:lnSpc>
                <a:spcPct val="125000"/>
              </a:lnSpc>
              <a:defRPr/>
            </a:pPr>
            <a:r>
              <a:rPr lang="en-US" sz="1400" b="0" i="0" u="none" strike="noStrike">
                <a:solidFill>
                  <a:srgbClr val="D1D5DB"/>
                </a:solidFill>
                <a:latin typeface="Noto Sans SC" panose="020B0500000000000000" charset="-122"/>
                <a:ea typeface="Noto Sans SC" panose="020B0500000000000000" charset="-122"/>
                <a:cs typeface="Noto Sans SC" panose="020B0500000000000000" charset="-122"/>
                <a:sym typeface="Noto Sans SC" panose="020B0500000000000000" charset="-122"/>
              </a:rPr>
              <a:t>你能对以下三个问题都回答“是”吗？</a:t>
            </a:r>
            <a:endParaRPr lang="en-US" sz="1100"/>
          </a:p>
        </p:txBody>
      </p:sp>
      <p:sp>
        <p:nvSpPr>
          <p:cNvPr id="6" name="AutoShape 6"/>
          <p:cNvSpPr/>
          <p:nvPr/>
        </p:nvSpPr>
        <p:spPr>
          <a:xfrm>
            <a:off x="762000" y="2413000"/>
            <a:ext cx="3302000" cy="3810000"/>
          </a:xfrm>
          <a:prstGeom prst="roundRect">
            <a:avLst>
              <a:gd name="adj" fmla="val 4615"/>
            </a:avLst>
          </a:prstGeom>
          <a:solidFill>
            <a:srgbClr val="FFFFFF">
              <a:alpha val="8000"/>
            </a:srgbClr>
          </a:solidFill>
          <a:ln w="12700" cap="flat" cmpd="sng">
            <a:solidFill>
              <a:srgbClr val="00E5FF">
                <a:alpha val="30000"/>
              </a:srgbClr>
            </a:solidFill>
            <a:prstDash val="solid"/>
            <a:round/>
          </a:ln>
        </p:spPr>
        <p:txBody>
          <a:bodyPr vert="horz" wrap="square" lIns="63500" tIns="63500" rIns="63500" bIns="63500" rtlCol="0" anchor="ctr"/>
          <a:lstStyle/>
          <a:p>
            <a:pPr algn="ctr">
              <a:defRPr/>
            </a:pPr>
          </a:p>
        </p:txBody>
      </p:sp>
      <p:pic>
        <p:nvPicPr>
          <p:cNvPr id="7" name="Picture 7"/>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066800" y="2717800"/>
            <a:ext cx="457200" cy="457200"/>
          </a:xfrm>
          <a:prstGeom prst="rect">
            <a:avLst/>
          </a:prstGeom>
        </p:spPr>
      </p:pic>
      <p:sp>
        <p:nvSpPr>
          <p:cNvPr id="8" name="AutoShape 8"/>
          <p:cNvSpPr/>
          <p:nvPr/>
        </p:nvSpPr>
        <p:spPr>
          <a:xfrm>
            <a:off x="1066800" y="3302000"/>
            <a:ext cx="2692400" cy="381000"/>
          </a:xfrm>
          <a:prstGeom prst="rect">
            <a:avLst/>
          </a:prstGeom>
          <a:noFill/>
          <a:ln w="12700" cap="flat" cmpd="sng">
            <a:noFill/>
            <a:prstDash val="solid"/>
            <a:round/>
          </a:ln>
        </p:spPr>
        <p:txBody>
          <a:bodyPr vert="horz" wrap="square" lIns="0" tIns="0" rIns="0" bIns="0" rtlCol="0" anchor="t" anchorCtr="0"/>
          <a:lstStyle/>
          <a:p>
            <a:pPr indent="0" algn="l">
              <a:lnSpc>
                <a:spcPct val="125000"/>
              </a:lnSpc>
              <a:defRPr/>
            </a:pPr>
            <a:r>
              <a:rPr lang="en-US" sz="1600" b="1" i="0" u="none" strike="noStrike">
                <a:solidFill>
                  <a:srgbClr val="FFFFFF"/>
                </a:solidFill>
                <a:latin typeface="Noto Sans SC" panose="020B0500000000000000" charset="-122"/>
                <a:ea typeface="Noto Sans SC" panose="020B0500000000000000" charset="-122"/>
                <a:cs typeface="Noto Sans SC" panose="020B0500000000000000" charset="-122"/>
                <a:sym typeface="Noto Sans SC" panose="020B0500000000000000" charset="-122"/>
              </a:rPr>
              <a:t>1. 问题是否真实且具体？</a:t>
            </a:r>
            <a:endParaRPr lang="en-US" sz="1100"/>
          </a:p>
        </p:txBody>
      </p:sp>
      <p:sp>
        <p:nvSpPr>
          <p:cNvPr id="9" name="AutoShape 9"/>
          <p:cNvSpPr/>
          <p:nvPr/>
        </p:nvSpPr>
        <p:spPr>
          <a:xfrm>
            <a:off x="1066800" y="3810000"/>
            <a:ext cx="2692400" cy="1905000"/>
          </a:xfrm>
          <a:prstGeom prst="rect">
            <a:avLst/>
          </a:prstGeom>
          <a:noFill/>
          <a:ln w="12700" cap="flat" cmpd="sng">
            <a:noFill/>
            <a:prstDash val="solid"/>
            <a:round/>
          </a:ln>
        </p:spPr>
        <p:txBody>
          <a:bodyPr vert="horz" wrap="square" lIns="0" tIns="0" rIns="0" bIns="0" rtlCol="0" anchor="t" anchorCtr="0"/>
          <a:lstStyle/>
          <a:p>
            <a:pPr indent="0" algn="l">
              <a:lnSpc>
                <a:spcPct val="125000"/>
              </a:lnSpc>
              <a:defRPr/>
            </a:pPr>
            <a:r>
              <a:rPr lang="en-US" sz="1300" b="0" i="0" u="none" strike="noStrike">
                <a:solidFill>
                  <a:srgbClr val="D1D5DB"/>
                </a:solidFill>
                <a:latin typeface="Noto Sans SC" panose="020B0500000000000000" charset="-122"/>
                <a:ea typeface="Noto Sans SC" panose="020B0500000000000000" charset="-122"/>
                <a:cs typeface="Noto Sans SC" panose="020B0500000000000000" charset="-122"/>
                <a:sym typeface="Noto Sans SC" panose="020B0500000000000000" charset="-122"/>
              </a:rPr>
              <a:t>你能说出谁在经历这个问题、频率多高、影响有多严重，以及他们目前是如何应对的。</a:t>
            </a:r>
            <a:endParaRPr lang="en-US" sz="1100"/>
          </a:p>
        </p:txBody>
      </p:sp>
      <p:sp>
        <p:nvSpPr>
          <p:cNvPr id="10" name="AutoShape 10"/>
          <p:cNvSpPr/>
          <p:nvPr/>
        </p:nvSpPr>
        <p:spPr>
          <a:xfrm>
            <a:off x="4445000" y="2413000"/>
            <a:ext cx="3302000" cy="3810000"/>
          </a:xfrm>
          <a:prstGeom prst="roundRect">
            <a:avLst>
              <a:gd name="adj" fmla="val 4615"/>
            </a:avLst>
          </a:prstGeom>
          <a:solidFill>
            <a:srgbClr val="FFFFFF">
              <a:alpha val="8000"/>
            </a:srgbClr>
          </a:solidFill>
          <a:ln w="12700" cap="flat" cmpd="sng">
            <a:solidFill>
              <a:srgbClr val="00E5FF">
                <a:alpha val="30000"/>
              </a:srgbClr>
            </a:solidFill>
            <a:prstDash val="solid"/>
            <a:round/>
          </a:ln>
        </p:spPr>
        <p:txBody>
          <a:bodyPr vert="horz" wrap="square" lIns="63500" tIns="63500" rIns="63500" bIns="63500" rtlCol="0" anchor="ctr"/>
          <a:lstStyle/>
          <a:p>
            <a:pPr algn="ctr">
              <a:defRPr/>
            </a:pPr>
          </a:p>
        </p:txBody>
      </p:sp>
      <p:pic>
        <p:nvPicPr>
          <p:cNvPr id="11" name="Picture 11"/>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4749800" y="2717800"/>
            <a:ext cx="457200" cy="457200"/>
          </a:xfrm>
          <a:prstGeom prst="rect">
            <a:avLst/>
          </a:prstGeom>
        </p:spPr>
      </p:pic>
      <p:sp>
        <p:nvSpPr>
          <p:cNvPr id="12" name="AutoShape 12"/>
          <p:cNvSpPr/>
          <p:nvPr/>
        </p:nvSpPr>
        <p:spPr>
          <a:xfrm>
            <a:off x="4749800" y="3302000"/>
            <a:ext cx="2692400" cy="381000"/>
          </a:xfrm>
          <a:prstGeom prst="rect">
            <a:avLst/>
          </a:prstGeom>
          <a:noFill/>
          <a:ln w="12700" cap="flat" cmpd="sng">
            <a:noFill/>
            <a:prstDash val="solid"/>
            <a:round/>
          </a:ln>
        </p:spPr>
        <p:txBody>
          <a:bodyPr vert="horz" wrap="square" lIns="0" tIns="0" rIns="0" bIns="0" rtlCol="0" anchor="t" anchorCtr="0"/>
          <a:lstStyle/>
          <a:p>
            <a:pPr indent="0" algn="l">
              <a:lnSpc>
                <a:spcPct val="125000"/>
              </a:lnSpc>
              <a:defRPr/>
            </a:pPr>
            <a:r>
              <a:rPr lang="en-US" sz="1600" b="1" i="0" u="none" strike="noStrike">
                <a:solidFill>
                  <a:srgbClr val="FFFFFF"/>
                </a:solidFill>
                <a:latin typeface="Noto Sans SC" panose="020B0500000000000000" charset="-122"/>
                <a:ea typeface="Noto Sans SC" panose="020B0500000000000000" charset="-122"/>
                <a:cs typeface="Noto Sans SC" panose="020B0500000000000000" charset="-122"/>
                <a:sym typeface="Noto Sans SC" panose="020B0500000000000000" charset="-122"/>
              </a:rPr>
              <a:t>2. 解决方案是否解决了实际问题？</a:t>
            </a:r>
            <a:endParaRPr lang="en-US" sz="1100"/>
          </a:p>
        </p:txBody>
      </p:sp>
      <p:sp>
        <p:nvSpPr>
          <p:cNvPr id="13" name="AutoShape 13"/>
          <p:cNvSpPr/>
          <p:nvPr/>
        </p:nvSpPr>
        <p:spPr>
          <a:xfrm>
            <a:off x="4749800" y="3810000"/>
            <a:ext cx="2692400" cy="1905000"/>
          </a:xfrm>
          <a:prstGeom prst="rect">
            <a:avLst/>
          </a:prstGeom>
          <a:noFill/>
          <a:ln w="12700" cap="flat" cmpd="sng">
            <a:noFill/>
            <a:prstDash val="solid"/>
            <a:round/>
          </a:ln>
        </p:spPr>
        <p:txBody>
          <a:bodyPr vert="horz" wrap="square" lIns="0" tIns="0" rIns="0" bIns="0" rtlCol="0" anchor="t" anchorCtr="0"/>
          <a:lstStyle/>
          <a:p>
            <a:pPr indent="0" algn="l">
              <a:lnSpc>
                <a:spcPct val="125000"/>
              </a:lnSpc>
              <a:defRPr/>
            </a:pPr>
            <a:r>
              <a:rPr lang="en-US" sz="1300" b="0" i="0" u="none" strike="noStrike">
                <a:solidFill>
                  <a:srgbClr val="D1D5DB"/>
                </a:solidFill>
                <a:latin typeface="Noto Sans SC" panose="020B0500000000000000" charset="-122"/>
                <a:ea typeface="Noto Sans SC" panose="020B0500000000000000" charset="-122"/>
                <a:cs typeface="Noto Sans SC" panose="020B0500000000000000" charset="-122"/>
                <a:sym typeface="Noto Sans SC" panose="020B0500000000000000" charset="-122"/>
              </a:rPr>
              <a:t>这个问题是验证过程揭示的真实问题，而非你最初假设的问题。确保你的方案直击痛点，而非自嗨。</a:t>
            </a:r>
            <a:endParaRPr lang="en-US" sz="1100"/>
          </a:p>
        </p:txBody>
      </p:sp>
      <p:sp>
        <p:nvSpPr>
          <p:cNvPr id="14" name="AutoShape 14"/>
          <p:cNvSpPr/>
          <p:nvPr/>
        </p:nvSpPr>
        <p:spPr>
          <a:xfrm>
            <a:off x="8128000" y="2413000"/>
            <a:ext cx="3302000" cy="3810000"/>
          </a:xfrm>
          <a:prstGeom prst="roundRect">
            <a:avLst>
              <a:gd name="adj" fmla="val 4615"/>
            </a:avLst>
          </a:prstGeom>
          <a:solidFill>
            <a:srgbClr val="FFFFFF">
              <a:alpha val="8000"/>
            </a:srgbClr>
          </a:solidFill>
          <a:ln w="12700" cap="flat" cmpd="sng">
            <a:solidFill>
              <a:srgbClr val="00E5FF">
                <a:alpha val="30000"/>
              </a:srgbClr>
            </a:solidFill>
            <a:prstDash val="solid"/>
            <a:round/>
          </a:ln>
        </p:spPr>
        <p:txBody>
          <a:bodyPr vert="horz" wrap="square" lIns="63500" tIns="63500" rIns="63500" bIns="63500" rtlCol="0" anchor="ctr"/>
          <a:lstStyle/>
          <a:p>
            <a:pPr algn="ctr">
              <a:defRPr/>
            </a:pPr>
          </a:p>
        </p:txBody>
      </p:sp>
      <p:pic>
        <p:nvPicPr>
          <p:cNvPr id="15" name="Picture 15"/>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8432800" y="2717800"/>
            <a:ext cx="457200" cy="457200"/>
          </a:xfrm>
          <a:prstGeom prst="rect">
            <a:avLst/>
          </a:prstGeom>
        </p:spPr>
      </p:pic>
      <p:sp>
        <p:nvSpPr>
          <p:cNvPr id="16" name="AutoShape 16"/>
          <p:cNvSpPr/>
          <p:nvPr/>
        </p:nvSpPr>
        <p:spPr>
          <a:xfrm>
            <a:off x="8432800" y="3302000"/>
            <a:ext cx="2692400" cy="381000"/>
          </a:xfrm>
          <a:prstGeom prst="rect">
            <a:avLst/>
          </a:prstGeom>
          <a:noFill/>
          <a:ln w="12700" cap="flat" cmpd="sng">
            <a:noFill/>
            <a:prstDash val="solid"/>
            <a:round/>
          </a:ln>
        </p:spPr>
        <p:txBody>
          <a:bodyPr vert="horz" wrap="square" lIns="0" tIns="0" rIns="0" bIns="0" rtlCol="0" anchor="t" anchorCtr="0"/>
          <a:lstStyle/>
          <a:p>
            <a:pPr indent="0" algn="l">
              <a:lnSpc>
                <a:spcPct val="125000"/>
              </a:lnSpc>
              <a:defRPr/>
            </a:pPr>
            <a:r>
              <a:rPr lang="en-US" sz="1600" b="1" i="0" u="none" strike="noStrike">
                <a:solidFill>
                  <a:srgbClr val="FFFFFF"/>
                </a:solidFill>
                <a:latin typeface="Noto Sans SC" panose="020B0500000000000000" charset="-122"/>
                <a:ea typeface="Noto Sans SC" panose="020B0500000000000000" charset="-122"/>
                <a:cs typeface="Noto Sans SC" panose="020B0500000000000000" charset="-122"/>
                <a:sym typeface="Noto Sans SC" panose="020B0500000000000000" charset="-122"/>
              </a:rPr>
              <a:t>3. 是否有足够的信号证明构建的合理性？</a:t>
            </a:r>
            <a:endParaRPr lang="en-US" sz="1100"/>
          </a:p>
        </p:txBody>
      </p:sp>
      <p:sp>
        <p:nvSpPr>
          <p:cNvPr id="17" name="AutoShape 17"/>
          <p:cNvSpPr/>
          <p:nvPr/>
        </p:nvSpPr>
        <p:spPr>
          <a:xfrm>
            <a:off x="8432800" y="3810000"/>
            <a:ext cx="2692400" cy="1905000"/>
          </a:xfrm>
          <a:prstGeom prst="rect">
            <a:avLst/>
          </a:prstGeom>
          <a:noFill/>
          <a:ln w="12700" cap="flat" cmpd="sng">
            <a:noFill/>
            <a:prstDash val="solid"/>
            <a:round/>
          </a:ln>
        </p:spPr>
        <p:txBody>
          <a:bodyPr vert="horz" wrap="square" lIns="0" tIns="0" rIns="0" bIns="0" rtlCol="0" anchor="t" anchorCtr="0"/>
          <a:lstStyle/>
          <a:p>
            <a:pPr indent="0" algn="l">
              <a:lnSpc>
                <a:spcPct val="125000"/>
              </a:lnSpc>
              <a:defRPr/>
            </a:pPr>
            <a:r>
              <a:rPr lang="en-US" sz="1300" b="0" i="0" u="none" strike="noStrike">
                <a:solidFill>
                  <a:srgbClr val="D1D5DB"/>
                </a:solidFill>
                <a:latin typeface="Noto Sans SC" panose="020B0500000000000000" charset="-122"/>
                <a:ea typeface="Noto Sans SC" panose="020B0500000000000000" charset="-122"/>
                <a:cs typeface="Noto Sans SC" panose="020B0500000000000000" charset="-122"/>
                <a:sym typeface="Noto Sans SC" panose="020B0500000000000000" charset="-122"/>
              </a:rPr>
              <a:t>不需要绝对的确定性（等待确定性本身就是一种失败），但需要足够的定性证据来证明投入MVP是一个理性的决定，而非盲目的信仰。</a:t>
            </a:r>
            <a:endParaRPr lang="en-US" sz="110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000000">
              <a:alpha val="80000"/>
            </a:srgbClr>
          </a:solidFill>
          <a:ln w="25400" cap="flat" cmpd="sng">
            <a:noFill/>
            <a:prstDash val="solid"/>
            <a:round/>
          </a:ln>
        </p:spPr>
        <p:txBody>
          <a:bodyPr vert="horz" wrap="square" lIns="63500" tIns="63500" rIns="63500" bIns="63500" rtlCol="0" anchor="ctr"/>
          <a:lstStyle/>
          <a:p>
            <a:pPr algn="ctr">
              <a:defRPr/>
            </a:pPr>
          </a:p>
        </p:txBody>
      </p:sp>
      <p:sp>
        <p:nvSpPr>
          <p:cNvPr id="3" name="AutoShape 3"/>
          <p:cNvSpPr/>
          <p:nvPr/>
        </p:nvSpPr>
        <p:spPr>
          <a:xfrm>
            <a:off x="762000" y="635000"/>
            <a:ext cx="7620000" cy="5715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3200" b="1" i="0" u="none" strike="noStrike">
                <a:solidFill>
                  <a:srgbClr val="FFFFFF"/>
                </a:solidFill>
                <a:latin typeface="Noto Sans SC" panose="020B0500000000000000" charset="-122"/>
                <a:ea typeface="Noto Sans SC" panose="020B0500000000000000" charset="-122"/>
                <a:cs typeface="Noto Sans SC" panose="020B0500000000000000" charset="-122"/>
                <a:sym typeface="Noto Sans SC" panose="020B0500000000000000" charset="-122"/>
              </a:rPr>
              <a:t>创意阶段的陷阱</a:t>
            </a:r>
            <a:endParaRPr lang="en-US" sz="1100"/>
          </a:p>
        </p:txBody>
      </p:sp>
      <p:sp>
        <p:nvSpPr>
          <p:cNvPr id="4" name="AutoShape 4"/>
          <p:cNvSpPr/>
          <p:nvPr/>
        </p:nvSpPr>
        <p:spPr>
          <a:xfrm>
            <a:off x="762000" y="1651000"/>
            <a:ext cx="3302000" cy="4572000"/>
          </a:xfrm>
          <a:prstGeom prst="roundRect">
            <a:avLst>
              <a:gd name="adj" fmla="val 4615"/>
            </a:avLst>
          </a:prstGeom>
          <a:solidFill>
            <a:srgbClr val="FFFFFF">
              <a:alpha val="8000"/>
            </a:srgbClr>
          </a:solidFill>
          <a:ln w="12700" cap="flat" cmpd="sng">
            <a:solidFill>
              <a:srgbClr val="00E5FF">
                <a:alpha val="30000"/>
              </a:srgbClr>
            </a:solidFill>
            <a:prstDash val="solid"/>
            <a:round/>
          </a:ln>
        </p:spPr>
        <p:txBody>
          <a:bodyPr vert="horz" wrap="square" lIns="63500" tIns="63500" rIns="63500" bIns="63500" rtlCol="0" anchor="ctr"/>
          <a:lstStyle/>
          <a:p>
            <a:pPr algn="ctr">
              <a:defRPr/>
            </a:pPr>
          </a:p>
        </p:txBody>
      </p:sp>
      <p:sp>
        <p:nvSpPr>
          <p:cNvPr id="5" name="AutoShape 5"/>
          <p:cNvSpPr/>
          <p:nvPr/>
        </p:nvSpPr>
        <p:spPr>
          <a:xfrm>
            <a:off x="762000" y="1651000"/>
            <a:ext cx="3302000" cy="50800"/>
          </a:xfrm>
          <a:prstGeom prst="roundRect">
            <a:avLst>
              <a:gd name="adj" fmla="val 0"/>
            </a:avLst>
          </a:prstGeom>
          <a:solidFill>
            <a:srgbClr val="00E5FF">
              <a:alpha val="100000"/>
            </a:srgbClr>
          </a:solidFill>
          <a:ln w="25400" cap="flat" cmpd="sng">
            <a:noFill/>
            <a:prstDash val="solid"/>
            <a:round/>
          </a:ln>
        </p:spPr>
        <p:txBody>
          <a:bodyPr vert="horz" wrap="square" lIns="63500" tIns="63500" rIns="63500" bIns="63500" rtlCol="0" anchor="ctr"/>
          <a:lstStyle/>
          <a:p>
            <a:pPr algn="ctr">
              <a:defRPr/>
            </a:pPr>
          </a:p>
        </p:txBody>
      </p:sp>
      <p:sp>
        <p:nvSpPr>
          <p:cNvPr id="6" name="AutoShape 6"/>
          <p:cNvSpPr/>
          <p:nvPr/>
        </p:nvSpPr>
        <p:spPr>
          <a:xfrm>
            <a:off x="1066800" y="1955800"/>
            <a:ext cx="609600" cy="609600"/>
          </a:xfrm>
          <a:prstGeom prst="ellipse">
            <a:avLst/>
          </a:prstGeom>
          <a:solidFill>
            <a:srgbClr val="00E5FF">
              <a:alpha val="15000"/>
            </a:srgbClr>
          </a:solidFill>
          <a:ln w="25400" cap="flat" cmpd="sng">
            <a:noFill/>
            <a:prstDash val="solid"/>
            <a:round/>
          </a:ln>
        </p:spPr>
        <p:txBody>
          <a:bodyPr vert="horz" wrap="square" lIns="63500" tIns="63500" rIns="63500" bIns="63500" rtlCol="0" anchor="ctr"/>
          <a:lstStyle/>
          <a:p>
            <a:pPr algn="ctr">
              <a:defRPr/>
            </a:pPr>
          </a:p>
        </p:txBody>
      </p:sp>
      <p:pic>
        <p:nvPicPr>
          <p:cNvPr id="7" name="Picture 7"/>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219200" y="2108200"/>
            <a:ext cx="304800" cy="304800"/>
          </a:xfrm>
          <a:prstGeom prst="rect">
            <a:avLst/>
          </a:prstGeom>
        </p:spPr>
      </p:pic>
      <p:sp>
        <p:nvSpPr>
          <p:cNvPr id="8" name="AutoShape 8"/>
          <p:cNvSpPr/>
          <p:nvPr/>
        </p:nvSpPr>
        <p:spPr>
          <a:xfrm>
            <a:off x="1066800" y="2692400"/>
            <a:ext cx="2692400" cy="381000"/>
          </a:xfrm>
          <a:prstGeom prst="rect">
            <a:avLst/>
          </a:prstGeom>
          <a:noFill/>
          <a:ln w="12700" cap="flat" cmpd="sng">
            <a:noFill/>
            <a:prstDash val="solid"/>
            <a:round/>
          </a:ln>
        </p:spPr>
        <p:txBody>
          <a:bodyPr vert="horz" wrap="square" lIns="0" tIns="0" rIns="0" bIns="0" rtlCol="0" anchor="t" anchorCtr="0"/>
          <a:lstStyle/>
          <a:p>
            <a:pPr indent="0" algn="l">
              <a:lnSpc>
                <a:spcPct val="125000"/>
              </a:lnSpc>
              <a:defRPr/>
            </a:pPr>
            <a:r>
              <a:rPr lang="en-US" sz="1800" b="1" i="0" u="none" strike="noStrike">
                <a:solidFill>
                  <a:srgbClr val="FFFFFF"/>
                </a:solidFill>
                <a:latin typeface="Noto Sans SC" panose="020B0500000000000000" charset="-122"/>
                <a:ea typeface="Noto Sans SC" panose="020B0500000000000000" charset="-122"/>
                <a:cs typeface="Noto Sans SC" panose="020B0500000000000000" charset="-122"/>
                <a:sym typeface="Noto Sans SC" panose="020B0500000000000000" charset="-122"/>
              </a:rPr>
              <a:t>将构建误认为验证</a:t>
            </a:r>
            <a:endParaRPr lang="en-US" sz="1100"/>
          </a:p>
        </p:txBody>
      </p:sp>
      <p:sp>
        <p:nvSpPr>
          <p:cNvPr id="9" name="AutoShape 9"/>
          <p:cNvSpPr/>
          <p:nvPr/>
        </p:nvSpPr>
        <p:spPr>
          <a:xfrm>
            <a:off x="1066800" y="3175000"/>
            <a:ext cx="2692400" cy="2794000"/>
          </a:xfrm>
          <a:prstGeom prst="rect">
            <a:avLst/>
          </a:prstGeom>
          <a:noFill/>
          <a:ln w="12700" cap="flat" cmpd="sng">
            <a:noFill/>
            <a:prstDash val="solid"/>
            <a:round/>
          </a:ln>
        </p:spPr>
        <p:txBody>
          <a:bodyPr vert="horz" wrap="square" lIns="0" tIns="0" rIns="0" bIns="0" rtlCol="0" anchor="t" anchorCtr="0"/>
          <a:lstStyle/>
          <a:p>
            <a:pPr indent="0" algn="l">
              <a:lnSpc>
                <a:spcPct val="117000"/>
              </a:lnSpc>
              <a:defRPr/>
            </a:pPr>
            <a:r>
              <a:rPr lang="en-US" sz="1200" b="0" i="0" u="none" strike="noStrike">
                <a:solidFill>
                  <a:srgbClr val="E5E7EB"/>
                </a:solidFill>
                <a:latin typeface="Noto Sans SC" panose="020B0500000000000000" charset="-122"/>
                <a:ea typeface="Noto Sans SC" panose="020B0500000000000000" charset="-122"/>
                <a:cs typeface="Noto Sans SC" panose="020B0500000000000000" charset="-122"/>
                <a:sym typeface="Noto Sans SC" panose="020B0500000000000000" charset="-122"/>
              </a:rPr>
              <a:t>AI极大地降低了构建门槛，容易让创始人跳过关键的验证工作，直接进入开发阶段。</a:t>
            </a:r>
            <a:endParaRPr lang="en-US" sz="1100"/>
          </a:p>
          <a:p>
            <a:pPr indent="0" algn="l">
              <a:lnSpc>
                <a:spcPct val="117000"/>
              </a:lnSpc>
            </a:pPr>
            <a:br>
              <a:rPr lang="en-US" sz="1200" b="0" i="0" u="none" strike="noStrike">
                <a:solidFill>
                  <a:srgbClr val="1F2329"/>
                </a:solidFill>
                <a:latin typeface="Noto Sans SC" panose="020B0500000000000000" charset="-122"/>
                <a:ea typeface="Noto Sans SC" panose="020B0500000000000000" charset="-122"/>
                <a:cs typeface="Noto Sans SC" panose="020B0500000000000000" charset="-122"/>
                <a:sym typeface="Noto Sans SC" panose="020B0500000000000000" charset="-122"/>
              </a:rPr>
            </a:br>
            <a:endParaRPr lang="en-US" sz="1200" b="0" i="0" u="none" strike="noStrike">
              <a:solidFill>
                <a:srgbClr val="1F2329"/>
              </a:solidFill>
              <a:latin typeface="Noto Sans SC" panose="020B0500000000000000" charset="-122"/>
              <a:ea typeface="Noto Sans SC" panose="020B0500000000000000" charset="-122"/>
              <a:cs typeface="Noto Sans SC" panose="020B0500000000000000" charset="-122"/>
              <a:sym typeface="Noto Sans SC" panose="020B0500000000000000" charset="-122"/>
            </a:endParaRPr>
          </a:p>
          <a:p>
            <a:pPr indent="0" algn="l">
              <a:lnSpc>
                <a:spcPct val="117000"/>
              </a:lnSpc>
            </a:pPr>
            <a:r>
              <a:rPr lang="en-US" sz="1200" b="1" i="0" u="none" strike="noStrike">
                <a:solidFill>
                  <a:srgbClr val="00E5FF"/>
                </a:solidFill>
                <a:latin typeface="Noto Sans SC" panose="020B0500000000000000" charset="-122"/>
                <a:ea typeface="Noto Sans SC" panose="020B0500000000000000" charset="-122"/>
                <a:cs typeface="Noto Sans SC" panose="020B0500000000000000" charset="-122"/>
                <a:sym typeface="Noto Sans SC" panose="020B0500000000000000" charset="-122"/>
              </a:rPr>
              <a:t>数据警示：</a:t>
            </a:r>
            <a:r>
              <a:rPr lang="en-US" sz="1200" b="0" i="0" u="none" strike="noStrike">
                <a:solidFill>
                  <a:srgbClr val="D1D5DB"/>
                </a:solidFill>
                <a:latin typeface="Noto Sans SC" panose="020B0500000000000000" charset="-122"/>
                <a:ea typeface="Noto Sans SC" panose="020B0500000000000000" charset="-122"/>
                <a:cs typeface="Noto Sans SC" panose="020B0500000000000000" charset="-122"/>
                <a:sym typeface="Noto Sans SC" panose="020B0500000000000000" charset="-122"/>
              </a:rPr>
              <a:t>42%的创业公司失败是因为“构建了没人想要的东西”，AI可能会加剧这一问题。</a:t>
            </a:r>
            <a:endParaRPr lang="en-US" sz="1200" b="0" i="0" u="none" strike="noStrike">
              <a:solidFill>
                <a:srgbClr val="D1D5DB"/>
              </a:solidFill>
              <a:latin typeface="Noto Sans SC" panose="020B0500000000000000" charset="-122"/>
              <a:ea typeface="Noto Sans SC" panose="020B0500000000000000" charset="-122"/>
              <a:cs typeface="Noto Sans SC" panose="020B0500000000000000" charset="-122"/>
              <a:sym typeface="Noto Sans SC" panose="020B0500000000000000" charset="-122"/>
            </a:endParaRPr>
          </a:p>
          <a:p>
            <a:pPr indent="0" algn="l">
              <a:lnSpc>
                <a:spcPct val="117000"/>
              </a:lnSpc>
            </a:pPr>
            <a:br>
              <a:rPr lang="en-US" sz="1200" b="0" i="0" u="none" strike="noStrike">
                <a:solidFill>
                  <a:srgbClr val="1F2329"/>
                </a:solidFill>
                <a:latin typeface="Noto Sans SC" panose="020B0500000000000000" charset="-122"/>
                <a:ea typeface="Noto Sans SC" panose="020B0500000000000000" charset="-122"/>
                <a:cs typeface="Noto Sans SC" panose="020B0500000000000000" charset="-122"/>
                <a:sym typeface="Noto Sans SC" panose="020B0500000000000000" charset="-122"/>
              </a:rPr>
            </a:br>
            <a:endParaRPr lang="en-US" sz="1200" b="0" i="0" u="none" strike="noStrike">
              <a:solidFill>
                <a:srgbClr val="1F2329"/>
              </a:solidFill>
              <a:latin typeface="Noto Sans SC" panose="020B0500000000000000" charset="-122"/>
              <a:ea typeface="Noto Sans SC" panose="020B0500000000000000" charset="-122"/>
              <a:cs typeface="Noto Sans SC" panose="020B0500000000000000" charset="-122"/>
              <a:sym typeface="Noto Sans SC" panose="020B0500000000000000" charset="-122"/>
            </a:endParaRPr>
          </a:p>
          <a:p>
            <a:pPr indent="0" algn="l">
              <a:lnSpc>
                <a:spcPct val="117000"/>
              </a:lnSpc>
            </a:pPr>
            <a:r>
              <a:rPr lang="en-US" sz="1200" b="0" i="0" u="none" strike="noStrike">
                <a:solidFill>
                  <a:srgbClr val="9CA3AF"/>
                </a:solidFill>
                <a:latin typeface="Noto Sans SC" panose="020B0500000000000000" charset="-122"/>
                <a:ea typeface="Noto Sans SC" panose="020B0500000000000000" charset="-122"/>
                <a:cs typeface="Noto Sans SC" panose="020B0500000000000000" charset="-122"/>
                <a:sym typeface="Noto Sans SC" panose="020B0500000000000000" charset="-122"/>
              </a:rPr>
              <a:t>误区：认为“有一个可用的原型”就等于“验证了想法”。</a:t>
            </a:r>
            <a:endParaRPr lang="en-US" sz="1200" b="0" i="0" u="none" strike="noStrike">
              <a:solidFill>
                <a:srgbClr val="9CA3AF"/>
              </a:solidFill>
              <a:latin typeface="Noto Sans SC" panose="020B0500000000000000" charset="-122"/>
              <a:ea typeface="Noto Sans SC" panose="020B0500000000000000" charset="-122"/>
              <a:cs typeface="Noto Sans SC" panose="020B0500000000000000" charset="-122"/>
              <a:sym typeface="Noto Sans SC" panose="020B0500000000000000" charset="-122"/>
            </a:endParaRPr>
          </a:p>
        </p:txBody>
      </p:sp>
      <p:sp>
        <p:nvSpPr>
          <p:cNvPr id="10" name="AutoShape 10"/>
          <p:cNvSpPr/>
          <p:nvPr/>
        </p:nvSpPr>
        <p:spPr>
          <a:xfrm>
            <a:off x="4445000" y="1651000"/>
            <a:ext cx="3302000" cy="4572000"/>
          </a:xfrm>
          <a:prstGeom prst="roundRect">
            <a:avLst>
              <a:gd name="adj" fmla="val 4615"/>
            </a:avLst>
          </a:prstGeom>
          <a:solidFill>
            <a:srgbClr val="FFFFFF">
              <a:alpha val="8000"/>
            </a:srgbClr>
          </a:solidFill>
          <a:ln w="12700" cap="flat" cmpd="sng">
            <a:solidFill>
              <a:srgbClr val="00E5FF">
                <a:alpha val="30000"/>
              </a:srgbClr>
            </a:solidFill>
            <a:prstDash val="solid"/>
            <a:round/>
          </a:ln>
        </p:spPr>
        <p:txBody>
          <a:bodyPr vert="horz" wrap="square" lIns="63500" tIns="63500" rIns="63500" bIns="63500" rtlCol="0" anchor="ctr"/>
          <a:lstStyle/>
          <a:p>
            <a:pPr algn="ctr">
              <a:defRPr/>
            </a:pPr>
          </a:p>
        </p:txBody>
      </p:sp>
      <p:sp>
        <p:nvSpPr>
          <p:cNvPr id="11" name="AutoShape 11"/>
          <p:cNvSpPr/>
          <p:nvPr/>
        </p:nvSpPr>
        <p:spPr>
          <a:xfrm>
            <a:off x="4445000" y="1651000"/>
            <a:ext cx="3302000" cy="50800"/>
          </a:xfrm>
          <a:prstGeom prst="roundRect">
            <a:avLst>
              <a:gd name="adj" fmla="val 0"/>
            </a:avLst>
          </a:prstGeom>
          <a:solidFill>
            <a:srgbClr val="00E5FF">
              <a:alpha val="100000"/>
            </a:srgbClr>
          </a:solidFill>
          <a:ln w="25400" cap="flat" cmpd="sng">
            <a:noFill/>
            <a:prstDash val="solid"/>
            <a:round/>
          </a:ln>
        </p:spPr>
        <p:txBody>
          <a:bodyPr vert="horz" wrap="square" lIns="63500" tIns="63500" rIns="63500" bIns="63500" rtlCol="0" anchor="ctr"/>
          <a:lstStyle/>
          <a:p>
            <a:pPr algn="ctr">
              <a:defRPr/>
            </a:pPr>
          </a:p>
        </p:txBody>
      </p:sp>
      <p:sp>
        <p:nvSpPr>
          <p:cNvPr id="12" name="AutoShape 12"/>
          <p:cNvSpPr/>
          <p:nvPr/>
        </p:nvSpPr>
        <p:spPr>
          <a:xfrm>
            <a:off x="4749800" y="1955800"/>
            <a:ext cx="609600" cy="609600"/>
          </a:xfrm>
          <a:prstGeom prst="ellipse">
            <a:avLst/>
          </a:prstGeom>
          <a:solidFill>
            <a:srgbClr val="00E5FF">
              <a:alpha val="15000"/>
            </a:srgbClr>
          </a:solidFill>
          <a:ln w="25400" cap="flat" cmpd="sng">
            <a:noFill/>
            <a:prstDash val="solid"/>
            <a:round/>
          </a:ln>
        </p:spPr>
        <p:txBody>
          <a:bodyPr vert="horz" wrap="square" lIns="63500" tIns="63500" rIns="63500" bIns="63500" rtlCol="0" anchor="ctr"/>
          <a:lstStyle/>
          <a:p>
            <a:pPr algn="ctr">
              <a:defRPr/>
            </a:pPr>
          </a:p>
        </p:txBody>
      </p:sp>
      <p:pic>
        <p:nvPicPr>
          <p:cNvPr id="13" name="Picture 13"/>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4902200" y="2108200"/>
            <a:ext cx="304800" cy="304800"/>
          </a:xfrm>
          <a:prstGeom prst="rect">
            <a:avLst/>
          </a:prstGeom>
        </p:spPr>
      </p:pic>
      <p:sp>
        <p:nvSpPr>
          <p:cNvPr id="14" name="AutoShape 14"/>
          <p:cNvSpPr/>
          <p:nvPr/>
        </p:nvSpPr>
        <p:spPr>
          <a:xfrm>
            <a:off x="4749800" y="2692400"/>
            <a:ext cx="2692400" cy="381000"/>
          </a:xfrm>
          <a:prstGeom prst="rect">
            <a:avLst/>
          </a:prstGeom>
          <a:noFill/>
          <a:ln w="12700" cap="flat" cmpd="sng">
            <a:noFill/>
            <a:prstDash val="solid"/>
            <a:round/>
          </a:ln>
        </p:spPr>
        <p:txBody>
          <a:bodyPr vert="horz" wrap="square" lIns="0" tIns="0" rIns="0" bIns="0" rtlCol="0" anchor="t" anchorCtr="0"/>
          <a:lstStyle/>
          <a:p>
            <a:pPr indent="0" algn="l">
              <a:lnSpc>
                <a:spcPct val="125000"/>
              </a:lnSpc>
              <a:defRPr/>
            </a:pPr>
            <a:r>
              <a:rPr lang="en-US" sz="1800" b="1" i="0" u="none" strike="noStrike">
                <a:solidFill>
                  <a:srgbClr val="FFFFFF"/>
                </a:solidFill>
                <a:latin typeface="Noto Sans SC" panose="020B0500000000000000" charset="-122"/>
                <a:ea typeface="Noto Sans SC" panose="020B0500000000000000" charset="-122"/>
                <a:cs typeface="Noto Sans SC" panose="020B0500000000000000" charset="-122"/>
                <a:sym typeface="Noto Sans SC" panose="020B0500000000000000" charset="-122"/>
              </a:rPr>
              <a:t>过早规模化陷阱</a:t>
            </a:r>
            <a:endParaRPr lang="en-US" sz="1100"/>
          </a:p>
        </p:txBody>
      </p:sp>
      <p:sp>
        <p:nvSpPr>
          <p:cNvPr id="15" name="AutoShape 15"/>
          <p:cNvSpPr/>
          <p:nvPr/>
        </p:nvSpPr>
        <p:spPr>
          <a:xfrm>
            <a:off x="4749800" y="3175000"/>
            <a:ext cx="2692400" cy="2794000"/>
          </a:xfrm>
          <a:prstGeom prst="rect">
            <a:avLst/>
          </a:prstGeom>
          <a:noFill/>
          <a:ln w="12700" cap="flat" cmpd="sng">
            <a:noFill/>
            <a:prstDash val="solid"/>
            <a:round/>
          </a:ln>
        </p:spPr>
        <p:txBody>
          <a:bodyPr vert="horz" wrap="square" lIns="0" tIns="0" rIns="0" bIns="0" rtlCol="0" anchor="t" anchorCtr="0"/>
          <a:lstStyle/>
          <a:p>
            <a:pPr indent="0" algn="l">
              <a:lnSpc>
                <a:spcPct val="117000"/>
              </a:lnSpc>
              <a:defRPr/>
            </a:pPr>
            <a:r>
              <a:rPr lang="en-US" sz="1200" b="0" i="0" u="none" strike="noStrike">
                <a:solidFill>
                  <a:srgbClr val="E5E7EB"/>
                </a:solidFill>
                <a:latin typeface="Noto Sans SC" panose="020B0500000000000000" charset="-122"/>
                <a:ea typeface="Noto Sans SC" panose="020B0500000000000000" charset="-122"/>
                <a:cs typeface="Noto Sans SC" panose="020B0500000000000000" charset="-122"/>
                <a:sym typeface="Noto Sans SC" panose="020B0500000000000000" charset="-122"/>
              </a:rPr>
              <a:t>当构建变得轻而易举时，你可能会在业务需求真正形成之前，就过度扩展执行资源。</a:t>
            </a:r>
            <a:endParaRPr lang="en-US" sz="1100"/>
          </a:p>
          <a:p>
            <a:pPr indent="0" algn="l">
              <a:lnSpc>
                <a:spcPct val="117000"/>
              </a:lnSpc>
            </a:pPr>
            <a:br>
              <a:rPr lang="en-US" sz="1200" b="0" i="0" u="none" strike="noStrike">
                <a:solidFill>
                  <a:srgbClr val="1F2329"/>
                </a:solidFill>
                <a:latin typeface="Noto Sans SC" panose="020B0500000000000000" charset="-122"/>
                <a:ea typeface="Noto Sans SC" panose="020B0500000000000000" charset="-122"/>
                <a:cs typeface="Noto Sans SC" panose="020B0500000000000000" charset="-122"/>
                <a:sym typeface="Noto Sans SC" panose="020B0500000000000000" charset="-122"/>
              </a:rPr>
            </a:br>
            <a:endParaRPr lang="en-US" sz="1200" b="0" i="0" u="none" strike="noStrike">
              <a:solidFill>
                <a:srgbClr val="1F2329"/>
              </a:solidFill>
              <a:latin typeface="Noto Sans SC" panose="020B0500000000000000" charset="-122"/>
              <a:ea typeface="Noto Sans SC" panose="020B0500000000000000" charset="-122"/>
              <a:cs typeface="Noto Sans SC" panose="020B0500000000000000" charset="-122"/>
              <a:sym typeface="Noto Sans SC" panose="020B0500000000000000" charset="-122"/>
            </a:endParaRPr>
          </a:p>
          <a:p>
            <a:pPr indent="0" algn="l">
              <a:lnSpc>
                <a:spcPct val="117000"/>
              </a:lnSpc>
            </a:pPr>
            <a:r>
              <a:rPr lang="en-US" sz="1200" b="0" i="0" u="none" strike="noStrike">
                <a:solidFill>
                  <a:srgbClr val="D1D5DB"/>
                </a:solidFill>
                <a:latin typeface="Noto Sans SC" panose="020B0500000000000000" charset="-122"/>
                <a:ea typeface="Noto Sans SC" panose="020B0500000000000000" charset="-122"/>
                <a:cs typeface="Noto Sans SC" panose="020B0500000000000000" charset="-122"/>
                <a:sym typeface="Noto Sans SC" panose="020B0500000000000000" charset="-122"/>
              </a:rPr>
              <a:t>本质上，这是在真正验证问题与解决方案契合度之前，就过早承诺了一条固定的产品路径。</a:t>
            </a:r>
            <a:endParaRPr lang="en-US" sz="1200" b="0" i="0" u="none" strike="noStrike">
              <a:solidFill>
                <a:srgbClr val="D1D5DB"/>
              </a:solidFill>
              <a:latin typeface="Noto Sans SC" panose="020B0500000000000000" charset="-122"/>
              <a:ea typeface="Noto Sans SC" panose="020B0500000000000000" charset="-122"/>
              <a:cs typeface="Noto Sans SC" panose="020B0500000000000000" charset="-122"/>
              <a:sym typeface="Noto Sans SC" panose="020B0500000000000000" charset="-122"/>
            </a:endParaRPr>
          </a:p>
          <a:p>
            <a:pPr indent="0" algn="l">
              <a:lnSpc>
                <a:spcPct val="117000"/>
              </a:lnSpc>
            </a:pPr>
            <a:br>
              <a:rPr lang="en-US" sz="1200" b="0" i="0" u="none" strike="noStrike">
                <a:solidFill>
                  <a:srgbClr val="1F2329"/>
                </a:solidFill>
                <a:latin typeface="Noto Sans SC" panose="020B0500000000000000" charset="-122"/>
                <a:ea typeface="Noto Sans SC" panose="020B0500000000000000" charset="-122"/>
                <a:cs typeface="Noto Sans SC" panose="020B0500000000000000" charset="-122"/>
                <a:sym typeface="Noto Sans SC" panose="020B0500000000000000" charset="-122"/>
              </a:rPr>
            </a:br>
            <a:endParaRPr lang="en-US" sz="1200" b="0" i="0" u="none" strike="noStrike">
              <a:solidFill>
                <a:srgbClr val="1F2329"/>
              </a:solidFill>
              <a:latin typeface="Noto Sans SC" panose="020B0500000000000000" charset="-122"/>
              <a:ea typeface="Noto Sans SC" panose="020B0500000000000000" charset="-122"/>
              <a:cs typeface="Noto Sans SC" panose="020B0500000000000000" charset="-122"/>
              <a:sym typeface="Noto Sans SC" panose="020B0500000000000000" charset="-122"/>
            </a:endParaRPr>
          </a:p>
          <a:p>
            <a:pPr indent="0" algn="l">
              <a:lnSpc>
                <a:spcPct val="117000"/>
              </a:lnSpc>
            </a:pPr>
            <a:r>
              <a:rPr lang="en-US" sz="1200" b="1" i="0" u="none" strike="noStrike">
                <a:solidFill>
                  <a:srgbClr val="00E5FF"/>
                </a:solidFill>
                <a:latin typeface="Noto Sans SC" panose="020B0500000000000000" charset="-122"/>
                <a:ea typeface="Noto Sans SC" panose="020B0500000000000000" charset="-122"/>
                <a:cs typeface="Noto Sans SC" panose="020B0500000000000000" charset="-122"/>
                <a:sym typeface="Noto Sans SC" panose="020B0500000000000000" charset="-122"/>
              </a:rPr>
              <a:t>核心原则：</a:t>
            </a:r>
            <a:r>
              <a:rPr lang="en-US" sz="1200" b="0" i="0" u="none" strike="noStrike">
                <a:solidFill>
                  <a:srgbClr val="D1D5DB"/>
                </a:solidFill>
                <a:latin typeface="Noto Sans SC" panose="020B0500000000000000" charset="-122"/>
                <a:ea typeface="Noto Sans SC" panose="020B0500000000000000" charset="-122"/>
                <a:cs typeface="Noto Sans SC" panose="020B0500000000000000" charset="-122"/>
                <a:sym typeface="Noto Sans SC" panose="020B0500000000000000" charset="-122"/>
              </a:rPr>
              <a:t>保持你的认知迭代速度，始终领先于产品构建速度。</a:t>
            </a:r>
            <a:endParaRPr lang="en-US" sz="1200" b="0" i="0" u="none" strike="noStrike">
              <a:solidFill>
                <a:srgbClr val="D1D5DB"/>
              </a:solidFill>
              <a:latin typeface="Noto Sans SC" panose="020B0500000000000000" charset="-122"/>
              <a:ea typeface="Noto Sans SC" panose="020B0500000000000000" charset="-122"/>
              <a:cs typeface="Noto Sans SC" panose="020B0500000000000000" charset="-122"/>
              <a:sym typeface="Noto Sans SC" panose="020B0500000000000000" charset="-122"/>
            </a:endParaRPr>
          </a:p>
        </p:txBody>
      </p:sp>
      <p:sp>
        <p:nvSpPr>
          <p:cNvPr id="16" name="AutoShape 16"/>
          <p:cNvSpPr/>
          <p:nvPr/>
        </p:nvSpPr>
        <p:spPr>
          <a:xfrm>
            <a:off x="8128000" y="1651000"/>
            <a:ext cx="3302000" cy="4572000"/>
          </a:xfrm>
          <a:prstGeom prst="roundRect">
            <a:avLst>
              <a:gd name="adj" fmla="val 4615"/>
            </a:avLst>
          </a:prstGeom>
          <a:solidFill>
            <a:srgbClr val="FFFFFF">
              <a:alpha val="8000"/>
            </a:srgbClr>
          </a:solidFill>
          <a:ln w="12700" cap="flat" cmpd="sng">
            <a:solidFill>
              <a:srgbClr val="00E5FF">
                <a:alpha val="30000"/>
              </a:srgbClr>
            </a:solidFill>
            <a:prstDash val="solid"/>
            <a:round/>
          </a:ln>
        </p:spPr>
        <p:txBody>
          <a:bodyPr vert="horz" wrap="square" lIns="63500" tIns="63500" rIns="63500" bIns="63500" rtlCol="0" anchor="ctr"/>
          <a:lstStyle/>
          <a:p>
            <a:pPr algn="ctr">
              <a:defRPr/>
            </a:pPr>
          </a:p>
        </p:txBody>
      </p:sp>
      <p:sp>
        <p:nvSpPr>
          <p:cNvPr id="17" name="AutoShape 17"/>
          <p:cNvSpPr/>
          <p:nvPr/>
        </p:nvSpPr>
        <p:spPr>
          <a:xfrm>
            <a:off x="8128000" y="1651000"/>
            <a:ext cx="3302000" cy="50800"/>
          </a:xfrm>
          <a:prstGeom prst="roundRect">
            <a:avLst>
              <a:gd name="adj" fmla="val 0"/>
            </a:avLst>
          </a:prstGeom>
          <a:solidFill>
            <a:srgbClr val="00E5FF">
              <a:alpha val="100000"/>
            </a:srgbClr>
          </a:solidFill>
          <a:ln w="25400" cap="flat" cmpd="sng">
            <a:noFill/>
            <a:prstDash val="solid"/>
            <a:round/>
          </a:ln>
        </p:spPr>
        <p:txBody>
          <a:bodyPr vert="horz" wrap="square" lIns="63500" tIns="63500" rIns="63500" bIns="63500" rtlCol="0" anchor="ctr"/>
          <a:lstStyle/>
          <a:p>
            <a:pPr algn="ctr">
              <a:defRPr/>
            </a:pPr>
          </a:p>
        </p:txBody>
      </p:sp>
      <p:sp>
        <p:nvSpPr>
          <p:cNvPr id="18" name="AutoShape 18"/>
          <p:cNvSpPr/>
          <p:nvPr/>
        </p:nvSpPr>
        <p:spPr>
          <a:xfrm>
            <a:off x="8432800" y="1955800"/>
            <a:ext cx="609600" cy="609600"/>
          </a:xfrm>
          <a:prstGeom prst="ellipse">
            <a:avLst/>
          </a:prstGeom>
          <a:solidFill>
            <a:srgbClr val="00E5FF">
              <a:alpha val="15000"/>
            </a:srgbClr>
          </a:solidFill>
          <a:ln w="25400" cap="flat" cmpd="sng">
            <a:noFill/>
            <a:prstDash val="solid"/>
            <a:round/>
          </a:ln>
        </p:spPr>
        <p:txBody>
          <a:bodyPr vert="horz" wrap="square" lIns="63500" tIns="63500" rIns="63500" bIns="63500" rtlCol="0" anchor="ctr"/>
          <a:lstStyle/>
          <a:p>
            <a:pPr algn="ctr">
              <a:defRPr/>
            </a:pPr>
          </a:p>
        </p:txBody>
      </p:sp>
      <p:pic>
        <p:nvPicPr>
          <p:cNvPr id="19" name="Picture 19"/>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8585200" y="2108200"/>
            <a:ext cx="304800" cy="304800"/>
          </a:xfrm>
          <a:prstGeom prst="rect">
            <a:avLst/>
          </a:prstGeom>
        </p:spPr>
      </p:pic>
      <p:sp>
        <p:nvSpPr>
          <p:cNvPr id="20" name="AutoShape 20"/>
          <p:cNvSpPr/>
          <p:nvPr/>
        </p:nvSpPr>
        <p:spPr>
          <a:xfrm>
            <a:off x="8432800" y="2692400"/>
            <a:ext cx="2692400" cy="381000"/>
          </a:xfrm>
          <a:prstGeom prst="rect">
            <a:avLst/>
          </a:prstGeom>
          <a:noFill/>
          <a:ln w="12700" cap="flat" cmpd="sng">
            <a:noFill/>
            <a:prstDash val="solid"/>
            <a:round/>
          </a:ln>
        </p:spPr>
        <p:txBody>
          <a:bodyPr vert="horz" wrap="square" lIns="0" tIns="0" rIns="0" bIns="0" rtlCol="0" anchor="t" anchorCtr="0"/>
          <a:lstStyle/>
          <a:p>
            <a:pPr indent="0" algn="l">
              <a:lnSpc>
                <a:spcPct val="125000"/>
              </a:lnSpc>
              <a:defRPr/>
            </a:pPr>
            <a:r>
              <a:rPr lang="en-US" sz="1800" b="1" i="0" u="none" strike="noStrike">
                <a:solidFill>
                  <a:srgbClr val="FFFFFF"/>
                </a:solidFill>
                <a:latin typeface="Noto Sans SC" panose="020B0500000000000000" charset="-122"/>
                <a:ea typeface="Noto Sans SC" panose="020B0500000000000000" charset="-122"/>
                <a:cs typeface="Noto Sans SC" panose="020B0500000000000000" charset="-122"/>
                <a:sym typeface="Noto Sans SC" panose="020B0500000000000000" charset="-122"/>
              </a:rPr>
              <a:t>客观性丧失风险</a:t>
            </a:r>
            <a:endParaRPr lang="en-US" sz="1100"/>
          </a:p>
        </p:txBody>
      </p:sp>
      <p:sp>
        <p:nvSpPr>
          <p:cNvPr id="21" name="AutoShape 21"/>
          <p:cNvSpPr/>
          <p:nvPr/>
        </p:nvSpPr>
        <p:spPr>
          <a:xfrm>
            <a:off x="8432800" y="3175000"/>
            <a:ext cx="2692400" cy="2794000"/>
          </a:xfrm>
          <a:prstGeom prst="rect">
            <a:avLst/>
          </a:prstGeom>
          <a:noFill/>
          <a:ln w="12700" cap="flat" cmpd="sng">
            <a:noFill/>
            <a:prstDash val="solid"/>
            <a:round/>
          </a:ln>
        </p:spPr>
        <p:txBody>
          <a:bodyPr vert="horz" wrap="square" lIns="0" tIns="0" rIns="0" bIns="0" rtlCol="0" anchor="t" anchorCtr="0"/>
          <a:lstStyle/>
          <a:p>
            <a:pPr indent="0" algn="l">
              <a:lnSpc>
                <a:spcPct val="117000"/>
              </a:lnSpc>
              <a:defRPr/>
            </a:pPr>
            <a:r>
              <a:rPr lang="en-US" sz="1200" b="0" i="0" u="none" strike="noStrike">
                <a:solidFill>
                  <a:srgbClr val="E5E7EB"/>
                </a:solidFill>
                <a:latin typeface="Noto Sans SC" panose="020B0500000000000000" charset="-122"/>
                <a:ea typeface="Noto Sans SC" panose="020B0500000000000000" charset="-122"/>
                <a:cs typeface="Noto Sans SC" panose="020B0500000000000000" charset="-122"/>
                <a:sym typeface="Noto Sans SC" panose="020B0500000000000000" charset="-122"/>
              </a:rPr>
              <a:t>AI可能成为确认偏误的“研究引擎”，帮助你只筛选和强化支持自己想法的证据，导致决策偏差。</a:t>
            </a:r>
            <a:endParaRPr lang="en-US" sz="1100"/>
          </a:p>
          <a:p>
            <a:pPr indent="0" algn="l">
              <a:lnSpc>
                <a:spcPct val="117000"/>
              </a:lnSpc>
            </a:pPr>
            <a:br>
              <a:rPr lang="en-US" sz="1200" b="0" i="0" u="none" strike="noStrike">
                <a:solidFill>
                  <a:srgbClr val="1F2329"/>
                </a:solidFill>
                <a:latin typeface="Noto Sans SC" panose="020B0500000000000000" charset="-122"/>
                <a:ea typeface="Noto Sans SC" panose="020B0500000000000000" charset="-122"/>
                <a:cs typeface="Noto Sans SC" panose="020B0500000000000000" charset="-122"/>
                <a:sym typeface="Noto Sans SC" panose="020B0500000000000000" charset="-122"/>
              </a:rPr>
            </a:br>
            <a:endParaRPr lang="en-US" sz="1200" b="0" i="0" u="none" strike="noStrike">
              <a:solidFill>
                <a:srgbClr val="1F2329"/>
              </a:solidFill>
              <a:latin typeface="Noto Sans SC" panose="020B0500000000000000" charset="-122"/>
              <a:ea typeface="Noto Sans SC" panose="020B0500000000000000" charset="-122"/>
              <a:cs typeface="Noto Sans SC" panose="020B0500000000000000" charset="-122"/>
              <a:sym typeface="Noto Sans SC" panose="020B0500000000000000" charset="-122"/>
            </a:endParaRPr>
          </a:p>
          <a:p>
            <a:pPr indent="0" algn="l">
              <a:lnSpc>
                <a:spcPct val="117000"/>
              </a:lnSpc>
            </a:pPr>
            <a:r>
              <a:rPr lang="en-US" sz="1200" b="0" i="0" u="none" strike="noStrike">
                <a:solidFill>
                  <a:srgbClr val="D1D5DB"/>
                </a:solidFill>
                <a:latin typeface="Noto Sans SC" panose="020B0500000000000000" charset="-122"/>
                <a:ea typeface="Noto Sans SC" panose="020B0500000000000000" charset="-122"/>
                <a:cs typeface="Noto Sans SC" panose="020B0500000000000000" charset="-122"/>
                <a:sym typeface="Noto Sans SC" panose="020B0500000000000000" charset="-122"/>
              </a:rPr>
              <a:t>我们需要警惕这种“自证预言”的陷阱，避免在信息茧房中越陷越深。</a:t>
            </a:r>
            <a:endParaRPr lang="en-US" sz="1200" b="0" i="0" u="none" strike="noStrike">
              <a:solidFill>
                <a:srgbClr val="D1D5DB"/>
              </a:solidFill>
              <a:latin typeface="Noto Sans SC" panose="020B0500000000000000" charset="-122"/>
              <a:ea typeface="Noto Sans SC" panose="020B0500000000000000" charset="-122"/>
              <a:cs typeface="Noto Sans SC" panose="020B0500000000000000" charset="-122"/>
              <a:sym typeface="Noto Sans SC" panose="020B0500000000000000" charset="-122"/>
            </a:endParaRPr>
          </a:p>
          <a:p>
            <a:pPr indent="0" algn="l">
              <a:lnSpc>
                <a:spcPct val="117000"/>
              </a:lnSpc>
            </a:pPr>
            <a:br>
              <a:rPr lang="en-US" sz="1200" b="0" i="0" u="none" strike="noStrike">
                <a:solidFill>
                  <a:srgbClr val="1F2329"/>
                </a:solidFill>
                <a:latin typeface="Noto Sans SC" panose="020B0500000000000000" charset="-122"/>
                <a:ea typeface="Noto Sans SC" panose="020B0500000000000000" charset="-122"/>
                <a:cs typeface="Noto Sans SC" panose="020B0500000000000000" charset="-122"/>
                <a:sym typeface="Noto Sans SC" panose="020B0500000000000000" charset="-122"/>
              </a:rPr>
            </a:br>
            <a:endParaRPr lang="en-US" sz="1200" b="0" i="0" u="none" strike="noStrike">
              <a:solidFill>
                <a:srgbClr val="1F2329"/>
              </a:solidFill>
              <a:latin typeface="Noto Sans SC" panose="020B0500000000000000" charset="-122"/>
              <a:ea typeface="Noto Sans SC" panose="020B0500000000000000" charset="-122"/>
              <a:cs typeface="Noto Sans SC" panose="020B0500000000000000" charset="-122"/>
              <a:sym typeface="Noto Sans SC" panose="020B0500000000000000" charset="-122"/>
            </a:endParaRPr>
          </a:p>
          <a:p>
            <a:pPr indent="0" algn="l">
              <a:lnSpc>
                <a:spcPct val="117000"/>
              </a:lnSpc>
            </a:pPr>
            <a:r>
              <a:rPr lang="en-US" sz="1200" b="1" i="0" u="none" strike="noStrike">
                <a:solidFill>
                  <a:srgbClr val="00E5FF"/>
                </a:solidFill>
                <a:latin typeface="Noto Sans SC" panose="020B0500000000000000" charset="-122"/>
                <a:ea typeface="Noto Sans SC" panose="020B0500000000000000" charset="-122"/>
                <a:cs typeface="Noto Sans SC" panose="020B0500000000000000" charset="-122"/>
                <a:sym typeface="Noto Sans SC" panose="020B0500000000000000" charset="-122"/>
              </a:rPr>
              <a:t>AI解药：</a:t>
            </a:r>
            <a:r>
              <a:rPr lang="en-US" sz="1200" b="0" i="0" u="none" strike="noStrike">
                <a:solidFill>
                  <a:srgbClr val="D1D5DB"/>
                </a:solidFill>
                <a:latin typeface="Noto Sans SC" panose="020B0500000000000000" charset="-122"/>
                <a:ea typeface="Noto Sans SC" panose="020B0500000000000000" charset="-122"/>
                <a:cs typeface="Noto Sans SC" panose="020B0500000000000000" charset="-122"/>
                <a:sym typeface="Noto Sans SC" panose="020B0500000000000000" charset="-122"/>
              </a:rPr>
              <a:t>主动让AI扮演“魔鬼代言人”，对你的想法进行压力测试和批判性审查。</a:t>
            </a:r>
            <a:endParaRPr lang="en-US" sz="1200" b="0" i="0" u="none" strike="noStrike">
              <a:solidFill>
                <a:srgbClr val="D1D5DB"/>
              </a:solidFill>
              <a:latin typeface="Noto Sans SC" panose="020B0500000000000000" charset="-122"/>
              <a:ea typeface="Noto Sans SC" panose="020B0500000000000000" charset="-122"/>
              <a:cs typeface="Noto Sans SC" panose="020B0500000000000000" charset="-122"/>
              <a:sym typeface="Noto Sans SC" panose="020B0500000000000000" charset="-122"/>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0F172A">
              <a:alpha val="80000"/>
            </a:srgbClr>
          </a:solidFill>
          <a:ln w="25400" cap="flat" cmpd="sng">
            <a:noFill/>
            <a:prstDash val="solid"/>
            <a:round/>
          </a:ln>
        </p:spPr>
        <p:txBody>
          <a:bodyPr vert="horz" wrap="square" lIns="63500" tIns="63500" rIns="63500" bIns="63500" rtlCol="0" anchor="ctr"/>
          <a:lstStyle/>
          <a:p>
            <a:pPr algn="ctr">
              <a:defRPr/>
            </a:pPr>
          </a:p>
        </p:txBody>
      </p:sp>
      <p:sp>
        <p:nvSpPr>
          <p:cNvPr id="3" name="AutoShape 3"/>
          <p:cNvSpPr/>
          <p:nvPr/>
        </p:nvSpPr>
        <p:spPr>
          <a:xfrm>
            <a:off x="762000" y="635000"/>
            <a:ext cx="10668000" cy="5715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3200" b="1" i="0" u="none" strike="noStrike">
                <a:solidFill>
                  <a:srgbClr val="FFFFFF"/>
                </a:solidFill>
                <a:latin typeface="Noto Sans SC" panose="020B0500000000000000" charset="-122"/>
                <a:ea typeface="Noto Sans SC" panose="020B0500000000000000" charset="-122"/>
                <a:cs typeface="Noto Sans SC" panose="020B0500000000000000" charset="-122"/>
                <a:sym typeface="Noto Sans SC" panose="020B0500000000000000" charset="-122"/>
              </a:rPr>
              <a:t>如何利用Claude进行创意阶段的研究与验证 (1)</a:t>
            </a:r>
            <a:endParaRPr lang="en-US" sz="1100"/>
          </a:p>
        </p:txBody>
      </p:sp>
      <p:sp>
        <p:nvSpPr>
          <p:cNvPr id="4" name="AutoShape 4"/>
          <p:cNvSpPr/>
          <p:nvPr/>
        </p:nvSpPr>
        <p:spPr>
          <a:xfrm>
            <a:off x="762000" y="1524000"/>
            <a:ext cx="5207000" cy="4826000"/>
          </a:xfrm>
          <a:prstGeom prst="roundRect">
            <a:avLst>
              <a:gd name="adj" fmla="val 3157"/>
            </a:avLst>
          </a:prstGeom>
          <a:solidFill>
            <a:srgbClr val="1E293B">
              <a:alpha val="60000"/>
            </a:srgbClr>
          </a:solidFill>
          <a:ln w="12700" cap="flat" cmpd="sng">
            <a:solidFill>
              <a:srgbClr val="00E5FF">
                <a:alpha val="30000"/>
              </a:srgbClr>
            </a:solidFill>
            <a:prstDash val="solid"/>
            <a:round/>
          </a:ln>
        </p:spPr>
        <p:txBody>
          <a:bodyPr vert="horz" wrap="square" lIns="63500" tIns="63500" rIns="63500" bIns="63500" rtlCol="0" anchor="ctr"/>
          <a:lstStyle/>
          <a:p>
            <a:pPr algn="ctr">
              <a:defRPr/>
            </a:pPr>
          </a:p>
        </p:txBody>
      </p:sp>
      <p:pic>
        <p:nvPicPr>
          <p:cNvPr id="5" name="Picture 5"/>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066800" y="1828800"/>
            <a:ext cx="304800" cy="304800"/>
          </a:xfrm>
          <a:prstGeom prst="rect">
            <a:avLst/>
          </a:prstGeom>
        </p:spPr>
      </p:pic>
      <p:sp>
        <p:nvSpPr>
          <p:cNvPr id="6" name="AutoShape 6"/>
          <p:cNvSpPr/>
          <p:nvPr/>
        </p:nvSpPr>
        <p:spPr>
          <a:xfrm>
            <a:off x="1473200" y="1790700"/>
            <a:ext cx="4318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00E5FF"/>
                </a:solidFill>
                <a:latin typeface="Noto Sans SC" panose="020B0500000000000000" charset="-122"/>
                <a:ea typeface="Noto Sans SC" panose="020B0500000000000000" charset="-122"/>
                <a:cs typeface="Noto Sans SC" panose="020B0500000000000000" charset="-122"/>
                <a:sym typeface="Noto Sans SC" panose="020B0500000000000000" charset="-122"/>
              </a:rPr>
              <a:t>第一步：定义并压力测试问题假设</a:t>
            </a:r>
            <a:endParaRPr lang="en-US" sz="1100"/>
          </a:p>
        </p:txBody>
      </p:sp>
      <p:cxnSp>
        <p:nvCxnSpPr>
          <p:cNvPr id="7" name="Connector 7"/>
          <p:cNvCxnSpPr/>
          <p:nvPr/>
        </p:nvCxnSpPr>
        <p:spPr>
          <a:xfrm rot="-9496">
            <a:off x="1066809" y="2330450"/>
            <a:ext cx="4597400" cy="12700"/>
          </a:xfrm>
          <a:prstGeom prst="straightConnector1">
            <a:avLst/>
          </a:prstGeom>
          <a:solidFill>
            <a:srgbClr val="DEE0E3">
              <a:alpha val="100000"/>
            </a:srgbClr>
          </a:solidFill>
          <a:ln w="12700" cap="flat" cmpd="sng">
            <a:solidFill>
              <a:srgbClr val="FFFFFF">
                <a:alpha val="15000"/>
              </a:srgbClr>
            </a:solidFill>
            <a:prstDash val="solid"/>
            <a:round/>
            <a:headEnd type="none" w="med" len="med"/>
            <a:tailEnd type="none" w="med" len="med"/>
          </a:ln>
        </p:spPr>
      </p:cxnSp>
      <p:sp>
        <p:nvSpPr>
          <p:cNvPr id="8" name="AutoShape 8"/>
          <p:cNvSpPr/>
          <p:nvPr/>
        </p:nvSpPr>
        <p:spPr>
          <a:xfrm>
            <a:off x="1066800" y="2540000"/>
            <a:ext cx="4597400" cy="762000"/>
          </a:xfrm>
          <a:prstGeom prst="rect">
            <a:avLst/>
          </a:prstGeom>
          <a:noFill/>
          <a:ln w="12700" cap="flat" cmpd="sng">
            <a:noFill/>
            <a:prstDash val="solid"/>
            <a:round/>
          </a:ln>
        </p:spPr>
        <p:txBody>
          <a:bodyPr vert="horz" wrap="square" lIns="0" tIns="0" rIns="0" bIns="0" rtlCol="0" anchor="t" anchorCtr="0"/>
          <a:lstStyle/>
          <a:p>
            <a:pPr indent="0" algn="l">
              <a:lnSpc>
                <a:spcPct val="117000"/>
              </a:lnSpc>
              <a:defRPr/>
            </a:pPr>
            <a:r>
              <a:rPr lang="en-US" sz="1400" b="0" i="0" u="none" strike="noStrike">
                <a:solidFill>
                  <a:srgbClr val="CBD5E1"/>
                </a:solidFill>
                <a:latin typeface="Noto Sans SC" panose="020B0500000000000000" charset="-122"/>
                <a:ea typeface="Noto Sans SC" panose="020B0500000000000000" charset="-122"/>
                <a:cs typeface="Noto Sans SC" panose="020B0500000000000000" charset="-122"/>
                <a:sym typeface="Noto Sans SC" panose="020B0500000000000000" charset="-122"/>
              </a:rPr>
              <a:t>将模糊的、方向性的问题陈述，通过逻辑推演，打磨成具体、可证伪的可测试假设。</a:t>
            </a:r>
            <a:endParaRPr lang="en-US" sz="1100"/>
          </a:p>
        </p:txBody>
      </p:sp>
      <p:sp>
        <p:nvSpPr>
          <p:cNvPr id="9" name="AutoShape 9"/>
          <p:cNvSpPr/>
          <p:nvPr/>
        </p:nvSpPr>
        <p:spPr>
          <a:xfrm>
            <a:off x="1066800" y="3556000"/>
            <a:ext cx="4597400" cy="2413000"/>
          </a:xfrm>
          <a:prstGeom prst="roundRect">
            <a:avLst>
              <a:gd name="adj" fmla="val 4210"/>
            </a:avLst>
          </a:prstGeom>
          <a:solidFill>
            <a:srgbClr val="0F172A">
              <a:alpha val="50000"/>
            </a:srgbClr>
          </a:solidFill>
          <a:ln w="12700" cap="flat" cmpd="sng">
            <a:solidFill>
              <a:srgbClr val="FFFFFF">
                <a:alpha val="10000"/>
              </a:srgbClr>
            </a:solidFill>
            <a:prstDash val="dash"/>
            <a:round/>
          </a:ln>
        </p:spPr>
        <p:txBody>
          <a:bodyPr vert="horz" wrap="square" lIns="63500" tIns="63500" rIns="63500" bIns="63500" rtlCol="0" anchor="ctr"/>
          <a:lstStyle/>
          <a:p>
            <a:pPr algn="ctr">
              <a:defRPr/>
            </a:pPr>
          </a:p>
        </p:txBody>
      </p:sp>
      <p:sp>
        <p:nvSpPr>
          <p:cNvPr id="10" name="AutoShape 10"/>
          <p:cNvSpPr/>
          <p:nvPr/>
        </p:nvSpPr>
        <p:spPr>
          <a:xfrm>
            <a:off x="1270000" y="3759200"/>
            <a:ext cx="4191000" cy="3048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200" b="1" i="0" u="none" strike="noStrike">
                <a:solidFill>
                  <a:srgbClr val="94A3B8"/>
                </a:solidFill>
                <a:latin typeface="Noto Sans SC" panose="020B0500000000000000" charset="-122"/>
                <a:ea typeface="Noto Sans SC" panose="020B0500000000000000" charset="-122"/>
                <a:cs typeface="Noto Sans SC" panose="020B0500000000000000" charset="-122"/>
                <a:sym typeface="Noto Sans SC" panose="020B0500000000000000" charset="-122"/>
              </a:rPr>
              <a:t>❌ 模糊陈述：</a:t>
            </a:r>
            <a:endParaRPr lang="en-US" sz="1100"/>
          </a:p>
        </p:txBody>
      </p:sp>
      <p:sp>
        <p:nvSpPr>
          <p:cNvPr id="11" name="AutoShape 11"/>
          <p:cNvSpPr/>
          <p:nvPr/>
        </p:nvSpPr>
        <p:spPr>
          <a:xfrm>
            <a:off x="1270000" y="4114800"/>
            <a:ext cx="41910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400" b="0" i="0" u="none" strike="noStrike">
                <a:solidFill>
                  <a:srgbClr val="FFFFFF">
                    <a:alpha val="80000"/>
                  </a:srgbClr>
                </a:solidFill>
                <a:latin typeface="Noto Sans SC" panose="020B0500000000000000" charset="-122"/>
                <a:ea typeface="Noto Sans SC" panose="020B0500000000000000" charset="-122"/>
                <a:cs typeface="Noto Sans SC" panose="020B0500000000000000" charset="-122"/>
                <a:sym typeface="Noto Sans SC" panose="020B0500000000000000" charset="-122"/>
              </a:rPr>
              <a:t>“合同审查太慢，影响了业务效率。”</a:t>
            </a:r>
            <a:endParaRPr lang="en-US" sz="1100"/>
          </a:p>
        </p:txBody>
      </p:sp>
      <p:pic>
        <p:nvPicPr>
          <p:cNvPr id="12" name="Picture 12"/>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3238500" y="4699000"/>
            <a:ext cx="254000" cy="254000"/>
          </a:xfrm>
          <a:prstGeom prst="rect">
            <a:avLst/>
          </a:prstGeom>
        </p:spPr>
      </p:pic>
      <p:sp>
        <p:nvSpPr>
          <p:cNvPr id="13" name="AutoShape 13"/>
          <p:cNvSpPr/>
          <p:nvPr/>
        </p:nvSpPr>
        <p:spPr>
          <a:xfrm>
            <a:off x="1270000" y="5080000"/>
            <a:ext cx="4191000" cy="3048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200" b="1" i="0" u="none" strike="noStrike">
                <a:solidFill>
                  <a:srgbClr val="00E5FF"/>
                </a:solidFill>
                <a:latin typeface="Noto Sans SC" panose="020B0500000000000000" charset="-122"/>
                <a:ea typeface="Noto Sans SC" panose="020B0500000000000000" charset="-122"/>
                <a:cs typeface="Noto Sans SC" panose="020B0500000000000000" charset="-122"/>
                <a:sym typeface="Noto Sans SC" panose="020B0500000000000000" charset="-122"/>
              </a:rPr>
              <a:t>✅ 可测试假设：</a:t>
            </a:r>
            <a:endParaRPr lang="en-US" sz="1100"/>
          </a:p>
        </p:txBody>
      </p:sp>
      <p:sp>
        <p:nvSpPr>
          <p:cNvPr id="14" name="AutoShape 14"/>
          <p:cNvSpPr/>
          <p:nvPr/>
        </p:nvSpPr>
        <p:spPr>
          <a:xfrm>
            <a:off x="1270000" y="5435600"/>
            <a:ext cx="4191000" cy="558800"/>
          </a:xfrm>
          <a:prstGeom prst="rect">
            <a:avLst/>
          </a:prstGeom>
          <a:noFill/>
          <a:ln w="12700" cap="flat" cmpd="sng">
            <a:noFill/>
            <a:prstDash val="solid"/>
            <a:round/>
          </a:ln>
        </p:spPr>
        <p:txBody>
          <a:bodyPr vert="horz" wrap="square" lIns="0" tIns="0" rIns="0" bIns="0" rtlCol="0" anchor="t" anchorCtr="0"/>
          <a:lstStyle/>
          <a:p>
            <a:pPr indent="0" algn="l">
              <a:lnSpc>
                <a:spcPct val="100000"/>
              </a:lnSpc>
              <a:defRPr/>
            </a:pPr>
            <a:r>
              <a:rPr lang="en-US" sz="1300" b="0" i="0" u="none" strike="noStrike">
                <a:solidFill>
                  <a:srgbClr val="FFFFFF"/>
                </a:solidFill>
                <a:latin typeface="Noto Sans SC" panose="020B0500000000000000" charset="-122"/>
                <a:ea typeface="Noto Sans SC" panose="020B0500000000000000" charset="-122"/>
                <a:cs typeface="Noto Sans SC" panose="020B0500000000000000" charset="-122"/>
                <a:sym typeface="Noto Sans SC" panose="020B0500000000000000" charset="-122"/>
              </a:rPr>
              <a:t>“中型公司的内部法务团队因在邮件线程中管理修订版，导致每份合同的审查周期平均超过3天。”</a:t>
            </a:r>
            <a:endParaRPr lang="en-US" sz="1100"/>
          </a:p>
        </p:txBody>
      </p:sp>
      <p:sp>
        <p:nvSpPr>
          <p:cNvPr id="15" name="AutoShape 15"/>
          <p:cNvSpPr/>
          <p:nvPr/>
        </p:nvSpPr>
        <p:spPr>
          <a:xfrm>
            <a:off x="6223000" y="1524000"/>
            <a:ext cx="5207000" cy="4826000"/>
          </a:xfrm>
          <a:prstGeom prst="roundRect">
            <a:avLst>
              <a:gd name="adj" fmla="val 3157"/>
            </a:avLst>
          </a:prstGeom>
          <a:solidFill>
            <a:srgbClr val="1E293B">
              <a:alpha val="60000"/>
            </a:srgbClr>
          </a:solidFill>
          <a:ln w="12700" cap="flat" cmpd="sng">
            <a:solidFill>
              <a:srgbClr val="00E5FF">
                <a:alpha val="30000"/>
              </a:srgbClr>
            </a:solidFill>
            <a:prstDash val="solid"/>
            <a:round/>
          </a:ln>
        </p:spPr>
        <p:txBody>
          <a:bodyPr vert="horz" wrap="square" lIns="63500" tIns="63500" rIns="63500" bIns="63500" rtlCol="0" anchor="ctr"/>
          <a:lstStyle/>
          <a:p>
            <a:pPr algn="ctr">
              <a:defRPr/>
            </a:pPr>
          </a:p>
        </p:txBody>
      </p:sp>
      <p:pic>
        <p:nvPicPr>
          <p:cNvPr id="16" name="Picture 16"/>
          <p:cNvPicPr>
            <a:picLocks noChangeAspect="1"/>
          </p:cNvPicPr>
          <p:nvPr/>
        </p:nvPicPr>
        <p:blipFill>
          <a:blip r:embed="rId6"/>
          <a:srcRect/>
          <a:stretch>
            <a:fillRect/>
          </a:stretch>
        </p:blipFill>
        <p:spPr>
          <a:xfrm>
            <a:off x="6527800" y="1828800"/>
            <a:ext cx="304800" cy="304800"/>
          </a:xfrm>
          <a:prstGeom prst="rect">
            <a:avLst/>
          </a:prstGeom>
          <a:noFill/>
          <a:ln w="25400" cap="flat" cmpd="sng">
            <a:noFill/>
            <a:prstDash val="solid"/>
            <a:round/>
          </a:ln>
        </p:spPr>
      </p:pic>
      <p:sp>
        <p:nvSpPr>
          <p:cNvPr id="17" name="AutoShape 17"/>
          <p:cNvSpPr/>
          <p:nvPr/>
        </p:nvSpPr>
        <p:spPr>
          <a:xfrm>
            <a:off x="6934200" y="1790700"/>
            <a:ext cx="4318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00E5FF"/>
                </a:solidFill>
                <a:latin typeface="Noto Sans SC" panose="020B0500000000000000" charset="-122"/>
                <a:ea typeface="Noto Sans SC" panose="020B0500000000000000" charset="-122"/>
                <a:cs typeface="Noto Sans SC" panose="020B0500000000000000" charset="-122"/>
                <a:sym typeface="Noto Sans SC" panose="020B0500000000000000" charset="-122"/>
              </a:rPr>
              <a:t>AI 赋能：利用 Claude 加速验证</a:t>
            </a:r>
            <a:endParaRPr lang="en-US" sz="1100"/>
          </a:p>
        </p:txBody>
      </p:sp>
      <p:cxnSp>
        <p:nvCxnSpPr>
          <p:cNvPr id="18" name="Connector 18"/>
          <p:cNvCxnSpPr/>
          <p:nvPr/>
        </p:nvCxnSpPr>
        <p:spPr>
          <a:xfrm rot="-9496">
            <a:off x="6527809" y="2330450"/>
            <a:ext cx="4597400" cy="12700"/>
          </a:xfrm>
          <a:prstGeom prst="straightConnector1">
            <a:avLst/>
          </a:prstGeom>
          <a:solidFill>
            <a:srgbClr val="DEE0E3">
              <a:alpha val="100000"/>
            </a:srgbClr>
          </a:solidFill>
          <a:ln w="12700" cap="flat" cmpd="sng">
            <a:solidFill>
              <a:srgbClr val="FFFFFF">
                <a:alpha val="15000"/>
              </a:srgbClr>
            </a:solidFill>
            <a:prstDash val="solid"/>
            <a:round/>
            <a:headEnd type="none" w="med" len="med"/>
            <a:tailEnd type="none" w="med" len="med"/>
          </a:ln>
        </p:spPr>
      </p:cxnSp>
      <p:sp>
        <p:nvSpPr>
          <p:cNvPr id="19" name="AutoShape 19"/>
          <p:cNvSpPr/>
          <p:nvPr/>
        </p:nvSpPr>
        <p:spPr>
          <a:xfrm>
            <a:off x="6527800" y="2540000"/>
            <a:ext cx="4597400" cy="1524000"/>
          </a:xfrm>
          <a:prstGeom prst="roundRect">
            <a:avLst>
              <a:gd name="adj" fmla="val 6666"/>
            </a:avLst>
          </a:prstGeom>
          <a:solidFill>
            <a:srgbClr val="FFFFFF">
              <a:alpha val="5000"/>
            </a:srgbClr>
          </a:solidFill>
          <a:ln w="25400" cap="flat" cmpd="sng">
            <a:noFill/>
            <a:prstDash val="solid"/>
            <a:round/>
          </a:ln>
        </p:spPr>
        <p:txBody>
          <a:bodyPr vert="horz" wrap="square" lIns="63500" tIns="63500" rIns="63500" bIns="63500" rtlCol="0" anchor="ctr"/>
          <a:lstStyle/>
          <a:p>
            <a:pPr algn="ctr">
              <a:defRPr/>
            </a:pPr>
          </a:p>
        </p:txBody>
      </p:sp>
      <p:pic>
        <p:nvPicPr>
          <p:cNvPr id="20" name="Picture 20"/>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6731000" y="2743200"/>
            <a:ext cx="254000" cy="254000"/>
          </a:xfrm>
          <a:prstGeom prst="rect">
            <a:avLst/>
          </a:prstGeom>
        </p:spPr>
      </p:pic>
      <p:sp>
        <p:nvSpPr>
          <p:cNvPr id="21" name="AutoShape 21"/>
          <p:cNvSpPr/>
          <p:nvPr/>
        </p:nvSpPr>
        <p:spPr>
          <a:xfrm>
            <a:off x="7112000" y="2717800"/>
            <a:ext cx="3937000" cy="3048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500" b="1" i="0" u="none" strike="noStrike">
                <a:solidFill>
                  <a:srgbClr val="FFFFFF"/>
                </a:solidFill>
                <a:latin typeface="Noto Sans SC" panose="020B0500000000000000" charset="-122"/>
                <a:ea typeface="Noto Sans SC" panose="020B0500000000000000" charset="-122"/>
                <a:cs typeface="Noto Sans SC" panose="020B0500000000000000" charset="-122"/>
                <a:sym typeface="Noto Sans SC" panose="020B0500000000000000" charset="-122"/>
              </a:rPr>
              <a:t>1. 假设细化与具体化</a:t>
            </a:r>
            <a:endParaRPr lang="en-US" sz="1100"/>
          </a:p>
        </p:txBody>
      </p:sp>
      <p:sp>
        <p:nvSpPr>
          <p:cNvPr id="22" name="AutoShape 22"/>
          <p:cNvSpPr/>
          <p:nvPr/>
        </p:nvSpPr>
        <p:spPr>
          <a:xfrm>
            <a:off x="6731000" y="3149600"/>
            <a:ext cx="4191000" cy="762000"/>
          </a:xfrm>
          <a:prstGeom prst="rect">
            <a:avLst/>
          </a:prstGeom>
          <a:noFill/>
          <a:ln w="12700" cap="flat" cmpd="sng">
            <a:noFill/>
            <a:prstDash val="solid"/>
            <a:round/>
          </a:ln>
        </p:spPr>
        <p:txBody>
          <a:bodyPr vert="horz" wrap="square" lIns="0" tIns="0" rIns="0" bIns="0" rtlCol="0" anchor="t" anchorCtr="0"/>
          <a:lstStyle/>
          <a:p>
            <a:pPr indent="0" algn="l">
              <a:lnSpc>
                <a:spcPct val="117000"/>
              </a:lnSpc>
              <a:defRPr/>
            </a:pPr>
            <a:r>
              <a:rPr lang="en-US" sz="1300" b="0" i="0" u="none" strike="noStrike">
                <a:solidFill>
                  <a:srgbClr val="CBD5E1"/>
                </a:solidFill>
                <a:latin typeface="Noto Sans SC" panose="020B0500000000000000" charset="-122"/>
                <a:ea typeface="Noto Sans SC" panose="020B0500000000000000" charset="-122"/>
                <a:cs typeface="Noto Sans SC" panose="020B0500000000000000" charset="-122"/>
                <a:sym typeface="Noto Sans SC" panose="020B0500000000000000" charset="-122"/>
              </a:rPr>
              <a:t>利用 Claude 的长文本理解与逻辑梳理能力，辅助拆解问题维度，将模糊的痛点转化为可量化、可观测的具体指标。</a:t>
            </a:r>
            <a:endParaRPr lang="en-US" sz="1100"/>
          </a:p>
        </p:txBody>
      </p:sp>
      <p:sp>
        <p:nvSpPr>
          <p:cNvPr id="23" name="AutoShape 23"/>
          <p:cNvSpPr/>
          <p:nvPr/>
        </p:nvSpPr>
        <p:spPr>
          <a:xfrm>
            <a:off x="6527800" y="4318000"/>
            <a:ext cx="4597400" cy="1524000"/>
          </a:xfrm>
          <a:prstGeom prst="roundRect">
            <a:avLst>
              <a:gd name="adj" fmla="val 6666"/>
            </a:avLst>
          </a:prstGeom>
          <a:solidFill>
            <a:srgbClr val="FFFFFF">
              <a:alpha val="5000"/>
            </a:srgbClr>
          </a:solidFill>
          <a:ln w="25400" cap="flat" cmpd="sng">
            <a:noFill/>
            <a:prstDash val="solid"/>
            <a:round/>
          </a:ln>
        </p:spPr>
        <p:txBody>
          <a:bodyPr vert="horz" wrap="square" lIns="63500" tIns="63500" rIns="63500" bIns="63500" rtlCol="0" anchor="ctr"/>
          <a:lstStyle/>
          <a:p>
            <a:pPr algn="ctr">
              <a:defRPr/>
            </a:pPr>
          </a:p>
        </p:txBody>
      </p:sp>
      <p:pic>
        <p:nvPicPr>
          <p:cNvPr id="24" name="Picture 24"/>
          <p:cNvPicPr>
            <a:picLocks noChangeAspect="1"/>
          </p:cNvPicPr>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a:off x="6731000" y="4521200"/>
            <a:ext cx="254000" cy="254000"/>
          </a:xfrm>
          <a:prstGeom prst="rect">
            <a:avLst/>
          </a:prstGeom>
        </p:spPr>
      </p:pic>
      <p:sp>
        <p:nvSpPr>
          <p:cNvPr id="25" name="AutoShape 25"/>
          <p:cNvSpPr/>
          <p:nvPr/>
        </p:nvSpPr>
        <p:spPr>
          <a:xfrm>
            <a:off x="7112000" y="4495800"/>
            <a:ext cx="3937000" cy="3048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500" b="1" i="0" u="none" strike="noStrike">
                <a:solidFill>
                  <a:srgbClr val="FFFFFF"/>
                </a:solidFill>
                <a:latin typeface="Noto Sans SC" panose="020B0500000000000000" charset="-122"/>
                <a:ea typeface="Noto Sans SC" panose="020B0500000000000000" charset="-122"/>
                <a:cs typeface="Noto Sans SC" panose="020B0500000000000000" charset="-122"/>
                <a:sym typeface="Noto Sans SC" panose="020B0500000000000000" charset="-122"/>
              </a:rPr>
              <a:t>2. 对抗性压力测试 (魔鬼代言人)</a:t>
            </a:r>
            <a:endParaRPr lang="en-US" sz="1100"/>
          </a:p>
        </p:txBody>
      </p:sp>
      <p:sp>
        <p:nvSpPr>
          <p:cNvPr id="26" name="AutoShape 26"/>
          <p:cNvSpPr/>
          <p:nvPr/>
        </p:nvSpPr>
        <p:spPr>
          <a:xfrm>
            <a:off x="6731000" y="4927600"/>
            <a:ext cx="4191000" cy="762000"/>
          </a:xfrm>
          <a:prstGeom prst="rect">
            <a:avLst/>
          </a:prstGeom>
          <a:noFill/>
          <a:ln w="12700" cap="flat" cmpd="sng">
            <a:noFill/>
            <a:prstDash val="solid"/>
            <a:round/>
          </a:ln>
        </p:spPr>
        <p:txBody>
          <a:bodyPr vert="horz" wrap="square" lIns="0" tIns="0" rIns="0" bIns="0" rtlCol="0" anchor="t" anchorCtr="0"/>
          <a:lstStyle/>
          <a:p>
            <a:pPr indent="0" algn="l">
              <a:lnSpc>
                <a:spcPct val="117000"/>
              </a:lnSpc>
              <a:defRPr/>
            </a:pPr>
            <a:r>
              <a:rPr lang="en-US" sz="1300" b="0" i="0" u="none" strike="noStrike">
                <a:solidFill>
                  <a:srgbClr val="CBD5E1"/>
                </a:solidFill>
                <a:latin typeface="Noto Sans SC" panose="020B0500000000000000" charset="-122"/>
                <a:ea typeface="Noto Sans SC" panose="020B0500000000000000" charset="-122"/>
                <a:cs typeface="Noto Sans SC" panose="020B0500000000000000" charset="-122"/>
                <a:sym typeface="Noto Sans SC" panose="020B0500000000000000" charset="-122"/>
              </a:rPr>
              <a:t>指令 AI 扮演“唱反调”的角色，主动寻找反驳假设的证据（如失败的竞品案例、负面市场信号等），在调研前完成自我推翻与迭代。</a:t>
            </a:r>
            <a:endParaRPr lang="en-US" sz="110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000000">
              <a:alpha val="80000"/>
            </a:srgbClr>
          </a:solidFill>
          <a:ln w="25400" cap="flat" cmpd="sng">
            <a:noFill/>
            <a:prstDash val="solid"/>
            <a:round/>
          </a:ln>
        </p:spPr>
        <p:txBody>
          <a:bodyPr vert="horz" wrap="square" lIns="63500" tIns="63500" rIns="63500" bIns="63500" rtlCol="0" anchor="ctr"/>
          <a:lstStyle/>
          <a:p>
            <a:pPr algn="ctr">
              <a:defRPr/>
            </a:pPr>
          </a:p>
        </p:txBody>
      </p:sp>
      <p:sp>
        <p:nvSpPr>
          <p:cNvPr id="3" name="AutoShape 3"/>
          <p:cNvSpPr/>
          <p:nvPr/>
        </p:nvSpPr>
        <p:spPr>
          <a:xfrm>
            <a:off x="762000" y="635000"/>
            <a:ext cx="10668000" cy="5588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3200" b="1" i="0" u="none" strike="noStrike">
                <a:solidFill>
                  <a:srgbClr val="FFFFFF"/>
                </a:solidFill>
                <a:latin typeface="Noto Sans SC" panose="020B0500000000000000" charset="-122"/>
                <a:ea typeface="Noto Sans SC" panose="020B0500000000000000" charset="-122"/>
                <a:cs typeface="Noto Sans SC" panose="020B0500000000000000" charset="-122"/>
                <a:sym typeface="Noto Sans SC" panose="020B0500000000000000" charset="-122"/>
              </a:rPr>
              <a:t>如何利用Claude进行创意阶段的研究与验证 (2)</a:t>
            </a:r>
            <a:endParaRPr lang="en-US" sz="1100"/>
          </a:p>
        </p:txBody>
      </p:sp>
      <p:sp>
        <p:nvSpPr>
          <p:cNvPr id="4" name="AutoShape 4"/>
          <p:cNvSpPr/>
          <p:nvPr/>
        </p:nvSpPr>
        <p:spPr>
          <a:xfrm>
            <a:off x="762000" y="1651000"/>
            <a:ext cx="3302000" cy="4572000"/>
          </a:xfrm>
          <a:prstGeom prst="roundRect">
            <a:avLst>
              <a:gd name="adj" fmla="val 4615"/>
            </a:avLst>
          </a:prstGeom>
          <a:solidFill>
            <a:srgbClr val="FFFFFF">
              <a:alpha val="8000"/>
            </a:srgbClr>
          </a:solidFill>
          <a:ln w="12700" cap="flat" cmpd="sng">
            <a:solidFill>
              <a:srgbClr val="00E5FF">
                <a:alpha val="30000"/>
              </a:srgbClr>
            </a:solidFill>
            <a:prstDash val="solid"/>
            <a:round/>
          </a:ln>
          <a:effectLst>
            <a:outerShdw blurRad="254000" dist="127000" dir="5400000" algn="tl" rotWithShape="0">
              <a:srgbClr val="000000">
                <a:alpha val="30000"/>
              </a:srgbClr>
            </a:outerShdw>
          </a:effectLst>
        </p:spPr>
        <p:txBody>
          <a:bodyPr vert="horz" wrap="square" lIns="63500" tIns="63500" rIns="63500" bIns="63500" rtlCol="0" anchor="ctr"/>
          <a:lstStyle/>
          <a:p>
            <a:pPr algn="ctr">
              <a:defRPr/>
            </a:pPr>
          </a:p>
        </p:txBody>
      </p:sp>
      <p:sp>
        <p:nvSpPr>
          <p:cNvPr id="5" name="AutoShape 5"/>
          <p:cNvSpPr/>
          <p:nvPr/>
        </p:nvSpPr>
        <p:spPr>
          <a:xfrm>
            <a:off x="1066800" y="1955800"/>
            <a:ext cx="609600" cy="609600"/>
          </a:xfrm>
          <a:prstGeom prst="ellipse">
            <a:avLst/>
          </a:prstGeom>
          <a:solidFill>
            <a:srgbClr val="00E5FF">
              <a:alpha val="15000"/>
            </a:srgbClr>
          </a:solidFill>
          <a:ln w="25400" cap="flat" cmpd="sng">
            <a:noFill/>
            <a:prstDash val="solid"/>
            <a:round/>
          </a:ln>
        </p:spPr>
        <p:txBody>
          <a:bodyPr vert="horz" wrap="square" lIns="63500" tIns="63500" rIns="63500" bIns="63500" rtlCol="0" anchor="ctr"/>
          <a:lstStyle/>
          <a:p>
            <a:pPr algn="ctr">
              <a:defRPr/>
            </a:pPr>
          </a:p>
        </p:txBody>
      </p:sp>
      <p:pic>
        <p:nvPicPr>
          <p:cNvPr id="6" name="Picture 6"/>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193800" y="2082800"/>
            <a:ext cx="355600" cy="355600"/>
          </a:xfrm>
          <a:prstGeom prst="rect">
            <a:avLst/>
          </a:prstGeom>
        </p:spPr>
      </p:pic>
      <p:sp>
        <p:nvSpPr>
          <p:cNvPr id="7" name="AutoShape 7"/>
          <p:cNvSpPr/>
          <p:nvPr/>
        </p:nvSpPr>
        <p:spPr>
          <a:xfrm>
            <a:off x="1778000" y="2070100"/>
            <a:ext cx="2286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000" b="1" i="0" u="none" strike="noStrike">
                <a:solidFill>
                  <a:srgbClr val="00E5FF"/>
                </a:solidFill>
                <a:latin typeface="Noto Sans SC" panose="020B0500000000000000" charset="-122"/>
                <a:ea typeface="Noto Sans SC" panose="020B0500000000000000" charset="-122"/>
                <a:cs typeface="Noto Sans SC" panose="020B0500000000000000" charset="-122"/>
                <a:sym typeface="Noto Sans SC" panose="020B0500000000000000" charset="-122"/>
              </a:rPr>
              <a:t>竞品分析</a:t>
            </a:r>
            <a:endParaRPr lang="en-US" sz="1100"/>
          </a:p>
        </p:txBody>
      </p:sp>
      <p:cxnSp>
        <p:nvCxnSpPr>
          <p:cNvPr id="8" name="Connector 8"/>
          <p:cNvCxnSpPr/>
          <p:nvPr/>
        </p:nvCxnSpPr>
        <p:spPr>
          <a:xfrm rot="-16215">
            <a:off x="1066815" y="2724150"/>
            <a:ext cx="2692400" cy="12700"/>
          </a:xfrm>
          <a:prstGeom prst="straightConnector1">
            <a:avLst/>
          </a:prstGeom>
          <a:solidFill>
            <a:srgbClr val="DEE0E3">
              <a:alpha val="100000"/>
            </a:srgbClr>
          </a:solidFill>
          <a:ln w="12700" cap="flat" cmpd="sng">
            <a:solidFill>
              <a:srgbClr val="FFFFFF">
                <a:alpha val="15000"/>
              </a:srgbClr>
            </a:solidFill>
            <a:prstDash val="solid"/>
            <a:round/>
            <a:headEnd type="none" w="med" len="med"/>
            <a:tailEnd type="none" w="med" len="med"/>
          </a:ln>
        </p:spPr>
      </p:cxnSp>
      <p:sp>
        <p:nvSpPr>
          <p:cNvPr id="9" name="AutoShape 9"/>
          <p:cNvSpPr/>
          <p:nvPr/>
        </p:nvSpPr>
        <p:spPr>
          <a:xfrm>
            <a:off x="1066800" y="2921000"/>
            <a:ext cx="2692400" cy="3175000"/>
          </a:xfrm>
          <a:prstGeom prst="rect">
            <a:avLst/>
          </a:prstGeom>
          <a:noFill/>
          <a:ln w="12700" cap="flat" cmpd="sng">
            <a:noFill/>
            <a:prstDash val="solid"/>
            <a:round/>
          </a:ln>
        </p:spPr>
        <p:txBody>
          <a:bodyPr vert="horz" wrap="square" lIns="0" tIns="0" rIns="0" bIns="0" rtlCol="0" anchor="t" anchorCtr="0"/>
          <a:lstStyle/>
          <a:p>
            <a:pPr indent="0" algn="l">
              <a:lnSpc>
                <a:spcPct val="117000"/>
              </a:lnSpc>
              <a:defRPr/>
            </a:pPr>
            <a:r>
              <a:rPr lang="en-US" sz="1400" b="1" i="0" u="none" strike="noStrike">
                <a:solidFill>
                  <a:srgbClr val="FFFFFF">
                    <a:alpha val="90196"/>
                  </a:srgbClr>
                </a:solidFill>
                <a:latin typeface="Noto Sans SC" panose="020B0500000000000000" charset="-122"/>
                <a:ea typeface="Noto Sans SC" panose="020B0500000000000000" charset="-122"/>
                <a:cs typeface="Noto Sans SC" panose="020B0500000000000000" charset="-122"/>
                <a:sym typeface="Noto Sans SC" panose="020B0500000000000000" charset="-122"/>
              </a:rPr>
              <a:t>核心任务：</a:t>
            </a:r>
            <a:br>
              <a:rPr lang="en-US" sz="1600" b="0" i="0" u="none" strike="noStrike">
                <a:solidFill>
                  <a:srgbClr val="1F2329"/>
                </a:solidFill>
                <a:latin typeface="Noto Sans SC" panose="020B0500000000000000" charset="-122"/>
                <a:ea typeface="Noto Sans SC" panose="020B0500000000000000" charset="-122"/>
                <a:cs typeface="Noto Sans SC" panose="020B0500000000000000" charset="-122"/>
                <a:sym typeface="Noto Sans SC" panose="020B0500000000000000" charset="-122"/>
              </a:rPr>
            </a:br>
            <a:r>
              <a:rPr lang="en-US" sz="1300" b="0" i="0" u="none" strike="noStrike">
                <a:solidFill>
                  <a:srgbClr val="D1D5DB"/>
                </a:solidFill>
                <a:latin typeface="Noto Sans SC" panose="020B0500000000000000" charset="-122"/>
                <a:ea typeface="Noto Sans SC" panose="020B0500000000000000" charset="-122"/>
                <a:cs typeface="Noto Sans SC" panose="020B0500000000000000" charset="-122"/>
                <a:sym typeface="Noto Sans SC" panose="020B0500000000000000" charset="-122"/>
              </a:rPr>
              <a:t>避免“竞品忽视”，客观评估竞争格局，明确自身定位。</a:t>
            </a:r>
            <a:endParaRPr lang="en-US" sz="1100"/>
          </a:p>
          <a:p>
            <a:pPr indent="0" algn="l">
              <a:lnSpc>
                <a:spcPct val="117000"/>
              </a:lnSpc>
            </a:pPr>
            <a:br>
              <a:rPr lang="en-US" sz="1600" b="0" i="0" u="none" strike="noStrike">
                <a:solidFill>
                  <a:srgbClr val="1F2329"/>
                </a:solidFill>
                <a:latin typeface="Noto Sans SC" panose="020B0500000000000000" charset="-122"/>
                <a:ea typeface="Noto Sans SC" panose="020B0500000000000000" charset="-122"/>
                <a:cs typeface="Noto Sans SC" panose="020B0500000000000000" charset="-122"/>
                <a:sym typeface="Noto Sans SC" panose="020B0500000000000000" charset="-122"/>
              </a:rPr>
            </a:br>
            <a:endParaRPr lang="en-US" sz="1600" b="0" i="0" u="none" strike="noStrike">
              <a:solidFill>
                <a:srgbClr val="1F2329"/>
              </a:solidFill>
              <a:latin typeface="Noto Sans SC" panose="020B0500000000000000" charset="-122"/>
              <a:ea typeface="Noto Sans SC" panose="020B0500000000000000" charset="-122"/>
              <a:cs typeface="Noto Sans SC" panose="020B0500000000000000" charset="-122"/>
              <a:sym typeface="Noto Sans SC" panose="020B0500000000000000" charset="-122"/>
            </a:endParaRPr>
          </a:p>
          <a:p>
            <a:pPr indent="0" algn="l">
              <a:lnSpc>
                <a:spcPct val="117000"/>
              </a:lnSpc>
            </a:pPr>
            <a:r>
              <a:rPr lang="en-US" sz="1400" b="1" i="0" u="none" strike="noStrike">
                <a:solidFill>
                  <a:srgbClr val="FFFFFF">
                    <a:alpha val="90196"/>
                  </a:srgbClr>
                </a:solidFill>
                <a:latin typeface="Noto Sans SC" panose="020B0500000000000000" charset="-122"/>
                <a:ea typeface="Noto Sans SC" panose="020B0500000000000000" charset="-122"/>
                <a:cs typeface="Noto Sans SC" panose="020B0500000000000000" charset="-122"/>
                <a:sym typeface="Noto Sans SC" panose="020B0500000000000000" charset="-122"/>
              </a:rPr>
              <a:t>AI 应用策略：</a:t>
            </a:r>
            <a:endParaRPr lang="en-US" sz="1400" b="1" i="0" u="none" strike="noStrike">
              <a:solidFill>
                <a:srgbClr val="FFFFFF">
                  <a:alpha val="90196"/>
                </a:srgbClr>
              </a:solidFill>
              <a:latin typeface="Noto Sans SC" panose="020B0500000000000000" charset="-122"/>
              <a:ea typeface="Noto Sans SC" panose="020B0500000000000000" charset="-122"/>
              <a:cs typeface="Noto Sans SC" panose="020B0500000000000000" charset="-122"/>
              <a:sym typeface="Noto Sans SC" panose="020B0500000000000000" charset="-122"/>
            </a:endParaRPr>
          </a:p>
          <a:p>
            <a:pPr marL="152400" indent="-152400" algn="l">
              <a:lnSpc>
                <a:spcPct val="108000"/>
              </a:lnSpc>
              <a:buClr>
                <a:srgbClr val="00E5FF"/>
              </a:buClr>
              <a:buChar char="•"/>
            </a:pPr>
            <a:r>
              <a:rPr lang="en-US" sz="1200" b="1" i="0" u="none" strike="noStrike">
                <a:solidFill>
                  <a:srgbClr val="00E5FF"/>
                </a:solidFill>
                <a:latin typeface="Noto Sans SC" panose="020B0500000000000000" charset="-122"/>
                <a:ea typeface="Noto Sans SC" panose="020B0500000000000000" charset="-122"/>
                <a:cs typeface="Noto Sans SC" panose="020B0500000000000000" charset="-122"/>
                <a:sym typeface="Noto Sans SC" panose="020B0500000000000000" charset="-122"/>
              </a:rPr>
              <a:t>Claude (Chat)：</a:t>
            </a:r>
            <a:r>
              <a:rPr lang="en-US" sz="1200" b="0" i="0" u="none" strike="noStrike">
                <a:solidFill>
                  <a:srgbClr val="D1D5DB"/>
                </a:solidFill>
                <a:latin typeface="Noto Sans SC" panose="020B0500000000000000" charset="-122"/>
                <a:ea typeface="Noto Sans SC" panose="020B0500000000000000" charset="-122"/>
                <a:cs typeface="Noto Sans SC" panose="020B0500000000000000" charset="-122"/>
                <a:sym typeface="Noto Sans SC" panose="020B0500000000000000" charset="-122"/>
              </a:rPr>
              <a:t>绘制全景竞争格局图，涵盖直接、间接及潜在替代者。</a:t>
            </a:r>
            <a:endParaRPr lang="en-US" sz="1200" b="0" i="0" u="none" strike="noStrike">
              <a:solidFill>
                <a:srgbClr val="D1D5DB"/>
              </a:solidFill>
              <a:latin typeface="Noto Sans SC" panose="020B0500000000000000" charset="-122"/>
              <a:ea typeface="Noto Sans SC" panose="020B0500000000000000" charset="-122"/>
              <a:cs typeface="Noto Sans SC" panose="020B0500000000000000" charset="-122"/>
              <a:sym typeface="Noto Sans SC" panose="020B0500000000000000" charset="-122"/>
            </a:endParaRPr>
          </a:p>
          <a:p>
            <a:pPr marL="152400" indent="-152400" algn="l">
              <a:lnSpc>
                <a:spcPct val="108000"/>
              </a:lnSpc>
              <a:buClr>
                <a:srgbClr val="00E5FF"/>
              </a:buClr>
              <a:buChar char="•"/>
            </a:pPr>
            <a:r>
              <a:rPr lang="en-US" sz="1200" b="1" i="0" u="none" strike="noStrike">
                <a:solidFill>
                  <a:srgbClr val="00E5FF"/>
                </a:solidFill>
                <a:latin typeface="Noto Sans SC" panose="020B0500000000000000" charset="-122"/>
                <a:ea typeface="Noto Sans SC" panose="020B0500000000000000" charset="-122"/>
                <a:cs typeface="Noto Sans SC" panose="020B0500000000000000" charset="-122"/>
                <a:sym typeface="Noto Sans SC" panose="020B0500000000000000" charset="-122"/>
              </a:rPr>
              <a:t>深度推演：</a:t>
            </a:r>
            <a:r>
              <a:rPr lang="en-US" sz="1200" b="0" i="0" u="none" strike="noStrike">
                <a:solidFill>
                  <a:srgbClr val="D1D5DB"/>
                </a:solidFill>
                <a:latin typeface="Noto Sans SC" panose="020B0500000000000000" charset="-122"/>
                <a:ea typeface="Noto Sans SC" panose="020B0500000000000000" charset="-122"/>
                <a:cs typeface="Noto Sans SC" panose="020B0500000000000000" charset="-122"/>
                <a:sym typeface="Noto Sans SC" panose="020B0500000000000000" charset="-122"/>
              </a:rPr>
              <a:t>为每个竞品构建成功论点，反向拆解其核心优势与护城河。</a:t>
            </a:r>
            <a:endParaRPr lang="en-US" sz="1200" b="0" i="0" u="none" strike="noStrike">
              <a:solidFill>
                <a:srgbClr val="D1D5DB"/>
              </a:solidFill>
              <a:latin typeface="Noto Sans SC" panose="020B0500000000000000" charset="-122"/>
              <a:ea typeface="Noto Sans SC" panose="020B0500000000000000" charset="-122"/>
              <a:cs typeface="Noto Sans SC" panose="020B0500000000000000" charset="-122"/>
              <a:sym typeface="Noto Sans SC" panose="020B0500000000000000" charset="-122"/>
            </a:endParaRPr>
          </a:p>
        </p:txBody>
      </p:sp>
      <p:sp>
        <p:nvSpPr>
          <p:cNvPr id="10" name="AutoShape 10"/>
          <p:cNvSpPr/>
          <p:nvPr/>
        </p:nvSpPr>
        <p:spPr>
          <a:xfrm>
            <a:off x="4445000" y="1651000"/>
            <a:ext cx="3302000" cy="4572000"/>
          </a:xfrm>
          <a:prstGeom prst="roundRect">
            <a:avLst>
              <a:gd name="adj" fmla="val 4615"/>
            </a:avLst>
          </a:prstGeom>
          <a:solidFill>
            <a:srgbClr val="FFFFFF">
              <a:alpha val="8000"/>
            </a:srgbClr>
          </a:solidFill>
          <a:ln w="12700" cap="flat" cmpd="sng">
            <a:solidFill>
              <a:srgbClr val="00E5FF">
                <a:alpha val="30000"/>
              </a:srgbClr>
            </a:solidFill>
            <a:prstDash val="solid"/>
            <a:round/>
          </a:ln>
          <a:effectLst>
            <a:outerShdw blurRad="254000" dist="127000" dir="5400000" algn="tl" rotWithShape="0">
              <a:srgbClr val="000000">
                <a:alpha val="30000"/>
              </a:srgbClr>
            </a:outerShdw>
          </a:effectLst>
        </p:spPr>
        <p:txBody>
          <a:bodyPr vert="horz" wrap="square" lIns="63500" tIns="63500" rIns="63500" bIns="63500" rtlCol="0" anchor="ctr"/>
          <a:lstStyle/>
          <a:p>
            <a:pPr algn="ctr">
              <a:defRPr/>
            </a:pPr>
          </a:p>
        </p:txBody>
      </p:sp>
      <p:sp>
        <p:nvSpPr>
          <p:cNvPr id="11" name="AutoShape 11"/>
          <p:cNvSpPr/>
          <p:nvPr/>
        </p:nvSpPr>
        <p:spPr>
          <a:xfrm>
            <a:off x="4749800" y="1955800"/>
            <a:ext cx="609600" cy="609600"/>
          </a:xfrm>
          <a:prstGeom prst="ellipse">
            <a:avLst/>
          </a:prstGeom>
          <a:solidFill>
            <a:srgbClr val="00E5FF">
              <a:alpha val="15000"/>
            </a:srgbClr>
          </a:solidFill>
          <a:ln w="25400" cap="flat" cmpd="sng">
            <a:noFill/>
            <a:prstDash val="solid"/>
            <a:round/>
          </a:ln>
        </p:spPr>
        <p:txBody>
          <a:bodyPr vert="horz" wrap="square" lIns="63500" tIns="63500" rIns="63500" bIns="63500" rtlCol="0" anchor="ctr"/>
          <a:lstStyle/>
          <a:p>
            <a:pPr algn="ctr">
              <a:defRPr/>
            </a:pPr>
          </a:p>
        </p:txBody>
      </p:sp>
      <p:pic>
        <p:nvPicPr>
          <p:cNvPr id="12" name="Picture 12"/>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4876800" y="2082800"/>
            <a:ext cx="355600" cy="355600"/>
          </a:xfrm>
          <a:prstGeom prst="rect">
            <a:avLst/>
          </a:prstGeom>
        </p:spPr>
      </p:pic>
      <p:sp>
        <p:nvSpPr>
          <p:cNvPr id="13" name="AutoShape 13"/>
          <p:cNvSpPr/>
          <p:nvPr/>
        </p:nvSpPr>
        <p:spPr>
          <a:xfrm>
            <a:off x="5461000" y="2070100"/>
            <a:ext cx="2286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000" b="1" i="0" u="none" strike="noStrike">
                <a:solidFill>
                  <a:srgbClr val="00E5FF"/>
                </a:solidFill>
                <a:latin typeface="Noto Sans SC" panose="020B0500000000000000" charset="-122"/>
                <a:ea typeface="Noto Sans SC" panose="020B0500000000000000" charset="-122"/>
                <a:cs typeface="Noto Sans SC" panose="020B0500000000000000" charset="-122"/>
                <a:sym typeface="Noto Sans SC" panose="020B0500000000000000" charset="-122"/>
              </a:rPr>
              <a:t>市场研究</a:t>
            </a:r>
            <a:endParaRPr lang="en-US" sz="1100"/>
          </a:p>
        </p:txBody>
      </p:sp>
      <p:cxnSp>
        <p:nvCxnSpPr>
          <p:cNvPr id="14" name="Connector 14"/>
          <p:cNvCxnSpPr/>
          <p:nvPr/>
        </p:nvCxnSpPr>
        <p:spPr>
          <a:xfrm rot="-16215">
            <a:off x="4749815" y="2724150"/>
            <a:ext cx="2692400" cy="12700"/>
          </a:xfrm>
          <a:prstGeom prst="straightConnector1">
            <a:avLst/>
          </a:prstGeom>
          <a:solidFill>
            <a:srgbClr val="DEE0E3">
              <a:alpha val="100000"/>
            </a:srgbClr>
          </a:solidFill>
          <a:ln w="12700" cap="flat" cmpd="sng">
            <a:solidFill>
              <a:srgbClr val="FFFFFF">
                <a:alpha val="15000"/>
              </a:srgbClr>
            </a:solidFill>
            <a:prstDash val="solid"/>
            <a:round/>
            <a:headEnd type="none" w="med" len="med"/>
            <a:tailEnd type="none" w="med" len="med"/>
          </a:ln>
        </p:spPr>
      </p:cxnSp>
      <p:sp>
        <p:nvSpPr>
          <p:cNvPr id="15" name="AutoShape 15"/>
          <p:cNvSpPr/>
          <p:nvPr/>
        </p:nvSpPr>
        <p:spPr>
          <a:xfrm>
            <a:off x="4749800" y="2921000"/>
            <a:ext cx="2692400" cy="3175000"/>
          </a:xfrm>
          <a:prstGeom prst="rect">
            <a:avLst/>
          </a:prstGeom>
          <a:noFill/>
          <a:ln w="12700" cap="flat" cmpd="sng">
            <a:noFill/>
            <a:prstDash val="solid"/>
            <a:round/>
          </a:ln>
        </p:spPr>
        <p:txBody>
          <a:bodyPr vert="horz" wrap="square" lIns="0" tIns="0" rIns="0" bIns="0" rtlCol="0" anchor="t" anchorCtr="0"/>
          <a:lstStyle/>
          <a:p>
            <a:pPr indent="0" algn="l">
              <a:lnSpc>
                <a:spcPct val="117000"/>
              </a:lnSpc>
              <a:defRPr/>
            </a:pPr>
            <a:r>
              <a:rPr lang="en-US" sz="1400" b="1" i="0" u="none" strike="noStrike">
                <a:solidFill>
                  <a:srgbClr val="FFFFFF">
                    <a:alpha val="90196"/>
                  </a:srgbClr>
                </a:solidFill>
                <a:latin typeface="Noto Sans SC" panose="020B0500000000000000" charset="-122"/>
                <a:ea typeface="Noto Sans SC" panose="020B0500000000000000" charset="-122"/>
                <a:cs typeface="Noto Sans SC" panose="020B0500000000000000" charset="-122"/>
                <a:sym typeface="Noto Sans SC" panose="020B0500000000000000" charset="-122"/>
              </a:rPr>
              <a:t>核心任务：</a:t>
            </a:r>
            <a:br>
              <a:rPr lang="en-US" sz="1600" b="0" i="0" u="none" strike="noStrike">
                <a:solidFill>
                  <a:srgbClr val="1F2329"/>
                </a:solidFill>
                <a:latin typeface="Noto Sans SC" panose="020B0500000000000000" charset="-122"/>
                <a:ea typeface="Noto Sans SC" panose="020B0500000000000000" charset="-122"/>
                <a:cs typeface="Noto Sans SC" panose="020B0500000000000000" charset="-122"/>
                <a:sym typeface="Noto Sans SC" panose="020B0500000000000000" charset="-122"/>
              </a:rPr>
            </a:br>
            <a:r>
              <a:rPr lang="en-US" sz="1300" b="0" i="0" u="none" strike="noStrike">
                <a:solidFill>
                  <a:srgbClr val="D1D5DB"/>
                </a:solidFill>
                <a:latin typeface="Noto Sans SC" panose="020B0500000000000000" charset="-122"/>
                <a:ea typeface="Noto Sans SC" panose="020B0500000000000000" charset="-122"/>
                <a:cs typeface="Noto Sans SC" panose="020B0500000000000000" charset="-122"/>
                <a:sym typeface="Noto Sans SC" panose="020B0500000000000000" charset="-122"/>
              </a:rPr>
              <a:t>挖掘真实市场需求，精准定位用户未被满足的痛点。</a:t>
            </a:r>
            <a:endParaRPr lang="en-US" sz="1100"/>
          </a:p>
          <a:p>
            <a:pPr indent="0" algn="l">
              <a:lnSpc>
                <a:spcPct val="117000"/>
              </a:lnSpc>
            </a:pPr>
            <a:br>
              <a:rPr lang="en-US" sz="1600" b="0" i="0" u="none" strike="noStrike">
                <a:solidFill>
                  <a:srgbClr val="1F2329"/>
                </a:solidFill>
                <a:latin typeface="Noto Sans SC" panose="020B0500000000000000" charset="-122"/>
                <a:ea typeface="Noto Sans SC" panose="020B0500000000000000" charset="-122"/>
                <a:cs typeface="Noto Sans SC" panose="020B0500000000000000" charset="-122"/>
                <a:sym typeface="Noto Sans SC" panose="020B0500000000000000" charset="-122"/>
              </a:rPr>
            </a:br>
            <a:endParaRPr lang="en-US" sz="1600" b="0" i="0" u="none" strike="noStrike">
              <a:solidFill>
                <a:srgbClr val="1F2329"/>
              </a:solidFill>
              <a:latin typeface="Noto Sans SC" panose="020B0500000000000000" charset="-122"/>
              <a:ea typeface="Noto Sans SC" panose="020B0500000000000000" charset="-122"/>
              <a:cs typeface="Noto Sans SC" panose="020B0500000000000000" charset="-122"/>
              <a:sym typeface="Noto Sans SC" panose="020B0500000000000000" charset="-122"/>
            </a:endParaRPr>
          </a:p>
          <a:p>
            <a:pPr indent="0" algn="l">
              <a:lnSpc>
                <a:spcPct val="117000"/>
              </a:lnSpc>
            </a:pPr>
            <a:r>
              <a:rPr lang="en-US" sz="1400" b="1" i="0" u="none" strike="noStrike">
                <a:solidFill>
                  <a:srgbClr val="FFFFFF">
                    <a:alpha val="90196"/>
                  </a:srgbClr>
                </a:solidFill>
                <a:latin typeface="Noto Sans SC" panose="020B0500000000000000" charset="-122"/>
                <a:ea typeface="Noto Sans SC" panose="020B0500000000000000" charset="-122"/>
                <a:cs typeface="Noto Sans SC" panose="020B0500000000000000" charset="-122"/>
                <a:sym typeface="Noto Sans SC" panose="020B0500000000000000" charset="-122"/>
              </a:rPr>
              <a:t>AI 应用策略：</a:t>
            </a:r>
            <a:endParaRPr lang="en-US" sz="1400" b="1" i="0" u="none" strike="noStrike">
              <a:solidFill>
                <a:srgbClr val="FFFFFF">
                  <a:alpha val="90196"/>
                </a:srgbClr>
              </a:solidFill>
              <a:latin typeface="Noto Sans SC" panose="020B0500000000000000" charset="-122"/>
              <a:ea typeface="Noto Sans SC" panose="020B0500000000000000" charset="-122"/>
              <a:cs typeface="Noto Sans SC" panose="020B0500000000000000" charset="-122"/>
              <a:sym typeface="Noto Sans SC" panose="020B0500000000000000" charset="-122"/>
            </a:endParaRPr>
          </a:p>
          <a:p>
            <a:pPr marL="152400" indent="-152400" algn="l">
              <a:lnSpc>
                <a:spcPct val="108000"/>
              </a:lnSpc>
              <a:buClr>
                <a:srgbClr val="00E5FF"/>
              </a:buClr>
              <a:buChar char="•"/>
            </a:pPr>
            <a:r>
              <a:rPr lang="en-US" sz="1200" b="1" i="0" u="none" strike="noStrike">
                <a:solidFill>
                  <a:srgbClr val="00E5FF"/>
                </a:solidFill>
                <a:latin typeface="Noto Sans SC" panose="020B0500000000000000" charset="-122"/>
                <a:ea typeface="Noto Sans SC" panose="020B0500000000000000" charset="-122"/>
                <a:cs typeface="Noto Sans SC" panose="020B0500000000000000" charset="-122"/>
                <a:sym typeface="Noto Sans SC" panose="020B0500000000000000" charset="-122"/>
              </a:rPr>
              <a:t>Claude Cowork：</a:t>
            </a:r>
            <a:r>
              <a:rPr lang="en-US" sz="1200" b="0" i="0" u="none" strike="noStrike">
                <a:solidFill>
                  <a:srgbClr val="D1D5DB"/>
                </a:solidFill>
                <a:latin typeface="Noto Sans SC" panose="020B0500000000000000" charset="-122"/>
                <a:ea typeface="Noto Sans SC" panose="020B0500000000000000" charset="-122"/>
                <a:cs typeface="Noto Sans SC" panose="020B0500000000000000" charset="-122"/>
                <a:sym typeface="Noto Sans SC" panose="020B0500000000000000" charset="-122"/>
              </a:rPr>
              <a:t>批量分析全网评论、论坛反馈，自动化识别高频抱怨与潜在需求点。</a:t>
            </a:r>
            <a:endParaRPr lang="en-US" sz="1200" b="0" i="0" u="none" strike="noStrike">
              <a:solidFill>
                <a:srgbClr val="D1D5DB"/>
              </a:solidFill>
              <a:latin typeface="Noto Sans SC" panose="020B0500000000000000" charset="-122"/>
              <a:ea typeface="Noto Sans SC" panose="020B0500000000000000" charset="-122"/>
              <a:cs typeface="Noto Sans SC" panose="020B0500000000000000" charset="-122"/>
              <a:sym typeface="Noto Sans SC" panose="020B0500000000000000" charset="-122"/>
            </a:endParaRPr>
          </a:p>
          <a:p>
            <a:pPr marL="152400" indent="-152400" algn="l">
              <a:lnSpc>
                <a:spcPct val="108000"/>
              </a:lnSpc>
              <a:buClr>
                <a:srgbClr val="00E5FF"/>
              </a:buClr>
              <a:buChar char="•"/>
            </a:pPr>
            <a:r>
              <a:rPr lang="en-US" sz="1200" b="1" i="0" u="none" strike="noStrike">
                <a:solidFill>
                  <a:srgbClr val="00E5FF"/>
                </a:solidFill>
                <a:latin typeface="Noto Sans SC" panose="020B0500000000000000" charset="-122"/>
                <a:ea typeface="Noto Sans SC" panose="020B0500000000000000" charset="-122"/>
                <a:cs typeface="Noto Sans SC" panose="020B0500000000000000" charset="-122"/>
                <a:sym typeface="Noto Sans SC" panose="020B0500000000000000" charset="-122"/>
              </a:rPr>
              <a:t>数据建模：</a:t>
            </a:r>
            <a:r>
              <a:rPr lang="en-US" sz="1200" b="0" i="0" u="none" strike="noStrike">
                <a:solidFill>
                  <a:srgbClr val="D1D5DB"/>
                </a:solidFill>
                <a:latin typeface="Noto Sans SC" panose="020B0500000000000000" charset="-122"/>
                <a:ea typeface="Noto Sans SC" panose="020B0500000000000000" charset="-122"/>
                <a:cs typeface="Noto Sans SC" panose="020B0500000000000000" charset="-122"/>
                <a:sym typeface="Noto Sans SC" panose="020B0500000000000000" charset="-122"/>
              </a:rPr>
              <a:t>基于行业报告关键数据，快速构建 TAM/SAM/SOM 市场规模模型。</a:t>
            </a:r>
            <a:endParaRPr lang="en-US" sz="1200" b="0" i="0" u="none" strike="noStrike">
              <a:solidFill>
                <a:srgbClr val="D1D5DB"/>
              </a:solidFill>
              <a:latin typeface="Noto Sans SC" panose="020B0500000000000000" charset="-122"/>
              <a:ea typeface="Noto Sans SC" panose="020B0500000000000000" charset="-122"/>
              <a:cs typeface="Noto Sans SC" panose="020B0500000000000000" charset="-122"/>
              <a:sym typeface="Noto Sans SC" panose="020B0500000000000000" charset="-122"/>
            </a:endParaRPr>
          </a:p>
        </p:txBody>
      </p:sp>
      <p:sp>
        <p:nvSpPr>
          <p:cNvPr id="16" name="AutoShape 16"/>
          <p:cNvSpPr/>
          <p:nvPr/>
        </p:nvSpPr>
        <p:spPr>
          <a:xfrm>
            <a:off x="8128000" y="1651000"/>
            <a:ext cx="3302000" cy="4572000"/>
          </a:xfrm>
          <a:prstGeom prst="roundRect">
            <a:avLst>
              <a:gd name="adj" fmla="val 4615"/>
            </a:avLst>
          </a:prstGeom>
          <a:solidFill>
            <a:srgbClr val="FFFFFF">
              <a:alpha val="8000"/>
            </a:srgbClr>
          </a:solidFill>
          <a:ln w="12700" cap="flat" cmpd="sng">
            <a:solidFill>
              <a:srgbClr val="00E5FF">
                <a:alpha val="30000"/>
              </a:srgbClr>
            </a:solidFill>
            <a:prstDash val="solid"/>
            <a:round/>
          </a:ln>
          <a:effectLst>
            <a:outerShdw blurRad="254000" dist="127000" dir="5400000" algn="tl" rotWithShape="0">
              <a:srgbClr val="000000">
                <a:alpha val="30000"/>
              </a:srgbClr>
            </a:outerShdw>
          </a:effectLst>
        </p:spPr>
        <p:txBody>
          <a:bodyPr vert="horz" wrap="square" lIns="63500" tIns="63500" rIns="63500" bIns="63500" rtlCol="0" anchor="ctr"/>
          <a:lstStyle/>
          <a:p>
            <a:pPr algn="ctr">
              <a:defRPr/>
            </a:pPr>
          </a:p>
        </p:txBody>
      </p:sp>
      <p:sp>
        <p:nvSpPr>
          <p:cNvPr id="17" name="AutoShape 17"/>
          <p:cNvSpPr/>
          <p:nvPr/>
        </p:nvSpPr>
        <p:spPr>
          <a:xfrm>
            <a:off x="8432800" y="1955800"/>
            <a:ext cx="609600" cy="609600"/>
          </a:xfrm>
          <a:prstGeom prst="ellipse">
            <a:avLst/>
          </a:prstGeom>
          <a:solidFill>
            <a:srgbClr val="00E5FF">
              <a:alpha val="15000"/>
            </a:srgbClr>
          </a:solidFill>
          <a:ln w="25400" cap="flat" cmpd="sng">
            <a:noFill/>
            <a:prstDash val="solid"/>
            <a:round/>
          </a:ln>
        </p:spPr>
        <p:txBody>
          <a:bodyPr vert="horz" wrap="square" lIns="63500" tIns="63500" rIns="63500" bIns="63500" rtlCol="0" anchor="ctr"/>
          <a:lstStyle/>
          <a:p>
            <a:pPr algn="ctr">
              <a:defRPr/>
            </a:pPr>
          </a:p>
        </p:txBody>
      </p:sp>
      <p:pic>
        <p:nvPicPr>
          <p:cNvPr id="18" name="Picture 18"/>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8559800" y="2082800"/>
            <a:ext cx="355600" cy="355600"/>
          </a:xfrm>
          <a:prstGeom prst="rect">
            <a:avLst/>
          </a:prstGeom>
        </p:spPr>
      </p:pic>
      <p:sp>
        <p:nvSpPr>
          <p:cNvPr id="19" name="AutoShape 19"/>
          <p:cNvSpPr/>
          <p:nvPr/>
        </p:nvSpPr>
        <p:spPr>
          <a:xfrm>
            <a:off x="9144000" y="2070100"/>
            <a:ext cx="2286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000" b="1" i="0" u="none" strike="noStrike">
                <a:solidFill>
                  <a:srgbClr val="00E5FF"/>
                </a:solidFill>
                <a:latin typeface="Noto Sans SC" panose="020B0500000000000000" charset="-122"/>
                <a:ea typeface="Noto Sans SC" panose="020B0500000000000000" charset="-122"/>
                <a:cs typeface="Noto Sans SC" panose="020B0500000000000000" charset="-122"/>
                <a:sym typeface="Noto Sans SC" panose="020B0500000000000000" charset="-122"/>
              </a:rPr>
              <a:t>趋势分析</a:t>
            </a:r>
            <a:endParaRPr lang="en-US" sz="1100"/>
          </a:p>
        </p:txBody>
      </p:sp>
      <p:cxnSp>
        <p:nvCxnSpPr>
          <p:cNvPr id="20" name="Connector 20"/>
          <p:cNvCxnSpPr/>
          <p:nvPr/>
        </p:nvCxnSpPr>
        <p:spPr>
          <a:xfrm rot="-16215">
            <a:off x="8432815" y="2724150"/>
            <a:ext cx="2692400" cy="12700"/>
          </a:xfrm>
          <a:prstGeom prst="straightConnector1">
            <a:avLst/>
          </a:prstGeom>
          <a:solidFill>
            <a:srgbClr val="DEE0E3">
              <a:alpha val="100000"/>
            </a:srgbClr>
          </a:solidFill>
          <a:ln w="12700" cap="flat" cmpd="sng">
            <a:solidFill>
              <a:srgbClr val="FFFFFF">
                <a:alpha val="15000"/>
              </a:srgbClr>
            </a:solidFill>
            <a:prstDash val="solid"/>
            <a:round/>
            <a:headEnd type="none" w="med" len="med"/>
            <a:tailEnd type="none" w="med" len="med"/>
          </a:ln>
        </p:spPr>
      </p:cxnSp>
      <p:sp>
        <p:nvSpPr>
          <p:cNvPr id="21" name="AutoShape 21"/>
          <p:cNvSpPr/>
          <p:nvPr/>
        </p:nvSpPr>
        <p:spPr>
          <a:xfrm>
            <a:off x="8432800" y="2921000"/>
            <a:ext cx="2692400" cy="3175000"/>
          </a:xfrm>
          <a:prstGeom prst="rect">
            <a:avLst/>
          </a:prstGeom>
          <a:noFill/>
          <a:ln w="12700" cap="flat" cmpd="sng">
            <a:noFill/>
            <a:prstDash val="solid"/>
            <a:round/>
          </a:ln>
        </p:spPr>
        <p:txBody>
          <a:bodyPr vert="horz" wrap="square" lIns="0" tIns="0" rIns="0" bIns="0" rtlCol="0" anchor="t" anchorCtr="0"/>
          <a:lstStyle/>
          <a:p>
            <a:pPr indent="0" algn="l">
              <a:lnSpc>
                <a:spcPct val="117000"/>
              </a:lnSpc>
              <a:defRPr/>
            </a:pPr>
            <a:r>
              <a:rPr lang="en-US" sz="1400" b="1" i="0" u="none" strike="noStrike">
                <a:solidFill>
                  <a:srgbClr val="FFFFFF">
                    <a:alpha val="90196"/>
                  </a:srgbClr>
                </a:solidFill>
                <a:latin typeface="Noto Sans SC" panose="020B0500000000000000" charset="-122"/>
                <a:ea typeface="Noto Sans SC" panose="020B0500000000000000" charset="-122"/>
                <a:cs typeface="Noto Sans SC" panose="020B0500000000000000" charset="-122"/>
                <a:sym typeface="Noto Sans SC" panose="020B0500000000000000" charset="-122"/>
              </a:rPr>
              <a:t>核心任务：</a:t>
            </a:r>
            <a:br>
              <a:rPr lang="en-US" sz="1600" b="0" i="0" u="none" strike="noStrike">
                <a:solidFill>
                  <a:srgbClr val="1F2329"/>
                </a:solidFill>
                <a:latin typeface="Noto Sans SC" panose="020B0500000000000000" charset="-122"/>
                <a:ea typeface="Noto Sans SC" panose="020B0500000000000000" charset="-122"/>
                <a:cs typeface="Noto Sans SC" panose="020B0500000000000000" charset="-122"/>
                <a:sym typeface="Noto Sans SC" panose="020B0500000000000000" charset="-122"/>
              </a:rPr>
            </a:br>
            <a:r>
              <a:rPr lang="en-US" sz="1300" b="0" i="0" u="none" strike="noStrike">
                <a:solidFill>
                  <a:srgbClr val="D1D5DB"/>
                </a:solidFill>
                <a:latin typeface="Noto Sans SC" panose="020B0500000000000000" charset="-122"/>
                <a:ea typeface="Noto Sans SC" panose="020B0500000000000000" charset="-122"/>
                <a:cs typeface="Noto Sans SC" panose="020B0500000000000000" charset="-122"/>
                <a:sym typeface="Noto Sans SC" panose="020B0500000000000000" charset="-122"/>
              </a:rPr>
              <a:t>洞察行业风向，识别最佳的市场进入时机与切入点。</a:t>
            </a:r>
            <a:endParaRPr lang="en-US" sz="1100"/>
          </a:p>
          <a:p>
            <a:pPr indent="0" algn="l">
              <a:lnSpc>
                <a:spcPct val="117000"/>
              </a:lnSpc>
            </a:pPr>
            <a:br>
              <a:rPr lang="en-US" sz="1600" b="0" i="0" u="none" strike="noStrike">
                <a:solidFill>
                  <a:srgbClr val="1F2329"/>
                </a:solidFill>
                <a:latin typeface="Noto Sans SC" panose="020B0500000000000000" charset="-122"/>
                <a:ea typeface="Noto Sans SC" panose="020B0500000000000000" charset="-122"/>
                <a:cs typeface="Noto Sans SC" panose="020B0500000000000000" charset="-122"/>
                <a:sym typeface="Noto Sans SC" panose="020B0500000000000000" charset="-122"/>
              </a:rPr>
            </a:br>
            <a:endParaRPr lang="en-US" sz="1600" b="0" i="0" u="none" strike="noStrike">
              <a:solidFill>
                <a:srgbClr val="1F2329"/>
              </a:solidFill>
              <a:latin typeface="Noto Sans SC" panose="020B0500000000000000" charset="-122"/>
              <a:ea typeface="Noto Sans SC" panose="020B0500000000000000" charset="-122"/>
              <a:cs typeface="Noto Sans SC" panose="020B0500000000000000" charset="-122"/>
              <a:sym typeface="Noto Sans SC" panose="020B0500000000000000" charset="-122"/>
            </a:endParaRPr>
          </a:p>
          <a:p>
            <a:pPr indent="0" algn="l">
              <a:lnSpc>
                <a:spcPct val="117000"/>
              </a:lnSpc>
            </a:pPr>
            <a:r>
              <a:rPr lang="en-US" sz="1400" b="1" i="0" u="none" strike="noStrike">
                <a:solidFill>
                  <a:srgbClr val="FFFFFF">
                    <a:alpha val="90196"/>
                  </a:srgbClr>
                </a:solidFill>
                <a:latin typeface="Noto Sans SC" panose="020B0500000000000000" charset="-122"/>
                <a:ea typeface="Noto Sans SC" panose="020B0500000000000000" charset="-122"/>
                <a:cs typeface="Noto Sans SC" panose="020B0500000000000000" charset="-122"/>
                <a:sym typeface="Noto Sans SC" panose="020B0500000000000000" charset="-122"/>
              </a:rPr>
              <a:t>AI 应用策略：</a:t>
            </a:r>
            <a:endParaRPr lang="en-US" sz="1400" b="1" i="0" u="none" strike="noStrike">
              <a:solidFill>
                <a:srgbClr val="FFFFFF">
                  <a:alpha val="90196"/>
                </a:srgbClr>
              </a:solidFill>
              <a:latin typeface="Noto Sans SC" panose="020B0500000000000000" charset="-122"/>
              <a:ea typeface="Noto Sans SC" panose="020B0500000000000000" charset="-122"/>
              <a:cs typeface="Noto Sans SC" panose="020B0500000000000000" charset="-122"/>
              <a:sym typeface="Noto Sans SC" panose="020B0500000000000000" charset="-122"/>
            </a:endParaRPr>
          </a:p>
          <a:p>
            <a:pPr marL="152400" indent="-152400" algn="l">
              <a:lnSpc>
                <a:spcPct val="108000"/>
              </a:lnSpc>
              <a:buClr>
                <a:srgbClr val="00E5FF"/>
              </a:buClr>
              <a:buChar char="•"/>
            </a:pPr>
            <a:r>
              <a:rPr lang="en-US" sz="1200" b="1" i="0" u="none" strike="noStrike">
                <a:solidFill>
                  <a:srgbClr val="00E5FF"/>
                </a:solidFill>
                <a:latin typeface="Noto Sans SC" panose="020B0500000000000000" charset="-122"/>
                <a:ea typeface="Noto Sans SC" panose="020B0500000000000000" charset="-122"/>
                <a:cs typeface="Noto Sans SC" panose="020B0500000000000000" charset="-122"/>
                <a:sym typeface="Noto Sans SC" panose="020B0500000000000000" charset="-122"/>
              </a:rPr>
              <a:t>社区洞察：</a:t>
            </a:r>
            <a:r>
              <a:rPr lang="en-US" sz="1200" b="0" i="0" u="none" strike="noStrike">
                <a:solidFill>
                  <a:srgbClr val="D1D5DB"/>
                </a:solidFill>
                <a:latin typeface="Noto Sans SC" panose="020B0500000000000000" charset="-122"/>
                <a:ea typeface="Noto Sans SC" panose="020B0500000000000000" charset="-122"/>
                <a:cs typeface="Noto Sans SC" panose="020B0500000000000000" charset="-122"/>
                <a:sym typeface="Noto Sans SC" panose="020B0500000000000000" charset="-122"/>
              </a:rPr>
              <a:t>追踪 Reddit、LinkedIn 等专业社区讨论，捕捉用户描述问题的高频词汇与情绪变化。</a:t>
            </a:r>
            <a:endParaRPr lang="en-US" sz="1200" b="0" i="0" u="none" strike="noStrike">
              <a:solidFill>
                <a:srgbClr val="D1D5DB"/>
              </a:solidFill>
              <a:latin typeface="Noto Sans SC" panose="020B0500000000000000" charset="-122"/>
              <a:ea typeface="Noto Sans SC" panose="020B0500000000000000" charset="-122"/>
              <a:cs typeface="Noto Sans SC" panose="020B0500000000000000" charset="-122"/>
              <a:sym typeface="Noto Sans SC" panose="020B0500000000000000" charset="-122"/>
            </a:endParaRPr>
          </a:p>
          <a:p>
            <a:pPr marL="152400" indent="-152400" algn="l">
              <a:lnSpc>
                <a:spcPct val="108000"/>
              </a:lnSpc>
              <a:buClr>
                <a:srgbClr val="00E5FF"/>
              </a:buClr>
              <a:buChar char="•"/>
            </a:pPr>
            <a:r>
              <a:rPr lang="en-US" sz="1200" b="1" i="0" u="none" strike="noStrike">
                <a:solidFill>
                  <a:srgbClr val="00E5FF"/>
                </a:solidFill>
                <a:latin typeface="Noto Sans SC" panose="020B0500000000000000" charset="-122"/>
                <a:ea typeface="Noto Sans SC" panose="020B0500000000000000" charset="-122"/>
                <a:cs typeface="Noto Sans SC" panose="020B0500000000000000" charset="-122"/>
                <a:sym typeface="Noto Sans SC" panose="020B0500000000000000" charset="-122"/>
              </a:rPr>
              <a:t>时机研判：</a:t>
            </a:r>
            <a:r>
              <a:rPr lang="en-US" sz="1200" b="0" i="0" u="none" strike="noStrike">
                <a:solidFill>
                  <a:srgbClr val="D1D5DB"/>
                </a:solidFill>
                <a:latin typeface="Noto Sans SC" panose="020B0500000000000000" charset="-122"/>
                <a:ea typeface="Noto Sans SC" panose="020B0500000000000000" charset="-122"/>
                <a:cs typeface="Noto Sans SC" panose="020B0500000000000000" charset="-122"/>
                <a:sym typeface="Noto Sans SC" panose="020B0500000000000000" charset="-122"/>
              </a:rPr>
              <a:t>综合分析讨论热度与解决方案成熟度，辅助判断市场爆发前夜。</a:t>
            </a:r>
            <a:endParaRPr lang="en-US" sz="1200" b="0" i="0" u="none" strike="noStrike">
              <a:solidFill>
                <a:srgbClr val="D1D5DB"/>
              </a:solidFill>
              <a:latin typeface="Noto Sans SC" panose="020B0500000000000000" charset="-122"/>
              <a:ea typeface="Noto Sans SC" panose="020B0500000000000000" charset="-122"/>
              <a:cs typeface="Noto Sans SC" panose="020B0500000000000000" charset="-122"/>
              <a:sym typeface="Noto Sans SC" panose="020B0500000000000000" charset="-122"/>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000000">
              <a:alpha val="80000"/>
            </a:srgbClr>
          </a:solidFill>
          <a:ln w="25400" cap="flat" cmpd="sng">
            <a:noFill/>
            <a:prstDash val="solid"/>
            <a:round/>
          </a:ln>
        </p:spPr>
        <p:txBody>
          <a:bodyPr vert="horz" wrap="square" lIns="63500" tIns="63500" rIns="63500" bIns="63500" rtlCol="0" anchor="ctr"/>
          <a:lstStyle/>
          <a:p>
            <a:pPr algn="ctr">
              <a:defRPr/>
            </a:pPr>
          </a:p>
        </p:txBody>
      </p:sp>
      <p:sp>
        <p:nvSpPr>
          <p:cNvPr id="3" name="AutoShape 3"/>
          <p:cNvSpPr/>
          <p:nvPr/>
        </p:nvSpPr>
        <p:spPr>
          <a:xfrm>
            <a:off x="762000" y="635000"/>
            <a:ext cx="106680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3200" b="1" i="0" u="none" strike="noStrike">
                <a:solidFill>
                  <a:srgbClr val="FFFFFF"/>
                </a:solidFill>
                <a:latin typeface="Noto Sans SC" panose="020B0500000000000000" charset="-122"/>
                <a:ea typeface="Noto Sans SC" panose="020B0500000000000000" charset="-122"/>
                <a:cs typeface="Noto Sans SC" panose="020B0500000000000000" charset="-122"/>
                <a:sym typeface="Noto Sans SC" panose="020B0500000000000000" charset="-122"/>
              </a:rPr>
              <a:t>如何利用Claude进行创意阶段的研究与验证 (3)</a:t>
            </a:r>
            <a:endParaRPr lang="en-US" sz="1100"/>
          </a:p>
        </p:txBody>
      </p:sp>
      <p:sp>
        <p:nvSpPr>
          <p:cNvPr id="4" name="AutoShape 4"/>
          <p:cNvSpPr/>
          <p:nvPr/>
        </p:nvSpPr>
        <p:spPr>
          <a:xfrm>
            <a:off x="762000" y="1651000"/>
            <a:ext cx="3302000" cy="4572000"/>
          </a:xfrm>
          <a:prstGeom prst="roundRect">
            <a:avLst>
              <a:gd name="adj" fmla="val 4615"/>
            </a:avLst>
          </a:prstGeom>
          <a:solidFill>
            <a:srgbClr val="FFFFFF">
              <a:alpha val="8000"/>
            </a:srgbClr>
          </a:solidFill>
          <a:ln w="12700" cap="flat" cmpd="sng">
            <a:solidFill>
              <a:srgbClr val="00E5FF">
                <a:alpha val="30000"/>
              </a:srgbClr>
            </a:solidFill>
            <a:prstDash val="solid"/>
            <a:round/>
          </a:ln>
        </p:spPr>
        <p:txBody>
          <a:bodyPr vert="horz" wrap="square" lIns="63500" tIns="63500" rIns="63500" bIns="63500" rtlCol="0" anchor="ctr"/>
          <a:lstStyle/>
          <a:p>
            <a:pPr algn="ctr">
              <a:defRPr/>
            </a:pPr>
          </a:p>
        </p:txBody>
      </p:sp>
      <p:pic>
        <p:nvPicPr>
          <p:cNvPr id="5" name="Picture 5"/>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066800" y="1955800"/>
            <a:ext cx="406400" cy="406400"/>
          </a:xfrm>
          <a:prstGeom prst="rect">
            <a:avLst/>
          </a:prstGeom>
        </p:spPr>
      </p:pic>
      <p:sp>
        <p:nvSpPr>
          <p:cNvPr id="6" name="AutoShape 6"/>
          <p:cNvSpPr/>
          <p:nvPr/>
        </p:nvSpPr>
        <p:spPr>
          <a:xfrm>
            <a:off x="1066800" y="2489200"/>
            <a:ext cx="26924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FFFFFF"/>
                </a:solidFill>
                <a:latin typeface="Noto Sans SC" panose="020B0500000000000000" charset="-122"/>
                <a:ea typeface="Noto Sans SC" panose="020B0500000000000000" charset="-122"/>
                <a:cs typeface="Noto Sans SC" panose="020B0500000000000000" charset="-122"/>
                <a:sym typeface="Noto Sans SC" panose="020B0500000000000000" charset="-122"/>
              </a:rPr>
              <a:t>客户发现规划</a:t>
            </a:r>
            <a:endParaRPr lang="en-US" sz="1100"/>
          </a:p>
        </p:txBody>
      </p:sp>
      <p:sp>
        <p:nvSpPr>
          <p:cNvPr id="7" name="AutoShape 7"/>
          <p:cNvSpPr/>
          <p:nvPr/>
        </p:nvSpPr>
        <p:spPr>
          <a:xfrm>
            <a:off x="1066800" y="3048000"/>
            <a:ext cx="2692400" cy="2921000"/>
          </a:xfrm>
          <a:prstGeom prst="rect">
            <a:avLst/>
          </a:prstGeom>
          <a:noFill/>
          <a:ln w="12700" cap="flat" cmpd="sng">
            <a:noFill/>
            <a:prstDash val="solid"/>
            <a:round/>
          </a:ln>
        </p:spPr>
        <p:txBody>
          <a:bodyPr vert="horz" wrap="square" lIns="0" tIns="0" rIns="0" bIns="0" rtlCol="0" anchor="t" anchorCtr="0"/>
          <a:lstStyle/>
          <a:p>
            <a:pPr indent="0" algn="l">
              <a:lnSpc>
                <a:spcPct val="117000"/>
              </a:lnSpc>
              <a:defRPr/>
            </a:pPr>
            <a:r>
              <a:rPr lang="en-US" sz="1300" b="1" i="0" u="none" strike="noStrike">
                <a:solidFill>
                  <a:srgbClr val="E5E7EB"/>
                </a:solidFill>
                <a:latin typeface="Noto Sans SC" panose="020B0500000000000000" charset="-122"/>
                <a:ea typeface="Noto Sans SC" panose="020B0500000000000000" charset="-122"/>
                <a:cs typeface="Noto Sans SC" panose="020B0500000000000000" charset="-122"/>
                <a:sym typeface="Noto Sans SC" panose="020B0500000000000000" charset="-122"/>
              </a:rPr>
              <a:t>核心任务：</a:t>
            </a:r>
            <a:br>
              <a:rPr lang="en-US" sz="1600" b="0" i="0" u="none" strike="noStrike">
                <a:solidFill>
                  <a:srgbClr val="1F2329"/>
                </a:solidFill>
                <a:latin typeface="Noto Sans SC" panose="020B0500000000000000" charset="-122"/>
                <a:ea typeface="Noto Sans SC" panose="020B0500000000000000" charset="-122"/>
                <a:cs typeface="Noto Sans SC" panose="020B0500000000000000" charset="-122"/>
                <a:sym typeface="Noto Sans SC" panose="020B0500000000000000" charset="-122"/>
              </a:rPr>
            </a:br>
            <a:r>
              <a:rPr lang="en-US" sz="1200" b="0" i="0" u="none" strike="noStrike">
                <a:solidFill>
                  <a:srgbClr val="D1D5DB"/>
                </a:solidFill>
                <a:latin typeface="Noto Sans SC" panose="020B0500000000000000" charset="-122"/>
                <a:ea typeface="Noto Sans SC" panose="020B0500000000000000" charset="-122"/>
                <a:cs typeface="Noto Sans SC" panose="020B0500000000000000" charset="-122"/>
                <a:sym typeface="Noto Sans SC" panose="020B0500000000000000" charset="-122"/>
              </a:rPr>
              <a:t>确定访谈对象与核心问题，确保调研方向精准。</a:t>
            </a:r>
            <a:endParaRPr lang="en-US" sz="1100"/>
          </a:p>
          <a:p>
            <a:pPr indent="0" algn="l">
              <a:lnSpc>
                <a:spcPct val="117000"/>
              </a:lnSpc>
            </a:pPr>
            <a:br>
              <a:rPr lang="en-US" sz="1600" b="0" i="0" u="none" strike="noStrike">
                <a:solidFill>
                  <a:srgbClr val="1F2329"/>
                </a:solidFill>
                <a:latin typeface="Noto Sans SC" panose="020B0500000000000000" charset="-122"/>
                <a:ea typeface="Noto Sans SC" panose="020B0500000000000000" charset="-122"/>
                <a:cs typeface="Noto Sans SC" panose="020B0500000000000000" charset="-122"/>
                <a:sym typeface="Noto Sans SC" panose="020B0500000000000000" charset="-122"/>
              </a:rPr>
            </a:br>
            <a:r>
              <a:rPr lang="en-US" sz="1300" b="1" i="0" u="none" strike="noStrike">
                <a:solidFill>
                  <a:srgbClr val="00E5FF"/>
                </a:solidFill>
                <a:latin typeface="Noto Sans SC" panose="020B0500000000000000" charset="-122"/>
                <a:ea typeface="Noto Sans SC" panose="020B0500000000000000" charset="-122"/>
                <a:cs typeface="Noto Sans SC" panose="020B0500000000000000" charset="-122"/>
                <a:sym typeface="Noto Sans SC" panose="020B0500000000000000" charset="-122"/>
              </a:rPr>
              <a:t>AI 赋能应用：</a:t>
            </a:r>
            <a:br>
              <a:rPr lang="en-US" sz="1600" b="0" i="0" u="none" strike="noStrike">
                <a:solidFill>
                  <a:srgbClr val="1F2329"/>
                </a:solidFill>
                <a:latin typeface="Noto Sans SC" panose="020B0500000000000000" charset="-122"/>
                <a:ea typeface="Noto Sans SC" panose="020B0500000000000000" charset="-122"/>
                <a:cs typeface="Noto Sans SC" panose="020B0500000000000000" charset="-122"/>
                <a:sym typeface="Noto Sans SC" panose="020B0500000000000000" charset="-122"/>
              </a:rPr>
            </a:br>
            <a:r>
              <a:rPr lang="en-US" sz="1200" b="0" i="0" u="none" strike="noStrike">
                <a:solidFill>
                  <a:srgbClr val="D1D5DB"/>
                </a:solidFill>
                <a:latin typeface="Noto Sans SC" panose="020B0500000000000000" charset="-122"/>
                <a:ea typeface="Noto Sans SC" panose="020B0500000000000000" charset="-122"/>
                <a:cs typeface="Noto Sans SC" panose="020B0500000000000000" charset="-122"/>
                <a:sym typeface="Noto Sans SC" panose="020B0500000000000000" charset="-122"/>
              </a:rPr>
              <a:t>•</a:t>
            </a:r>
            <a:r>
              <a:rPr lang="en-US" sz="1200" b="1" i="0" u="none" strike="noStrike">
                <a:solidFill>
                  <a:srgbClr val="D1D5DB"/>
                </a:solidFill>
                <a:latin typeface="Noto Sans SC" panose="020B0500000000000000" charset="-122"/>
                <a:ea typeface="Noto Sans SC" panose="020B0500000000000000" charset="-122"/>
                <a:cs typeface="Noto Sans SC" panose="020B0500000000000000" charset="-122"/>
                <a:sym typeface="Noto Sans SC" panose="020B0500000000000000" charset="-122"/>
              </a:rPr>
              <a:t>Claude (Chat)</a:t>
            </a:r>
            <a:r>
              <a:rPr lang="en-US" sz="1200" b="0" i="0" u="none" strike="noStrike">
                <a:solidFill>
                  <a:srgbClr val="D1D5DB"/>
                </a:solidFill>
                <a:latin typeface="Noto Sans SC" panose="020B0500000000000000" charset="-122"/>
                <a:ea typeface="Noto Sans SC" panose="020B0500000000000000" charset="-122"/>
                <a:cs typeface="Noto Sans SC" panose="020B0500000000000000" charset="-122"/>
                <a:sym typeface="Noto Sans SC" panose="020B0500000000000000" charset="-122"/>
              </a:rPr>
              <a:t>：构建精准的目标用户画像，设计能揭示真实行为的访谈提纲。</a:t>
            </a:r>
            <a:br>
              <a:rPr lang="en-US" sz="1600" b="0" i="0" u="none" strike="noStrike">
                <a:solidFill>
                  <a:srgbClr val="1F2329"/>
                </a:solidFill>
                <a:latin typeface="Noto Sans SC" panose="020B0500000000000000" charset="-122"/>
                <a:ea typeface="Noto Sans SC" panose="020B0500000000000000" charset="-122"/>
                <a:cs typeface="Noto Sans SC" panose="020B0500000000000000" charset="-122"/>
                <a:sym typeface="Noto Sans SC" panose="020B0500000000000000" charset="-122"/>
              </a:rPr>
            </a:br>
            <a:r>
              <a:rPr lang="en-US" sz="1200" b="0" i="0" u="none" strike="noStrike">
                <a:solidFill>
                  <a:srgbClr val="D1D5DB"/>
                </a:solidFill>
                <a:latin typeface="Noto Sans SC" panose="020B0500000000000000" charset="-122"/>
                <a:ea typeface="Noto Sans SC" panose="020B0500000000000000" charset="-122"/>
                <a:cs typeface="Noto Sans SC" panose="020B0500000000000000" charset="-122"/>
                <a:sym typeface="Noto Sans SC" panose="020B0500000000000000" charset="-122"/>
              </a:rPr>
              <a:t>•</a:t>
            </a:r>
            <a:r>
              <a:rPr lang="en-US" sz="1200" b="1" i="0" u="none" strike="noStrike">
                <a:solidFill>
                  <a:srgbClr val="D1D5DB"/>
                </a:solidFill>
                <a:latin typeface="Noto Sans SC" panose="020B0500000000000000" charset="-122"/>
                <a:ea typeface="Noto Sans SC" panose="020B0500000000000000" charset="-122"/>
                <a:cs typeface="Noto Sans SC" panose="020B0500000000000000" charset="-122"/>
                <a:sym typeface="Noto Sans SC" panose="020B0500000000000000" charset="-122"/>
              </a:rPr>
              <a:t>Claude Cowork</a:t>
            </a:r>
            <a:r>
              <a:rPr lang="en-US" sz="1200" b="0" i="0" u="none" strike="noStrike">
                <a:solidFill>
                  <a:srgbClr val="D1D5DB"/>
                </a:solidFill>
                <a:latin typeface="Noto Sans SC" panose="020B0500000000000000" charset="-122"/>
                <a:ea typeface="Noto Sans SC" panose="020B0500000000000000" charset="-122"/>
                <a:cs typeface="Noto Sans SC" panose="020B0500000000000000" charset="-122"/>
                <a:sym typeface="Noto Sans SC" panose="020B0500000000000000" charset="-122"/>
              </a:rPr>
              <a:t>：自动化构建潜在客户列表，并起草个性化的外联邮件，提升触达效率。</a:t>
            </a:r>
            <a:endParaRPr lang="en-US" sz="1200" b="0" i="0" u="none" strike="noStrike">
              <a:solidFill>
                <a:srgbClr val="D1D5DB"/>
              </a:solidFill>
              <a:latin typeface="Noto Sans SC" panose="020B0500000000000000" charset="-122"/>
              <a:ea typeface="Noto Sans SC" panose="020B0500000000000000" charset="-122"/>
              <a:cs typeface="Noto Sans SC" panose="020B0500000000000000" charset="-122"/>
              <a:sym typeface="Noto Sans SC" panose="020B0500000000000000" charset="-122"/>
            </a:endParaRPr>
          </a:p>
        </p:txBody>
      </p:sp>
      <p:sp>
        <p:nvSpPr>
          <p:cNvPr id="8" name="AutoShape 8"/>
          <p:cNvSpPr/>
          <p:nvPr/>
        </p:nvSpPr>
        <p:spPr>
          <a:xfrm>
            <a:off x="4445000" y="1651000"/>
            <a:ext cx="3302000" cy="4572000"/>
          </a:xfrm>
          <a:prstGeom prst="roundRect">
            <a:avLst>
              <a:gd name="adj" fmla="val 4615"/>
            </a:avLst>
          </a:prstGeom>
          <a:solidFill>
            <a:srgbClr val="FFFFFF">
              <a:alpha val="8000"/>
            </a:srgbClr>
          </a:solidFill>
          <a:ln w="12700" cap="flat" cmpd="sng">
            <a:solidFill>
              <a:srgbClr val="00E5FF">
                <a:alpha val="30000"/>
              </a:srgbClr>
            </a:solidFill>
            <a:prstDash val="solid"/>
            <a:round/>
          </a:ln>
        </p:spPr>
        <p:txBody>
          <a:bodyPr vert="horz" wrap="square" lIns="63500" tIns="63500" rIns="63500" bIns="63500" rtlCol="0" anchor="ctr"/>
          <a:lstStyle/>
          <a:p>
            <a:pPr algn="ctr">
              <a:defRPr/>
            </a:pPr>
          </a:p>
        </p:txBody>
      </p:sp>
      <p:pic>
        <p:nvPicPr>
          <p:cNvPr id="9" name="Picture 9"/>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4749800" y="1955800"/>
            <a:ext cx="406400" cy="406400"/>
          </a:xfrm>
          <a:prstGeom prst="rect">
            <a:avLst/>
          </a:prstGeom>
        </p:spPr>
      </p:pic>
      <p:sp>
        <p:nvSpPr>
          <p:cNvPr id="10" name="AutoShape 10"/>
          <p:cNvSpPr/>
          <p:nvPr/>
        </p:nvSpPr>
        <p:spPr>
          <a:xfrm>
            <a:off x="4749800" y="2489200"/>
            <a:ext cx="26924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FFFFFF"/>
                </a:solidFill>
                <a:latin typeface="Noto Sans SC" panose="020B0500000000000000" charset="-122"/>
                <a:ea typeface="Noto Sans SC" panose="020B0500000000000000" charset="-122"/>
                <a:cs typeface="Noto Sans SC" panose="020B0500000000000000" charset="-122"/>
                <a:sym typeface="Noto Sans SC" panose="020B0500000000000000" charset="-122"/>
              </a:rPr>
              <a:t>访谈洞察分析</a:t>
            </a:r>
            <a:endParaRPr lang="en-US" sz="1100"/>
          </a:p>
        </p:txBody>
      </p:sp>
      <p:sp>
        <p:nvSpPr>
          <p:cNvPr id="11" name="AutoShape 11"/>
          <p:cNvSpPr/>
          <p:nvPr/>
        </p:nvSpPr>
        <p:spPr>
          <a:xfrm>
            <a:off x="4749800" y="3048000"/>
            <a:ext cx="2692400" cy="2921000"/>
          </a:xfrm>
          <a:prstGeom prst="rect">
            <a:avLst/>
          </a:prstGeom>
          <a:noFill/>
          <a:ln w="12700" cap="flat" cmpd="sng">
            <a:noFill/>
            <a:prstDash val="solid"/>
            <a:round/>
          </a:ln>
        </p:spPr>
        <p:txBody>
          <a:bodyPr vert="horz" wrap="square" lIns="0" tIns="0" rIns="0" bIns="0" rtlCol="0" anchor="t" anchorCtr="0"/>
          <a:lstStyle/>
          <a:p>
            <a:pPr indent="0" algn="l">
              <a:lnSpc>
                <a:spcPct val="117000"/>
              </a:lnSpc>
              <a:defRPr/>
            </a:pPr>
            <a:r>
              <a:rPr lang="en-US" sz="1300" b="1" i="0" u="none" strike="noStrike">
                <a:solidFill>
                  <a:srgbClr val="E5E7EB"/>
                </a:solidFill>
                <a:latin typeface="Noto Sans SC" panose="020B0500000000000000" charset="-122"/>
                <a:ea typeface="Noto Sans SC" panose="020B0500000000000000" charset="-122"/>
                <a:cs typeface="Noto Sans SC" panose="020B0500000000000000" charset="-122"/>
                <a:sym typeface="Noto Sans SC" panose="020B0500000000000000" charset="-122"/>
              </a:rPr>
              <a:t>核心任务：</a:t>
            </a:r>
            <a:br>
              <a:rPr lang="en-US" sz="1600" b="0" i="0" u="none" strike="noStrike">
                <a:solidFill>
                  <a:srgbClr val="1F2329"/>
                </a:solidFill>
                <a:latin typeface="Noto Sans SC" panose="020B0500000000000000" charset="-122"/>
                <a:ea typeface="Noto Sans SC" panose="020B0500000000000000" charset="-122"/>
                <a:cs typeface="Noto Sans SC" panose="020B0500000000000000" charset="-122"/>
                <a:sym typeface="Noto Sans SC" panose="020B0500000000000000" charset="-122"/>
              </a:rPr>
            </a:br>
            <a:r>
              <a:rPr lang="en-US" sz="1200" b="0" i="0" u="none" strike="noStrike">
                <a:solidFill>
                  <a:srgbClr val="D1D5DB"/>
                </a:solidFill>
                <a:latin typeface="Noto Sans SC" panose="020B0500000000000000" charset="-122"/>
                <a:ea typeface="Noto Sans SC" panose="020B0500000000000000" charset="-122"/>
                <a:cs typeface="Noto Sans SC" panose="020B0500000000000000" charset="-122"/>
                <a:sym typeface="Noto Sans SC" panose="020B0500000000000000" charset="-122"/>
              </a:rPr>
              <a:t>从大量定性访谈数据中提炼关键模式，验证或推翻初始假设。</a:t>
            </a:r>
            <a:endParaRPr lang="en-US" sz="1100"/>
          </a:p>
          <a:p>
            <a:pPr indent="0" algn="l">
              <a:lnSpc>
                <a:spcPct val="117000"/>
              </a:lnSpc>
            </a:pPr>
            <a:br>
              <a:rPr lang="en-US" sz="1600" b="0" i="0" u="none" strike="noStrike">
                <a:solidFill>
                  <a:srgbClr val="1F2329"/>
                </a:solidFill>
                <a:latin typeface="Noto Sans SC" panose="020B0500000000000000" charset="-122"/>
                <a:ea typeface="Noto Sans SC" panose="020B0500000000000000" charset="-122"/>
                <a:cs typeface="Noto Sans SC" panose="020B0500000000000000" charset="-122"/>
                <a:sym typeface="Noto Sans SC" panose="020B0500000000000000" charset="-122"/>
              </a:rPr>
            </a:br>
            <a:r>
              <a:rPr lang="en-US" sz="1300" b="1" i="0" u="none" strike="noStrike">
                <a:solidFill>
                  <a:srgbClr val="00E5FF"/>
                </a:solidFill>
                <a:latin typeface="Noto Sans SC" panose="020B0500000000000000" charset="-122"/>
                <a:ea typeface="Noto Sans SC" panose="020B0500000000000000" charset="-122"/>
                <a:cs typeface="Noto Sans SC" panose="020B0500000000000000" charset="-122"/>
                <a:sym typeface="Noto Sans SC" panose="020B0500000000000000" charset="-122"/>
              </a:rPr>
              <a:t>AI 赋能应用：</a:t>
            </a:r>
            <a:br>
              <a:rPr lang="en-US" sz="1600" b="0" i="0" u="none" strike="noStrike">
                <a:solidFill>
                  <a:srgbClr val="1F2329"/>
                </a:solidFill>
                <a:latin typeface="Noto Sans SC" panose="020B0500000000000000" charset="-122"/>
                <a:ea typeface="Noto Sans SC" panose="020B0500000000000000" charset="-122"/>
                <a:cs typeface="Noto Sans SC" panose="020B0500000000000000" charset="-122"/>
                <a:sym typeface="Noto Sans SC" panose="020B0500000000000000" charset="-122"/>
              </a:rPr>
            </a:br>
            <a:r>
              <a:rPr lang="en-US" sz="1200" b="0" i="0" u="none" strike="noStrike">
                <a:solidFill>
                  <a:srgbClr val="D1D5DB"/>
                </a:solidFill>
                <a:latin typeface="Noto Sans SC" panose="020B0500000000000000" charset="-122"/>
                <a:ea typeface="Noto Sans SC" panose="020B0500000000000000" charset="-122"/>
                <a:cs typeface="Noto Sans SC" panose="020B0500000000000000" charset="-122"/>
                <a:sym typeface="Noto Sans SC" panose="020B0500000000000000" charset="-122"/>
              </a:rPr>
              <a:t>•</a:t>
            </a:r>
            <a:r>
              <a:rPr lang="en-US" sz="1200" b="1" i="0" u="none" strike="noStrike">
                <a:solidFill>
                  <a:srgbClr val="D1D5DB"/>
                </a:solidFill>
                <a:latin typeface="Noto Sans SC" panose="020B0500000000000000" charset="-122"/>
                <a:ea typeface="Noto Sans SC" panose="020B0500000000000000" charset="-122"/>
                <a:cs typeface="Noto Sans SC" panose="020B0500000000000000" charset="-122"/>
                <a:sym typeface="Noto Sans SC" panose="020B0500000000000000" charset="-122"/>
              </a:rPr>
              <a:t>Claude Cowork</a:t>
            </a:r>
            <a:r>
              <a:rPr lang="en-US" sz="1200" b="0" i="0" u="none" strike="noStrike">
                <a:solidFill>
                  <a:srgbClr val="D1D5DB"/>
                </a:solidFill>
                <a:latin typeface="Noto Sans SC" panose="020B0500000000000000" charset="-122"/>
                <a:ea typeface="Noto Sans SC" panose="020B0500000000000000" charset="-122"/>
                <a:cs typeface="Noto Sans SC" panose="020B0500000000000000" charset="-122"/>
                <a:sym typeface="Noto Sans SC" panose="020B0500000000000000" charset="-122"/>
              </a:rPr>
              <a:t>：快速汇总多份访谈笔记，智能识别高频关键词与矛盾点，提炼出支持或挑战核心假设的关键主题与信号，大幅缩短分析周期。</a:t>
            </a:r>
            <a:endParaRPr lang="en-US" sz="1200" b="0" i="0" u="none" strike="noStrike">
              <a:solidFill>
                <a:srgbClr val="D1D5DB"/>
              </a:solidFill>
              <a:latin typeface="Noto Sans SC" panose="020B0500000000000000" charset="-122"/>
              <a:ea typeface="Noto Sans SC" panose="020B0500000000000000" charset="-122"/>
              <a:cs typeface="Noto Sans SC" panose="020B0500000000000000" charset="-122"/>
              <a:sym typeface="Noto Sans SC" panose="020B0500000000000000" charset="-122"/>
            </a:endParaRPr>
          </a:p>
        </p:txBody>
      </p:sp>
      <p:sp>
        <p:nvSpPr>
          <p:cNvPr id="12" name="AutoShape 12"/>
          <p:cNvSpPr/>
          <p:nvPr/>
        </p:nvSpPr>
        <p:spPr>
          <a:xfrm>
            <a:off x="8128000" y="1651000"/>
            <a:ext cx="3302000" cy="4572000"/>
          </a:xfrm>
          <a:prstGeom prst="roundRect">
            <a:avLst>
              <a:gd name="adj" fmla="val 4615"/>
            </a:avLst>
          </a:prstGeom>
          <a:solidFill>
            <a:srgbClr val="FFFFFF">
              <a:alpha val="8000"/>
            </a:srgbClr>
          </a:solidFill>
          <a:ln w="12700" cap="flat" cmpd="sng">
            <a:solidFill>
              <a:srgbClr val="00E5FF">
                <a:alpha val="30000"/>
              </a:srgbClr>
            </a:solidFill>
            <a:prstDash val="solid"/>
            <a:round/>
          </a:ln>
        </p:spPr>
        <p:txBody>
          <a:bodyPr vert="horz" wrap="square" lIns="63500" tIns="63500" rIns="63500" bIns="63500" rtlCol="0" anchor="ctr"/>
          <a:lstStyle/>
          <a:p>
            <a:pPr algn="ctr">
              <a:defRPr/>
            </a:pPr>
          </a:p>
        </p:txBody>
      </p:sp>
      <p:pic>
        <p:nvPicPr>
          <p:cNvPr id="13" name="Picture 13"/>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8432800" y="1955800"/>
            <a:ext cx="406400" cy="406400"/>
          </a:xfrm>
          <a:prstGeom prst="rect">
            <a:avLst/>
          </a:prstGeom>
        </p:spPr>
      </p:pic>
      <p:sp>
        <p:nvSpPr>
          <p:cNvPr id="14" name="AutoShape 14"/>
          <p:cNvSpPr/>
          <p:nvPr/>
        </p:nvSpPr>
        <p:spPr>
          <a:xfrm>
            <a:off x="8432800" y="2489200"/>
            <a:ext cx="26924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FFFFFF"/>
                </a:solidFill>
                <a:latin typeface="Noto Sans SC" panose="020B0500000000000000" charset="-122"/>
                <a:ea typeface="Noto Sans SC" panose="020B0500000000000000" charset="-122"/>
                <a:cs typeface="Noto Sans SC" panose="020B0500000000000000" charset="-122"/>
                <a:sym typeface="Noto Sans SC" panose="020B0500000000000000" charset="-122"/>
              </a:rPr>
              <a:t>构建轻量级原型</a:t>
            </a:r>
            <a:endParaRPr lang="en-US" sz="1100"/>
          </a:p>
        </p:txBody>
      </p:sp>
      <p:sp>
        <p:nvSpPr>
          <p:cNvPr id="15" name="AutoShape 15"/>
          <p:cNvSpPr/>
          <p:nvPr/>
        </p:nvSpPr>
        <p:spPr>
          <a:xfrm>
            <a:off x="8432800" y="3048000"/>
            <a:ext cx="2692400" cy="2921000"/>
          </a:xfrm>
          <a:prstGeom prst="rect">
            <a:avLst/>
          </a:prstGeom>
          <a:noFill/>
          <a:ln w="12700" cap="flat" cmpd="sng">
            <a:noFill/>
            <a:prstDash val="solid"/>
            <a:round/>
          </a:ln>
        </p:spPr>
        <p:txBody>
          <a:bodyPr vert="horz" wrap="square" lIns="0" tIns="0" rIns="0" bIns="0" rtlCol="0" anchor="t" anchorCtr="0"/>
          <a:lstStyle/>
          <a:p>
            <a:pPr indent="0" algn="l">
              <a:lnSpc>
                <a:spcPct val="117000"/>
              </a:lnSpc>
              <a:defRPr/>
            </a:pPr>
            <a:r>
              <a:rPr lang="en-US" sz="1300" b="1" i="0" u="none" strike="noStrike">
                <a:solidFill>
                  <a:srgbClr val="E5E7EB"/>
                </a:solidFill>
                <a:latin typeface="Noto Sans SC" panose="020B0500000000000000" charset="-122"/>
                <a:ea typeface="Noto Sans SC" panose="020B0500000000000000" charset="-122"/>
                <a:cs typeface="Noto Sans SC" panose="020B0500000000000000" charset="-122"/>
                <a:sym typeface="Noto Sans SC" panose="020B0500000000000000" charset="-122"/>
              </a:rPr>
              <a:t>核心任务：</a:t>
            </a:r>
            <a:br>
              <a:rPr lang="en-US" sz="1600" b="0" i="0" u="none" strike="noStrike">
                <a:solidFill>
                  <a:srgbClr val="1F2329"/>
                </a:solidFill>
                <a:latin typeface="Noto Sans SC" panose="020B0500000000000000" charset="-122"/>
                <a:ea typeface="Noto Sans SC" panose="020B0500000000000000" charset="-122"/>
                <a:cs typeface="Noto Sans SC" panose="020B0500000000000000" charset="-122"/>
                <a:sym typeface="Noto Sans SC" panose="020B0500000000000000" charset="-122"/>
              </a:rPr>
            </a:br>
            <a:r>
              <a:rPr lang="en-US" sz="1200" b="0" i="0" u="none" strike="noStrike">
                <a:solidFill>
                  <a:srgbClr val="D1D5DB"/>
                </a:solidFill>
                <a:latin typeface="Noto Sans SC" panose="020B0500000000000000" charset="-122"/>
                <a:ea typeface="Noto Sans SC" panose="020B0500000000000000" charset="-122"/>
                <a:cs typeface="Noto Sans SC" panose="020B0500000000000000" charset="-122"/>
                <a:sym typeface="Noto Sans SC" panose="020B0500000000000000" charset="-122"/>
              </a:rPr>
              <a:t>构建最小可行性交互产品(MVP)，用于与真实用户进行沉浸式互动验证。</a:t>
            </a:r>
            <a:endParaRPr lang="en-US" sz="1100"/>
          </a:p>
          <a:p>
            <a:pPr indent="0" algn="l">
              <a:lnSpc>
                <a:spcPct val="117000"/>
              </a:lnSpc>
            </a:pPr>
            <a:br>
              <a:rPr lang="en-US" sz="1600" b="0" i="0" u="none" strike="noStrike">
                <a:solidFill>
                  <a:srgbClr val="1F2329"/>
                </a:solidFill>
                <a:latin typeface="Noto Sans SC" panose="020B0500000000000000" charset="-122"/>
                <a:ea typeface="Noto Sans SC" panose="020B0500000000000000" charset="-122"/>
                <a:cs typeface="Noto Sans SC" panose="020B0500000000000000" charset="-122"/>
                <a:sym typeface="Noto Sans SC" panose="020B0500000000000000" charset="-122"/>
              </a:rPr>
            </a:br>
            <a:r>
              <a:rPr lang="en-US" sz="1300" b="1" i="0" u="none" strike="noStrike">
                <a:solidFill>
                  <a:srgbClr val="00E5FF"/>
                </a:solidFill>
                <a:latin typeface="Noto Sans SC" panose="020B0500000000000000" charset="-122"/>
                <a:ea typeface="Noto Sans SC" panose="020B0500000000000000" charset="-122"/>
                <a:cs typeface="Noto Sans SC" panose="020B0500000000000000" charset="-122"/>
                <a:sym typeface="Noto Sans SC" panose="020B0500000000000000" charset="-122"/>
              </a:rPr>
              <a:t>AI 赋能应用：</a:t>
            </a:r>
            <a:br>
              <a:rPr lang="en-US" sz="1600" b="0" i="0" u="none" strike="noStrike">
                <a:solidFill>
                  <a:srgbClr val="1F2329"/>
                </a:solidFill>
                <a:latin typeface="Noto Sans SC" panose="020B0500000000000000" charset="-122"/>
                <a:ea typeface="Noto Sans SC" panose="020B0500000000000000" charset="-122"/>
                <a:cs typeface="Noto Sans SC" panose="020B0500000000000000" charset="-122"/>
                <a:sym typeface="Noto Sans SC" panose="020B0500000000000000" charset="-122"/>
              </a:rPr>
            </a:br>
            <a:r>
              <a:rPr lang="en-US" sz="1200" b="0" i="0" u="none" strike="noStrike">
                <a:solidFill>
                  <a:srgbClr val="D1D5DB"/>
                </a:solidFill>
                <a:latin typeface="Noto Sans SC" panose="020B0500000000000000" charset="-122"/>
                <a:ea typeface="Noto Sans SC" panose="020B0500000000000000" charset="-122"/>
                <a:cs typeface="Noto Sans SC" panose="020B0500000000000000" charset="-122"/>
                <a:sym typeface="Noto Sans SC" panose="020B0500000000000000" charset="-122"/>
              </a:rPr>
              <a:t>•</a:t>
            </a:r>
            <a:r>
              <a:rPr lang="en-US" sz="1200" b="1" i="0" u="none" strike="noStrike">
                <a:solidFill>
                  <a:srgbClr val="D1D5DB"/>
                </a:solidFill>
                <a:latin typeface="Noto Sans SC" panose="020B0500000000000000" charset="-122"/>
                <a:ea typeface="Noto Sans SC" panose="020B0500000000000000" charset="-122"/>
                <a:cs typeface="Noto Sans SC" panose="020B0500000000000000" charset="-122"/>
                <a:sym typeface="Noto Sans SC" panose="020B0500000000000000" charset="-122"/>
              </a:rPr>
              <a:t>Claude Code</a:t>
            </a:r>
            <a:r>
              <a:rPr lang="en-US" sz="1200" b="0" i="0" u="none" strike="noStrike">
                <a:solidFill>
                  <a:srgbClr val="D1D5DB"/>
                </a:solidFill>
                <a:latin typeface="Noto Sans SC" panose="020B0500000000000000" charset="-122"/>
                <a:ea typeface="Noto Sans SC" panose="020B0500000000000000" charset="-122"/>
                <a:cs typeface="Noto Sans SC" panose="020B0500000000000000" charset="-122"/>
                <a:sym typeface="Noto Sans SC" panose="020B0500000000000000" charset="-122"/>
              </a:rPr>
              <a:t>：专注于定义产品的单一核心交互逻辑，利用AI快速生成代码，仅构建验证假设所需的最小功能模块。通过与5名目标用户的真实反馈，决定产品迭代方向。</a:t>
            </a:r>
            <a:endParaRPr lang="en-US" sz="1200" b="0" i="0" u="none" strike="noStrike">
              <a:solidFill>
                <a:srgbClr val="D1D5DB"/>
              </a:solidFill>
              <a:latin typeface="Noto Sans SC" panose="020B0500000000000000" charset="-122"/>
              <a:ea typeface="Noto Sans SC" panose="020B0500000000000000" charset="-122"/>
              <a:cs typeface="Noto Sans SC" panose="020B0500000000000000" charset="-122"/>
              <a:sym typeface="Noto Sans SC" panose="020B0500000000000000" charset="-122"/>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0F172A">
              <a:alpha val="80000"/>
            </a:srgbClr>
          </a:solidFill>
          <a:ln w="25400" cap="flat" cmpd="sng">
            <a:noFill/>
            <a:prstDash val="solid"/>
            <a:round/>
          </a:ln>
        </p:spPr>
        <p:txBody>
          <a:bodyPr vert="horz" wrap="square" lIns="63500" tIns="63500" rIns="63500" bIns="63500" rtlCol="0" anchor="ctr"/>
          <a:lstStyle/>
          <a:p>
            <a:pPr algn="ctr">
              <a:defRPr/>
            </a:pPr>
          </a:p>
        </p:txBody>
      </p:sp>
      <p:sp>
        <p:nvSpPr>
          <p:cNvPr id="3" name="AutoShape 3"/>
          <p:cNvSpPr/>
          <p:nvPr/>
        </p:nvSpPr>
        <p:spPr>
          <a:xfrm>
            <a:off x="762000" y="635000"/>
            <a:ext cx="10668000" cy="5588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3200" b="1" i="0" u="none" strike="noStrike">
                <a:solidFill>
                  <a:srgbClr val="FFFFFF"/>
                </a:solidFill>
                <a:latin typeface="Noto Sans SC" panose="020B0500000000000000" charset="-122"/>
                <a:ea typeface="Noto Sans SC" panose="020B0500000000000000" charset="-122"/>
                <a:cs typeface="Noto Sans SC" panose="020B0500000000000000" charset="-122"/>
                <a:sym typeface="Noto Sans SC" panose="020B0500000000000000" charset="-122"/>
              </a:rPr>
              <a:t>第二阶段：MVP阶段 (MVP Stage)</a:t>
            </a:r>
            <a:endParaRPr lang="en-US" sz="1100"/>
          </a:p>
        </p:txBody>
      </p:sp>
      <p:sp>
        <p:nvSpPr>
          <p:cNvPr id="4" name="AutoShape 4"/>
          <p:cNvSpPr/>
          <p:nvPr/>
        </p:nvSpPr>
        <p:spPr>
          <a:xfrm>
            <a:off x="762000" y="1524000"/>
            <a:ext cx="5207000" cy="4826000"/>
          </a:xfrm>
          <a:prstGeom prst="roundRect">
            <a:avLst>
              <a:gd name="adj" fmla="val 3157"/>
            </a:avLst>
          </a:prstGeom>
          <a:solidFill>
            <a:srgbClr val="1E293B">
              <a:alpha val="60000"/>
            </a:srgbClr>
          </a:solidFill>
          <a:ln w="12700" cap="flat" cmpd="sng">
            <a:solidFill>
              <a:srgbClr val="00E5FF">
                <a:alpha val="30000"/>
              </a:srgbClr>
            </a:solidFill>
            <a:prstDash val="solid"/>
            <a:round/>
          </a:ln>
        </p:spPr>
        <p:txBody>
          <a:bodyPr vert="horz" wrap="square" lIns="63500" tIns="63500" rIns="63500" bIns="63500" rtlCol="0" anchor="ctr"/>
          <a:lstStyle/>
          <a:p>
            <a:pPr algn="ctr">
              <a:defRPr/>
            </a:pPr>
          </a:p>
        </p:txBody>
      </p:sp>
      <p:sp>
        <p:nvSpPr>
          <p:cNvPr id="5" name="AutoShape 5"/>
          <p:cNvSpPr/>
          <p:nvPr/>
        </p:nvSpPr>
        <p:spPr>
          <a:xfrm>
            <a:off x="1079500" y="1841500"/>
            <a:ext cx="4572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000" b="1" i="0" u="none" strike="noStrike">
                <a:solidFill>
                  <a:srgbClr val="00E5FF"/>
                </a:solidFill>
                <a:latin typeface="Noto Sans SC" panose="020B0500000000000000" charset="-122"/>
                <a:ea typeface="Noto Sans SC" panose="020B0500000000000000" charset="-122"/>
                <a:cs typeface="Noto Sans SC" panose="020B0500000000000000" charset="-122"/>
                <a:sym typeface="Noto Sans SC" panose="020B0500000000000000" charset="-122"/>
              </a:rPr>
              <a:t>阶段目标</a:t>
            </a:r>
            <a:endParaRPr lang="en-US" sz="1100"/>
          </a:p>
        </p:txBody>
      </p:sp>
      <p:cxnSp>
        <p:nvCxnSpPr>
          <p:cNvPr id="6" name="Connector 6"/>
          <p:cNvCxnSpPr/>
          <p:nvPr/>
        </p:nvCxnSpPr>
        <p:spPr>
          <a:xfrm rot="-9549">
            <a:off x="1079509" y="2279650"/>
            <a:ext cx="4572000" cy="12700"/>
          </a:xfrm>
          <a:prstGeom prst="straightConnector1">
            <a:avLst/>
          </a:prstGeom>
          <a:solidFill>
            <a:srgbClr val="DEE0E3">
              <a:alpha val="100000"/>
            </a:srgbClr>
          </a:solidFill>
          <a:ln w="12700" cap="flat" cmpd="sng">
            <a:solidFill>
              <a:srgbClr val="FFFFFF">
                <a:alpha val="15000"/>
              </a:srgbClr>
            </a:solidFill>
            <a:prstDash val="solid"/>
            <a:round/>
            <a:headEnd type="none" w="med" len="med"/>
            <a:tailEnd type="none" w="med" len="med"/>
          </a:ln>
        </p:spPr>
      </p:cxnSp>
      <p:pic>
        <p:nvPicPr>
          <p:cNvPr id="7" name="Picture 7"/>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079500" y="2540000"/>
            <a:ext cx="304800" cy="304800"/>
          </a:xfrm>
          <a:prstGeom prst="rect">
            <a:avLst/>
          </a:prstGeom>
        </p:spPr>
      </p:pic>
      <p:sp>
        <p:nvSpPr>
          <p:cNvPr id="8" name="AutoShape 8"/>
          <p:cNvSpPr/>
          <p:nvPr/>
        </p:nvSpPr>
        <p:spPr>
          <a:xfrm>
            <a:off x="1524000" y="2514600"/>
            <a:ext cx="4254500" cy="889000"/>
          </a:xfrm>
          <a:prstGeom prst="rect">
            <a:avLst/>
          </a:prstGeom>
          <a:noFill/>
          <a:ln w="12700" cap="flat" cmpd="sng">
            <a:noFill/>
            <a:prstDash val="solid"/>
            <a:round/>
          </a:ln>
        </p:spPr>
        <p:txBody>
          <a:bodyPr vert="horz" wrap="square" lIns="0" tIns="0" rIns="0" bIns="0" rtlCol="0" anchor="t" anchorCtr="0"/>
          <a:lstStyle/>
          <a:p>
            <a:pPr indent="0" algn="l">
              <a:lnSpc>
                <a:spcPct val="108000"/>
              </a:lnSpc>
              <a:defRPr/>
            </a:pPr>
            <a:r>
              <a:rPr lang="en-US" sz="1500" b="1" i="0" u="none" strike="noStrike">
                <a:solidFill>
                  <a:srgbClr val="FFFFFF"/>
                </a:solidFill>
                <a:latin typeface="Noto Sans SC" panose="020B0500000000000000" charset="-122"/>
                <a:ea typeface="Noto Sans SC" panose="020B0500000000000000" charset="-122"/>
                <a:cs typeface="Noto Sans SC" panose="020B0500000000000000" charset="-122"/>
                <a:sym typeface="Noto Sans SC" panose="020B0500000000000000" charset="-122"/>
              </a:rPr>
              <a:t>收集解决方案证据</a:t>
            </a:r>
            <a:endParaRPr lang="en-US" sz="1100"/>
          </a:p>
          <a:p>
            <a:pPr indent="0" algn="l">
              <a:lnSpc>
                <a:spcPct val="108000"/>
              </a:lnSpc>
            </a:pPr>
            <a:r>
              <a:rPr lang="en-US" sz="1200" b="0" i="0" u="none" strike="noStrike">
                <a:solidFill>
                  <a:srgbClr val="CBD5E1"/>
                </a:solidFill>
                <a:latin typeface="Noto Sans SC" panose="020B0500000000000000" charset="-122"/>
                <a:ea typeface="Noto Sans SC" panose="020B0500000000000000" charset="-122"/>
                <a:cs typeface="Noto Sans SC" panose="020B0500000000000000" charset="-122"/>
                <a:sym typeface="Noto Sans SC" panose="020B0500000000000000" charset="-122"/>
              </a:rPr>
              <a:t>证明真实用户认为你的产品有价值，愿意使用、留存、付费或推荐。</a:t>
            </a:r>
            <a:endParaRPr lang="en-US" sz="1200" b="0" i="0" u="none" strike="noStrike">
              <a:solidFill>
                <a:srgbClr val="CBD5E1"/>
              </a:solidFill>
              <a:latin typeface="Noto Sans SC" panose="020B0500000000000000" charset="-122"/>
              <a:ea typeface="Noto Sans SC" panose="020B0500000000000000" charset="-122"/>
              <a:cs typeface="Noto Sans SC" panose="020B0500000000000000" charset="-122"/>
              <a:sym typeface="Noto Sans SC" panose="020B0500000000000000" charset="-122"/>
            </a:endParaRPr>
          </a:p>
        </p:txBody>
      </p:sp>
      <p:pic>
        <p:nvPicPr>
          <p:cNvPr id="9" name="Picture 9"/>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079500" y="3810000"/>
            <a:ext cx="304800" cy="304800"/>
          </a:xfrm>
          <a:prstGeom prst="rect">
            <a:avLst/>
          </a:prstGeom>
        </p:spPr>
      </p:pic>
      <p:sp>
        <p:nvSpPr>
          <p:cNvPr id="10" name="AutoShape 10"/>
          <p:cNvSpPr/>
          <p:nvPr/>
        </p:nvSpPr>
        <p:spPr>
          <a:xfrm>
            <a:off x="1524000" y="3784600"/>
            <a:ext cx="4254500" cy="889000"/>
          </a:xfrm>
          <a:prstGeom prst="rect">
            <a:avLst/>
          </a:prstGeom>
          <a:noFill/>
          <a:ln w="12700" cap="flat" cmpd="sng">
            <a:noFill/>
            <a:prstDash val="solid"/>
            <a:round/>
          </a:ln>
        </p:spPr>
        <p:txBody>
          <a:bodyPr vert="horz" wrap="square" lIns="0" tIns="0" rIns="0" bIns="0" rtlCol="0" anchor="t" anchorCtr="0"/>
          <a:lstStyle/>
          <a:p>
            <a:pPr indent="0" algn="l">
              <a:lnSpc>
                <a:spcPct val="108000"/>
              </a:lnSpc>
              <a:defRPr/>
            </a:pPr>
            <a:r>
              <a:rPr lang="en-US" sz="1500" b="1" i="0" u="none" strike="noStrike">
                <a:solidFill>
                  <a:srgbClr val="FFFFFF"/>
                </a:solidFill>
                <a:latin typeface="Noto Sans SC" panose="020B0500000000000000" charset="-122"/>
                <a:ea typeface="Noto Sans SC" panose="020B0500000000000000" charset="-122"/>
                <a:cs typeface="Noto Sans SC" panose="020B0500000000000000" charset="-122"/>
                <a:sym typeface="Noto Sans SC" panose="020B0500000000000000" charset="-122"/>
              </a:rPr>
              <a:t>快速构建，避免技术债</a:t>
            </a:r>
            <a:endParaRPr lang="en-US" sz="1100"/>
          </a:p>
          <a:p>
            <a:pPr indent="0" algn="l">
              <a:lnSpc>
                <a:spcPct val="108000"/>
              </a:lnSpc>
            </a:pPr>
            <a:r>
              <a:rPr lang="en-US" sz="1200" b="0" i="0" u="none" strike="noStrike">
                <a:solidFill>
                  <a:srgbClr val="CBD5E1"/>
                </a:solidFill>
                <a:latin typeface="Noto Sans SC" panose="020B0500000000000000" charset="-122"/>
                <a:ea typeface="Noto Sans SC" panose="020B0500000000000000" charset="-122"/>
                <a:cs typeface="Noto Sans SC" panose="020B0500000000000000" charset="-122"/>
                <a:sym typeface="Noto Sans SC" panose="020B0500000000000000" charset="-122"/>
              </a:rPr>
              <a:t>在快速推进的同时，避免积累会在未来困扰你的技术债，保持代码质量与速度的平衡。</a:t>
            </a:r>
            <a:endParaRPr lang="en-US" sz="1200" b="0" i="0" u="none" strike="noStrike">
              <a:solidFill>
                <a:srgbClr val="CBD5E1"/>
              </a:solidFill>
              <a:latin typeface="Noto Sans SC" panose="020B0500000000000000" charset="-122"/>
              <a:ea typeface="Noto Sans SC" panose="020B0500000000000000" charset="-122"/>
              <a:cs typeface="Noto Sans SC" panose="020B0500000000000000" charset="-122"/>
              <a:sym typeface="Noto Sans SC" panose="020B0500000000000000" charset="-122"/>
            </a:endParaRPr>
          </a:p>
        </p:txBody>
      </p:sp>
      <p:pic>
        <p:nvPicPr>
          <p:cNvPr id="11" name="Picture 11"/>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1079500" y="5080000"/>
            <a:ext cx="304800" cy="304800"/>
          </a:xfrm>
          <a:prstGeom prst="rect">
            <a:avLst/>
          </a:prstGeom>
        </p:spPr>
      </p:pic>
      <p:sp>
        <p:nvSpPr>
          <p:cNvPr id="12" name="AutoShape 12"/>
          <p:cNvSpPr/>
          <p:nvPr/>
        </p:nvSpPr>
        <p:spPr>
          <a:xfrm>
            <a:off x="1524000" y="5054600"/>
            <a:ext cx="4254500" cy="889000"/>
          </a:xfrm>
          <a:prstGeom prst="rect">
            <a:avLst/>
          </a:prstGeom>
          <a:noFill/>
          <a:ln w="12700" cap="flat" cmpd="sng">
            <a:noFill/>
            <a:prstDash val="solid"/>
            <a:round/>
          </a:ln>
        </p:spPr>
        <p:txBody>
          <a:bodyPr vert="horz" wrap="square" lIns="0" tIns="0" rIns="0" bIns="0" rtlCol="0" anchor="t" anchorCtr="0"/>
          <a:lstStyle/>
          <a:p>
            <a:pPr indent="0" algn="l">
              <a:lnSpc>
                <a:spcPct val="108000"/>
              </a:lnSpc>
              <a:defRPr/>
            </a:pPr>
            <a:r>
              <a:rPr lang="en-US" sz="1500" b="1" i="0" u="none" strike="noStrike">
                <a:solidFill>
                  <a:srgbClr val="FFFFFF"/>
                </a:solidFill>
                <a:latin typeface="Noto Sans SC" panose="020B0500000000000000" charset="-122"/>
                <a:ea typeface="Noto Sans SC" panose="020B0500000000000000" charset="-122"/>
                <a:cs typeface="Noto Sans SC" panose="020B0500000000000000" charset="-122"/>
                <a:sym typeface="Noto Sans SC" panose="020B0500000000000000" charset="-122"/>
              </a:rPr>
              <a:t>建立持久上下文</a:t>
            </a:r>
            <a:endParaRPr lang="en-US" sz="1100"/>
          </a:p>
          <a:p>
            <a:pPr indent="0" algn="l">
              <a:lnSpc>
                <a:spcPct val="108000"/>
              </a:lnSpc>
            </a:pPr>
            <a:r>
              <a:rPr lang="en-US" sz="1200" b="0" i="0" u="none" strike="noStrike">
                <a:solidFill>
                  <a:srgbClr val="CBD5E1"/>
                </a:solidFill>
                <a:latin typeface="Noto Sans SC" panose="020B0500000000000000" charset="-122"/>
                <a:ea typeface="Noto Sans SC" panose="020B0500000000000000" charset="-122"/>
                <a:cs typeface="Noto Sans SC" panose="020B0500000000000000" charset="-122"/>
                <a:sym typeface="Noto Sans SC" panose="020B0500000000000000" charset="-122"/>
              </a:rPr>
              <a:t>投资于文档和架构设计，让AI成为你的倍增器而非熵增源，确保长期开发效率。</a:t>
            </a:r>
            <a:endParaRPr lang="en-US" sz="1200" b="0" i="0" u="none" strike="noStrike">
              <a:solidFill>
                <a:srgbClr val="CBD5E1"/>
              </a:solidFill>
              <a:latin typeface="Noto Sans SC" panose="020B0500000000000000" charset="-122"/>
              <a:ea typeface="Noto Sans SC" panose="020B0500000000000000" charset="-122"/>
              <a:cs typeface="Noto Sans SC" panose="020B0500000000000000" charset="-122"/>
              <a:sym typeface="Noto Sans SC" panose="020B0500000000000000" charset="-122"/>
            </a:endParaRPr>
          </a:p>
        </p:txBody>
      </p:sp>
      <p:sp>
        <p:nvSpPr>
          <p:cNvPr id="13" name="AutoShape 13"/>
          <p:cNvSpPr/>
          <p:nvPr/>
        </p:nvSpPr>
        <p:spPr>
          <a:xfrm>
            <a:off x="6223000" y="1524000"/>
            <a:ext cx="5207000" cy="4826000"/>
          </a:xfrm>
          <a:prstGeom prst="roundRect">
            <a:avLst>
              <a:gd name="adj" fmla="val 3157"/>
            </a:avLst>
          </a:prstGeom>
          <a:solidFill>
            <a:srgbClr val="1E293B">
              <a:alpha val="60000"/>
            </a:srgbClr>
          </a:solidFill>
          <a:ln w="12700" cap="flat" cmpd="sng">
            <a:solidFill>
              <a:srgbClr val="00E5FF">
                <a:alpha val="30000"/>
              </a:srgbClr>
            </a:solidFill>
            <a:prstDash val="solid"/>
            <a:round/>
          </a:ln>
        </p:spPr>
        <p:txBody>
          <a:bodyPr vert="horz" wrap="square" lIns="63500" tIns="63500" rIns="63500" bIns="63500" rtlCol="0" anchor="ctr"/>
          <a:lstStyle/>
          <a:p>
            <a:pPr algn="ctr">
              <a:defRPr/>
            </a:pPr>
          </a:p>
        </p:txBody>
      </p:sp>
      <p:sp>
        <p:nvSpPr>
          <p:cNvPr id="14" name="AutoShape 14"/>
          <p:cNvSpPr/>
          <p:nvPr/>
        </p:nvSpPr>
        <p:spPr>
          <a:xfrm>
            <a:off x="6540500" y="1841500"/>
            <a:ext cx="4572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000" b="1" i="0" u="none" strike="noStrike">
                <a:solidFill>
                  <a:srgbClr val="00E5FF"/>
                </a:solidFill>
                <a:latin typeface="Noto Sans SC" panose="020B0500000000000000" charset="-122"/>
                <a:ea typeface="Noto Sans SC" panose="020B0500000000000000" charset="-122"/>
                <a:cs typeface="Noto Sans SC" panose="020B0500000000000000" charset="-122"/>
                <a:sym typeface="Noto Sans SC" panose="020B0500000000000000" charset="-122"/>
              </a:rPr>
              <a:t>核心任务</a:t>
            </a:r>
            <a:endParaRPr lang="en-US" sz="1100"/>
          </a:p>
        </p:txBody>
      </p:sp>
      <p:cxnSp>
        <p:nvCxnSpPr>
          <p:cNvPr id="15" name="Connector 15"/>
          <p:cNvCxnSpPr/>
          <p:nvPr/>
        </p:nvCxnSpPr>
        <p:spPr>
          <a:xfrm rot="-9549">
            <a:off x="6540509" y="2279650"/>
            <a:ext cx="4572000" cy="12700"/>
          </a:xfrm>
          <a:prstGeom prst="straightConnector1">
            <a:avLst/>
          </a:prstGeom>
          <a:solidFill>
            <a:srgbClr val="DEE0E3">
              <a:alpha val="100000"/>
            </a:srgbClr>
          </a:solidFill>
          <a:ln w="12700" cap="flat" cmpd="sng">
            <a:solidFill>
              <a:srgbClr val="FFFFFF">
                <a:alpha val="15000"/>
              </a:srgbClr>
            </a:solidFill>
            <a:prstDash val="solid"/>
            <a:round/>
            <a:headEnd type="none" w="med" len="med"/>
            <a:tailEnd type="none" w="med" len="med"/>
          </a:ln>
        </p:spPr>
      </p:cxnSp>
      <p:sp>
        <p:nvSpPr>
          <p:cNvPr id="16" name="AutoShape 16"/>
          <p:cNvSpPr/>
          <p:nvPr/>
        </p:nvSpPr>
        <p:spPr>
          <a:xfrm>
            <a:off x="6540500" y="2540000"/>
            <a:ext cx="4572000" cy="3556000"/>
          </a:xfrm>
          <a:prstGeom prst="roundRect">
            <a:avLst>
              <a:gd name="adj" fmla="val 2857"/>
            </a:avLst>
          </a:prstGeom>
          <a:solidFill>
            <a:srgbClr val="00E5FF">
              <a:alpha val="5000"/>
            </a:srgbClr>
          </a:solidFill>
          <a:ln w="12700" cap="flat" cmpd="sng">
            <a:solidFill>
              <a:srgbClr val="00E5FF">
                <a:alpha val="10000"/>
              </a:srgbClr>
            </a:solidFill>
            <a:prstDash val="dash"/>
            <a:round/>
          </a:ln>
        </p:spPr>
        <p:txBody>
          <a:bodyPr vert="horz" wrap="square" lIns="63500" tIns="63500" rIns="63500" bIns="63500" rtlCol="0" anchor="ctr"/>
          <a:lstStyle/>
          <a:p>
            <a:pPr algn="ctr">
              <a:defRPr/>
            </a:pPr>
          </a:p>
        </p:txBody>
      </p:sp>
      <p:pic>
        <p:nvPicPr>
          <p:cNvPr id="17" name="Picture 17"/>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8521700" y="2921000"/>
            <a:ext cx="609600" cy="609600"/>
          </a:xfrm>
          <a:prstGeom prst="rect">
            <a:avLst/>
          </a:prstGeom>
        </p:spPr>
      </p:pic>
      <p:sp>
        <p:nvSpPr>
          <p:cNvPr id="18" name="AutoShape 18"/>
          <p:cNvSpPr/>
          <p:nvPr/>
        </p:nvSpPr>
        <p:spPr>
          <a:xfrm>
            <a:off x="6794500" y="3810000"/>
            <a:ext cx="4064000" cy="2286000"/>
          </a:xfrm>
          <a:prstGeom prst="rect">
            <a:avLst/>
          </a:prstGeom>
          <a:noFill/>
          <a:ln w="12700" cap="flat" cmpd="sng">
            <a:noFill/>
            <a:prstDash val="solid"/>
            <a:round/>
          </a:ln>
        </p:spPr>
        <p:txBody>
          <a:bodyPr vert="horz" wrap="square" lIns="0" tIns="0" rIns="0" bIns="0" rtlCol="0" anchor="t" anchorCtr="0"/>
          <a:lstStyle/>
          <a:p>
            <a:pPr indent="0" algn="ctr">
              <a:lnSpc>
                <a:spcPct val="125000"/>
              </a:lnSpc>
              <a:defRPr/>
            </a:pPr>
            <a:r>
              <a:rPr lang="en-US" sz="1600" b="0" i="0" u="none" strike="noStrike">
                <a:solidFill>
                  <a:srgbClr val="FFFFFF"/>
                </a:solidFill>
                <a:latin typeface="Noto Sans SC" panose="020B0500000000000000" charset="-122"/>
                <a:ea typeface="Noto Sans SC" panose="020B0500000000000000" charset="-122"/>
                <a:cs typeface="Noto Sans SC" panose="020B0500000000000000" charset="-122"/>
                <a:sym typeface="Noto Sans SC" panose="020B0500000000000000" charset="-122"/>
              </a:rPr>
              <a:t>将已验证的问题转化为一个真实用户会使用的产品。</a:t>
            </a:r>
            <a:endParaRPr lang="en-US" sz="1100"/>
          </a:p>
          <a:p>
            <a:pPr indent="0" algn="ctr">
              <a:lnSpc>
                <a:spcPct val="125000"/>
              </a:lnSpc>
            </a:pPr>
            <a:r>
              <a:rPr lang="en-US" sz="1300" b="0" i="0" u="none" strike="noStrike">
                <a:solidFill>
                  <a:srgbClr val="CBD5E1"/>
                </a:solidFill>
                <a:latin typeface="Noto Sans SC" panose="020B0500000000000000" charset="-122"/>
                <a:ea typeface="Noto Sans SC" panose="020B0500000000000000" charset="-122"/>
                <a:cs typeface="Noto Sans SC" panose="020B0500000000000000" charset="-122"/>
                <a:sym typeface="Noto Sans SC" panose="020B0500000000000000" charset="-122"/>
              </a:rPr>
              <a:t>这不是功能齐全的最终版本，而是能产生</a:t>
            </a:r>
            <a:r>
              <a:rPr lang="en-US" sz="1300" b="1" i="0" u="none" strike="noStrike">
                <a:solidFill>
                  <a:srgbClr val="00E5FF"/>
                </a:solidFill>
                <a:latin typeface="Noto Sans SC" panose="020B0500000000000000" charset="-122"/>
                <a:ea typeface="Noto Sans SC" panose="020B0500000000000000" charset="-122"/>
                <a:cs typeface="Noto Sans SC" panose="020B0500000000000000" charset="-122"/>
                <a:sym typeface="Noto Sans SC" panose="020B0500000000000000" charset="-122"/>
              </a:rPr>
              <a:t>产品-市场契合 (Product-Market Fit)</a:t>
            </a:r>
            <a:r>
              <a:rPr lang="en-US" sz="1300" b="0" i="0" u="none" strike="noStrike">
                <a:solidFill>
                  <a:srgbClr val="CBD5E1"/>
                </a:solidFill>
                <a:latin typeface="Noto Sans SC" panose="020B0500000000000000" charset="-122"/>
                <a:ea typeface="Noto Sans SC" panose="020B0500000000000000" charset="-122"/>
                <a:cs typeface="Noto Sans SC" panose="020B0500000000000000" charset="-122"/>
                <a:sym typeface="Noto Sans SC" panose="020B0500000000000000" charset="-122"/>
              </a:rPr>
              <a:t>证据的最小、最专注的迭代。</a:t>
            </a:r>
            <a:endParaRPr lang="en-US" sz="1300" b="0" i="0" u="none" strike="noStrike">
              <a:solidFill>
                <a:srgbClr val="CBD5E1"/>
              </a:solidFill>
              <a:latin typeface="Noto Sans SC" panose="020B0500000000000000" charset="-122"/>
              <a:ea typeface="Noto Sans SC" panose="020B0500000000000000" charset="-122"/>
              <a:cs typeface="Noto Sans SC" panose="020B0500000000000000" charset="-122"/>
              <a:sym typeface="Noto Sans SC" panose="020B0500000000000000" charset="-122"/>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000000">
              <a:alpha val="80000"/>
            </a:srgbClr>
          </a:solidFill>
          <a:ln w="25400" cap="flat" cmpd="sng">
            <a:noFill/>
            <a:prstDash val="solid"/>
            <a:round/>
          </a:ln>
        </p:spPr>
        <p:txBody>
          <a:bodyPr vert="horz" wrap="square" lIns="63500" tIns="63500" rIns="63500" bIns="63500" rtlCol="0" anchor="ctr"/>
          <a:lstStyle/>
          <a:p>
            <a:pPr algn="ctr">
              <a:defRPr/>
            </a:pPr>
          </a:p>
        </p:txBody>
      </p:sp>
      <p:sp>
        <p:nvSpPr>
          <p:cNvPr id="3" name="AutoShape 3"/>
          <p:cNvSpPr/>
          <p:nvPr/>
        </p:nvSpPr>
        <p:spPr>
          <a:xfrm>
            <a:off x="762000" y="635000"/>
            <a:ext cx="10668000" cy="5715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3200" b="1" i="0" u="none" strike="noStrike">
                <a:solidFill>
                  <a:srgbClr val="FFFFFF"/>
                </a:solidFill>
                <a:latin typeface="Noto Sans SC" panose="020B0500000000000000" charset="-122"/>
                <a:ea typeface="Noto Sans SC" panose="020B0500000000000000" charset="-122"/>
                <a:cs typeface="Noto Sans SC" panose="020B0500000000000000" charset="-122"/>
                <a:sym typeface="Noto Sans SC" panose="020B0500000000000000" charset="-122"/>
              </a:rPr>
              <a:t>何时可以离开MVP阶段？</a:t>
            </a:r>
            <a:endParaRPr lang="en-US" sz="1100"/>
          </a:p>
        </p:txBody>
      </p:sp>
      <p:sp>
        <p:nvSpPr>
          <p:cNvPr id="4" name="AutoShape 4"/>
          <p:cNvSpPr/>
          <p:nvPr/>
        </p:nvSpPr>
        <p:spPr>
          <a:xfrm>
            <a:off x="762000" y="1524000"/>
            <a:ext cx="10668000" cy="1016000"/>
          </a:xfrm>
          <a:prstGeom prst="roundRect">
            <a:avLst>
              <a:gd name="adj" fmla="val 15000"/>
            </a:avLst>
          </a:prstGeom>
          <a:solidFill>
            <a:srgbClr val="00E5FF">
              <a:alpha val="10000"/>
            </a:srgbClr>
          </a:solidFill>
          <a:ln w="12700" cap="flat" cmpd="sng">
            <a:solidFill>
              <a:srgbClr val="00E5FF">
                <a:alpha val="40000"/>
              </a:srgbClr>
            </a:solidFill>
            <a:prstDash val="solid"/>
            <a:round/>
          </a:ln>
        </p:spPr>
        <p:txBody>
          <a:bodyPr vert="horz" wrap="square" lIns="63500" tIns="63500" rIns="63500" bIns="63500" rtlCol="0" anchor="ctr"/>
          <a:lstStyle/>
          <a:p>
            <a:pPr algn="ctr">
              <a:defRPr/>
            </a:pPr>
          </a:p>
        </p:txBody>
      </p:sp>
      <p:sp>
        <p:nvSpPr>
          <p:cNvPr id="5" name="AutoShape 5"/>
          <p:cNvSpPr/>
          <p:nvPr/>
        </p:nvSpPr>
        <p:spPr>
          <a:xfrm>
            <a:off x="1016000" y="1651000"/>
            <a:ext cx="10160000" cy="762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00E5FF"/>
                </a:solidFill>
                <a:latin typeface="Noto Sans SC" panose="020B0500000000000000" charset="-122"/>
                <a:ea typeface="Noto Sans SC" panose="020B0500000000000000" charset="-122"/>
                <a:cs typeface="Noto Sans SC" panose="020B0500000000000000" charset="-122"/>
                <a:sym typeface="Noto Sans SC" panose="020B0500000000000000" charset="-122"/>
              </a:rPr>
              <a:t>退出条件：</a:t>
            </a:r>
            <a:r>
              <a:rPr lang="en-US" sz="1800" b="0" i="0" u="none" strike="noStrike">
                <a:solidFill>
                  <a:srgbClr val="FFFFFF"/>
                </a:solidFill>
                <a:latin typeface="Noto Sans SC" panose="020B0500000000000000" charset="-122"/>
                <a:ea typeface="Noto Sans SC" panose="020B0500000000000000" charset="-122"/>
                <a:cs typeface="Noto Sans SC" panose="020B0500000000000000" charset="-122"/>
                <a:sym typeface="Noto Sans SC" panose="020B0500000000000000" charset="-122"/>
              </a:rPr>
              <a:t>获得产品-市场契合 (Product-Market Fit) 的真实证据。</a:t>
            </a:r>
            <a:endParaRPr lang="en-US" sz="1100"/>
          </a:p>
        </p:txBody>
      </p:sp>
      <p:sp>
        <p:nvSpPr>
          <p:cNvPr id="6" name="AutoShape 6"/>
          <p:cNvSpPr/>
          <p:nvPr/>
        </p:nvSpPr>
        <p:spPr>
          <a:xfrm>
            <a:off x="762000" y="3048000"/>
            <a:ext cx="3302000" cy="2286000"/>
          </a:xfrm>
          <a:prstGeom prst="roundRect">
            <a:avLst>
              <a:gd name="adj" fmla="val 6666"/>
            </a:avLst>
          </a:prstGeom>
          <a:solidFill>
            <a:srgbClr val="FFFFFF">
              <a:alpha val="5000"/>
            </a:srgbClr>
          </a:solidFill>
          <a:ln w="12700" cap="flat" cmpd="sng">
            <a:solidFill>
              <a:srgbClr val="FFFFFF">
                <a:alpha val="15000"/>
              </a:srgbClr>
            </a:solidFill>
            <a:prstDash val="solid"/>
            <a:round/>
          </a:ln>
        </p:spPr>
        <p:txBody>
          <a:bodyPr vert="horz" wrap="square" lIns="63500" tIns="63500" rIns="63500" bIns="63500" rtlCol="0" anchor="ctr"/>
          <a:lstStyle/>
          <a:p>
            <a:pPr algn="ctr">
              <a:defRPr/>
            </a:pPr>
          </a:p>
        </p:txBody>
      </p:sp>
      <p:pic>
        <p:nvPicPr>
          <p:cNvPr id="7" name="Picture 7"/>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066800" y="3352800"/>
            <a:ext cx="508000" cy="508000"/>
          </a:xfrm>
          <a:prstGeom prst="rect">
            <a:avLst/>
          </a:prstGeom>
        </p:spPr>
      </p:pic>
      <p:sp>
        <p:nvSpPr>
          <p:cNvPr id="8" name="AutoShape 8"/>
          <p:cNvSpPr/>
          <p:nvPr/>
        </p:nvSpPr>
        <p:spPr>
          <a:xfrm>
            <a:off x="1066800" y="3987800"/>
            <a:ext cx="26924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FFFFFF"/>
                </a:solidFill>
                <a:latin typeface="Noto Sans SC" panose="020B0500000000000000" charset="-122"/>
                <a:ea typeface="Noto Sans SC" panose="020B0500000000000000" charset="-122"/>
                <a:cs typeface="Noto Sans SC" panose="020B0500000000000000" charset="-122"/>
                <a:sym typeface="Noto Sans SC" panose="020B0500000000000000" charset="-122"/>
              </a:rPr>
              <a:t>留存 (Retention)</a:t>
            </a:r>
            <a:endParaRPr lang="en-US" sz="1100"/>
          </a:p>
        </p:txBody>
      </p:sp>
      <p:sp>
        <p:nvSpPr>
          <p:cNvPr id="9" name="AutoShape 9"/>
          <p:cNvSpPr/>
          <p:nvPr/>
        </p:nvSpPr>
        <p:spPr>
          <a:xfrm>
            <a:off x="1066800" y="4445000"/>
            <a:ext cx="2692400" cy="762000"/>
          </a:xfrm>
          <a:prstGeom prst="rect">
            <a:avLst/>
          </a:prstGeom>
          <a:noFill/>
          <a:ln w="12700" cap="flat" cmpd="sng">
            <a:noFill/>
            <a:prstDash val="solid"/>
            <a:round/>
          </a:ln>
        </p:spPr>
        <p:txBody>
          <a:bodyPr vert="horz" wrap="square" lIns="0" tIns="0" rIns="0" bIns="0" rtlCol="0" anchor="t" anchorCtr="0"/>
          <a:lstStyle/>
          <a:p>
            <a:pPr indent="0" algn="l">
              <a:lnSpc>
                <a:spcPct val="117000"/>
              </a:lnSpc>
              <a:defRPr/>
            </a:pPr>
            <a:r>
              <a:rPr lang="en-US" sz="1300" b="0" i="0" u="none" strike="noStrike">
                <a:solidFill>
                  <a:srgbClr val="D1D5DB"/>
                </a:solidFill>
                <a:latin typeface="Noto Sans SC" panose="020B0500000000000000" charset="-122"/>
                <a:ea typeface="Noto Sans SC" panose="020B0500000000000000" charset="-122"/>
                <a:cs typeface="Noto Sans SC" panose="020B0500000000000000" charset="-122"/>
                <a:sym typeface="Noto Sans SC" panose="020B0500000000000000" charset="-122"/>
              </a:rPr>
              <a:t>用户在初次使用后，会持续回来使用产品，形成稳定的使用习惯。</a:t>
            </a:r>
            <a:endParaRPr lang="en-US" sz="1100"/>
          </a:p>
        </p:txBody>
      </p:sp>
      <p:sp>
        <p:nvSpPr>
          <p:cNvPr id="10" name="AutoShape 10"/>
          <p:cNvSpPr/>
          <p:nvPr/>
        </p:nvSpPr>
        <p:spPr>
          <a:xfrm>
            <a:off x="4445000" y="3048000"/>
            <a:ext cx="3302000" cy="2286000"/>
          </a:xfrm>
          <a:prstGeom prst="roundRect">
            <a:avLst>
              <a:gd name="adj" fmla="val 6666"/>
            </a:avLst>
          </a:prstGeom>
          <a:solidFill>
            <a:srgbClr val="FFFFFF">
              <a:alpha val="5000"/>
            </a:srgbClr>
          </a:solidFill>
          <a:ln w="12700" cap="flat" cmpd="sng">
            <a:solidFill>
              <a:srgbClr val="FFFFFF">
                <a:alpha val="15000"/>
              </a:srgbClr>
            </a:solidFill>
            <a:prstDash val="solid"/>
            <a:round/>
          </a:ln>
        </p:spPr>
        <p:txBody>
          <a:bodyPr vert="horz" wrap="square" lIns="63500" tIns="63500" rIns="63500" bIns="63500" rtlCol="0" anchor="ctr"/>
          <a:lstStyle/>
          <a:p>
            <a:pPr algn="ctr">
              <a:defRPr/>
            </a:pPr>
          </a:p>
        </p:txBody>
      </p:sp>
      <p:pic>
        <p:nvPicPr>
          <p:cNvPr id="11" name="Picture 11"/>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4749800" y="3352800"/>
            <a:ext cx="508000" cy="508000"/>
          </a:xfrm>
          <a:prstGeom prst="rect">
            <a:avLst/>
          </a:prstGeom>
        </p:spPr>
      </p:pic>
      <p:sp>
        <p:nvSpPr>
          <p:cNvPr id="12" name="AutoShape 12"/>
          <p:cNvSpPr/>
          <p:nvPr/>
        </p:nvSpPr>
        <p:spPr>
          <a:xfrm>
            <a:off x="4749800" y="3987800"/>
            <a:ext cx="26924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FFFFFF"/>
                </a:solidFill>
                <a:latin typeface="Noto Sans SC" panose="020B0500000000000000" charset="-122"/>
                <a:ea typeface="Noto Sans SC" panose="020B0500000000000000" charset="-122"/>
                <a:cs typeface="Noto Sans SC" panose="020B0500000000000000" charset="-122"/>
                <a:sym typeface="Noto Sans SC" panose="020B0500000000000000" charset="-122"/>
              </a:rPr>
              <a:t>收入 (Revenue)</a:t>
            </a:r>
            <a:endParaRPr lang="en-US" sz="1100"/>
          </a:p>
        </p:txBody>
      </p:sp>
      <p:sp>
        <p:nvSpPr>
          <p:cNvPr id="13" name="AutoShape 13"/>
          <p:cNvSpPr/>
          <p:nvPr/>
        </p:nvSpPr>
        <p:spPr>
          <a:xfrm>
            <a:off x="4749800" y="4445000"/>
            <a:ext cx="2692400" cy="762000"/>
          </a:xfrm>
          <a:prstGeom prst="rect">
            <a:avLst/>
          </a:prstGeom>
          <a:noFill/>
          <a:ln w="12700" cap="flat" cmpd="sng">
            <a:noFill/>
            <a:prstDash val="solid"/>
            <a:round/>
          </a:ln>
        </p:spPr>
        <p:txBody>
          <a:bodyPr vert="horz" wrap="square" lIns="0" tIns="0" rIns="0" bIns="0" rtlCol="0" anchor="t" anchorCtr="0"/>
          <a:lstStyle/>
          <a:p>
            <a:pPr indent="0" algn="l">
              <a:lnSpc>
                <a:spcPct val="117000"/>
              </a:lnSpc>
              <a:defRPr/>
            </a:pPr>
            <a:r>
              <a:rPr lang="en-US" sz="1300" b="0" i="0" u="none" strike="noStrike">
                <a:solidFill>
                  <a:srgbClr val="D1D5DB"/>
                </a:solidFill>
                <a:latin typeface="Noto Sans SC" panose="020B0500000000000000" charset="-122"/>
                <a:ea typeface="Noto Sans SC" panose="020B0500000000000000" charset="-122"/>
                <a:cs typeface="Noto Sans SC" panose="020B0500000000000000" charset="-122"/>
                <a:sym typeface="Noto Sans SC" panose="020B0500000000000000" charset="-122"/>
              </a:rPr>
              <a:t>用户认可产品价值，愿意为其付费，证明了商业模式的初步可行性。</a:t>
            </a:r>
            <a:endParaRPr lang="en-US" sz="1100"/>
          </a:p>
        </p:txBody>
      </p:sp>
      <p:sp>
        <p:nvSpPr>
          <p:cNvPr id="14" name="AutoShape 14"/>
          <p:cNvSpPr/>
          <p:nvPr/>
        </p:nvSpPr>
        <p:spPr>
          <a:xfrm>
            <a:off x="8128000" y="3048000"/>
            <a:ext cx="3302000" cy="2286000"/>
          </a:xfrm>
          <a:prstGeom prst="roundRect">
            <a:avLst>
              <a:gd name="adj" fmla="val 6666"/>
            </a:avLst>
          </a:prstGeom>
          <a:solidFill>
            <a:srgbClr val="FFFFFF">
              <a:alpha val="5000"/>
            </a:srgbClr>
          </a:solidFill>
          <a:ln w="12700" cap="flat" cmpd="sng">
            <a:solidFill>
              <a:srgbClr val="FFFFFF">
                <a:alpha val="15000"/>
              </a:srgbClr>
            </a:solidFill>
            <a:prstDash val="solid"/>
            <a:round/>
          </a:ln>
        </p:spPr>
        <p:txBody>
          <a:bodyPr vert="horz" wrap="square" lIns="63500" tIns="63500" rIns="63500" bIns="63500" rtlCol="0" anchor="ctr"/>
          <a:lstStyle/>
          <a:p>
            <a:pPr algn="ctr">
              <a:defRPr/>
            </a:pPr>
          </a:p>
        </p:txBody>
      </p:sp>
      <p:pic>
        <p:nvPicPr>
          <p:cNvPr id="15" name="Picture 15"/>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8432800" y="3352800"/>
            <a:ext cx="508000" cy="508000"/>
          </a:xfrm>
          <a:prstGeom prst="rect">
            <a:avLst/>
          </a:prstGeom>
        </p:spPr>
      </p:pic>
      <p:sp>
        <p:nvSpPr>
          <p:cNvPr id="16" name="AutoShape 16"/>
          <p:cNvSpPr/>
          <p:nvPr/>
        </p:nvSpPr>
        <p:spPr>
          <a:xfrm>
            <a:off x="8432800" y="3987800"/>
            <a:ext cx="26924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FFFFFF"/>
                </a:solidFill>
                <a:latin typeface="Noto Sans SC" panose="020B0500000000000000" charset="-122"/>
                <a:ea typeface="Noto Sans SC" panose="020B0500000000000000" charset="-122"/>
                <a:cs typeface="Noto Sans SC" panose="020B0500000000000000" charset="-122"/>
                <a:sym typeface="Noto Sans SC" panose="020B0500000000000000" charset="-122"/>
              </a:rPr>
              <a:t>推荐 (Referral)</a:t>
            </a:r>
            <a:endParaRPr lang="en-US" sz="1100"/>
          </a:p>
        </p:txBody>
      </p:sp>
      <p:sp>
        <p:nvSpPr>
          <p:cNvPr id="17" name="AutoShape 17"/>
          <p:cNvSpPr/>
          <p:nvPr/>
        </p:nvSpPr>
        <p:spPr>
          <a:xfrm>
            <a:off x="8432800" y="4445000"/>
            <a:ext cx="2692400" cy="762000"/>
          </a:xfrm>
          <a:prstGeom prst="rect">
            <a:avLst/>
          </a:prstGeom>
          <a:noFill/>
          <a:ln w="12700" cap="flat" cmpd="sng">
            <a:noFill/>
            <a:prstDash val="solid"/>
            <a:round/>
          </a:ln>
        </p:spPr>
        <p:txBody>
          <a:bodyPr vert="horz" wrap="square" lIns="0" tIns="0" rIns="0" bIns="0" rtlCol="0" anchor="t" anchorCtr="0"/>
          <a:lstStyle/>
          <a:p>
            <a:pPr indent="0" algn="l">
              <a:lnSpc>
                <a:spcPct val="117000"/>
              </a:lnSpc>
              <a:defRPr/>
            </a:pPr>
            <a:r>
              <a:rPr lang="en-US" sz="1300" b="0" i="0" u="none" strike="noStrike">
                <a:solidFill>
                  <a:srgbClr val="D1D5DB"/>
                </a:solidFill>
                <a:latin typeface="Noto Sans SC" panose="020B0500000000000000" charset="-122"/>
                <a:ea typeface="Noto Sans SC" panose="020B0500000000000000" charset="-122"/>
                <a:cs typeface="Noto Sans SC" panose="020B0500000000000000" charset="-122"/>
                <a:sym typeface="Noto Sans SC" panose="020B0500000000000000" charset="-122"/>
              </a:rPr>
              <a:t>用户对产品感到满意，主动向他人推荐，实现低成本的自然增长。</a:t>
            </a:r>
            <a:endParaRPr lang="en-US" sz="1100"/>
          </a:p>
        </p:txBody>
      </p:sp>
      <p:sp>
        <p:nvSpPr>
          <p:cNvPr id="18" name="AutoShape 18"/>
          <p:cNvSpPr/>
          <p:nvPr/>
        </p:nvSpPr>
        <p:spPr>
          <a:xfrm>
            <a:off x="762000" y="5715000"/>
            <a:ext cx="10668000" cy="635000"/>
          </a:xfrm>
          <a:prstGeom prst="roundRect">
            <a:avLst>
              <a:gd name="adj" fmla="val 24000"/>
            </a:avLst>
          </a:prstGeom>
          <a:solidFill>
            <a:srgbClr val="FFFFFF">
              <a:alpha val="8000"/>
            </a:srgbClr>
          </a:solidFill>
          <a:ln w="25400" cap="flat" cmpd="sng">
            <a:noFill/>
            <a:prstDash val="solid"/>
            <a:round/>
          </a:ln>
        </p:spPr>
        <p:txBody>
          <a:bodyPr vert="horz" wrap="square" lIns="63500" tIns="63500" rIns="63500" bIns="63500" rtlCol="0" anchor="ctr"/>
          <a:lstStyle/>
          <a:p>
            <a:pPr algn="ctr">
              <a:defRPr/>
            </a:pPr>
          </a:p>
        </p:txBody>
      </p:sp>
      <p:pic>
        <p:nvPicPr>
          <p:cNvPr id="19" name="Picture 19"/>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1016000" y="5905500"/>
            <a:ext cx="254000" cy="254000"/>
          </a:xfrm>
          <a:prstGeom prst="rect">
            <a:avLst/>
          </a:prstGeom>
        </p:spPr>
      </p:pic>
      <p:sp>
        <p:nvSpPr>
          <p:cNvPr id="20" name="AutoShape 20"/>
          <p:cNvSpPr/>
          <p:nvPr/>
        </p:nvSpPr>
        <p:spPr>
          <a:xfrm>
            <a:off x="1397000" y="5842000"/>
            <a:ext cx="9652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300" b="0" i="0" u="none" strike="noStrike">
                <a:solidFill>
                  <a:srgbClr val="E5E7EB"/>
                </a:solidFill>
                <a:latin typeface="Noto Sans SC" panose="020B0500000000000000" charset="-122"/>
                <a:ea typeface="Noto Sans SC" panose="020B0500000000000000" charset="-122"/>
                <a:cs typeface="Noto Sans SC" panose="020B0500000000000000" charset="-122"/>
                <a:sym typeface="Noto Sans SC" panose="020B0500000000000000" charset="-122"/>
              </a:rPr>
              <a:t>关键判断：这是一个结合创始人直觉和收集到的客观证据的综合评估过程。</a:t>
            </a:r>
            <a:endParaRPr lang="en-US" sz="110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0F172A">
              <a:alpha val="80000"/>
            </a:srgbClr>
          </a:solidFill>
          <a:ln w="25400" cap="flat" cmpd="sng">
            <a:noFill/>
            <a:prstDash val="solid"/>
            <a:round/>
          </a:ln>
        </p:spPr>
        <p:txBody>
          <a:bodyPr vert="horz" wrap="square" lIns="63500" tIns="63500" rIns="63500" bIns="63500" rtlCol="0" anchor="ctr"/>
          <a:lstStyle/>
          <a:p>
            <a:pPr algn="ctr">
              <a:defRPr/>
            </a:pPr>
          </a:p>
        </p:txBody>
      </p:sp>
      <p:sp>
        <p:nvSpPr>
          <p:cNvPr id="3" name="AutoShape 3"/>
          <p:cNvSpPr/>
          <p:nvPr/>
        </p:nvSpPr>
        <p:spPr>
          <a:xfrm>
            <a:off x="762000" y="635000"/>
            <a:ext cx="7620000" cy="5842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3200" b="1" i="0" u="none" strike="noStrike">
                <a:solidFill>
                  <a:srgbClr val="FFFFFF"/>
                </a:solidFill>
                <a:latin typeface="Noto Sans SC" panose="020B0500000000000000" charset="-122"/>
                <a:ea typeface="Noto Sans SC" panose="020B0500000000000000" charset="-122"/>
                <a:cs typeface="Noto Sans SC" panose="020B0500000000000000" charset="-122"/>
                <a:sym typeface="Noto Sans SC" panose="020B0500000000000000" charset="-122"/>
              </a:rPr>
              <a:t>MVP阶段的陷阱</a:t>
            </a:r>
            <a:endParaRPr lang="en-US" sz="1100"/>
          </a:p>
        </p:txBody>
      </p:sp>
      <p:sp>
        <p:nvSpPr>
          <p:cNvPr id="4" name="AutoShape 4"/>
          <p:cNvSpPr/>
          <p:nvPr/>
        </p:nvSpPr>
        <p:spPr>
          <a:xfrm>
            <a:off x="762000" y="1524000"/>
            <a:ext cx="5207000" cy="2413000"/>
          </a:xfrm>
          <a:prstGeom prst="roundRect">
            <a:avLst>
              <a:gd name="adj" fmla="val 6315"/>
            </a:avLst>
          </a:prstGeom>
          <a:solidFill>
            <a:srgbClr val="1E293B">
              <a:alpha val="60000"/>
            </a:srgbClr>
          </a:solidFill>
          <a:ln w="12700" cap="flat" cmpd="sng">
            <a:solidFill>
              <a:srgbClr val="00E5FF">
                <a:alpha val="30000"/>
              </a:srgbClr>
            </a:solidFill>
            <a:prstDash val="solid"/>
            <a:round/>
          </a:ln>
        </p:spPr>
        <p:txBody>
          <a:bodyPr vert="horz" wrap="square" lIns="63500" tIns="63500" rIns="63500" bIns="63500" rtlCol="0" anchor="ctr"/>
          <a:lstStyle/>
          <a:p>
            <a:pPr algn="ctr">
              <a:defRPr/>
            </a:pPr>
          </a:p>
        </p:txBody>
      </p:sp>
      <p:pic>
        <p:nvPicPr>
          <p:cNvPr id="5" name="Picture 5"/>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066800" y="1828800"/>
            <a:ext cx="406400" cy="406400"/>
          </a:xfrm>
          <a:prstGeom prst="rect">
            <a:avLst/>
          </a:prstGeom>
        </p:spPr>
      </p:pic>
      <p:sp>
        <p:nvSpPr>
          <p:cNvPr id="6" name="AutoShape 6"/>
          <p:cNvSpPr/>
          <p:nvPr/>
        </p:nvSpPr>
        <p:spPr>
          <a:xfrm>
            <a:off x="1625600" y="1854200"/>
            <a:ext cx="4318000" cy="3556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FFFFFF"/>
                </a:solidFill>
                <a:latin typeface="Noto Sans SC" panose="020B0500000000000000" charset="-122"/>
                <a:ea typeface="Noto Sans SC" panose="020B0500000000000000" charset="-122"/>
                <a:cs typeface="Noto Sans SC" panose="020B0500000000000000" charset="-122"/>
                <a:sym typeface="Noto Sans SC" panose="020B0500000000000000" charset="-122"/>
              </a:rPr>
              <a:t>挑战一：智能技术债</a:t>
            </a:r>
            <a:endParaRPr lang="en-US" sz="1100"/>
          </a:p>
        </p:txBody>
      </p:sp>
      <p:sp>
        <p:nvSpPr>
          <p:cNvPr id="7" name="AutoShape 7"/>
          <p:cNvSpPr/>
          <p:nvPr/>
        </p:nvSpPr>
        <p:spPr>
          <a:xfrm>
            <a:off x="1066800" y="2387600"/>
            <a:ext cx="4597400" cy="1397000"/>
          </a:xfrm>
          <a:prstGeom prst="rect">
            <a:avLst/>
          </a:prstGeom>
          <a:noFill/>
          <a:ln w="12700" cap="flat" cmpd="sng">
            <a:noFill/>
            <a:prstDash val="solid"/>
            <a:round/>
          </a:ln>
        </p:spPr>
        <p:txBody>
          <a:bodyPr vert="horz" wrap="square" lIns="0" tIns="0" rIns="0" bIns="0" rtlCol="0" anchor="t" anchorCtr="0"/>
          <a:lstStyle/>
          <a:p>
            <a:pPr indent="0" algn="l">
              <a:lnSpc>
                <a:spcPct val="117000"/>
              </a:lnSpc>
              <a:defRPr/>
            </a:pPr>
            <a:r>
              <a:rPr lang="en-US" sz="1200" b="0" i="0" u="none" strike="noStrike">
                <a:solidFill>
                  <a:srgbClr val="CBD5E1"/>
                </a:solidFill>
                <a:latin typeface="Noto Sans SC" panose="020B0500000000000000" charset="-122"/>
                <a:ea typeface="Noto Sans SC" panose="020B0500000000000000" charset="-122"/>
                <a:cs typeface="Noto Sans SC" panose="020B0500000000000000" charset="-122"/>
                <a:sym typeface="Noto Sans SC" panose="020B0500000000000000" charset="-122"/>
              </a:rPr>
              <a:t>AI移除了所有自然瓶颈，导致开发速度过快。若只追求速度而忽视架构约束，会因决策漂移积累难以偿还的技术债，为后期维护埋下隐患。</a:t>
            </a:r>
            <a:endParaRPr lang="en-US" sz="1100"/>
          </a:p>
        </p:txBody>
      </p:sp>
      <p:sp>
        <p:nvSpPr>
          <p:cNvPr id="8" name="AutoShape 8"/>
          <p:cNvSpPr/>
          <p:nvPr/>
        </p:nvSpPr>
        <p:spPr>
          <a:xfrm>
            <a:off x="6223000" y="1524000"/>
            <a:ext cx="5207000" cy="2413000"/>
          </a:xfrm>
          <a:prstGeom prst="roundRect">
            <a:avLst>
              <a:gd name="adj" fmla="val 6315"/>
            </a:avLst>
          </a:prstGeom>
          <a:solidFill>
            <a:srgbClr val="1E293B">
              <a:alpha val="60000"/>
            </a:srgbClr>
          </a:solidFill>
          <a:ln w="12700" cap="flat" cmpd="sng">
            <a:solidFill>
              <a:srgbClr val="00E5FF">
                <a:alpha val="30000"/>
              </a:srgbClr>
            </a:solidFill>
            <a:prstDash val="solid"/>
            <a:round/>
          </a:ln>
        </p:spPr>
        <p:txBody>
          <a:bodyPr vert="horz" wrap="square" lIns="63500" tIns="63500" rIns="63500" bIns="63500" rtlCol="0" anchor="ctr"/>
          <a:lstStyle/>
          <a:p>
            <a:pPr algn="ctr">
              <a:defRPr/>
            </a:pPr>
          </a:p>
        </p:txBody>
      </p:sp>
      <p:pic>
        <p:nvPicPr>
          <p:cNvPr id="9" name="Picture 9"/>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6527800" y="1828800"/>
            <a:ext cx="406400" cy="406400"/>
          </a:xfrm>
          <a:prstGeom prst="rect">
            <a:avLst/>
          </a:prstGeom>
        </p:spPr>
      </p:pic>
      <p:sp>
        <p:nvSpPr>
          <p:cNvPr id="10" name="AutoShape 10"/>
          <p:cNvSpPr/>
          <p:nvPr/>
        </p:nvSpPr>
        <p:spPr>
          <a:xfrm>
            <a:off x="7086600" y="1854200"/>
            <a:ext cx="4318000" cy="3556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FFFFFF"/>
                </a:solidFill>
                <a:latin typeface="Noto Sans SC" panose="020B0500000000000000" charset="-122"/>
                <a:ea typeface="Noto Sans SC" panose="020B0500000000000000" charset="-122"/>
                <a:cs typeface="Noto Sans SC" panose="020B0500000000000000" charset="-122"/>
                <a:sym typeface="Noto Sans SC" panose="020B0500000000000000" charset="-122"/>
              </a:rPr>
              <a:t>挑战二：误判产品-市场契合</a:t>
            </a:r>
            <a:endParaRPr lang="en-US" sz="1100"/>
          </a:p>
        </p:txBody>
      </p:sp>
      <p:sp>
        <p:nvSpPr>
          <p:cNvPr id="11" name="AutoShape 11"/>
          <p:cNvSpPr/>
          <p:nvPr/>
        </p:nvSpPr>
        <p:spPr>
          <a:xfrm>
            <a:off x="6527800" y="2387600"/>
            <a:ext cx="4597400" cy="1397000"/>
          </a:xfrm>
          <a:prstGeom prst="rect">
            <a:avLst/>
          </a:prstGeom>
          <a:noFill/>
          <a:ln w="12700" cap="flat" cmpd="sng">
            <a:noFill/>
            <a:prstDash val="solid"/>
            <a:round/>
          </a:ln>
        </p:spPr>
        <p:txBody>
          <a:bodyPr vert="horz" wrap="square" lIns="0" tIns="0" rIns="0" bIns="0" rtlCol="0" anchor="t" anchorCtr="0"/>
          <a:lstStyle/>
          <a:p>
            <a:pPr indent="0" algn="l">
              <a:lnSpc>
                <a:spcPct val="117000"/>
              </a:lnSpc>
              <a:defRPr/>
            </a:pPr>
            <a:r>
              <a:rPr lang="en-US" sz="1200" b="0" i="0" u="none" strike="noStrike">
                <a:solidFill>
                  <a:srgbClr val="CBD5E1"/>
                </a:solidFill>
                <a:latin typeface="Noto Sans SC" panose="020B0500000000000000" charset="-122"/>
                <a:ea typeface="Noto Sans SC" panose="020B0500000000000000" charset="-122"/>
                <a:cs typeface="Noto Sans SC" panose="020B0500000000000000" charset="-122"/>
                <a:sym typeface="Noto Sans SC" panose="020B0500000000000000" charset="-122"/>
              </a:rPr>
              <a:t>AI工具带来的早期数据增长可能只是“虚假繁荣”，这并不等同于市场真正需要你的产品。早期的增长动力往往源于创始人的人脉或媒体曝光，而非产品本身的核心价值。</a:t>
            </a:r>
            <a:endParaRPr lang="en-US" sz="1100"/>
          </a:p>
        </p:txBody>
      </p:sp>
      <p:sp>
        <p:nvSpPr>
          <p:cNvPr id="12" name="AutoShape 12"/>
          <p:cNvSpPr/>
          <p:nvPr/>
        </p:nvSpPr>
        <p:spPr>
          <a:xfrm>
            <a:off x="762000" y="4191000"/>
            <a:ext cx="5207000" cy="2413000"/>
          </a:xfrm>
          <a:prstGeom prst="roundRect">
            <a:avLst>
              <a:gd name="adj" fmla="val 6315"/>
            </a:avLst>
          </a:prstGeom>
          <a:solidFill>
            <a:srgbClr val="1E293B">
              <a:alpha val="60000"/>
            </a:srgbClr>
          </a:solidFill>
          <a:ln w="12700" cap="flat" cmpd="sng">
            <a:solidFill>
              <a:srgbClr val="00E5FF">
                <a:alpha val="30000"/>
              </a:srgbClr>
            </a:solidFill>
            <a:prstDash val="solid"/>
            <a:round/>
          </a:ln>
        </p:spPr>
        <p:txBody>
          <a:bodyPr vert="horz" wrap="square" lIns="63500" tIns="63500" rIns="63500" bIns="63500" rtlCol="0" anchor="ctr"/>
          <a:lstStyle/>
          <a:p>
            <a:pPr algn="ctr">
              <a:defRPr/>
            </a:pPr>
          </a:p>
        </p:txBody>
      </p:sp>
      <p:pic>
        <p:nvPicPr>
          <p:cNvPr id="13" name="Picture 13"/>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1066800" y="4495800"/>
            <a:ext cx="406400" cy="406400"/>
          </a:xfrm>
          <a:prstGeom prst="rect">
            <a:avLst/>
          </a:prstGeom>
        </p:spPr>
      </p:pic>
      <p:sp>
        <p:nvSpPr>
          <p:cNvPr id="14" name="AutoShape 14"/>
          <p:cNvSpPr/>
          <p:nvPr/>
        </p:nvSpPr>
        <p:spPr>
          <a:xfrm>
            <a:off x="1625600" y="4521200"/>
            <a:ext cx="4318000" cy="3556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FFFFFF"/>
                </a:solidFill>
                <a:latin typeface="Noto Sans SC" panose="020B0500000000000000" charset="-122"/>
                <a:ea typeface="Noto Sans SC" panose="020B0500000000000000" charset="-122"/>
                <a:cs typeface="Noto Sans SC" panose="020B0500000000000000" charset="-122"/>
                <a:sym typeface="Noto Sans SC" panose="020B0500000000000000" charset="-122"/>
              </a:rPr>
              <a:t>挑战三：零摩擦的范围蔓延</a:t>
            </a:r>
            <a:endParaRPr lang="en-US" sz="1100"/>
          </a:p>
        </p:txBody>
      </p:sp>
      <p:sp>
        <p:nvSpPr>
          <p:cNvPr id="15" name="AutoShape 15"/>
          <p:cNvSpPr/>
          <p:nvPr/>
        </p:nvSpPr>
        <p:spPr>
          <a:xfrm>
            <a:off x="1066800" y="5054600"/>
            <a:ext cx="4597400" cy="1397000"/>
          </a:xfrm>
          <a:prstGeom prst="rect">
            <a:avLst/>
          </a:prstGeom>
          <a:noFill/>
          <a:ln w="12700" cap="flat" cmpd="sng">
            <a:noFill/>
            <a:prstDash val="solid"/>
            <a:round/>
          </a:ln>
        </p:spPr>
        <p:txBody>
          <a:bodyPr vert="horz" wrap="square" lIns="0" tIns="0" rIns="0" bIns="0" rtlCol="0" anchor="t" anchorCtr="0"/>
          <a:lstStyle/>
          <a:p>
            <a:pPr indent="0" algn="l">
              <a:lnSpc>
                <a:spcPct val="117000"/>
              </a:lnSpc>
              <a:defRPr/>
            </a:pPr>
            <a:r>
              <a:rPr lang="en-US" sz="1200" b="0" i="0" u="none" strike="noStrike">
                <a:solidFill>
                  <a:srgbClr val="CBD5E1"/>
                </a:solidFill>
                <a:latin typeface="Noto Sans SC" panose="020B0500000000000000" charset="-122"/>
                <a:ea typeface="Noto Sans SC" panose="020B0500000000000000" charset="-122"/>
                <a:cs typeface="Noto Sans SC" panose="020B0500000000000000" charset="-122"/>
                <a:sym typeface="Noto Sans SC" panose="020B0500000000000000" charset="-122"/>
              </a:rPr>
              <a:t>当构建变得毫不费力时，团队容易陷入“功能堆砌”的陷阱，总想添加各种“很酷”的功能。解决这一问题的解药是在构建前就明确产品的边界，清晰定义做什么与不做什么。</a:t>
            </a:r>
            <a:endParaRPr lang="en-US" sz="1100"/>
          </a:p>
        </p:txBody>
      </p:sp>
      <p:sp>
        <p:nvSpPr>
          <p:cNvPr id="16" name="AutoShape 16"/>
          <p:cNvSpPr/>
          <p:nvPr/>
        </p:nvSpPr>
        <p:spPr>
          <a:xfrm>
            <a:off x="6223000" y="4191000"/>
            <a:ext cx="5207000" cy="2413000"/>
          </a:xfrm>
          <a:prstGeom prst="roundRect">
            <a:avLst>
              <a:gd name="adj" fmla="val 6315"/>
            </a:avLst>
          </a:prstGeom>
          <a:solidFill>
            <a:srgbClr val="1E293B">
              <a:alpha val="60000"/>
            </a:srgbClr>
          </a:solidFill>
          <a:ln w="12700" cap="flat" cmpd="sng">
            <a:solidFill>
              <a:srgbClr val="00E5FF">
                <a:alpha val="30000"/>
              </a:srgbClr>
            </a:solidFill>
            <a:prstDash val="solid"/>
            <a:round/>
          </a:ln>
        </p:spPr>
        <p:txBody>
          <a:bodyPr vert="horz" wrap="square" lIns="63500" tIns="63500" rIns="63500" bIns="63500" rtlCol="0" anchor="ctr"/>
          <a:lstStyle/>
          <a:p>
            <a:pPr algn="ctr">
              <a:defRPr/>
            </a:pPr>
          </a:p>
        </p:txBody>
      </p:sp>
      <p:pic>
        <p:nvPicPr>
          <p:cNvPr id="17" name="Picture 17"/>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6527800" y="4495800"/>
            <a:ext cx="406400" cy="406400"/>
          </a:xfrm>
          <a:prstGeom prst="rect">
            <a:avLst/>
          </a:prstGeom>
        </p:spPr>
      </p:pic>
      <p:sp>
        <p:nvSpPr>
          <p:cNvPr id="18" name="AutoShape 18"/>
          <p:cNvSpPr/>
          <p:nvPr/>
        </p:nvSpPr>
        <p:spPr>
          <a:xfrm>
            <a:off x="7086600" y="4521200"/>
            <a:ext cx="4318000" cy="3556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FFFFFF"/>
                </a:solidFill>
                <a:latin typeface="Noto Sans SC" panose="020B0500000000000000" charset="-122"/>
                <a:ea typeface="Noto Sans SC" panose="020B0500000000000000" charset="-122"/>
                <a:cs typeface="Noto Sans SC" panose="020B0500000000000000" charset="-122"/>
                <a:sym typeface="Noto Sans SC" panose="020B0500000000000000" charset="-122"/>
              </a:rPr>
              <a:t>挑战四：因缺乏经验而导致的不安全</a:t>
            </a:r>
            <a:endParaRPr lang="en-US" sz="1100"/>
          </a:p>
        </p:txBody>
      </p:sp>
      <p:sp>
        <p:nvSpPr>
          <p:cNvPr id="19" name="AutoShape 19"/>
          <p:cNvSpPr/>
          <p:nvPr/>
        </p:nvSpPr>
        <p:spPr>
          <a:xfrm>
            <a:off x="6527800" y="5054600"/>
            <a:ext cx="4597400" cy="1397000"/>
          </a:xfrm>
          <a:prstGeom prst="rect">
            <a:avLst/>
          </a:prstGeom>
          <a:noFill/>
          <a:ln w="12700" cap="flat" cmpd="sng">
            <a:noFill/>
            <a:prstDash val="solid"/>
            <a:round/>
          </a:ln>
        </p:spPr>
        <p:txBody>
          <a:bodyPr vert="horz" wrap="square" lIns="0" tIns="0" rIns="0" bIns="0" rtlCol="0" anchor="t" anchorCtr="0"/>
          <a:lstStyle/>
          <a:p>
            <a:pPr indent="0" algn="l">
              <a:lnSpc>
                <a:spcPct val="117000"/>
              </a:lnSpc>
              <a:defRPr/>
            </a:pPr>
            <a:r>
              <a:rPr lang="en-US" sz="1200" b="0" i="0" u="none" strike="noStrike">
                <a:solidFill>
                  <a:srgbClr val="CBD5E1"/>
                </a:solidFill>
                <a:latin typeface="Noto Sans SC" panose="020B0500000000000000" charset="-122"/>
                <a:ea typeface="Noto Sans SC" panose="020B0500000000000000" charset="-122"/>
                <a:cs typeface="Noto Sans SC" panose="020B0500000000000000" charset="-122"/>
                <a:sym typeface="Noto Sans SC" panose="020B0500000000000000" charset="-122"/>
              </a:rPr>
              <a:t>利用AI工具快速推向市场的同时，往往伴随着安全隐患。AI生成的代码通常只是“能工作”的代码，而非“天生安全”的代码，缺乏基本安全知识的团队容易忽视这一关键风险。</a:t>
            </a:r>
            <a:endParaRPr lang="en-US" sz="110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0F172A">
              <a:alpha val="80000"/>
            </a:srgbClr>
          </a:solidFill>
          <a:ln w="25400" cap="flat" cmpd="sng">
            <a:noFill/>
            <a:prstDash val="solid"/>
            <a:round/>
          </a:ln>
        </p:spPr>
        <p:txBody>
          <a:bodyPr vert="horz" wrap="square" lIns="63500" tIns="63500" rIns="63500" bIns="63500" rtlCol="0" anchor="ctr"/>
          <a:lstStyle/>
          <a:p>
            <a:pPr algn="ctr">
              <a:defRPr/>
            </a:pPr>
          </a:p>
        </p:txBody>
      </p:sp>
      <p:sp>
        <p:nvSpPr>
          <p:cNvPr id="3" name="AutoShape 3"/>
          <p:cNvSpPr/>
          <p:nvPr/>
        </p:nvSpPr>
        <p:spPr>
          <a:xfrm>
            <a:off x="762000" y="635000"/>
            <a:ext cx="106680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3200" b="1" i="0" u="none" strike="noStrike">
                <a:solidFill>
                  <a:srgbClr val="FFFFFF"/>
                </a:solidFill>
                <a:latin typeface="Noto Sans SC" panose="020B0500000000000000" charset="-122"/>
                <a:ea typeface="Noto Sans SC" panose="020B0500000000000000" charset="-122"/>
                <a:cs typeface="Noto Sans SC" panose="020B0500000000000000" charset="-122"/>
                <a:sym typeface="Noto Sans SC" panose="020B0500000000000000" charset="-122"/>
              </a:rPr>
              <a:t>如何利用Claude构建高质量的MVP (1)</a:t>
            </a:r>
            <a:endParaRPr lang="en-US" sz="1100"/>
          </a:p>
        </p:txBody>
      </p:sp>
      <p:sp>
        <p:nvSpPr>
          <p:cNvPr id="4" name="AutoShape 4"/>
          <p:cNvSpPr/>
          <p:nvPr/>
        </p:nvSpPr>
        <p:spPr>
          <a:xfrm>
            <a:off x="762000" y="1524000"/>
            <a:ext cx="5207000" cy="4826000"/>
          </a:xfrm>
          <a:prstGeom prst="roundRect">
            <a:avLst>
              <a:gd name="adj" fmla="val 3157"/>
            </a:avLst>
          </a:prstGeom>
          <a:solidFill>
            <a:srgbClr val="1E293B">
              <a:alpha val="60000"/>
            </a:srgbClr>
          </a:solidFill>
          <a:ln w="12700" cap="flat" cmpd="sng">
            <a:solidFill>
              <a:srgbClr val="00E5FF">
                <a:alpha val="30000"/>
              </a:srgbClr>
            </a:solidFill>
            <a:prstDash val="solid"/>
            <a:round/>
          </a:ln>
          <a:effectLst>
            <a:outerShdw blurRad="254000" dist="127000" dir="2700000" algn="tl" rotWithShape="0">
              <a:srgbClr val="000000">
                <a:alpha val="30000"/>
              </a:srgbClr>
            </a:outerShdw>
          </a:effectLst>
        </p:spPr>
        <p:txBody>
          <a:bodyPr vert="horz" wrap="square" lIns="63500" tIns="63500" rIns="63500" bIns="63500" rtlCol="0" anchor="ctr"/>
          <a:lstStyle/>
          <a:p>
            <a:pPr algn="ctr">
              <a:defRPr/>
            </a:pPr>
          </a:p>
        </p:txBody>
      </p:sp>
      <p:sp>
        <p:nvSpPr>
          <p:cNvPr id="5" name="AutoShape 5"/>
          <p:cNvSpPr/>
          <p:nvPr/>
        </p:nvSpPr>
        <p:spPr>
          <a:xfrm>
            <a:off x="1066800" y="1828800"/>
            <a:ext cx="609600" cy="609600"/>
          </a:xfrm>
          <a:prstGeom prst="ellipse">
            <a:avLst/>
          </a:prstGeom>
          <a:solidFill>
            <a:srgbClr val="00E5FF">
              <a:alpha val="15000"/>
            </a:srgbClr>
          </a:solidFill>
          <a:ln w="25400" cap="flat" cmpd="sng">
            <a:noFill/>
            <a:prstDash val="solid"/>
            <a:round/>
          </a:ln>
        </p:spPr>
        <p:txBody>
          <a:bodyPr vert="horz" wrap="square" lIns="63500" tIns="63500" rIns="63500" bIns="63500" rtlCol="0" anchor="ctr"/>
          <a:lstStyle/>
          <a:p>
            <a:pPr algn="ctr">
              <a:defRPr/>
            </a:pPr>
          </a:p>
        </p:txBody>
      </p:sp>
      <p:pic>
        <p:nvPicPr>
          <p:cNvPr id="6" name="Picture 6"/>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193800" y="1955800"/>
            <a:ext cx="355600" cy="355600"/>
          </a:xfrm>
          <a:prstGeom prst="rect">
            <a:avLst/>
          </a:prstGeom>
        </p:spPr>
      </p:pic>
      <p:sp>
        <p:nvSpPr>
          <p:cNvPr id="7" name="AutoShape 7"/>
          <p:cNvSpPr/>
          <p:nvPr/>
        </p:nvSpPr>
        <p:spPr>
          <a:xfrm>
            <a:off x="1828800" y="1943100"/>
            <a:ext cx="4064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000" b="1" i="0" u="none" strike="noStrike">
                <a:solidFill>
                  <a:srgbClr val="00E5FF"/>
                </a:solidFill>
                <a:latin typeface="Noto Sans SC" panose="020B0500000000000000" charset="-122"/>
                <a:ea typeface="Noto Sans SC" panose="020B0500000000000000" charset="-122"/>
                <a:cs typeface="Noto Sans SC" panose="020B0500000000000000" charset="-122"/>
                <a:sym typeface="Noto Sans SC" panose="020B0500000000000000" charset="-122"/>
              </a:rPr>
              <a:t>第一步：在构建前定义架构</a:t>
            </a:r>
            <a:endParaRPr lang="en-US" sz="1100"/>
          </a:p>
        </p:txBody>
      </p:sp>
      <p:cxnSp>
        <p:nvCxnSpPr>
          <p:cNvPr id="8" name="Connector 8"/>
          <p:cNvCxnSpPr/>
          <p:nvPr/>
        </p:nvCxnSpPr>
        <p:spPr>
          <a:xfrm rot="-9496">
            <a:off x="1066809" y="2635250"/>
            <a:ext cx="4597400" cy="12700"/>
          </a:xfrm>
          <a:prstGeom prst="straightConnector1">
            <a:avLst/>
          </a:prstGeom>
          <a:solidFill>
            <a:srgbClr val="DEE0E3">
              <a:alpha val="100000"/>
            </a:srgbClr>
          </a:solidFill>
          <a:ln w="12700" cap="flat" cmpd="sng">
            <a:solidFill>
              <a:srgbClr val="FFFFFF">
                <a:alpha val="15000"/>
              </a:srgbClr>
            </a:solidFill>
            <a:prstDash val="solid"/>
            <a:round/>
            <a:headEnd type="none" w="med" len="med"/>
            <a:tailEnd type="none" w="med" len="med"/>
          </a:ln>
        </p:spPr>
      </p:cxnSp>
      <p:sp>
        <p:nvSpPr>
          <p:cNvPr id="9" name="AutoShape 9"/>
          <p:cNvSpPr/>
          <p:nvPr/>
        </p:nvSpPr>
        <p:spPr>
          <a:xfrm>
            <a:off x="1066800" y="2844800"/>
            <a:ext cx="4597400" cy="3429000"/>
          </a:xfrm>
          <a:prstGeom prst="rect">
            <a:avLst/>
          </a:prstGeom>
          <a:noFill/>
          <a:ln w="12700" cap="flat" cmpd="sng">
            <a:noFill/>
            <a:prstDash val="solid"/>
            <a:round/>
          </a:ln>
        </p:spPr>
        <p:txBody>
          <a:bodyPr vert="horz" wrap="square" lIns="0" tIns="0" rIns="0" bIns="0" rtlCol="0" anchor="t" anchorCtr="0"/>
          <a:lstStyle/>
          <a:p>
            <a:pPr indent="0" algn="l">
              <a:lnSpc>
                <a:spcPct val="125000"/>
              </a:lnSpc>
              <a:defRPr/>
            </a:pPr>
            <a:r>
              <a:rPr lang="en-US" sz="1400" b="1" i="0" u="none" strike="noStrike">
                <a:solidFill>
                  <a:srgbClr val="94A3B8"/>
                </a:solidFill>
                <a:latin typeface="Noto Sans SC" panose="020B0500000000000000" charset="-122"/>
                <a:ea typeface="Noto Sans SC" panose="020B0500000000000000" charset="-122"/>
                <a:cs typeface="Noto Sans SC" panose="020B0500000000000000" charset="-122"/>
                <a:sym typeface="Noto Sans SC" panose="020B0500000000000000" charset="-122"/>
              </a:rPr>
              <a:t>核心任务：</a:t>
            </a:r>
            <a:br>
              <a:rPr lang="en-US" sz="1600" b="0" i="0" u="none" strike="noStrike">
                <a:solidFill>
                  <a:srgbClr val="1F2329"/>
                </a:solidFill>
                <a:latin typeface="Noto Sans SC" panose="020B0500000000000000" charset="-122"/>
                <a:ea typeface="Noto Sans SC" panose="020B0500000000000000" charset="-122"/>
                <a:cs typeface="Noto Sans SC" panose="020B0500000000000000" charset="-122"/>
                <a:sym typeface="Noto Sans SC" panose="020B0500000000000000" charset="-122"/>
              </a:rPr>
            </a:br>
            <a:r>
              <a:rPr lang="en-US" sz="1300" b="0" i="0" u="none" strike="noStrike">
                <a:solidFill>
                  <a:srgbClr val="E2E8F0"/>
                </a:solidFill>
                <a:latin typeface="Noto Sans SC" panose="020B0500000000000000" charset="-122"/>
                <a:ea typeface="Noto Sans SC" panose="020B0500000000000000" charset="-122"/>
                <a:cs typeface="Noto Sans SC" panose="020B0500000000000000" charset="-122"/>
                <a:sym typeface="Noto Sans SC" panose="020B0500000000000000" charset="-122"/>
              </a:rPr>
              <a:t>在编写代码前，先定义并记录架构决策，为项目奠定坚实基础。</a:t>
            </a:r>
            <a:endParaRPr lang="en-US" sz="1100"/>
          </a:p>
          <a:p>
            <a:pPr indent="0" algn="l">
              <a:lnSpc>
                <a:spcPct val="125000"/>
              </a:lnSpc>
            </a:pPr>
            <a:br>
              <a:rPr lang="en-US" sz="1600" b="0" i="0" u="none" strike="noStrike">
                <a:solidFill>
                  <a:srgbClr val="1F2329"/>
                </a:solidFill>
                <a:latin typeface="Noto Sans SC" panose="020B0500000000000000" charset="-122"/>
                <a:ea typeface="Noto Sans SC" panose="020B0500000000000000" charset="-122"/>
                <a:cs typeface="Noto Sans SC" panose="020B0500000000000000" charset="-122"/>
                <a:sym typeface="Noto Sans SC" panose="020B0500000000000000" charset="-122"/>
              </a:rPr>
            </a:br>
            <a:endParaRPr lang="en-US" sz="1600" b="0" i="0" u="none" strike="noStrike">
              <a:solidFill>
                <a:srgbClr val="1F2329"/>
              </a:solidFill>
              <a:latin typeface="Noto Sans SC" panose="020B0500000000000000" charset="-122"/>
              <a:ea typeface="Noto Sans SC" panose="020B0500000000000000" charset="-122"/>
              <a:cs typeface="Noto Sans SC" panose="020B0500000000000000" charset="-122"/>
              <a:sym typeface="Noto Sans SC" panose="020B0500000000000000" charset="-122"/>
            </a:endParaRPr>
          </a:p>
          <a:p>
            <a:pPr indent="0" algn="l">
              <a:lnSpc>
                <a:spcPct val="125000"/>
              </a:lnSpc>
            </a:pPr>
            <a:r>
              <a:rPr lang="en-US" sz="1400" b="1" i="0" u="none" strike="noStrike">
                <a:solidFill>
                  <a:srgbClr val="94A3B8"/>
                </a:solidFill>
                <a:latin typeface="Noto Sans SC" panose="020B0500000000000000" charset="-122"/>
                <a:ea typeface="Noto Sans SC" panose="020B0500000000000000" charset="-122"/>
                <a:cs typeface="Noto Sans SC" panose="020B0500000000000000" charset="-122"/>
                <a:sym typeface="Noto Sans SC" panose="020B0500000000000000" charset="-122"/>
              </a:rPr>
              <a:t>AI 赋能应用：</a:t>
            </a:r>
            <a:endParaRPr lang="en-US" sz="1400" b="1" i="0" u="none" strike="noStrike">
              <a:solidFill>
                <a:srgbClr val="94A3B8"/>
              </a:solidFill>
              <a:latin typeface="Noto Sans SC" panose="020B0500000000000000" charset="-122"/>
              <a:ea typeface="Noto Sans SC" panose="020B0500000000000000" charset="-122"/>
              <a:cs typeface="Noto Sans SC" panose="020B0500000000000000" charset="-122"/>
              <a:sym typeface="Noto Sans SC" panose="020B0500000000000000" charset="-122"/>
            </a:endParaRPr>
          </a:p>
          <a:p>
            <a:pPr indent="0" algn="l">
              <a:lnSpc>
                <a:spcPct val="125000"/>
              </a:lnSpc>
            </a:pPr>
            <a:r>
              <a:rPr lang="en-US" sz="1300" b="0" i="0" u="none" strike="noStrike">
                <a:solidFill>
                  <a:srgbClr val="E2E8F0"/>
                </a:solidFill>
                <a:latin typeface="Noto Sans SC" panose="020B0500000000000000" charset="-122"/>
                <a:ea typeface="Noto Sans SC" panose="020B0500000000000000" charset="-122"/>
                <a:cs typeface="Noto Sans SC" panose="020B0500000000000000" charset="-122"/>
                <a:sym typeface="Noto Sans SC" panose="020B0500000000000000" charset="-122"/>
              </a:rPr>
              <a:t>• 利用 Claude 对话描述产品愿景、用户画像及预期规模，辅助定义架构原则与技术选型权衡。</a:t>
            </a:r>
            <a:endParaRPr lang="en-US" sz="1300" b="0" i="0" u="none" strike="noStrike">
              <a:solidFill>
                <a:srgbClr val="E2E8F0"/>
              </a:solidFill>
              <a:latin typeface="Noto Sans SC" panose="020B0500000000000000" charset="-122"/>
              <a:ea typeface="Noto Sans SC" panose="020B0500000000000000" charset="-122"/>
              <a:cs typeface="Noto Sans SC" panose="020B0500000000000000" charset="-122"/>
              <a:sym typeface="Noto Sans SC" panose="020B0500000000000000" charset="-122"/>
            </a:endParaRPr>
          </a:p>
          <a:p>
            <a:pPr indent="0" algn="l">
              <a:lnSpc>
                <a:spcPct val="125000"/>
              </a:lnSpc>
            </a:pPr>
            <a:r>
              <a:rPr lang="en-US" sz="1300" b="0" i="0" u="none" strike="noStrike">
                <a:solidFill>
                  <a:srgbClr val="E2E8F0"/>
                </a:solidFill>
                <a:latin typeface="Noto Sans SC" panose="020B0500000000000000" charset="-122"/>
                <a:ea typeface="Noto Sans SC" panose="020B0500000000000000" charset="-122"/>
                <a:cs typeface="Noto Sans SC" panose="020B0500000000000000" charset="-122"/>
                <a:sym typeface="Noto Sans SC" panose="020B0500000000000000" charset="-122"/>
              </a:rPr>
              <a:t>• 将最终决策输出保存为</a:t>
            </a:r>
            <a:r>
              <a:rPr lang="en-US" sz="1300" b="1" i="0" u="none" strike="noStrike">
                <a:solidFill>
                  <a:srgbClr val="00E5FF"/>
                </a:solidFill>
                <a:latin typeface="Noto Sans SC" panose="020B0500000000000000" charset="-122"/>
                <a:ea typeface="Noto Sans SC" panose="020B0500000000000000" charset="-122"/>
                <a:cs typeface="Noto Sans SC" panose="020B0500000000000000" charset="-122"/>
                <a:sym typeface="Noto Sans SC" panose="020B0500000000000000" charset="-122"/>
              </a:rPr>
              <a:t>CLAUDE.md</a:t>
            </a:r>
            <a:r>
              <a:rPr lang="en-US" sz="1300" b="0" i="0" u="none" strike="noStrike">
                <a:solidFill>
                  <a:srgbClr val="E2E8F0"/>
                </a:solidFill>
                <a:latin typeface="Noto Sans SC" panose="020B0500000000000000" charset="-122"/>
                <a:ea typeface="Noto Sans SC" panose="020B0500000000000000" charset="-122"/>
                <a:cs typeface="Noto Sans SC" panose="020B0500000000000000" charset="-122"/>
                <a:sym typeface="Noto Sans SC" panose="020B0500000000000000" charset="-122"/>
              </a:rPr>
              <a:t>，作为项目的持久“记忆”与协作基准。</a:t>
            </a:r>
            <a:endParaRPr lang="en-US" sz="1300" b="0" i="0" u="none" strike="noStrike">
              <a:solidFill>
                <a:srgbClr val="E2E8F0"/>
              </a:solidFill>
              <a:latin typeface="Noto Sans SC" panose="020B0500000000000000" charset="-122"/>
              <a:ea typeface="Noto Sans SC" panose="020B0500000000000000" charset="-122"/>
              <a:cs typeface="Noto Sans SC" panose="020B0500000000000000" charset="-122"/>
              <a:sym typeface="Noto Sans SC" panose="020B0500000000000000" charset="-122"/>
            </a:endParaRPr>
          </a:p>
        </p:txBody>
      </p:sp>
      <p:sp>
        <p:nvSpPr>
          <p:cNvPr id="10" name="AutoShape 10"/>
          <p:cNvSpPr/>
          <p:nvPr/>
        </p:nvSpPr>
        <p:spPr>
          <a:xfrm>
            <a:off x="6223000" y="1524000"/>
            <a:ext cx="5207000" cy="4826000"/>
          </a:xfrm>
          <a:prstGeom prst="roundRect">
            <a:avLst>
              <a:gd name="adj" fmla="val 3157"/>
            </a:avLst>
          </a:prstGeom>
          <a:solidFill>
            <a:srgbClr val="1E293B">
              <a:alpha val="60000"/>
            </a:srgbClr>
          </a:solidFill>
          <a:ln w="12700" cap="flat" cmpd="sng">
            <a:solidFill>
              <a:srgbClr val="00E5FF">
                <a:alpha val="30000"/>
              </a:srgbClr>
            </a:solidFill>
            <a:prstDash val="solid"/>
            <a:round/>
          </a:ln>
          <a:effectLst>
            <a:outerShdw blurRad="254000" dist="127000" dir="2700000" algn="tl" rotWithShape="0">
              <a:srgbClr val="000000">
                <a:alpha val="30000"/>
              </a:srgbClr>
            </a:outerShdw>
          </a:effectLst>
        </p:spPr>
        <p:txBody>
          <a:bodyPr vert="horz" wrap="square" lIns="63500" tIns="63500" rIns="63500" bIns="63500" rtlCol="0" anchor="ctr"/>
          <a:lstStyle/>
          <a:p>
            <a:pPr algn="ctr">
              <a:defRPr/>
            </a:pPr>
          </a:p>
        </p:txBody>
      </p:sp>
      <p:sp>
        <p:nvSpPr>
          <p:cNvPr id="11" name="AutoShape 11"/>
          <p:cNvSpPr/>
          <p:nvPr/>
        </p:nvSpPr>
        <p:spPr>
          <a:xfrm>
            <a:off x="6527800" y="1828800"/>
            <a:ext cx="609600" cy="609600"/>
          </a:xfrm>
          <a:prstGeom prst="ellipse">
            <a:avLst/>
          </a:prstGeom>
          <a:solidFill>
            <a:srgbClr val="00E5FF">
              <a:alpha val="15000"/>
            </a:srgbClr>
          </a:solidFill>
          <a:ln w="25400" cap="flat" cmpd="sng">
            <a:noFill/>
            <a:prstDash val="solid"/>
            <a:round/>
          </a:ln>
        </p:spPr>
        <p:txBody>
          <a:bodyPr vert="horz" wrap="square" lIns="63500" tIns="63500" rIns="63500" bIns="63500" rtlCol="0" anchor="ctr"/>
          <a:lstStyle/>
          <a:p>
            <a:pPr algn="ctr">
              <a:defRPr/>
            </a:pPr>
          </a:p>
        </p:txBody>
      </p:sp>
      <p:pic>
        <p:nvPicPr>
          <p:cNvPr id="12" name="Picture 12"/>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6654800" y="1955800"/>
            <a:ext cx="355600" cy="355600"/>
          </a:xfrm>
          <a:prstGeom prst="rect">
            <a:avLst/>
          </a:prstGeom>
        </p:spPr>
      </p:pic>
      <p:sp>
        <p:nvSpPr>
          <p:cNvPr id="13" name="AutoShape 13"/>
          <p:cNvSpPr/>
          <p:nvPr/>
        </p:nvSpPr>
        <p:spPr>
          <a:xfrm>
            <a:off x="7289800" y="1943100"/>
            <a:ext cx="4064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000" b="1" i="0" u="none" strike="noStrike">
                <a:solidFill>
                  <a:srgbClr val="00E5FF"/>
                </a:solidFill>
                <a:latin typeface="Noto Sans SC" panose="020B0500000000000000" charset="-122"/>
                <a:ea typeface="Noto Sans SC" panose="020B0500000000000000" charset="-122"/>
                <a:cs typeface="Noto Sans SC" panose="020B0500000000000000" charset="-122"/>
                <a:sym typeface="Noto Sans SC" panose="020B0500000000000000" charset="-122"/>
              </a:rPr>
              <a:t>第二步：定义并执行MVP范围</a:t>
            </a:r>
            <a:endParaRPr lang="en-US" sz="1100"/>
          </a:p>
        </p:txBody>
      </p:sp>
      <p:cxnSp>
        <p:nvCxnSpPr>
          <p:cNvPr id="14" name="Connector 14"/>
          <p:cNvCxnSpPr/>
          <p:nvPr/>
        </p:nvCxnSpPr>
        <p:spPr>
          <a:xfrm rot="-9496">
            <a:off x="6527809" y="2635250"/>
            <a:ext cx="4597400" cy="12700"/>
          </a:xfrm>
          <a:prstGeom prst="straightConnector1">
            <a:avLst/>
          </a:prstGeom>
          <a:solidFill>
            <a:srgbClr val="DEE0E3">
              <a:alpha val="100000"/>
            </a:srgbClr>
          </a:solidFill>
          <a:ln w="12700" cap="flat" cmpd="sng">
            <a:solidFill>
              <a:srgbClr val="FFFFFF">
                <a:alpha val="15000"/>
              </a:srgbClr>
            </a:solidFill>
            <a:prstDash val="solid"/>
            <a:round/>
            <a:headEnd type="none" w="med" len="med"/>
            <a:tailEnd type="none" w="med" len="med"/>
          </a:ln>
        </p:spPr>
      </p:cxnSp>
      <p:sp>
        <p:nvSpPr>
          <p:cNvPr id="15" name="AutoShape 15"/>
          <p:cNvSpPr/>
          <p:nvPr/>
        </p:nvSpPr>
        <p:spPr>
          <a:xfrm>
            <a:off x="6527800" y="2844800"/>
            <a:ext cx="4597400" cy="3429000"/>
          </a:xfrm>
          <a:prstGeom prst="rect">
            <a:avLst/>
          </a:prstGeom>
          <a:noFill/>
          <a:ln w="12700" cap="flat" cmpd="sng">
            <a:noFill/>
            <a:prstDash val="solid"/>
            <a:round/>
          </a:ln>
        </p:spPr>
        <p:txBody>
          <a:bodyPr vert="horz" wrap="square" lIns="0" tIns="0" rIns="0" bIns="0" rtlCol="0" anchor="t" anchorCtr="0"/>
          <a:lstStyle/>
          <a:p>
            <a:pPr indent="0" algn="l">
              <a:lnSpc>
                <a:spcPct val="125000"/>
              </a:lnSpc>
              <a:defRPr/>
            </a:pPr>
            <a:r>
              <a:rPr lang="en-US" sz="1400" b="1" i="0" u="none" strike="noStrike">
                <a:solidFill>
                  <a:srgbClr val="94A3B8"/>
                </a:solidFill>
                <a:latin typeface="Noto Sans SC" panose="020B0500000000000000" charset="-122"/>
                <a:ea typeface="Noto Sans SC" panose="020B0500000000000000" charset="-122"/>
                <a:cs typeface="Noto Sans SC" panose="020B0500000000000000" charset="-122"/>
                <a:sym typeface="Noto Sans SC" panose="020B0500000000000000" charset="-122"/>
              </a:rPr>
              <a:t>核心任务：</a:t>
            </a:r>
            <a:br>
              <a:rPr lang="en-US" sz="1600" b="0" i="0" u="none" strike="noStrike">
                <a:solidFill>
                  <a:srgbClr val="1F2329"/>
                </a:solidFill>
                <a:latin typeface="Noto Sans SC" panose="020B0500000000000000" charset="-122"/>
                <a:ea typeface="Noto Sans SC" panose="020B0500000000000000" charset="-122"/>
                <a:cs typeface="Noto Sans SC" panose="020B0500000000000000" charset="-122"/>
                <a:sym typeface="Noto Sans SC" panose="020B0500000000000000" charset="-122"/>
              </a:rPr>
            </a:br>
            <a:r>
              <a:rPr lang="en-US" sz="1300" b="0" i="0" u="none" strike="noStrike">
                <a:solidFill>
                  <a:srgbClr val="E2E8F0"/>
                </a:solidFill>
                <a:latin typeface="Noto Sans SC" panose="020B0500000000000000" charset="-122"/>
                <a:ea typeface="Noto Sans SC" panose="020B0500000000000000" charset="-122"/>
                <a:cs typeface="Noto Sans SC" panose="020B0500000000000000" charset="-122"/>
                <a:sym typeface="Noto Sans SC" panose="020B0500000000000000" charset="-122"/>
              </a:rPr>
              <a:t>创建明确的范围文档，界定MVP的功能边界，有效防止范围蔓延。</a:t>
            </a:r>
            <a:endParaRPr lang="en-US" sz="1100"/>
          </a:p>
          <a:p>
            <a:pPr indent="0" algn="l">
              <a:lnSpc>
                <a:spcPct val="125000"/>
              </a:lnSpc>
            </a:pPr>
            <a:br>
              <a:rPr lang="en-US" sz="1600" b="0" i="0" u="none" strike="noStrike">
                <a:solidFill>
                  <a:srgbClr val="1F2329"/>
                </a:solidFill>
                <a:latin typeface="Noto Sans SC" panose="020B0500000000000000" charset="-122"/>
                <a:ea typeface="Noto Sans SC" panose="020B0500000000000000" charset="-122"/>
                <a:cs typeface="Noto Sans SC" panose="020B0500000000000000" charset="-122"/>
                <a:sym typeface="Noto Sans SC" panose="020B0500000000000000" charset="-122"/>
              </a:rPr>
            </a:br>
            <a:endParaRPr lang="en-US" sz="1600" b="0" i="0" u="none" strike="noStrike">
              <a:solidFill>
                <a:srgbClr val="1F2329"/>
              </a:solidFill>
              <a:latin typeface="Noto Sans SC" panose="020B0500000000000000" charset="-122"/>
              <a:ea typeface="Noto Sans SC" panose="020B0500000000000000" charset="-122"/>
              <a:cs typeface="Noto Sans SC" panose="020B0500000000000000" charset="-122"/>
              <a:sym typeface="Noto Sans SC" panose="020B0500000000000000" charset="-122"/>
            </a:endParaRPr>
          </a:p>
          <a:p>
            <a:pPr indent="0" algn="l">
              <a:lnSpc>
                <a:spcPct val="125000"/>
              </a:lnSpc>
            </a:pPr>
            <a:r>
              <a:rPr lang="en-US" sz="1400" b="1" i="0" u="none" strike="noStrike">
                <a:solidFill>
                  <a:srgbClr val="94A3B8"/>
                </a:solidFill>
                <a:latin typeface="Noto Sans SC" panose="020B0500000000000000" charset="-122"/>
                <a:ea typeface="Noto Sans SC" panose="020B0500000000000000" charset="-122"/>
                <a:cs typeface="Noto Sans SC" panose="020B0500000000000000" charset="-122"/>
                <a:sym typeface="Noto Sans SC" panose="020B0500000000000000" charset="-122"/>
              </a:rPr>
              <a:t>AI 赋能应用：</a:t>
            </a:r>
            <a:endParaRPr lang="en-US" sz="1400" b="1" i="0" u="none" strike="noStrike">
              <a:solidFill>
                <a:srgbClr val="94A3B8"/>
              </a:solidFill>
              <a:latin typeface="Noto Sans SC" panose="020B0500000000000000" charset="-122"/>
              <a:ea typeface="Noto Sans SC" panose="020B0500000000000000" charset="-122"/>
              <a:cs typeface="Noto Sans SC" panose="020B0500000000000000" charset="-122"/>
              <a:sym typeface="Noto Sans SC" panose="020B0500000000000000" charset="-122"/>
            </a:endParaRPr>
          </a:p>
          <a:p>
            <a:pPr indent="0" algn="l">
              <a:lnSpc>
                <a:spcPct val="125000"/>
              </a:lnSpc>
            </a:pPr>
            <a:r>
              <a:rPr lang="en-US" sz="1300" b="0" i="0" u="none" strike="noStrike">
                <a:solidFill>
                  <a:srgbClr val="E2E8F0"/>
                </a:solidFill>
                <a:latin typeface="Noto Sans SC" panose="020B0500000000000000" charset="-122"/>
                <a:ea typeface="Noto Sans SC" panose="020B0500000000000000" charset="-122"/>
                <a:cs typeface="Noto Sans SC" panose="020B0500000000000000" charset="-122"/>
                <a:sym typeface="Noto Sans SC" panose="020B0500000000000000" charset="-122"/>
              </a:rPr>
              <a:t>• 借助 Claude 生成范围文档，清晰定义产品的核心功能与非功能范围，设立新增功能的准入标准。</a:t>
            </a:r>
            <a:endParaRPr lang="en-US" sz="1300" b="0" i="0" u="none" strike="noStrike">
              <a:solidFill>
                <a:srgbClr val="E2E8F0"/>
              </a:solidFill>
              <a:latin typeface="Noto Sans SC" panose="020B0500000000000000" charset="-122"/>
              <a:ea typeface="Noto Sans SC" panose="020B0500000000000000" charset="-122"/>
              <a:cs typeface="Noto Sans SC" panose="020B0500000000000000" charset="-122"/>
              <a:sym typeface="Noto Sans SC" panose="020B0500000000000000" charset="-122"/>
            </a:endParaRPr>
          </a:p>
          <a:p>
            <a:pPr indent="0" algn="l">
              <a:lnSpc>
                <a:spcPct val="125000"/>
              </a:lnSpc>
            </a:pPr>
            <a:r>
              <a:rPr lang="en-US" sz="1300" b="0" i="0" u="none" strike="noStrike">
                <a:solidFill>
                  <a:srgbClr val="E2E8F0"/>
                </a:solidFill>
                <a:latin typeface="Noto Sans SC" panose="020B0500000000000000" charset="-122"/>
                <a:ea typeface="Noto Sans SC" panose="020B0500000000000000" charset="-122"/>
                <a:cs typeface="Noto Sans SC" panose="020B0500000000000000" charset="-122"/>
                <a:sym typeface="Noto Sans SC" panose="020B0500000000000000" charset="-122"/>
              </a:rPr>
              <a:t>• 当新功能想法涌现时，利用 Claude 进行压力测试，区分真实用户需求与主观热情，确保聚焦核心价值。</a:t>
            </a:r>
            <a:endParaRPr lang="en-US" sz="1300" b="0" i="0" u="none" strike="noStrike">
              <a:solidFill>
                <a:srgbClr val="E2E8F0"/>
              </a:solidFill>
              <a:latin typeface="Noto Sans SC" panose="020B0500000000000000" charset="-122"/>
              <a:ea typeface="Noto Sans SC" panose="020B0500000000000000" charset="-122"/>
              <a:cs typeface="Noto Sans SC" panose="020B0500000000000000" charset="-122"/>
              <a:sym typeface="Noto Sans SC" panose="020B0500000000000000" charset="-122"/>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0F172A">
              <a:alpha val="80000"/>
            </a:srgbClr>
          </a:solidFill>
          <a:ln w="25400" cap="flat" cmpd="sng">
            <a:noFill/>
            <a:prstDash val="solid"/>
            <a:round/>
          </a:ln>
        </p:spPr>
        <p:txBody>
          <a:bodyPr vert="horz" wrap="square" lIns="63500" tIns="63500" rIns="63500" bIns="63500" rtlCol="0" anchor="ctr"/>
          <a:lstStyle/>
          <a:p>
            <a:pPr algn="ctr">
              <a:defRPr/>
            </a:pPr>
          </a:p>
        </p:txBody>
      </p:sp>
      <p:sp>
        <p:nvSpPr>
          <p:cNvPr id="3" name="AutoShape 3"/>
          <p:cNvSpPr/>
          <p:nvPr/>
        </p:nvSpPr>
        <p:spPr>
          <a:xfrm>
            <a:off x="762000" y="635000"/>
            <a:ext cx="10668000" cy="5715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3200" b="1" i="0" u="none" strike="noStrike">
                <a:solidFill>
                  <a:srgbClr val="FFFFFF"/>
                </a:solidFill>
                <a:latin typeface="Noto Sans SC" panose="020B0500000000000000" charset="-122"/>
                <a:ea typeface="Noto Sans SC" panose="020B0500000000000000" charset="-122"/>
                <a:cs typeface="Noto Sans SC" panose="020B0500000000000000" charset="-122"/>
                <a:sym typeface="Noto Sans SC" panose="020B0500000000000000" charset="-122"/>
              </a:rPr>
              <a:t>如何利用Claude构建高质量的MVP (2)</a:t>
            </a:r>
            <a:endParaRPr lang="en-US" sz="1100"/>
          </a:p>
        </p:txBody>
      </p:sp>
      <p:sp>
        <p:nvSpPr>
          <p:cNvPr id="4" name="AutoShape 4"/>
          <p:cNvSpPr/>
          <p:nvPr/>
        </p:nvSpPr>
        <p:spPr>
          <a:xfrm>
            <a:off x="762000" y="1651000"/>
            <a:ext cx="3302000" cy="4572000"/>
          </a:xfrm>
          <a:prstGeom prst="roundRect">
            <a:avLst>
              <a:gd name="adj" fmla="val 4615"/>
            </a:avLst>
          </a:prstGeom>
          <a:solidFill>
            <a:srgbClr val="1E293B">
              <a:alpha val="60000"/>
            </a:srgbClr>
          </a:solidFill>
          <a:ln w="12700" cap="flat" cmpd="sng">
            <a:solidFill>
              <a:srgbClr val="00E5FF">
                <a:alpha val="30000"/>
              </a:srgbClr>
            </a:solidFill>
            <a:prstDash val="solid"/>
            <a:round/>
          </a:ln>
          <a:effectLst>
            <a:outerShdw blurRad="254000" dist="127000" dir="5400000" algn="tl" rotWithShape="0">
              <a:srgbClr val="000000">
                <a:alpha val="30000"/>
              </a:srgbClr>
            </a:outerShdw>
          </a:effectLst>
        </p:spPr>
        <p:txBody>
          <a:bodyPr vert="horz" wrap="square" lIns="63500" tIns="63500" rIns="63500" bIns="63500" rtlCol="0" anchor="ctr"/>
          <a:lstStyle/>
          <a:p>
            <a:pPr algn="ctr">
              <a:defRPr/>
            </a:pPr>
          </a:p>
        </p:txBody>
      </p:sp>
      <p:sp>
        <p:nvSpPr>
          <p:cNvPr id="5" name="AutoShape 5"/>
          <p:cNvSpPr/>
          <p:nvPr/>
        </p:nvSpPr>
        <p:spPr>
          <a:xfrm>
            <a:off x="762000" y="1651000"/>
            <a:ext cx="3302000" cy="50800"/>
          </a:xfrm>
          <a:prstGeom prst="roundRect">
            <a:avLst>
              <a:gd name="adj" fmla="val 0"/>
            </a:avLst>
          </a:prstGeom>
          <a:solidFill>
            <a:srgbClr val="00E5FF">
              <a:alpha val="100000"/>
            </a:srgbClr>
          </a:solidFill>
          <a:ln w="25400" cap="flat" cmpd="sng">
            <a:noFill/>
            <a:prstDash val="solid"/>
            <a:round/>
          </a:ln>
        </p:spPr>
        <p:txBody>
          <a:bodyPr vert="horz" wrap="square" lIns="63500" tIns="63500" rIns="63500" bIns="63500" rtlCol="0" anchor="ctr"/>
          <a:lstStyle/>
          <a:p>
            <a:pPr algn="ctr">
              <a:defRPr/>
            </a:pPr>
          </a:p>
        </p:txBody>
      </p:sp>
      <p:sp>
        <p:nvSpPr>
          <p:cNvPr id="6" name="AutoShape 6"/>
          <p:cNvSpPr/>
          <p:nvPr/>
        </p:nvSpPr>
        <p:spPr>
          <a:xfrm>
            <a:off x="1066800" y="1955800"/>
            <a:ext cx="609600" cy="609600"/>
          </a:xfrm>
          <a:prstGeom prst="ellipse">
            <a:avLst/>
          </a:prstGeom>
          <a:solidFill>
            <a:srgbClr val="00E5FF">
              <a:alpha val="15000"/>
            </a:srgbClr>
          </a:solidFill>
          <a:ln w="25400" cap="flat" cmpd="sng">
            <a:noFill/>
            <a:prstDash val="solid"/>
            <a:round/>
          </a:ln>
        </p:spPr>
        <p:txBody>
          <a:bodyPr vert="horz" wrap="square" lIns="63500" tIns="63500" rIns="63500" bIns="63500" rtlCol="0" anchor="ctr"/>
          <a:lstStyle/>
          <a:p>
            <a:pPr algn="ctr">
              <a:defRPr/>
            </a:pPr>
          </a:p>
        </p:txBody>
      </p:sp>
      <p:pic>
        <p:nvPicPr>
          <p:cNvPr id="7" name="Picture 7"/>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193800" y="2082800"/>
            <a:ext cx="355600" cy="355600"/>
          </a:xfrm>
          <a:prstGeom prst="rect">
            <a:avLst/>
          </a:prstGeom>
        </p:spPr>
      </p:pic>
      <p:sp>
        <p:nvSpPr>
          <p:cNvPr id="8" name="AutoShape 8"/>
          <p:cNvSpPr/>
          <p:nvPr/>
        </p:nvSpPr>
        <p:spPr>
          <a:xfrm>
            <a:off x="1066800" y="2730500"/>
            <a:ext cx="26924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00E5FF"/>
                </a:solidFill>
                <a:latin typeface="Noto Sans SC" panose="020B0500000000000000" charset="-122"/>
                <a:ea typeface="Noto Sans SC" panose="020B0500000000000000" charset="-122"/>
                <a:cs typeface="Noto Sans SC" panose="020B0500000000000000" charset="-122"/>
                <a:sym typeface="Noto Sans SC" panose="020B0500000000000000" charset="-122"/>
              </a:rPr>
              <a:t>第三步：构建MVP</a:t>
            </a:r>
            <a:endParaRPr lang="en-US" sz="1100"/>
          </a:p>
        </p:txBody>
      </p:sp>
      <p:cxnSp>
        <p:nvCxnSpPr>
          <p:cNvPr id="9" name="Connector 9"/>
          <p:cNvCxnSpPr/>
          <p:nvPr/>
        </p:nvCxnSpPr>
        <p:spPr>
          <a:xfrm rot="-16215">
            <a:off x="1066815" y="3232150"/>
            <a:ext cx="2692400" cy="12700"/>
          </a:xfrm>
          <a:prstGeom prst="straightConnector1">
            <a:avLst/>
          </a:prstGeom>
          <a:solidFill>
            <a:srgbClr val="DEE0E3">
              <a:alpha val="100000"/>
            </a:srgbClr>
          </a:solidFill>
          <a:ln w="12700" cap="flat" cmpd="sng">
            <a:solidFill>
              <a:srgbClr val="FFFFFF">
                <a:alpha val="15000"/>
              </a:srgbClr>
            </a:solidFill>
            <a:prstDash val="solid"/>
            <a:round/>
            <a:headEnd type="none" w="med" len="med"/>
            <a:tailEnd type="none" w="med" len="med"/>
          </a:ln>
        </p:spPr>
      </p:cxnSp>
      <p:sp>
        <p:nvSpPr>
          <p:cNvPr id="10" name="AutoShape 10"/>
          <p:cNvSpPr/>
          <p:nvPr/>
        </p:nvSpPr>
        <p:spPr>
          <a:xfrm>
            <a:off x="1066800" y="3429000"/>
            <a:ext cx="2692400" cy="2540000"/>
          </a:xfrm>
          <a:prstGeom prst="rect">
            <a:avLst/>
          </a:prstGeom>
          <a:noFill/>
          <a:ln w="12700" cap="flat" cmpd="sng">
            <a:noFill/>
            <a:prstDash val="solid"/>
            <a:round/>
          </a:ln>
        </p:spPr>
        <p:txBody>
          <a:bodyPr vert="horz" wrap="square" lIns="0" tIns="0" rIns="0" bIns="0" rtlCol="0" anchor="t" anchorCtr="0"/>
          <a:lstStyle/>
          <a:p>
            <a:pPr indent="0" algn="l">
              <a:lnSpc>
                <a:spcPct val="117000"/>
              </a:lnSpc>
              <a:defRPr/>
            </a:pPr>
            <a:r>
              <a:rPr lang="en-US" sz="1400" b="1" i="0" u="none" strike="noStrike">
                <a:solidFill>
                  <a:srgbClr val="FFFFFF"/>
                </a:solidFill>
                <a:latin typeface="Noto Sans SC" panose="020B0500000000000000" charset="-122"/>
                <a:ea typeface="Noto Sans SC" panose="020B0500000000000000" charset="-122"/>
                <a:cs typeface="Noto Sans SC" panose="020B0500000000000000" charset="-122"/>
                <a:sym typeface="Noto Sans SC" panose="020B0500000000000000" charset="-122"/>
              </a:rPr>
              <a:t>核心任务：</a:t>
            </a:r>
            <a:br>
              <a:rPr lang="en-US" sz="1600" b="0" i="0" u="none" strike="noStrike">
                <a:solidFill>
                  <a:srgbClr val="1F2329"/>
                </a:solidFill>
                <a:latin typeface="Noto Sans SC" panose="020B0500000000000000" charset="-122"/>
                <a:ea typeface="Noto Sans SC" panose="020B0500000000000000" charset="-122"/>
                <a:cs typeface="Noto Sans SC" panose="020B0500000000000000" charset="-122"/>
                <a:sym typeface="Noto Sans SC" panose="020B0500000000000000" charset="-122"/>
              </a:rPr>
            </a:br>
            <a:r>
              <a:rPr lang="en-US" sz="1300" b="0" i="0" u="none" strike="noStrike">
                <a:solidFill>
                  <a:srgbClr val="CBD5E1"/>
                </a:solidFill>
                <a:latin typeface="Noto Sans SC" panose="020B0500000000000000" charset="-122"/>
                <a:ea typeface="Noto Sans SC" panose="020B0500000000000000" charset="-122"/>
                <a:cs typeface="Noto Sans SC" panose="020B0500000000000000" charset="-122"/>
                <a:sym typeface="Noto Sans SC" panose="020B0500000000000000" charset="-122"/>
              </a:rPr>
              <a:t>将架构设计转化为实际可运行的产品代码。</a:t>
            </a:r>
            <a:endParaRPr lang="en-US" sz="1100"/>
          </a:p>
          <a:p>
            <a:pPr indent="0" algn="l">
              <a:lnSpc>
                <a:spcPct val="117000"/>
              </a:lnSpc>
            </a:pPr>
            <a:br>
              <a:rPr lang="en-US" sz="1600" b="0" i="0" u="none" strike="noStrike">
                <a:solidFill>
                  <a:srgbClr val="1F2329"/>
                </a:solidFill>
                <a:latin typeface="Noto Sans SC" panose="020B0500000000000000" charset="-122"/>
                <a:ea typeface="Noto Sans SC" panose="020B0500000000000000" charset="-122"/>
                <a:cs typeface="Noto Sans SC" panose="020B0500000000000000" charset="-122"/>
                <a:sym typeface="Noto Sans SC" panose="020B0500000000000000" charset="-122"/>
              </a:rPr>
            </a:br>
            <a:r>
              <a:rPr lang="en-US" sz="1400" b="1" i="0" u="none" strike="noStrike">
                <a:solidFill>
                  <a:srgbClr val="FFFFFF"/>
                </a:solidFill>
                <a:latin typeface="Noto Sans SC" panose="020B0500000000000000" charset="-122"/>
                <a:ea typeface="Noto Sans SC" panose="020B0500000000000000" charset="-122"/>
                <a:cs typeface="Noto Sans SC" panose="020B0500000000000000" charset="-122"/>
                <a:sym typeface="Noto Sans SC" panose="020B0500000000000000" charset="-122"/>
              </a:rPr>
              <a:t>AI 落地应用：</a:t>
            </a:r>
            <a:br>
              <a:rPr lang="en-US" sz="1600" b="0" i="0" u="none" strike="noStrike">
                <a:solidFill>
                  <a:srgbClr val="1F2329"/>
                </a:solidFill>
                <a:latin typeface="Noto Sans SC" panose="020B0500000000000000" charset="-122"/>
                <a:ea typeface="Noto Sans SC" panose="020B0500000000000000" charset="-122"/>
                <a:cs typeface="Noto Sans SC" panose="020B0500000000000000" charset="-122"/>
                <a:sym typeface="Noto Sans SC" panose="020B0500000000000000" charset="-122"/>
              </a:rPr>
            </a:br>
            <a:r>
              <a:rPr lang="en-US" sz="1300" b="0" i="0" u="none" strike="noStrike">
                <a:solidFill>
                  <a:srgbClr val="CBD5E1"/>
                </a:solidFill>
                <a:latin typeface="Noto Sans SC" panose="020B0500000000000000" charset="-122"/>
                <a:ea typeface="Noto Sans SC" panose="020B0500000000000000" charset="-122"/>
                <a:cs typeface="Noto Sans SC" panose="020B0500000000000000" charset="-122"/>
                <a:sym typeface="Noto Sans SC" panose="020B0500000000000000" charset="-122"/>
              </a:rPr>
              <a:t>使用 Claude Code 作为主力开发工具。每次会话均需加载 CLAUDE.md 上下文文档，并在开发过程中持续更新，确保代码结构清晰且可解释。</a:t>
            </a:r>
            <a:endParaRPr lang="en-US" sz="1300" b="0" i="0" u="none" strike="noStrike">
              <a:solidFill>
                <a:srgbClr val="CBD5E1"/>
              </a:solidFill>
              <a:latin typeface="Noto Sans SC" panose="020B0500000000000000" charset="-122"/>
              <a:ea typeface="Noto Sans SC" panose="020B0500000000000000" charset="-122"/>
              <a:cs typeface="Noto Sans SC" panose="020B0500000000000000" charset="-122"/>
              <a:sym typeface="Noto Sans SC" panose="020B0500000000000000" charset="-122"/>
            </a:endParaRPr>
          </a:p>
        </p:txBody>
      </p:sp>
      <p:sp>
        <p:nvSpPr>
          <p:cNvPr id="11" name="AutoShape 11"/>
          <p:cNvSpPr/>
          <p:nvPr/>
        </p:nvSpPr>
        <p:spPr>
          <a:xfrm>
            <a:off x="4445000" y="1651000"/>
            <a:ext cx="3302000" cy="4572000"/>
          </a:xfrm>
          <a:prstGeom prst="roundRect">
            <a:avLst>
              <a:gd name="adj" fmla="val 4615"/>
            </a:avLst>
          </a:prstGeom>
          <a:solidFill>
            <a:srgbClr val="1E293B">
              <a:alpha val="60000"/>
            </a:srgbClr>
          </a:solidFill>
          <a:ln w="12700" cap="flat" cmpd="sng">
            <a:solidFill>
              <a:srgbClr val="00E5FF">
                <a:alpha val="30000"/>
              </a:srgbClr>
            </a:solidFill>
            <a:prstDash val="solid"/>
            <a:round/>
          </a:ln>
          <a:effectLst>
            <a:outerShdw blurRad="254000" dist="127000" dir="5400000" algn="tl" rotWithShape="0">
              <a:srgbClr val="000000">
                <a:alpha val="30000"/>
              </a:srgbClr>
            </a:outerShdw>
          </a:effectLst>
        </p:spPr>
        <p:txBody>
          <a:bodyPr vert="horz" wrap="square" lIns="63500" tIns="63500" rIns="63500" bIns="63500" rtlCol="0" anchor="ctr"/>
          <a:lstStyle/>
          <a:p>
            <a:pPr algn="ctr">
              <a:defRPr/>
            </a:pPr>
          </a:p>
        </p:txBody>
      </p:sp>
      <p:sp>
        <p:nvSpPr>
          <p:cNvPr id="12" name="AutoShape 12"/>
          <p:cNvSpPr/>
          <p:nvPr/>
        </p:nvSpPr>
        <p:spPr>
          <a:xfrm>
            <a:off x="4445000" y="1651000"/>
            <a:ext cx="3302000" cy="50800"/>
          </a:xfrm>
          <a:prstGeom prst="roundRect">
            <a:avLst>
              <a:gd name="adj" fmla="val 0"/>
            </a:avLst>
          </a:prstGeom>
          <a:solidFill>
            <a:srgbClr val="00E5FF">
              <a:alpha val="100000"/>
            </a:srgbClr>
          </a:solidFill>
          <a:ln w="25400" cap="flat" cmpd="sng">
            <a:noFill/>
            <a:prstDash val="solid"/>
            <a:round/>
          </a:ln>
        </p:spPr>
        <p:txBody>
          <a:bodyPr vert="horz" wrap="square" lIns="63500" tIns="63500" rIns="63500" bIns="63500" rtlCol="0" anchor="ctr"/>
          <a:lstStyle/>
          <a:p>
            <a:pPr algn="ctr">
              <a:defRPr/>
            </a:pPr>
          </a:p>
        </p:txBody>
      </p:sp>
      <p:sp>
        <p:nvSpPr>
          <p:cNvPr id="13" name="AutoShape 13"/>
          <p:cNvSpPr/>
          <p:nvPr/>
        </p:nvSpPr>
        <p:spPr>
          <a:xfrm>
            <a:off x="4749800" y="1955800"/>
            <a:ext cx="609600" cy="609600"/>
          </a:xfrm>
          <a:prstGeom prst="ellipse">
            <a:avLst/>
          </a:prstGeom>
          <a:solidFill>
            <a:srgbClr val="00E5FF">
              <a:alpha val="15000"/>
            </a:srgbClr>
          </a:solidFill>
          <a:ln w="25400" cap="flat" cmpd="sng">
            <a:noFill/>
            <a:prstDash val="solid"/>
            <a:round/>
          </a:ln>
        </p:spPr>
        <p:txBody>
          <a:bodyPr vert="horz" wrap="square" lIns="63500" tIns="63500" rIns="63500" bIns="63500" rtlCol="0" anchor="ctr"/>
          <a:lstStyle/>
          <a:p>
            <a:pPr algn="ctr">
              <a:defRPr/>
            </a:pPr>
          </a:p>
        </p:txBody>
      </p:sp>
      <p:pic>
        <p:nvPicPr>
          <p:cNvPr id="14" name="Picture 14"/>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4876800" y="2082800"/>
            <a:ext cx="355600" cy="355600"/>
          </a:xfrm>
          <a:prstGeom prst="rect">
            <a:avLst/>
          </a:prstGeom>
        </p:spPr>
      </p:pic>
      <p:sp>
        <p:nvSpPr>
          <p:cNvPr id="15" name="AutoShape 15"/>
          <p:cNvSpPr/>
          <p:nvPr/>
        </p:nvSpPr>
        <p:spPr>
          <a:xfrm>
            <a:off x="4749800" y="2730500"/>
            <a:ext cx="26924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00E5FF"/>
                </a:solidFill>
                <a:latin typeface="Noto Sans SC" panose="020B0500000000000000" charset="-122"/>
                <a:ea typeface="Noto Sans SC" panose="020B0500000000000000" charset="-122"/>
                <a:cs typeface="Noto Sans SC" panose="020B0500000000000000" charset="-122"/>
                <a:sym typeface="Noto Sans SC" panose="020B0500000000000000" charset="-122"/>
              </a:rPr>
              <a:t>第四步：安全审查</a:t>
            </a:r>
            <a:endParaRPr lang="en-US" sz="1100"/>
          </a:p>
        </p:txBody>
      </p:sp>
      <p:cxnSp>
        <p:nvCxnSpPr>
          <p:cNvPr id="16" name="Connector 16"/>
          <p:cNvCxnSpPr/>
          <p:nvPr/>
        </p:nvCxnSpPr>
        <p:spPr>
          <a:xfrm rot="-16215">
            <a:off x="4749815" y="3232150"/>
            <a:ext cx="2692400" cy="12700"/>
          </a:xfrm>
          <a:prstGeom prst="straightConnector1">
            <a:avLst/>
          </a:prstGeom>
          <a:solidFill>
            <a:srgbClr val="DEE0E3">
              <a:alpha val="100000"/>
            </a:srgbClr>
          </a:solidFill>
          <a:ln w="12700" cap="flat" cmpd="sng">
            <a:solidFill>
              <a:srgbClr val="FFFFFF">
                <a:alpha val="15000"/>
              </a:srgbClr>
            </a:solidFill>
            <a:prstDash val="solid"/>
            <a:round/>
            <a:headEnd type="none" w="med" len="med"/>
            <a:tailEnd type="none" w="med" len="med"/>
          </a:ln>
        </p:spPr>
      </p:cxnSp>
      <p:sp>
        <p:nvSpPr>
          <p:cNvPr id="17" name="AutoShape 17"/>
          <p:cNvSpPr/>
          <p:nvPr/>
        </p:nvSpPr>
        <p:spPr>
          <a:xfrm>
            <a:off x="4749800" y="3429000"/>
            <a:ext cx="2692400" cy="2540000"/>
          </a:xfrm>
          <a:prstGeom prst="rect">
            <a:avLst/>
          </a:prstGeom>
          <a:noFill/>
          <a:ln w="12700" cap="flat" cmpd="sng">
            <a:noFill/>
            <a:prstDash val="solid"/>
            <a:round/>
          </a:ln>
        </p:spPr>
        <p:txBody>
          <a:bodyPr vert="horz" wrap="square" lIns="0" tIns="0" rIns="0" bIns="0" rtlCol="0" anchor="t" anchorCtr="0"/>
          <a:lstStyle/>
          <a:p>
            <a:pPr indent="0" algn="l">
              <a:lnSpc>
                <a:spcPct val="117000"/>
              </a:lnSpc>
              <a:defRPr/>
            </a:pPr>
            <a:r>
              <a:rPr lang="en-US" sz="1400" b="1" i="0" u="none" strike="noStrike">
                <a:solidFill>
                  <a:srgbClr val="FFFFFF"/>
                </a:solidFill>
                <a:latin typeface="Noto Sans SC" panose="020B0500000000000000" charset="-122"/>
                <a:ea typeface="Noto Sans SC" panose="020B0500000000000000" charset="-122"/>
                <a:cs typeface="Noto Sans SC" panose="020B0500000000000000" charset="-122"/>
                <a:sym typeface="Noto Sans SC" panose="020B0500000000000000" charset="-122"/>
              </a:rPr>
              <a:t>核心任务：</a:t>
            </a:r>
            <a:br>
              <a:rPr lang="en-US" sz="1600" b="0" i="0" u="none" strike="noStrike">
                <a:solidFill>
                  <a:srgbClr val="1F2329"/>
                </a:solidFill>
                <a:latin typeface="Noto Sans SC" panose="020B0500000000000000" charset="-122"/>
                <a:ea typeface="Noto Sans SC" panose="020B0500000000000000" charset="-122"/>
                <a:cs typeface="Noto Sans SC" panose="020B0500000000000000" charset="-122"/>
                <a:sym typeface="Noto Sans SC" panose="020B0500000000000000" charset="-122"/>
              </a:rPr>
            </a:br>
            <a:r>
              <a:rPr lang="en-US" sz="1300" b="0" i="0" u="none" strike="noStrike">
                <a:solidFill>
                  <a:srgbClr val="CBD5E1"/>
                </a:solidFill>
                <a:latin typeface="Noto Sans SC" panose="020B0500000000000000" charset="-122"/>
                <a:ea typeface="Noto Sans SC" panose="020B0500000000000000" charset="-122"/>
                <a:cs typeface="Noto Sans SC" panose="020B0500000000000000" charset="-122"/>
                <a:sym typeface="Noto Sans SC" panose="020B0500000000000000" charset="-122"/>
              </a:rPr>
              <a:t>在用户接触前，确保产品数据与逻辑的安全性，规避常见风险。</a:t>
            </a:r>
            <a:endParaRPr lang="en-US" sz="1100"/>
          </a:p>
          <a:p>
            <a:pPr indent="0" algn="l">
              <a:lnSpc>
                <a:spcPct val="117000"/>
              </a:lnSpc>
            </a:pPr>
            <a:br>
              <a:rPr lang="en-US" sz="1600" b="0" i="0" u="none" strike="noStrike">
                <a:solidFill>
                  <a:srgbClr val="1F2329"/>
                </a:solidFill>
                <a:latin typeface="Noto Sans SC" panose="020B0500000000000000" charset="-122"/>
                <a:ea typeface="Noto Sans SC" panose="020B0500000000000000" charset="-122"/>
                <a:cs typeface="Noto Sans SC" panose="020B0500000000000000" charset="-122"/>
                <a:sym typeface="Noto Sans SC" panose="020B0500000000000000" charset="-122"/>
              </a:rPr>
            </a:br>
            <a:r>
              <a:rPr lang="en-US" sz="1400" b="1" i="0" u="none" strike="noStrike">
                <a:solidFill>
                  <a:srgbClr val="FFFFFF"/>
                </a:solidFill>
                <a:latin typeface="Noto Sans SC" panose="020B0500000000000000" charset="-122"/>
                <a:ea typeface="Noto Sans SC" panose="020B0500000000000000" charset="-122"/>
                <a:cs typeface="Noto Sans SC" panose="020B0500000000000000" charset="-122"/>
                <a:sym typeface="Noto Sans SC" panose="020B0500000000000000" charset="-122"/>
              </a:rPr>
              <a:t>AI 落地应用：</a:t>
            </a:r>
            <a:br>
              <a:rPr lang="en-US" sz="1600" b="0" i="0" u="none" strike="noStrike">
                <a:solidFill>
                  <a:srgbClr val="1F2329"/>
                </a:solidFill>
                <a:latin typeface="Noto Sans SC" panose="020B0500000000000000" charset="-122"/>
                <a:ea typeface="Noto Sans SC" panose="020B0500000000000000" charset="-122"/>
                <a:cs typeface="Noto Sans SC" panose="020B0500000000000000" charset="-122"/>
                <a:sym typeface="Noto Sans SC" panose="020B0500000000000000" charset="-122"/>
              </a:rPr>
            </a:br>
            <a:r>
              <a:rPr lang="en-US" sz="1300" b="0" i="0" u="none" strike="noStrike">
                <a:solidFill>
                  <a:srgbClr val="CBD5E1"/>
                </a:solidFill>
                <a:latin typeface="Noto Sans SC" panose="020B0500000000000000" charset="-122"/>
                <a:ea typeface="Noto Sans SC" panose="020B0500000000000000" charset="-122"/>
                <a:cs typeface="Noto Sans SC" panose="020B0500000000000000" charset="-122"/>
                <a:sym typeface="Noto Sans SC" panose="020B0500000000000000" charset="-122"/>
              </a:rPr>
              <a:t>利用 Claude (Chat) 对核心业务代码进行预部署审查，识别潜在的安全漏洞。注意，AI 审查仅为辅助手段，不能替代专业的安全审计工具。</a:t>
            </a:r>
            <a:endParaRPr lang="en-US" sz="1300" b="0" i="0" u="none" strike="noStrike">
              <a:solidFill>
                <a:srgbClr val="CBD5E1"/>
              </a:solidFill>
              <a:latin typeface="Noto Sans SC" panose="020B0500000000000000" charset="-122"/>
              <a:ea typeface="Noto Sans SC" panose="020B0500000000000000" charset="-122"/>
              <a:cs typeface="Noto Sans SC" panose="020B0500000000000000" charset="-122"/>
              <a:sym typeface="Noto Sans SC" panose="020B0500000000000000" charset="-122"/>
            </a:endParaRPr>
          </a:p>
        </p:txBody>
      </p:sp>
      <p:sp>
        <p:nvSpPr>
          <p:cNvPr id="18" name="AutoShape 18"/>
          <p:cNvSpPr/>
          <p:nvPr/>
        </p:nvSpPr>
        <p:spPr>
          <a:xfrm>
            <a:off x="8128000" y="1651000"/>
            <a:ext cx="3302000" cy="4572000"/>
          </a:xfrm>
          <a:prstGeom prst="roundRect">
            <a:avLst>
              <a:gd name="adj" fmla="val 4615"/>
            </a:avLst>
          </a:prstGeom>
          <a:solidFill>
            <a:srgbClr val="1E293B">
              <a:alpha val="60000"/>
            </a:srgbClr>
          </a:solidFill>
          <a:ln w="12700" cap="flat" cmpd="sng">
            <a:solidFill>
              <a:srgbClr val="00E5FF">
                <a:alpha val="30000"/>
              </a:srgbClr>
            </a:solidFill>
            <a:prstDash val="solid"/>
            <a:round/>
          </a:ln>
          <a:effectLst>
            <a:outerShdw blurRad="254000" dist="127000" dir="5400000" algn="tl" rotWithShape="0">
              <a:srgbClr val="000000">
                <a:alpha val="30000"/>
              </a:srgbClr>
            </a:outerShdw>
          </a:effectLst>
        </p:spPr>
        <p:txBody>
          <a:bodyPr vert="horz" wrap="square" lIns="63500" tIns="63500" rIns="63500" bIns="63500" rtlCol="0" anchor="ctr"/>
          <a:lstStyle/>
          <a:p>
            <a:pPr algn="ctr">
              <a:defRPr/>
            </a:pPr>
          </a:p>
        </p:txBody>
      </p:sp>
      <p:sp>
        <p:nvSpPr>
          <p:cNvPr id="19" name="AutoShape 19"/>
          <p:cNvSpPr/>
          <p:nvPr/>
        </p:nvSpPr>
        <p:spPr>
          <a:xfrm>
            <a:off x="8128000" y="1651000"/>
            <a:ext cx="3302000" cy="50800"/>
          </a:xfrm>
          <a:prstGeom prst="roundRect">
            <a:avLst>
              <a:gd name="adj" fmla="val 0"/>
            </a:avLst>
          </a:prstGeom>
          <a:solidFill>
            <a:srgbClr val="00E5FF">
              <a:alpha val="100000"/>
            </a:srgbClr>
          </a:solidFill>
          <a:ln w="25400" cap="flat" cmpd="sng">
            <a:noFill/>
            <a:prstDash val="solid"/>
            <a:round/>
          </a:ln>
        </p:spPr>
        <p:txBody>
          <a:bodyPr vert="horz" wrap="square" lIns="63500" tIns="63500" rIns="63500" bIns="63500" rtlCol="0" anchor="ctr"/>
          <a:lstStyle/>
          <a:p>
            <a:pPr algn="ctr">
              <a:defRPr/>
            </a:pPr>
          </a:p>
        </p:txBody>
      </p:sp>
      <p:sp>
        <p:nvSpPr>
          <p:cNvPr id="20" name="AutoShape 20"/>
          <p:cNvSpPr/>
          <p:nvPr/>
        </p:nvSpPr>
        <p:spPr>
          <a:xfrm>
            <a:off x="8432800" y="1955800"/>
            <a:ext cx="609600" cy="609600"/>
          </a:xfrm>
          <a:prstGeom prst="ellipse">
            <a:avLst/>
          </a:prstGeom>
          <a:solidFill>
            <a:srgbClr val="00E5FF">
              <a:alpha val="15000"/>
            </a:srgbClr>
          </a:solidFill>
          <a:ln w="25400" cap="flat" cmpd="sng">
            <a:noFill/>
            <a:prstDash val="solid"/>
            <a:round/>
          </a:ln>
        </p:spPr>
        <p:txBody>
          <a:bodyPr vert="horz" wrap="square" lIns="63500" tIns="63500" rIns="63500" bIns="63500" rtlCol="0" anchor="ctr"/>
          <a:lstStyle/>
          <a:p>
            <a:pPr algn="ctr">
              <a:defRPr/>
            </a:pPr>
          </a:p>
        </p:txBody>
      </p:sp>
      <p:pic>
        <p:nvPicPr>
          <p:cNvPr id="21" name="Picture 21"/>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8559800" y="2082800"/>
            <a:ext cx="355600" cy="355600"/>
          </a:xfrm>
          <a:prstGeom prst="rect">
            <a:avLst/>
          </a:prstGeom>
        </p:spPr>
      </p:pic>
      <p:sp>
        <p:nvSpPr>
          <p:cNvPr id="22" name="AutoShape 22"/>
          <p:cNvSpPr/>
          <p:nvPr/>
        </p:nvSpPr>
        <p:spPr>
          <a:xfrm>
            <a:off x="8432800" y="2730500"/>
            <a:ext cx="26924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00E5FF"/>
                </a:solidFill>
                <a:latin typeface="Noto Sans SC" panose="020B0500000000000000" charset="-122"/>
                <a:ea typeface="Noto Sans SC" panose="020B0500000000000000" charset="-122"/>
                <a:cs typeface="Noto Sans SC" panose="020B0500000000000000" charset="-122"/>
                <a:sym typeface="Noto Sans SC" panose="020B0500000000000000" charset="-122"/>
              </a:rPr>
              <a:t>第五步：衡量框架</a:t>
            </a:r>
            <a:endParaRPr lang="en-US" sz="1100"/>
          </a:p>
        </p:txBody>
      </p:sp>
      <p:cxnSp>
        <p:nvCxnSpPr>
          <p:cNvPr id="23" name="Connector 23"/>
          <p:cNvCxnSpPr/>
          <p:nvPr/>
        </p:nvCxnSpPr>
        <p:spPr>
          <a:xfrm rot="-16215">
            <a:off x="8432815" y="3232150"/>
            <a:ext cx="2692400" cy="12700"/>
          </a:xfrm>
          <a:prstGeom prst="straightConnector1">
            <a:avLst/>
          </a:prstGeom>
          <a:solidFill>
            <a:srgbClr val="DEE0E3">
              <a:alpha val="100000"/>
            </a:srgbClr>
          </a:solidFill>
          <a:ln w="12700" cap="flat" cmpd="sng">
            <a:solidFill>
              <a:srgbClr val="FFFFFF">
                <a:alpha val="15000"/>
              </a:srgbClr>
            </a:solidFill>
            <a:prstDash val="solid"/>
            <a:round/>
            <a:headEnd type="none" w="med" len="med"/>
            <a:tailEnd type="none" w="med" len="med"/>
          </a:ln>
        </p:spPr>
      </p:cxnSp>
      <p:sp>
        <p:nvSpPr>
          <p:cNvPr id="24" name="AutoShape 24"/>
          <p:cNvSpPr/>
          <p:nvPr/>
        </p:nvSpPr>
        <p:spPr>
          <a:xfrm>
            <a:off x="8432800" y="3429000"/>
            <a:ext cx="2692400" cy="2540000"/>
          </a:xfrm>
          <a:prstGeom prst="rect">
            <a:avLst/>
          </a:prstGeom>
          <a:noFill/>
          <a:ln w="12700" cap="flat" cmpd="sng">
            <a:noFill/>
            <a:prstDash val="solid"/>
            <a:round/>
          </a:ln>
        </p:spPr>
        <p:txBody>
          <a:bodyPr vert="horz" wrap="square" lIns="0" tIns="0" rIns="0" bIns="0" rtlCol="0" anchor="t" anchorCtr="0"/>
          <a:lstStyle/>
          <a:p>
            <a:pPr indent="0" algn="l">
              <a:lnSpc>
                <a:spcPct val="117000"/>
              </a:lnSpc>
              <a:defRPr/>
            </a:pPr>
            <a:r>
              <a:rPr lang="en-US" sz="1400" b="1" i="0" u="none" strike="noStrike">
                <a:solidFill>
                  <a:srgbClr val="FFFFFF"/>
                </a:solidFill>
                <a:latin typeface="Noto Sans SC" panose="020B0500000000000000" charset="-122"/>
                <a:ea typeface="Noto Sans SC" panose="020B0500000000000000" charset="-122"/>
                <a:cs typeface="Noto Sans SC" panose="020B0500000000000000" charset="-122"/>
                <a:sym typeface="Noto Sans SC" panose="020B0500000000000000" charset="-122"/>
              </a:rPr>
              <a:t>核心任务：</a:t>
            </a:r>
            <a:br>
              <a:rPr lang="en-US" sz="1600" b="0" i="0" u="none" strike="noStrike">
                <a:solidFill>
                  <a:srgbClr val="1F2329"/>
                </a:solidFill>
                <a:latin typeface="Noto Sans SC" panose="020B0500000000000000" charset="-122"/>
                <a:ea typeface="Noto Sans SC" panose="020B0500000000000000" charset="-122"/>
                <a:cs typeface="Noto Sans SC" panose="020B0500000000000000" charset="-122"/>
                <a:sym typeface="Noto Sans SC" panose="020B0500000000000000" charset="-122"/>
              </a:rPr>
            </a:br>
            <a:r>
              <a:rPr lang="en-US" sz="1300" b="0" i="0" u="none" strike="noStrike">
                <a:solidFill>
                  <a:srgbClr val="CBD5E1"/>
                </a:solidFill>
                <a:latin typeface="Noto Sans SC" panose="020B0500000000000000" charset="-122"/>
                <a:ea typeface="Noto Sans SC" panose="020B0500000000000000" charset="-122"/>
                <a:cs typeface="Noto Sans SC" panose="020B0500000000000000" charset="-122"/>
                <a:sym typeface="Noto Sans SC" panose="020B0500000000000000" charset="-122"/>
              </a:rPr>
              <a:t>定义产品成功的关键指标体系，建立数据驱动的决策基础，避免早期误判。</a:t>
            </a:r>
            <a:endParaRPr lang="en-US" sz="1100"/>
          </a:p>
          <a:p>
            <a:pPr indent="0" algn="l">
              <a:lnSpc>
                <a:spcPct val="117000"/>
              </a:lnSpc>
            </a:pPr>
            <a:br>
              <a:rPr lang="en-US" sz="1600" b="0" i="0" u="none" strike="noStrike">
                <a:solidFill>
                  <a:srgbClr val="1F2329"/>
                </a:solidFill>
                <a:latin typeface="Noto Sans SC" panose="020B0500000000000000" charset="-122"/>
                <a:ea typeface="Noto Sans SC" panose="020B0500000000000000" charset="-122"/>
                <a:cs typeface="Noto Sans SC" panose="020B0500000000000000" charset="-122"/>
                <a:sym typeface="Noto Sans SC" panose="020B0500000000000000" charset="-122"/>
              </a:rPr>
            </a:br>
            <a:r>
              <a:rPr lang="en-US" sz="1400" b="1" i="0" u="none" strike="noStrike">
                <a:solidFill>
                  <a:srgbClr val="FFFFFF"/>
                </a:solidFill>
                <a:latin typeface="Noto Sans SC" panose="020B0500000000000000" charset="-122"/>
                <a:ea typeface="Noto Sans SC" panose="020B0500000000000000" charset="-122"/>
                <a:cs typeface="Noto Sans SC" panose="020B0500000000000000" charset="-122"/>
                <a:sym typeface="Noto Sans SC" panose="020B0500000000000000" charset="-122"/>
              </a:rPr>
              <a:t>AI 落地应用：</a:t>
            </a:r>
            <a:br>
              <a:rPr lang="en-US" sz="1600" b="0" i="0" u="none" strike="noStrike">
                <a:solidFill>
                  <a:srgbClr val="1F2329"/>
                </a:solidFill>
                <a:latin typeface="Noto Sans SC" panose="020B0500000000000000" charset="-122"/>
                <a:ea typeface="Noto Sans SC" panose="020B0500000000000000" charset="-122"/>
                <a:cs typeface="Noto Sans SC" panose="020B0500000000000000" charset="-122"/>
                <a:sym typeface="Noto Sans SC" panose="020B0500000000000000" charset="-122"/>
              </a:rPr>
            </a:br>
            <a:r>
              <a:rPr lang="en-US" sz="1300" b="0" i="0" u="none" strike="noStrike">
                <a:solidFill>
                  <a:srgbClr val="CBD5E1"/>
                </a:solidFill>
                <a:latin typeface="Noto Sans SC" panose="020B0500000000000000" charset="-122"/>
                <a:ea typeface="Noto Sans SC" panose="020B0500000000000000" charset="-122"/>
                <a:cs typeface="Noto Sans SC" panose="020B0500000000000000" charset="-122"/>
                <a:sym typeface="Noto Sans SC" panose="020B0500000000000000" charset="-122"/>
              </a:rPr>
              <a:t>通过 Claude (Chat) 辅助定义符合产品特性的核心指标，如用户留存基准、关键行为激活标准等，为后续迭代提供明确依据。</a:t>
            </a:r>
            <a:endParaRPr lang="en-US" sz="1300" b="0" i="0" u="none" strike="noStrike">
              <a:solidFill>
                <a:srgbClr val="CBD5E1"/>
              </a:solidFill>
              <a:latin typeface="Noto Sans SC" panose="020B0500000000000000" charset="-122"/>
              <a:ea typeface="Noto Sans SC" panose="020B0500000000000000" charset="-122"/>
              <a:cs typeface="Noto Sans SC" panose="020B0500000000000000" charset="-122"/>
              <a:sym typeface="Noto Sans SC" panose="020B0500000000000000" charset="-122"/>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111827">
              <a:alpha val="80000"/>
            </a:srgbClr>
          </a:solidFill>
          <a:ln w="25400" cap="flat" cmpd="sng">
            <a:noFill/>
            <a:prstDash val="solid"/>
            <a:round/>
          </a:ln>
        </p:spPr>
        <p:txBody>
          <a:bodyPr vert="horz" wrap="square" lIns="63500" tIns="63500" rIns="63500" bIns="63500" rtlCol="0" anchor="ctr"/>
          <a:lstStyle/>
          <a:p>
            <a:pPr algn="ctr">
              <a:defRPr/>
            </a:pPr>
          </a:p>
        </p:txBody>
      </p:sp>
      <p:sp>
        <p:nvSpPr>
          <p:cNvPr id="3" name="AutoShape 3"/>
          <p:cNvSpPr/>
          <p:nvPr/>
        </p:nvSpPr>
        <p:spPr>
          <a:xfrm>
            <a:off x="762000" y="635000"/>
            <a:ext cx="10668000" cy="5715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3200" b="1" i="0" u="none" strike="noStrike">
                <a:solidFill>
                  <a:srgbClr val="FFFFFF"/>
                </a:solidFill>
                <a:latin typeface="Noto Sans SC" panose="020B0500000000000000" charset="-122"/>
                <a:ea typeface="Noto Sans SC" panose="020B0500000000000000" charset="-122"/>
                <a:cs typeface="Noto Sans SC" panose="020B0500000000000000" charset="-122"/>
                <a:sym typeface="Noto Sans SC" panose="020B0500000000000000" charset="-122"/>
              </a:rPr>
              <a:t>如何利用Claude构建高质量的MVP (3)</a:t>
            </a:r>
            <a:endParaRPr lang="en-US" sz="1100"/>
          </a:p>
        </p:txBody>
      </p:sp>
      <p:sp>
        <p:nvSpPr>
          <p:cNvPr id="4" name="AutoShape 4"/>
          <p:cNvSpPr/>
          <p:nvPr/>
        </p:nvSpPr>
        <p:spPr>
          <a:xfrm>
            <a:off x="762000" y="1651000"/>
            <a:ext cx="3302000" cy="4572000"/>
          </a:xfrm>
          <a:prstGeom prst="roundRect">
            <a:avLst>
              <a:gd name="adj" fmla="val 4615"/>
            </a:avLst>
          </a:prstGeom>
          <a:solidFill>
            <a:srgbClr val="FFFFFF">
              <a:alpha val="8000"/>
            </a:srgbClr>
          </a:solidFill>
          <a:ln w="12700" cap="flat" cmpd="sng">
            <a:solidFill>
              <a:srgbClr val="00E5FF">
                <a:alpha val="30000"/>
              </a:srgbClr>
            </a:solidFill>
            <a:prstDash val="solid"/>
            <a:round/>
          </a:ln>
        </p:spPr>
        <p:txBody>
          <a:bodyPr vert="horz" wrap="square" lIns="63500" tIns="63500" rIns="63500" bIns="63500" rtlCol="0" anchor="ctr"/>
          <a:lstStyle/>
          <a:p>
            <a:pPr algn="ctr">
              <a:defRPr/>
            </a:pPr>
          </a:p>
        </p:txBody>
      </p:sp>
      <p:sp>
        <p:nvSpPr>
          <p:cNvPr id="5" name="AutoShape 5"/>
          <p:cNvSpPr/>
          <p:nvPr/>
        </p:nvSpPr>
        <p:spPr>
          <a:xfrm>
            <a:off x="762000" y="1651000"/>
            <a:ext cx="3302000" cy="50800"/>
          </a:xfrm>
          <a:prstGeom prst="roundRect">
            <a:avLst>
              <a:gd name="adj" fmla="val 0"/>
            </a:avLst>
          </a:prstGeom>
          <a:solidFill>
            <a:srgbClr val="00E5FF">
              <a:alpha val="100000"/>
            </a:srgbClr>
          </a:solidFill>
          <a:ln w="25400" cap="flat" cmpd="sng">
            <a:noFill/>
            <a:prstDash val="solid"/>
            <a:round/>
          </a:ln>
        </p:spPr>
        <p:txBody>
          <a:bodyPr vert="horz" wrap="square" lIns="63500" tIns="63500" rIns="63500" bIns="63500" rtlCol="0" anchor="ctr"/>
          <a:lstStyle/>
          <a:p>
            <a:pPr algn="ctr">
              <a:defRPr/>
            </a:pPr>
          </a:p>
        </p:txBody>
      </p:sp>
      <p:sp>
        <p:nvSpPr>
          <p:cNvPr id="6" name="AutoShape 6"/>
          <p:cNvSpPr/>
          <p:nvPr/>
        </p:nvSpPr>
        <p:spPr>
          <a:xfrm>
            <a:off x="1066800" y="1955800"/>
            <a:ext cx="609600" cy="609600"/>
          </a:xfrm>
          <a:prstGeom prst="ellipse">
            <a:avLst/>
          </a:prstGeom>
          <a:solidFill>
            <a:srgbClr val="00E5FF">
              <a:alpha val="15000"/>
            </a:srgbClr>
          </a:solidFill>
          <a:ln w="25400" cap="flat" cmpd="sng">
            <a:noFill/>
            <a:prstDash val="solid"/>
            <a:round/>
          </a:ln>
        </p:spPr>
        <p:txBody>
          <a:bodyPr vert="horz" wrap="square" lIns="63500" tIns="63500" rIns="63500" bIns="63500" rtlCol="0" anchor="ctr"/>
          <a:lstStyle/>
          <a:p>
            <a:pPr algn="ctr">
              <a:defRPr/>
            </a:pPr>
          </a:p>
        </p:txBody>
      </p:sp>
      <p:pic>
        <p:nvPicPr>
          <p:cNvPr id="7" name="Picture 7"/>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193800" y="2082800"/>
            <a:ext cx="355600" cy="355600"/>
          </a:xfrm>
          <a:prstGeom prst="rect">
            <a:avLst/>
          </a:prstGeom>
        </p:spPr>
      </p:pic>
      <p:sp>
        <p:nvSpPr>
          <p:cNvPr id="8" name="AutoShape 8"/>
          <p:cNvSpPr/>
          <p:nvPr/>
        </p:nvSpPr>
        <p:spPr>
          <a:xfrm>
            <a:off x="1066800" y="2717800"/>
            <a:ext cx="26924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FFFFFF"/>
                </a:solidFill>
                <a:latin typeface="Noto Sans SC" panose="020B0500000000000000" charset="-122"/>
                <a:ea typeface="Noto Sans SC" panose="020B0500000000000000" charset="-122"/>
                <a:cs typeface="Noto Sans SC" panose="020B0500000000000000" charset="-122"/>
                <a:sym typeface="Noto Sans SC" panose="020B0500000000000000" charset="-122"/>
              </a:rPr>
              <a:t>管理用户反馈</a:t>
            </a:r>
            <a:endParaRPr lang="en-US" sz="1100"/>
          </a:p>
        </p:txBody>
      </p:sp>
      <p:sp>
        <p:nvSpPr>
          <p:cNvPr id="9" name="AutoShape 9"/>
          <p:cNvSpPr/>
          <p:nvPr/>
        </p:nvSpPr>
        <p:spPr>
          <a:xfrm>
            <a:off x="1066800" y="3225800"/>
            <a:ext cx="2692400" cy="2540000"/>
          </a:xfrm>
          <a:prstGeom prst="rect">
            <a:avLst/>
          </a:prstGeom>
          <a:noFill/>
          <a:ln w="12700" cap="flat" cmpd="sng">
            <a:noFill/>
            <a:prstDash val="solid"/>
            <a:round/>
          </a:ln>
        </p:spPr>
        <p:txBody>
          <a:bodyPr vert="horz" wrap="square" lIns="0" tIns="0" rIns="0" bIns="0" rtlCol="0" anchor="t" anchorCtr="0"/>
          <a:lstStyle/>
          <a:p>
            <a:pPr indent="0" algn="l">
              <a:lnSpc>
                <a:spcPct val="125000"/>
              </a:lnSpc>
              <a:defRPr/>
            </a:pPr>
            <a:r>
              <a:rPr lang="en-US" sz="1300" b="1" i="0" u="none" strike="noStrike">
                <a:solidFill>
                  <a:srgbClr val="00E5FF"/>
                </a:solidFill>
                <a:latin typeface="Noto Sans SC" panose="020B0500000000000000" charset="-122"/>
                <a:ea typeface="Noto Sans SC" panose="020B0500000000000000" charset="-122"/>
                <a:cs typeface="Noto Sans SC" panose="020B0500000000000000" charset="-122"/>
                <a:sym typeface="Noto Sans SC" panose="020B0500000000000000" charset="-122"/>
              </a:rPr>
              <a:t>AI 应用实践：</a:t>
            </a:r>
            <a:endParaRPr lang="en-US" sz="1100"/>
          </a:p>
          <a:p>
            <a:pPr indent="0" algn="l">
              <a:lnSpc>
                <a:spcPct val="117000"/>
              </a:lnSpc>
            </a:pPr>
            <a:r>
              <a:rPr lang="en-US" sz="1200" b="0" i="0" u="none" strike="noStrike">
                <a:solidFill>
                  <a:srgbClr val="E5E7EB"/>
                </a:solidFill>
                <a:latin typeface="Noto Sans SC" panose="020B0500000000000000" charset="-122"/>
                <a:ea typeface="Noto Sans SC" panose="020B0500000000000000" charset="-122"/>
                <a:cs typeface="Noto Sans SC" panose="020B0500000000000000" charset="-122"/>
                <a:sym typeface="Noto Sans SC" panose="020B0500000000000000" charset="-122"/>
              </a:rPr>
              <a:t>利用</a:t>
            </a:r>
            <a:r>
              <a:rPr lang="en-US" sz="1200" b="1" i="0" u="none" strike="noStrike">
                <a:solidFill>
                  <a:srgbClr val="FFFFFF"/>
                </a:solidFill>
                <a:latin typeface="Noto Sans SC" panose="020B0500000000000000" charset="-122"/>
                <a:ea typeface="Noto Sans SC" panose="020B0500000000000000" charset="-122"/>
                <a:cs typeface="Noto Sans SC" panose="020B0500000000000000" charset="-122"/>
                <a:sym typeface="Noto Sans SC" panose="020B0500000000000000" charset="-122"/>
              </a:rPr>
              <a:t>Claude Cowork</a:t>
            </a:r>
            <a:r>
              <a:rPr lang="en-US" sz="1200" b="0" i="0" u="none" strike="noStrike">
                <a:solidFill>
                  <a:srgbClr val="E5E7EB"/>
                </a:solidFill>
                <a:latin typeface="Noto Sans SC" panose="020B0500000000000000" charset="-122"/>
                <a:ea typeface="Noto Sans SC" panose="020B0500000000000000" charset="-122"/>
                <a:cs typeface="Noto Sans SC" panose="020B0500000000000000" charset="-122"/>
                <a:sym typeface="Noto Sans SC" panose="020B0500000000000000" charset="-122"/>
              </a:rPr>
              <a:t>自动化全流程：安排反馈会议、智能分类错误报告与功能请求，并自动生成每周综合报告，释放团队精力。</a:t>
            </a:r>
            <a:endParaRPr lang="en-US" sz="1200" b="0" i="0" u="none" strike="noStrike">
              <a:solidFill>
                <a:srgbClr val="E5E7EB"/>
              </a:solidFill>
              <a:latin typeface="Noto Sans SC" panose="020B0500000000000000" charset="-122"/>
              <a:ea typeface="Noto Sans SC" panose="020B0500000000000000" charset="-122"/>
              <a:cs typeface="Noto Sans SC" panose="020B0500000000000000" charset="-122"/>
              <a:sym typeface="Noto Sans SC" panose="020B0500000000000000" charset="-122"/>
            </a:endParaRPr>
          </a:p>
        </p:txBody>
      </p:sp>
      <p:sp>
        <p:nvSpPr>
          <p:cNvPr id="10" name="AutoShape 10"/>
          <p:cNvSpPr/>
          <p:nvPr/>
        </p:nvSpPr>
        <p:spPr>
          <a:xfrm>
            <a:off x="4445000" y="1651000"/>
            <a:ext cx="3302000" cy="4572000"/>
          </a:xfrm>
          <a:prstGeom prst="roundRect">
            <a:avLst>
              <a:gd name="adj" fmla="val 4615"/>
            </a:avLst>
          </a:prstGeom>
          <a:solidFill>
            <a:srgbClr val="FFFFFF">
              <a:alpha val="8000"/>
            </a:srgbClr>
          </a:solidFill>
          <a:ln w="12700" cap="flat" cmpd="sng">
            <a:solidFill>
              <a:srgbClr val="00E5FF">
                <a:alpha val="30000"/>
              </a:srgbClr>
            </a:solidFill>
            <a:prstDash val="solid"/>
            <a:round/>
          </a:ln>
        </p:spPr>
        <p:txBody>
          <a:bodyPr vert="horz" wrap="square" lIns="63500" tIns="63500" rIns="63500" bIns="63500" rtlCol="0" anchor="ctr"/>
          <a:lstStyle/>
          <a:p>
            <a:pPr algn="ctr">
              <a:defRPr/>
            </a:pPr>
          </a:p>
        </p:txBody>
      </p:sp>
      <p:sp>
        <p:nvSpPr>
          <p:cNvPr id="11" name="AutoShape 11"/>
          <p:cNvSpPr/>
          <p:nvPr/>
        </p:nvSpPr>
        <p:spPr>
          <a:xfrm>
            <a:off x="4445000" y="1651000"/>
            <a:ext cx="3302000" cy="50800"/>
          </a:xfrm>
          <a:prstGeom prst="roundRect">
            <a:avLst>
              <a:gd name="adj" fmla="val 0"/>
            </a:avLst>
          </a:prstGeom>
          <a:solidFill>
            <a:srgbClr val="00E5FF">
              <a:alpha val="100000"/>
            </a:srgbClr>
          </a:solidFill>
          <a:ln w="25400" cap="flat" cmpd="sng">
            <a:noFill/>
            <a:prstDash val="solid"/>
            <a:round/>
          </a:ln>
        </p:spPr>
        <p:txBody>
          <a:bodyPr vert="horz" wrap="square" lIns="63500" tIns="63500" rIns="63500" bIns="63500" rtlCol="0" anchor="ctr"/>
          <a:lstStyle/>
          <a:p>
            <a:pPr algn="ctr">
              <a:defRPr/>
            </a:pPr>
          </a:p>
        </p:txBody>
      </p:sp>
      <p:sp>
        <p:nvSpPr>
          <p:cNvPr id="12" name="AutoShape 12"/>
          <p:cNvSpPr/>
          <p:nvPr/>
        </p:nvSpPr>
        <p:spPr>
          <a:xfrm>
            <a:off x="4749800" y="1955800"/>
            <a:ext cx="609600" cy="609600"/>
          </a:xfrm>
          <a:prstGeom prst="ellipse">
            <a:avLst/>
          </a:prstGeom>
          <a:solidFill>
            <a:srgbClr val="00E5FF">
              <a:alpha val="15000"/>
            </a:srgbClr>
          </a:solidFill>
          <a:ln w="25400" cap="flat" cmpd="sng">
            <a:noFill/>
            <a:prstDash val="solid"/>
            <a:round/>
          </a:ln>
        </p:spPr>
        <p:txBody>
          <a:bodyPr vert="horz" wrap="square" lIns="63500" tIns="63500" rIns="63500" bIns="63500" rtlCol="0" anchor="ctr"/>
          <a:lstStyle/>
          <a:p>
            <a:pPr algn="ctr">
              <a:defRPr/>
            </a:pPr>
          </a:p>
        </p:txBody>
      </p:sp>
      <p:pic>
        <p:nvPicPr>
          <p:cNvPr id="13" name="Picture 13"/>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4876800" y="2082800"/>
            <a:ext cx="355600" cy="355600"/>
          </a:xfrm>
          <a:prstGeom prst="rect">
            <a:avLst/>
          </a:prstGeom>
        </p:spPr>
      </p:pic>
      <p:sp>
        <p:nvSpPr>
          <p:cNvPr id="14" name="AutoShape 14"/>
          <p:cNvSpPr/>
          <p:nvPr/>
        </p:nvSpPr>
        <p:spPr>
          <a:xfrm>
            <a:off x="4749800" y="2717800"/>
            <a:ext cx="26924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FFFFFF"/>
                </a:solidFill>
                <a:latin typeface="Noto Sans SC" panose="020B0500000000000000" charset="-122"/>
                <a:ea typeface="Noto Sans SC" panose="020B0500000000000000" charset="-122"/>
                <a:cs typeface="Noto Sans SC" panose="020B0500000000000000" charset="-122"/>
                <a:sym typeface="Noto Sans SC" panose="020B0500000000000000" charset="-122"/>
              </a:rPr>
              <a:t>迭代：朝向证据而非完整</a:t>
            </a:r>
            <a:endParaRPr lang="en-US" sz="1100"/>
          </a:p>
        </p:txBody>
      </p:sp>
      <p:sp>
        <p:nvSpPr>
          <p:cNvPr id="15" name="AutoShape 15"/>
          <p:cNvSpPr/>
          <p:nvPr/>
        </p:nvSpPr>
        <p:spPr>
          <a:xfrm>
            <a:off x="4749800" y="3225800"/>
            <a:ext cx="2692400" cy="2540000"/>
          </a:xfrm>
          <a:prstGeom prst="rect">
            <a:avLst/>
          </a:prstGeom>
          <a:noFill/>
          <a:ln w="12700" cap="flat" cmpd="sng">
            <a:noFill/>
            <a:prstDash val="solid"/>
            <a:round/>
          </a:ln>
        </p:spPr>
        <p:txBody>
          <a:bodyPr vert="horz" wrap="square" lIns="0" tIns="0" rIns="0" bIns="0" rtlCol="0" anchor="t" anchorCtr="0"/>
          <a:lstStyle/>
          <a:p>
            <a:pPr indent="0" algn="l">
              <a:lnSpc>
                <a:spcPct val="125000"/>
              </a:lnSpc>
              <a:defRPr/>
            </a:pPr>
            <a:r>
              <a:rPr lang="en-US" sz="1300" b="1" i="0" u="none" strike="noStrike">
                <a:solidFill>
                  <a:srgbClr val="00E5FF"/>
                </a:solidFill>
                <a:latin typeface="Noto Sans SC" panose="020B0500000000000000" charset="-122"/>
                <a:ea typeface="Noto Sans SC" panose="020B0500000000000000" charset="-122"/>
                <a:cs typeface="Noto Sans SC" panose="020B0500000000000000" charset="-122"/>
                <a:sym typeface="Noto Sans SC" panose="020B0500000000000000" charset="-122"/>
              </a:rPr>
              <a:t>PMF 验证试金石：</a:t>
            </a:r>
            <a:endParaRPr lang="en-US" sz="1100"/>
          </a:p>
          <a:p>
            <a:pPr indent="0" algn="l">
              <a:lnSpc>
                <a:spcPct val="117000"/>
              </a:lnSpc>
            </a:pPr>
            <a:r>
              <a:rPr lang="en-US" sz="1200" b="0" i="0" u="none" strike="noStrike">
                <a:solidFill>
                  <a:srgbClr val="E5E7EB"/>
                </a:solidFill>
                <a:latin typeface="Noto Sans SC" panose="020B0500000000000000" charset="-122"/>
                <a:ea typeface="Noto Sans SC" panose="020B0500000000000000" charset="-122"/>
                <a:cs typeface="Noto Sans SC" panose="020B0500000000000000" charset="-122"/>
                <a:sym typeface="Noto Sans SC" panose="020B0500000000000000" charset="-122"/>
              </a:rPr>
              <a:t>•</a:t>
            </a:r>
            <a:r>
              <a:rPr lang="en-US" sz="1200" b="1" i="0" u="none" strike="noStrike">
                <a:solidFill>
                  <a:srgbClr val="FFFFFF"/>
                </a:solidFill>
                <a:latin typeface="Noto Sans SC" panose="020B0500000000000000" charset="-122"/>
                <a:ea typeface="Noto Sans SC" panose="020B0500000000000000" charset="-122"/>
                <a:cs typeface="Noto Sans SC" panose="020B0500000000000000" charset="-122"/>
                <a:sym typeface="Noto Sans SC" panose="020B0500000000000000" charset="-122"/>
              </a:rPr>
              <a:t>Sean Ellis 测试：</a:t>
            </a:r>
            <a:r>
              <a:rPr lang="en-US" sz="1200" b="0" i="0" u="none" strike="noStrike">
                <a:solidFill>
                  <a:srgbClr val="E5E7EB"/>
                </a:solidFill>
                <a:latin typeface="Noto Sans SC" panose="020B0500000000000000" charset="-122"/>
                <a:ea typeface="Noto Sans SC" panose="020B0500000000000000" charset="-122"/>
                <a:cs typeface="Noto Sans SC" panose="020B0500000000000000" charset="-122"/>
                <a:sym typeface="Noto Sans SC" panose="020B0500000000000000" charset="-122"/>
              </a:rPr>
              <a:t>若超过40%活跃用户表示“非常失望”失去产品，则标志着有意义的PMF。</a:t>
            </a:r>
            <a:endParaRPr lang="en-US" sz="1200" b="0" i="0" u="none" strike="noStrike">
              <a:solidFill>
                <a:srgbClr val="E5E7EB"/>
              </a:solidFill>
              <a:latin typeface="Noto Sans SC" panose="020B0500000000000000" charset="-122"/>
              <a:ea typeface="Noto Sans SC" panose="020B0500000000000000" charset="-122"/>
              <a:cs typeface="Noto Sans SC" panose="020B0500000000000000" charset="-122"/>
              <a:sym typeface="Noto Sans SC" panose="020B0500000000000000" charset="-122"/>
            </a:endParaRPr>
          </a:p>
          <a:p>
            <a:pPr indent="0" algn="l">
              <a:lnSpc>
                <a:spcPct val="117000"/>
              </a:lnSpc>
            </a:pPr>
            <a:r>
              <a:rPr lang="en-US" sz="1200" b="0" i="0" u="none" strike="noStrike">
                <a:solidFill>
                  <a:srgbClr val="E5E7EB"/>
                </a:solidFill>
                <a:latin typeface="Noto Sans SC" panose="020B0500000000000000" charset="-122"/>
                <a:ea typeface="Noto Sans SC" panose="020B0500000000000000" charset="-122"/>
                <a:cs typeface="Noto Sans SC" panose="020B0500000000000000" charset="-122"/>
                <a:sym typeface="Noto Sans SC" panose="020B0500000000000000" charset="-122"/>
              </a:rPr>
              <a:t>•</a:t>
            </a:r>
            <a:r>
              <a:rPr lang="en-US" sz="1200" b="1" i="0" u="none" strike="noStrike">
                <a:solidFill>
                  <a:srgbClr val="FFFFFF"/>
                </a:solidFill>
                <a:latin typeface="Noto Sans SC" panose="020B0500000000000000" charset="-122"/>
                <a:ea typeface="Noto Sans SC" panose="020B0500000000000000" charset="-122"/>
                <a:cs typeface="Noto Sans SC" panose="020B0500000000000000" charset="-122"/>
                <a:sym typeface="Noto Sans SC" panose="020B0500000000000000" charset="-122"/>
              </a:rPr>
              <a:t>努力测试：</a:t>
            </a:r>
            <a:r>
              <a:rPr lang="en-US" sz="1200" b="0" i="0" u="none" strike="noStrike">
                <a:solidFill>
                  <a:srgbClr val="E5E7EB"/>
                </a:solidFill>
                <a:latin typeface="Noto Sans SC" panose="020B0500000000000000" charset="-122"/>
                <a:ea typeface="Noto Sans SC" panose="020B0500000000000000" charset="-122"/>
                <a:cs typeface="Noto Sans SC" panose="020B0500000000000000" charset="-122"/>
                <a:sym typeface="Noto Sans SC" panose="020B0500000000000000" charset="-122"/>
              </a:rPr>
              <a:t>PMF前需创始人持续推动（推），PMF后产品开始自我驱动增长（拉）。</a:t>
            </a:r>
            <a:endParaRPr lang="en-US" sz="1200" b="0" i="0" u="none" strike="noStrike">
              <a:solidFill>
                <a:srgbClr val="E5E7EB"/>
              </a:solidFill>
              <a:latin typeface="Noto Sans SC" panose="020B0500000000000000" charset="-122"/>
              <a:ea typeface="Noto Sans SC" panose="020B0500000000000000" charset="-122"/>
              <a:cs typeface="Noto Sans SC" panose="020B0500000000000000" charset="-122"/>
              <a:sym typeface="Noto Sans SC" panose="020B0500000000000000" charset="-122"/>
            </a:endParaRPr>
          </a:p>
        </p:txBody>
      </p:sp>
      <p:sp>
        <p:nvSpPr>
          <p:cNvPr id="16" name="AutoShape 16"/>
          <p:cNvSpPr/>
          <p:nvPr/>
        </p:nvSpPr>
        <p:spPr>
          <a:xfrm>
            <a:off x="8128000" y="1651000"/>
            <a:ext cx="3302000" cy="4572000"/>
          </a:xfrm>
          <a:prstGeom prst="roundRect">
            <a:avLst>
              <a:gd name="adj" fmla="val 4615"/>
            </a:avLst>
          </a:prstGeom>
          <a:solidFill>
            <a:srgbClr val="FFFFFF">
              <a:alpha val="8000"/>
            </a:srgbClr>
          </a:solidFill>
          <a:ln w="12700" cap="flat" cmpd="sng">
            <a:solidFill>
              <a:srgbClr val="00E5FF">
                <a:alpha val="30000"/>
              </a:srgbClr>
            </a:solidFill>
            <a:prstDash val="solid"/>
            <a:round/>
          </a:ln>
        </p:spPr>
        <p:txBody>
          <a:bodyPr vert="horz" wrap="square" lIns="63500" tIns="63500" rIns="63500" bIns="63500" rtlCol="0" anchor="ctr"/>
          <a:lstStyle/>
          <a:p>
            <a:pPr algn="ctr">
              <a:defRPr/>
            </a:pPr>
          </a:p>
        </p:txBody>
      </p:sp>
      <p:sp>
        <p:nvSpPr>
          <p:cNvPr id="17" name="AutoShape 17"/>
          <p:cNvSpPr/>
          <p:nvPr/>
        </p:nvSpPr>
        <p:spPr>
          <a:xfrm>
            <a:off x="8128000" y="1651000"/>
            <a:ext cx="3302000" cy="50800"/>
          </a:xfrm>
          <a:prstGeom prst="roundRect">
            <a:avLst>
              <a:gd name="adj" fmla="val 0"/>
            </a:avLst>
          </a:prstGeom>
          <a:solidFill>
            <a:srgbClr val="00E5FF">
              <a:alpha val="100000"/>
            </a:srgbClr>
          </a:solidFill>
          <a:ln w="25400" cap="flat" cmpd="sng">
            <a:noFill/>
            <a:prstDash val="solid"/>
            <a:round/>
          </a:ln>
        </p:spPr>
        <p:txBody>
          <a:bodyPr vert="horz" wrap="square" lIns="63500" tIns="63500" rIns="63500" bIns="63500" rtlCol="0" anchor="ctr"/>
          <a:lstStyle/>
          <a:p>
            <a:pPr algn="ctr">
              <a:defRPr/>
            </a:pPr>
          </a:p>
        </p:txBody>
      </p:sp>
      <p:sp>
        <p:nvSpPr>
          <p:cNvPr id="18" name="AutoShape 18"/>
          <p:cNvSpPr/>
          <p:nvPr/>
        </p:nvSpPr>
        <p:spPr>
          <a:xfrm>
            <a:off x="8432800" y="1955800"/>
            <a:ext cx="609600" cy="609600"/>
          </a:xfrm>
          <a:prstGeom prst="ellipse">
            <a:avLst/>
          </a:prstGeom>
          <a:solidFill>
            <a:srgbClr val="00E5FF">
              <a:alpha val="15000"/>
            </a:srgbClr>
          </a:solidFill>
          <a:ln w="25400" cap="flat" cmpd="sng">
            <a:noFill/>
            <a:prstDash val="solid"/>
            <a:round/>
          </a:ln>
        </p:spPr>
        <p:txBody>
          <a:bodyPr vert="horz" wrap="square" lIns="63500" tIns="63500" rIns="63500" bIns="63500" rtlCol="0" anchor="ctr"/>
          <a:lstStyle/>
          <a:p>
            <a:pPr algn="ctr">
              <a:defRPr/>
            </a:pPr>
          </a:p>
        </p:txBody>
      </p:sp>
      <p:pic>
        <p:nvPicPr>
          <p:cNvPr id="19" name="Picture 19"/>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8559800" y="2082800"/>
            <a:ext cx="355600" cy="355600"/>
          </a:xfrm>
          <a:prstGeom prst="rect">
            <a:avLst/>
          </a:prstGeom>
        </p:spPr>
      </p:pic>
      <p:sp>
        <p:nvSpPr>
          <p:cNvPr id="20" name="AutoShape 20"/>
          <p:cNvSpPr/>
          <p:nvPr/>
        </p:nvSpPr>
        <p:spPr>
          <a:xfrm>
            <a:off x="8432800" y="2717800"/>
            <a:ext cx="26924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FFFFFF"/>
                </a:solidFill>
                <a:latin typeface="Noto Sans SC" panose="020B0500000000000000" charset="-122"/>
                <a:ea typeface="Noto Sans SC" panose="020B0500000000000000" charset="-122"/>
                <a:cs typeface="Noto Sans SC" panose="020B0500000000000000" charset="-122"/>
                <a:sym typeface="Noto Sans SC" panose="020B0500000000000000" charset="-122"/>
              </a:rPr>
              <a:t>关键决策：何时转型 (Pivot)</a:t>
            </a:r>
            <a:endParaRPr lang="en-US" sz="1100"/>
          </a:p>
        </p:txBody>
      </p:sp>
      <p:sp>
        <p:nvSpPr>
          <p:cNvPr id="21" name="AutoShape 21"/>
          <p:cNvSpPr/>
          <p:nvPr/>
        </p:nvSpPr>
        <p:spPr>
          <a:xfrm>
            <a:off x="8432800" y="3225800"/>
            <a:ext cx="2692400" cy="2540000"/>
          </a:xfrm>
          <a:prstGeom prst="rect">
            <a:avLst/>
          </a:prstGeom>
          <a:noFill/>
          <a:ln w="12700" cap="flat" cmpd="sng">
            <a:noFill/>
            <a:prstDash val="solid"/>
            <a:round/>
          </a:ln>
        </p:spPr>
        <p:txBody>
          <a:bodyPr vert="horz" wrap="square" lIns="0" tIns="0" rIns="0" bIns="0" rtlCol="0" anchor="t" anchorCtr="0"/>
          <a:lstStyle/>
          <a:p>
            <a:pPr indent="0" algn="l">
              <a:lnSpc>
                <a:spcPct val="125000"/>
              </a:lnSpc>
              <a:defRPr/>
            </a:pPr>
            <a:r>
              <a:rPr lang="en-US" sz="1300" b="1" i="0" u="none" strike="noStrike">
                <a:solidFill>
                  <a:srgbClr val="00E5FF"/>
                </a:solidFill>
                <a:latin typeface="Noto Sans SC" panose="020B0500000000000000" charset="-122"/>
                <a:ea typeface="Noto Sans SC" panose="020B0500000000000000" charset="-122"/>
                <a:cs typeface="Noto Sans SC" panose="020B0500000000000000" charset="-122"/>
                <a:sym typeface="Noto Sans SC" panose="020B0500000000000000" charset="-122"/>
              </a:rPr>
              <a:t>判断信号与 AI 诊断：</a:t>
            </a:r>
            <a:endParaRPr lang="en-US" sz="1100"/>
          </a:p>
          <a:p>
            <a:pPr indent="0" algn="l">
              <a:lnSpc>
                <a:spcPct val="117000"/>
              </a:lnSpc>
            </a:pPr>
            <a:r>
              <a:rPr lang="en-US" sz="1200" b="0" i="0" u="none" strike="noStrike">
                <a:solidFill>
                  <a:srgbClr val="E5E7EB"/>
                </a:solidFill>
                <a:latin typeface="Noto Sans SC" panose="020B0500000000000000" charset="-122"/>
                <a:ea typeface="Noto Sans SC" panose="020B0500000000000000" charset="-122"/>
                <a:cs typeface="Noto Sans SC" panose="020B0500000000000000" charset="-122"/>
                <a:sym typeface="Noto Sans SC" panose="020B0500000000000000" charset="-122"/>
              </a:rPr>
              <a:t>•</a:t>
            </a:r>
            <a:r>
              <a:rPr lang="en-US" sz="1200" b="1" i="0" u="none" strike="noStrike">
                <a:solidFill>
                  <a:srgbClr val="FFFFFF"/>
                </a:solidFill>
                <a:latin typeface="Noto Sans SC" panose="020B0500000000000000" charset="-122"/>
                <a:ea typeface="Noto Sans SC" panose="020B0500000000000000" charset="-122"/>
                <a:cs typeface="Noto Sans SC" panose="020B0500000000000000" charset="-122"/>
                <a:sym typeface="Noto Sans SC" panose="020B0500000000000000" charset="-122"/>
              </a:rPr>
              <a:t>转型信号：</a:t>
            </a:r>
            <a:r>
              <a:rPr lang="en-US" sz="1200" b="0" i="0" u="none" strike="noStrike">
                <a:solidFill>
                  <a:srgbClr val="E5E7EB"/>
                </a:solidFill>
                <a:latin typeface="Noto Sans SC" panose="020B0500000000000000" charset="-122"/>
                <a:ea typeface="Noto Sans SC" panose="020B0500000000000000" charset="-122"/>
                <a:cs typeface="Noto Sans SC" panose="020B0500000000000000" charset="-122"/>
                <a:sym typeface="Noto Sans SC" panose="020B0500000000000000" charset="-122"/>
              </a:rPr>
              <a:t>经过3个或更多迭代周期后，仍未向PMF基准取得有意义的进展。</a:t>
            </a:r>
            <a:endParaRPr lang="en-US" sz="1200" b="0" i="0" u="none" strike="noStrike">
              <a:solidFill>
                <a:srgbClr val="E5E7EB"/>
              </a:solidFill>
              <a:latin typeface="Noto Sans SC" panose="020B0500000000000000" charset="-122"/>
              <a:ea typeface="Noto Sans SC" panose="020B0500000000000000" charset="-122"/>
              <a:cs typeface="Noto Sans SC" panose="020B0500000000000000" charset="-122"/>
              <a:sym typeface="Noto Sans SC" panose="020B0500000000000000" charset="-122"/>
            </a:endParaRPr>
          </a:p>
          <a:p>
            <a:pPr indent="0" algn="l">
              <a:lnSpc>
                <a:spcPct val="117000"/>
              </a:lnSpc>
            </a:pPr>
            <a:r>
              <a:rPr lang="en-US" sz="1200" b="0" i="0" u="none" strike="noStrike">
                <a:solidFill>
                  <a:srgbClr val="E5E7EB"/>
                </a:solidFill>
                <a:latin typeface="Noto Sans SC" panose="020B0500000000000000" charset="-122"/>
                <a:ea typeface="Noto Sans SC" panose="020B0500000000000000" charset="-122"/>
                <a:cs typeface="Noto Sans SC" panose="020B0500000000000000" charset="-122"/>
                <a:sym typeface="Noto Sans SC" panose="020B0500000000000000" charset="-122"/>
              </a:rPr>
              <a:t>•</a:t>
            </a:r>
            <a:r>
              <a:rPr lang="en-US" sz="1200" b="1" i="0" u="none" strike="noStrike">
                <a:solidFill>
                  <a:srgbClr val="FFFFFF"/>
                </a:solidFill>
                <a:latin typeface="Noto Sans SC" panose="020B0500000000000000" charset="-122"/>
                <a:ea typeface="Noto Sans SC" panose="020B0500000000000000" charset="-122"/>
                <a:cs typeface="Noto Sans SC" panose="020B0500000000000000" charset="-122"/>
                <a:sym typeface="Noto Sans SC" panose="020B0500000000000000" charset="-122"/>
              </a:rPr>
              <a:t>AI 辅助诊断：</a:t>
            </a:r>
            <a:r>
              <a:rPr lang="en-US" sz="1200" b="0" i="0" u="none" strike="noStrike">
                <a:solidFill>
                  <a:srgbClr val="E5E7EB"/>
                </a:solidFill>
                <a:latin typeface="Noto Sans SC" panose="020B0500000000000000" charset="-122"/>
                <a:ea typeface="Noto Sans SC" panose="020B0500000000000000" charset="-122"/>
                <a:cs typeface="Noto Sans SC" panose="020B0500000000000000" charset="-122"/>
                <a:sym typeface="Noto Sans SC" panose="020B0500000000000000" charset="-122"/>
              </a:rPr>
              <a:t>将数据反馈提供给 Claude，辅助诊断核心问题，精准判断是市场定位偏差还是产品本身问题。</a:t>
            </a:r>
            <a:endParaRPr lang="en-US" sz="1200" b="0" i="0" u="none" strike="noStrike">
              <a:solidFill>
                <a:srgbClr val="E5E7EB"/>
              </a:solidFill>
              <a:latin typeface="Noto Sans SC" panose="020B0500000000000000" charset="-122"/>
              <a:ea typeface="Noto Sans SC" panose="020B0500000000000000" charset="-122"/>
              <a:cs typeface="Noto Sans SC" panose="020B0500000000000000" charset="-122"/>
              <a:sym typeface="Noto Sans SC" panose="020B0500000000000000" charset="-122"/>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000000">
              <a:alpha val="80000"/>
            </a:srgbClr>
          </a:solidFill>
          <a:ln w="25400" cap="flat" cmpd="sng">
            <a:noFill/>
            <a:prstDash val="solid"/>
            <a:round/>
          </a:ln>
        </p:spPr>
        <p:txBody>
          <a:bodyPr vert="horz" wrap="square" lIns="63500" tIns="63500" rIns="63500" bIns="63500" rtlCol="0" anchor="ctr"/>
          <a:lstStyle/>
          <a:p>
            <a:pPr algn="ctr">
              <a:defRPr/>
            </a:pPr>
          </a:p>
        </p:txBody>
      </p:sp>
      <p:sp>
        <p:nvSpPr>
          <p:cNvPr id="3" name="AutoShape 3"/>
          <p:cNvSpPr/>
          <p:nvPr/>
        </p:nvSpPr>
        <p:spPr>
          <a:xfrm>
            <a:off x="762000" y="635000"/>
            <a:ext cx="106680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3200" b="1" i="0" u="none" strike="noStrike">
                <a:solidFill>
                  <a:srgbClr val="FFFFFF"/>
                </a:solidFill>
                <a:latin typeface="Noto Sans SC" panose="020B0500000000000000" charset="-122"/>
                <a:ea typeface="Noto Sans SC" panose="020B0500000000000000" charset="-122"/>
                <a:cs typeface="Noto Sans SC" panose="020B0500000000000000" charset="-122"/>
                <a:sym typeface="Noto Sans SC" panose="020B0500000000000000" charset="-122"/>
              </a:rPr>
              <a:t>第三阶段：发布阶段 (Launch Stage)</a:t>
            </a:r>
            <a:endParaRPr lang="en-US" sz="1100"/>
          </a:p>
        </p:txBody>
      </p:sp>
      <p:sp>
        <p:nvSpPr>
          <p:cNvPr id="4" name="AutoShape 4"/>
          <p:cNvSpPr/>
          <p:nvPr/>
        </p:nvSpPr>
        <p:spPr>
          <a:xfrm>
            <a:off x="762000" y="1524000"/>
            <a:ext cx="10668000" cy="1270000"/>
          </a:xfrm>
          <a:prstGeom prst="roundRect">
            <a:avLst>
              <a:gd name="adj" fmla="val 12000"/>
            </a:avLst>
          </a:prstGeom>
          <a:solidFill>
            <a:srgbClr val="FFFFFF">
              <a:alpha val="5000"/>
            </a:srgbClr>
          </a:solidFill>
          <a:ln w="12700" cap="flat" cmpd="sng">
            <a:solidFill>
              <a:srgbClr val="00E5FF">
                <a:alpha val="40000"/>
              </a:srgbClr>
            </a:solidFill>
            <a:prstDash val="solid"/>
            <a:round/>
          </a:ln>
        </p:spPr>
        <p:txBody>
          <a:bodyPr vert="horz" wrap="square" lIns="63500" tIns="63500" rIns="63500" bIns="63500" rtlCol="0" anchor="ctr"/>
          <a:lstStyle/>
          <a:p>
            <a:pPr algn="ctr">
              <a:defRPr/>
            </a:pPr>
          </a:p>
        </p:txBody>
      </p:sp>
      <p:pic>
        <p:nvPicPr>
          <p:cNvPr id="5" name="Picture 5"/>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143000" y="1930400"/>
            <a:ext cx="457200" cy="457200"/>
          </a:xfrm>
          <a:prstGeom prst="rect">
            <a:avLst/>
          </a:prstGeom>
        </p:spPr>
      </p:pic>
      <p:sp>
        <p:nvSpPr>
          <p:cNvPr id="6" name="AutoShape 6"/>
          <p:cNvSpPr/>
          <p:nvPr/>
        </p:nvSpPr>
        <p:spPr>
          <a:xfrm>
            <a:off x="1778000" y="1714500"/>
            <a:ext cx="9525000" cy="889000"/>
          </a:xfrm>
          <a:prstGeom prst="rect">
            <a:avLst/>
          </a:prstGeom>
          <a:noFill/>
          <a:ln w="12700" cap="flat" cmpd="sng">
            <a:noFill/>
            <a:prstDash val="solid"/>
            <a:round/>
          </a:ln>
        </p:spPr>
        <p:txBody>
          <a:bodyPr vert="horz" wrap="square" lIns="0" tIns="0" rIns="0" bIns="0" rtlCol="0" anchor="ctr" anchorCtr="0"/>
          <a:lstStyle/>
          <a:p>
            <a:pPr indent="0" algn="l">
              <a:lnSpc>
                <a:spcPct val="100000"/>
              </a:lnSpc>
              <a:defRPr/>
            </a:pPr>
            <a:r>
              <a:rPr lang="en-US" sz="1800" b="1" i="0" u="none" strike="noStrike">
                <a:solidFill>
                  <a:srgbClr val="00E5FF"/>
                </a:solidFill>
                <a:latin typeface="Noto Sans SC" panose="020B0500000000000000" charset="-122"/>
                <a:ea typeface="Noto Sans SC" panose="020B0500000000000000" charset="-122"/>
                <a:cs typeface="Noto Sans SC" panose="020B0500000000000000" charset="-122"/>
                <a:sym typeface="Noto Sans SC" panose="020B0500000000000000" charset="-122"/>
              </a:rPr>
              <a:t>阶段目标</a:t>
            </a:r>
            <a:endParaRPr lang="en-US" sz="1100"/>
          </a:p>
          <a:p>
            <a:pPr indent="0" algn="l">
              <a:lnSpc>
                <a:spcPct val="100000"/>
              </a:lnSpc>
            </a:pPr>
            <a:r>
              <a:rPr lang="en-US" sz="1500" b="0" i="0" u="none" strike="noStrike">
                <a:solidFill>
                  <a:srgbClr val="E5E7EB"/>
                </a:solidFill>
                <a:latin typeface="Noto Sans SC" panose="020B0500000000000000" charset="-122"/>
                <a:ea typeface="Noto Sans SC" panose="020B0500000000000000" charset="-122"/>
                <a:cs typeface="Noto Sans SC" panose="020B0500000000000000" charset="-122"/>
                <a:sym typeface="Noto Sans SC" panose="020B0500000000000000" charset="-122"/>
              </a:rPr>
              <a:t>将早期牵引力转化为</a:t>
            </a:r>
            <a:r>
              <a:rPr lang="en-US" sz="1500" b="1" i="0" u="none" strike="noStrike">
                <a:solidFill>
                  <a:srgbClr val="FFFFFF"/>
                </a:solidFill>
                <a:latin typeface="Noto Sans SC" panose="020B0500000000000000" charset="-122"/>
                <a:ea typeface="Noto Sans SC" panose="020B0500000000000000" charset="-122"/>
                <a:cs typeface="Noto Sans SC" panose="020B0500000000000000" charset="-122"/>
                <a:sym typeface="Noto Sans SC" panose="020B0500000000000000" charset="-122"/>
              </a:rPr>
              <a:t>可重复、可持续的增长引擎</a:t>
            </a:r>
            <a:r>
              <a:rPr lang="en-US" sz="1500" b="0" i="0" u="none" strike="noStrike">
                <a:solidFill>
                  <a:srgbClr val="E5E7EB"/>
                </a:solidFill>
                <a:latin typeface="Noto Sans SC" panose="020B0500000000000000" charset="-122"/>
                <a:ea typeface="Noto Sans SC" panose="020B0500000000000000" charset="-122"/>
                <a:cs typeface="Noto Sans SC" panose="020B0500000000000000" charset="-122"/>
                <a:sym typeface="Noto Sans SC" panose="020B0500000000000000" charset="-122"/>
              </a:rPr>
              <a:t>。</a:t>
            </a:r>
            <a:endParaRPr lang="en-US" sz="1500" b="0" i="0" u="none" strike="noStrike">
              <a:solidFill>
                <a:srgbClr val="E5E7EB"/>
              </a:solidFill>
              <a:latin typeface="Noto Sans SC" panose="020B0500000000000000" charset="-122"/>
              <a:ea typeface="Noto Sans SC" panose="020B0500000000000000" charset="-122"/>
              <a:cs typeface="Noto Sans SC" panose="020B0500000000000000" charset="-122"/>
              <a:sym typeface="Noto Sans SC" panose="020B0500000000000000" charset="-122"/>
            </a:endParaRPr>
          </a:p>
        </p:txBody>
      </p:sp>
      <p:sp>
        <p:nvSpPr>
          <p:cNvPr id="7" name="AutoShape 7"/>
          <p:cNvSpPr/>
          <p:nvPr/>
        </p:nvSpPr>
        <p:spPr>
          <a:xfrm>
            <a:off x="762000" y="3175000"/>
            <a:ext cx="3810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FFFFFF"/>
                </a:solidFill>
                <a:latin typeface="Noto Sans SC" panose="020B0500000000000000" charset="-122"/>
                <a:ea typeface="Noto Sans SC" panose="020B0500000000000000" charset="-122"/>
                <a:cs typeface="Noto Sans SC" panose="020B0500000000000000" charset="-122"/>
                <a:sym typeface="Noto Sans SC" panose="020B0500000000000000" charset="-122"/>
              </a:rPr>
              <a:t>核心任务聚焦</a:t>
            </a:r>
            <a:endParaRPr lang="en-US" sz="1100"/>
          </a:p>
        </p:txBody>
      </p:sp>
      <p:sp>
        <p:nvSpPr>
          <p:cNvPr id="8" name="AutoShape 8"/>
          <p:cNvSpPr/>
          <p:nvPr/>
        </p:nvSpPr>
        <p:spPr>
          <a:xfrm>
            <a:off x="762000" y="3683000"/>
            <a:ext cx="3378200" cy="2413000"/>
          </a:xfrm>
          <a:prstGeom prst="roundRect">
            <a:avLst>
              <a:gd name="adj" fmla="val 6315"/>
            </a:avLst>
          </a:prstGeom>
          <a:solidFill>
            <a:srgbClr val="FFFFFF">
              <a:alpha val="8000"/>
            </a:srgbClr>
          </a:solidFill>
          <a:ln w="12700" cap="flat" cmpd="sng">
            <a:solidFill>
              <a:srgbClr val="FFFFFF">
                <a:alpha val="15000"/>
              </a:srgbClr>
            </a:solidFill>
            <a:prstDash val="solid"/>
            <a:round/>
          </a:ln>
        </p:spPr>
        <p:txBody>
          <a:bodyPr vert="horz" wrap="square" lIns="63500" tIns="63500" rIns="63500" bIns="63500" rtlCol="0" anchor="ctr"/>
          <a:lstStyle/>
          <a:p>
            <a:pPr algn="ctr">
              <a:defRPr/>
            </a:pPr>
          </a:p>
        </p:txBody>
      </p:sp>
      <p:pic>
        <p:nvPicPr>
          <p:cNvPr id="9" name="Picture 9"/>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066800" y="3987800"/>
            <a:ext cx="406400" cy="406400"/>
          </a:xfrm>
          <a:prstGeom prst="rect">
            <a:avLst/>
          </a:prstGeom>
        </p:spPr>
      </p:pic>
      <p:sp>
        <p:nvSpPr>
          <p:cNvPr id="10" name="AutoShape 10"/>
          <p:cNvSpPr/>
          <p:nvPr/>
        </p:nvSpPr>
        <p:spPr>
          <a:xfrm>
            <a:off x="1066800" y="4521200"/>
            <a:ext cx="27686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FFFFFF"/>
                </a:solidFill>
                <a:latin typeface="Noto Sans SC" panose="020B0500000000000000" charset="-122"/>
                <a:ea typeface="Noto Sans SC" panose="020B0500000000000000" charset="-122"/>
                <a:cs typeface="Noto Sans SC" panose="020B0500000000000000" charset="-122"/>
                <a:sym typeface="Noto Sans SC" panose="020B0500000000000000" charset="-122"/>
              </a:rPr>
              <a:t>产品生产就绪</a:t>
            </a:r>
            <a:endParaRPr lang="en-US" sz="1100"/>
          </a:p>
        </p:txBody>
      </p:sp>
      <p:sp>
        <p:nvSpPr>
          <p:cNvPr id="11" name="AutoShape 11"/>
          <p:cNvSpPr/>
          <p:nvPr/>
        </p:nvSpPr>
        <p:spPr>
          <a:xfrm>
            <a:off x="1066800" y="4953000"/>
            <a:ext cx="2768600" cy="889000"/>
          </a:xfrm>
          <a:prstGeom prst="rect">
            <a:avLst/>
          </a:prstGeom>
          <a:noFill/>
          <a:ln w="12700" cap="flat" cmpd="sng">
            <a:noFill/>
            <a:prstDash val="solid"/>
            <a:round/>
          </a:ln>
        </p:spPr>
        <p:txBody>
          <a:bodyPr vert="horz" wrap="square" lIns="0" tIns="0" rIns="0" bIns="0" rtlCol="0" anchor="t" anchorCtr="0"/>
          <a:lstStyle/>
          <a:p>
            <a:pPr indent="0" algn="l">
              <a:lnSpc>
                <a:spcPct val="117000"/>
              </a:lnSpc>
              <a:defRPr/>
            </a:pPr>
            <a:r>
              <a:rPr lang="en-US" sz="1300" b="0" i="0" u="none" strike="noStrike">
                <a:solidFill>
                  <a:srgbClr val="D1D5DB"/>
                </a:solidFill>
                <a:latin typeface="Noto Sans SC" panose="020B0500000000000000" charset="-122"/>
                <a:ea typeface="Noto Sans SC" panose="020B0500000000000000" charset="-122"/>
                <a:cs typeface="Noto Sans SC" panose="020B0500000000000000" charset="-122"/>
                <a:sym typeface="Noto Sans SC" panose="020B0500000000000000" charset="-122"/>
              </a:rPr>
              <a:t>完成产品全链路测试与调优，确保系统架构能够稳定处理真实的生产负载与高并发场景。</a:t>
            </a:r>
            <a:endParaRPr lang="en-US" sz="1100"/>
          </a:p>
        </p:txBody>
      </p:sp>
      <p:sp>
        <p:nvSpPr>
          <p:cNvPr id="12" name="AutoShape 12"/>
          <p:cNvSpPr/>
          <p:nvPr/>
        </p:nvSpPr>
        <p:spPr>
          <a:xfrm>
            <a:off x="4394200" y="3683000"/>
            <a:ext cx="3378200" cy="2413000"/>
          </a:xfrm>
          <a:prstGeom prst="roundRect">
            <a:avLst>
              <a:gd name="adj" fmla="val 6315"/>
            </a:avLst>
          </a:prstGeom>
          <a:solidFill>
            <a:srgbClr val="FFFFFF">
              <a:alpha val="8000"/>
            </a:srgbClr>
          </a:solidFill>
          <a:ln w="12700" cap="flat" cmpd="sng">
            <a:solidFill>
              <a:srgbClr val="FFFFFF">
                <a:alpha val="15000"/>
              </a:srgbClr>
            </a:solidFill>
            <a:prstDash val="solid"/>
            <a:round/>
          </a:ln>
        </p:spPr>
        <p:txBody>
          <a:bodyPr vert="horz" wrap="square" lIns="63500" tIns="63500" rIns="63500" bIns="63500" rtlCol="0" anchor="ctr"/>
          <a:lstStyle/>
          <a:p>
            <a:pPr algn="ctr">
              <a:defRPr/>
            </a:pPr>
          </a:p>
        </p:txBody>
      </p:sp>
      <p:pic>
        <p:nvPicPr>
          <p:cNvPr id="13" name="Picture 13"/>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4699000" y="3987800"/>
            <a:ext cx="406400" cy="406400"/>
          </a:xfrm>
          <a:prstGeom prst="rect">
            <a:avLst/>
          </a:prstGeom>
        </p:spPr>
      </p:pic>
      <p:sp>
        <p:nvSpPr>
          <p:cNvPr id="14" name="AutoShape 14"/>
          <p:cNvSpPr/>
          <p:nvPr/>
        </p:nvSpPr>
        <p:spPr>
          <a:xfrm>
            <a:off x="4699000" y="4521200"/>
            <a:ext cx="27686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FFFFFF"/>
                </a:solidFill>
                <a:latin typeface="Noto Sans SC" panose="020B0500000000000000" charset="-122"/>
                <a:ea typeface="Noto Sans SC" panose="020B0500000000000000" charset="-122"/>
                <a:cs typeface="Noto Sans SC" panose="020B0500000000000000" charset="-122"/>
                <a:sym typeface="Noto Sans SC" panose="020B0500000000000000" charset="-122"/>
              </a:rPr>
              <a:t>基础设施硬化</a:t>
            </a:r>
            <a:endParaRPr lang="en-US" sz="1100"/>
          </a:p>
        </p:txBody>
      </p:sp>
      <p:sp>
        <p:nvSpPr>
          <p:cNvPr id="15" name="AutoShape 15"/>
          <p:cNvSpPr/>
          <p:nvPr/>
        </p:nvSpPr>
        <p:spPr>
          <a:xfrm>
            <a:off x="4699000" y="4953000"/>
            <a:ext cx="2768600" cy="889000"/>
          </a:xfrm>
          <a:prstGeom prst="rect">
            <a:avLst/>
          </a:prstGeom>
          <a:noFill/>
          <a:ln w="12700" cap="flat" cmpd="sng">
            <a:noFill/>
            <a:prstDash val="solid"/>
            <a:round/>
          </a:ln>
        </p:spPr>
        <p:txBody>
          <a:bodyPr vert="horz" wrap="square" lIns="0" tIns="0" rIns="0" bIns="0" rtlCol="0" anchor="t" anchorCtr="0"/>
          <a:lstStyle/>
          <a:p>
            <a:pPr indent="0" algn="l">
              <a:lnSpc>
                <a:spcPct val="117000"/>
              </a:lnSpc>
              <a:defRPr/>
            </a:pPr>
            <a:r>
              <a:rPr lang="en-US" sz="1300" b="0" i="0" u="none" strike="noStrike">
                <a:solidFill>
                  <a:srgbClr val="D1D5DB"/>
                </a:solidFill>
                <a:latin typeface="Noto Sans SC" panose="020B0500000000000000" charset="-122"/>
                <a:ea typeface="Noto Sans SC" panose="020B0500000000000000" charset="-122"/>
                <a:cs typeface="Noto Sans SC" panose="020B0500000000000000" charset="-122"/>
                <a:sym typeface="Noto Sans SC" panose="020B0500000000000000" charset="-122"/>
              </a:rPr>
              <a:t>加固底层云服务架构，建立完善的数据备份与容灾机制，全面符合行业安全与合规标准。</a:t>
            </a:r>
            <a:endParaRPr lang="en-US" sz="1100"/>
          </a:p>
        </p:txBody>
      </p:sp>
      <p:sp>
        <p:nvSpPr>
          <p:cNvPr id="16" name="AutoShape 16"/>
          <p:cNvSpPr/>
          <p:nvPr/>
        </p:nvSpPr>
        <p:spPr>
          <a:xfrm>
            <a:off x="8026400" y="3683000"/>
            <a:ext cx="3378200" cy="2413000"/>
          </a:xfrm>
          <a:prstGeom prst="roundRect">
            <a:avLst>
              <a:gd name="adj" fmla="val 6315"/>
            </a:avLst>
          </a:prstGeom>
          <a:solidFill>
            <a:srgbClr val="FFFFFF">
              <a:alpha val="8000"/>
            </a:srgbClr>
          </a:solidFill>
          <a:ln w="12700" cap="flat" cmpd="sng">
            <a:solidFill>
              <a:srgbClr val="FFFFFF">
                <a:alpha val="15000"/>
              </a:srgbClr>
            </a:solidFill>
            <a:prstDash val="solid"/>
            <a:round/>
          </a:ln>
        </p:spPr>
        <p:txBody>
          <a:bodyPr vert="horz" wrap="square" lIns="63500" tIns="63500" rIns="63500" bIns="63500" rtlCol="0" anchor="ctr"/>
          <a:lstStyle/>
          <a:p>
            <a:pPr algn="ctr">
              <a:defRPr/>
            </a:pPr>
          </a:p>
        </p:txBody>
      </p:sp>
      <p:pic>
        <p:nvPicPr>
          <p:cNvPr id="17" name="Picture 17"/>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8331200" y="3987800"/>
            <a:ext cx="406400" cy="406400"/>
          </a:xfrm>
          <a:prstGeom prst="rect">
            <a:avLst/>
          </a:prstGeom>
        </p:spPr>
      </p:pic>
      <p:sp>
        <p:nvSpPr>
          <p:cNvPr id="18" name="AutoShape 18"/>
          <p:cNvSpPr/>
          <p:nvPr/>
        </p:nvSpPr>
        <p:spPr>
          <a:xfrm>
            <a:off x="8331200" y="4521200"/>
            <a:ext cx="27686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FFFFFF"/>
                </a:solidFill>
                <a:latin typeface="Noto Sans SC" panose="020B0500000000000000" charset="-122"/>
                <a:ea typeface="Noto Sans SC" panose="020B0500000000000000" charset="-122"/>
                <a:cs typeface="Noto Sans SC" panose="020B0500000000000000" charset="-122"/>
                <a:sym typeface="Noto Sans SC" panose="020B0500000000000000" charset="-122"/>
              </a:rPr>
              <a:t>建立公司运营体系</a:t>
            </a:r>
            <a:endParaRPr lang="en-US" sz="1100"/>
          </a:p>
        </p:txBody>
      </p:sp>
      <p:sp>
        <p:nvSpPr>
          <p:cNvPr id="19" name="AutoShape 19"/>
          <p:cNvSpPr/>
          <p:nvPr/>
        </p:nvSpPr>
        <p:spPr>
          <a:xfrm>
            <a:off x="8331200" y="4953000"/>
            <a:ext cx="2768600" cy="889000"/>
          </a:xfrm>
          <a:prstGeom prst="rect">
            <a:avLst/>
          </a:prstGeom>
          <a:noFill/>
          <a:ln w="12700" cap="flat" cmpd="sng">
            <a:noFill/>
            <a:prstDash val="solid"/>
            <a:round/>
          </a:ln>
        </p:spPr>
        <p:txBody>
          <a:bodyPr vert="horz" wrap="square" lIns="0" tIns="0" rIns="0" bIns="0" rtlCol="0" anchor="t" anchorCtr="0"/>
          <a:lstStyle/>
          <a:p>
            <a:pPr indent="0" algn="l">
              <a:lnSpc>
                <a:spcPct val="117000"/>
              </a:lnSpc>
              <a:defRPr/>
            </a:pPr>
            <a:r>
              <a:rPr lang="en-US" sz="1300" b="0" i="0" u="none" strike="noStrike">
                <a:solidFill>
                  <a:srgbClr val="D1D5DB"/>
                </a:solidFill>
                <a:latin typeface="Noto Sans SC" panose="020B0500000000000000" charset="-122"/>
                <a:ea typeface="Noto Sans SC" panose="020B0500000000000000" charset="-122"/>
                <a:cs typeface="Noto Sans SC" panose="020B0500000000000000" charset="-122"/>
                <a:sym typeface="Noto Sans SC" panose="020B0500000000000000" charset="-122"/>
              </a:rPr>
              <a:t>搭建标准化的业务流程与组织架构，让运营决策制度化，使创始人从日常事务中解放，聚焦战略发展。</a:t>
            </a:r>
            <a:endParaRPr lang="en-US" sz="110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000000">
              <a:alpha val="80000"/>
            </a:srgbClr>
          </a:solidFill>
          <a:ln w="25400" cap="flat" cmpd="sng">
            <a:noFill/>
            <a:prstDash val="solid"/>
            <a:round/>
          </a:ln>
        </p:spPr>
        <p:txBody>
          <a:bodyPr vert="horz" wrap="square" lIns="63500" tIns="63500" rIns="63500" bIns="63500" rtlCol="0" anchor="ctr"/>
          <a:lstStyle/>
          <a:p>
            <a:pPr algn="ctr">
              <a:defRPr/>
            </a:pPr>
          </a:p>
        </p:txBody>
      </p:sp>
      <p:sp>
        <p:nvSpPr>
          <p:cNvPr id="3" name="AutoShape 3"/>
          <p:cNvSpPr/>
          <p:nvPr/>
        </p:nvSpPr>
        <p:spPr>
          <a:xfrm>
            <a:off x="762000" y="635000"/>
            <a:ext cx="10668000" cy="5715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3200" b="1" i="0" u="none" strike="noStrike">
                <a:solidFill>
                  <a:srgbClr val="FFFFFF"/>
                </a:solidFill>
                <a:latin typeface="Noto Sans SC" panose="020B0500000000000000" charset="-122"/>
                <a:ea typeface="Noto Sans SC" panose="020B0500000000000000" charset="-122"/>
                <a:cs typeface="Noto Sans SC" panose="020B0500000000000000" charset="-122"/>
                <a:sym typeface="Noto Sans SC" panose="020B0500000000000000" charset="-122"/>
              </a:rPr>
              <a:t>何时可以离开发布阶段？</a:t>
            </a:r>
            <a:endParaRPr lang="en-US" sz="1100"/>
          </a:p>
        </p:txBody>
      </p:sp>
      <p:sp>
        <p:nvSpPr>
          <p:cNvPr id="4" name="AutoShape 4"/>
          <p:cNvSpPr/>
          <p:nvPr/>
        </p:nvSpPr>
        <p:spPr>
          <a:xfrm>
            <a:off x="762000" y="1778000"/>
            <a:ext cx="3302000" cy="4318000"/>
          </a:xfrm>
          <a:prstGeom prst="roundRect">
            <a:avLst>
              <a:gd name="adj" fmla="val 4615"/>
            </a:avLst>
          </a:prstGeom>
          <a:solidFill>
            <a:srgbClr val="FFFFFF">
              <a:alpha val="8000"/>
            </a:srgbClr>
          </a:solidFill>
          <a:ln w="12700" cap="flat" cmpd="sng">
            <a:solidFill>
              <a:srgbClr val="00E5FF">
                <a:alpha val="40000"/>
              </a:srgbClr>
            </a:solidFill>
            <a:prstDash val="solid"/>
            <a:round/>
          </a:ln>
        </p:spPr>
        <p:txBody>
          <a:bodyPr vert="horz" wrap="square" lIns="63500" tIns="63500" rIns="63500" bIns="63500" rtlCol="0" anchor="ctr"/>
          <a:lstStyle/>
          <a:p>
            <a:pPr algn="ctr">
              <a:defRPr/>
            </a:pPr>
          </a:p>
        </p:txBody>
      </p:sp>
      <p:pic>
        <p:nvPicPr>
          <p:cNvPr id="5" name="Picture 5"/>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066800" y="2082800"/>
            <a:ext cx="508000" cy="508000"/>
          </a:xfrm>
          <a:prstGeom prst="rect">
            <a:avLst/>
          </a:prstGeom>
        </p:spPr>
      </p:pic>
      <p:sp>
        <p:nvSpPr>
          <p:cNvPr id="6" name="AutoShape 6"/>
          <p:cNvSpPr/>
          <p:nvPr/>
        </p:nvSpPr>
        <p:spPr>
          <a:xfrm>
            <a:off x="1066800" y="2794000"/>
            <a:ext cx="2692400" cy="762000"/>
          </a:xfrm>
          <a:prstGeom prst="rect">
            <a:avLst/>
          </a:prstGeom>
          <a:noFill/>
          <a:ln w="12700" cap="flat" cmpd="sng">
            <a:noFill/>
            <a:prstDash val="solid"/>
            <a:round/>
          </a:ln>
        </p:spPr>
        <p:txBody>
          <a:bodyPr vert="horz" wrap="square" lIns="0" tIns="0" rIns="0" bIns="0" rtlCol="0" anchor="t" anchorCtr="0"/>
          <a:lstStyle/>
          <a:p>
            <a:pPr indent="0" algn="l">
              <a:lnSpc>
                <a:spcPct val="125000"/>
              </a:lnSpc>
              <a:defRPr/>
            </a:pPr>
            <a:r>
              <a:rPr lang="en-US" sz="1800" b="1" i="0" u="none" strike="noStrike">
                <a:solidFill>
                  <a:srgbClr val="FFFFFF"/>
                </a:solidFill>
                <a:latin typeface="Noto Sans SC" panose="020B0500000000000000" charset="-122"/>
                <a:ea typeface="Noto Sans SC" panose="020B0500000000000000" charset="-122"/>
                <a:cs typeface="Noto Sans SC" panose="020B0500000000000000" charset="-122"/>
                <a:sym typeface="Noto Sans SC" panose="020B0500000000000000" charset="-122"/>
              </a:rPr>
              <a:t>增长可重复且由渠道驱动</a:t>
            </a:r>
            <a:endParaRPr lang="en-US" sz="1100"/>
          </a:p>
        </p:txBody>
      </p:sp>
      <p:sp>
        <p:nvSpPr>
          <p:cNvPr id="7" name="AutoShape 7"/>
          <p:cNvSpPr/>
          <p:nvPr/>
        </p:nvSpPr>
        <p:spPr>
          <a:xfrm>
            <a:off x="1066800" y="3683000"/>
            <a:ext cx="2692400" cy="1905000"/>
          </a:xfrm>
          <a:prstGeom prst="rect">
            <a:avLst/>
          </a:prstGeom>
          <a:noFill/>
          <a:ln w="12700" cap="flat" cmpd="sng">
            <a:noFill/>
            <a:prstDash val="solid"/>
            <a:round/>
          </a:ln>
        </p:spPr>
        <p:txBody>
          <a:bodyPr vert="horz" wrap="square" lIns="0" tIns="0" rIns="0" bIns="0" rtlCol="0" anchor="t" anchorCtr="0"/>
          <a:lstStyle/>
          <a:p>
            <a:pPr indent="0" algn="l">
              <a:lnSpc>
                <a:spcPct val="125000"/>
              </a:lnSpc>
              <a:defRPr/>
            </a:pPr>
            <a:r>
              <a:rPr lang="en-US" sz="1300" b="0" i="0" u="none" strike="noStrike">
                <a:solidFill>
                  <a:srgbClr val="D1D5DB"/>
                </a:solidFill>
                <a:latin typeface="Noto Sans SC" panose="020B0500000000000000" charset="-122"/>
                <a:ea typeface="Noto Sans SC" panose="020B0500000000000000" charset="-122"/>
                <a:cs typeface="Noto Sans SC" panose="020B0500000000000000" charset="-122"/>
                <a:sym typeface="Noto Sans SC" panose="020B0500000000000000" charset="-122"/>
              </a:rPr>
              <a:t>你能通过特定渠道可预测地获取用户，并清楚了解单位经济模型（CAC, LTV, 回收期），确保增长的可持续性和可复制性。</a:t>
            </a:r>
            <a:endParaRPr lang="en-US" sz="1100"/>
          </a:p>
        </p:txBody>
      </p:sp>
      <p:sp>
        <p:nvSpPr>
          <p:cNvPr id="8" name="AutoShape 8"/>
          <p:cNvSpPr/>
          <p:nvPr/>
        </p:nvSpPr>
        <p:spPr>
          <a:xfrm>
            <a:off x="4445000" y="1778000"/>
            <a:ext cx="3302000" cy="4318000"/>
          </a:xfrm>
          <a:prstGeom prst="roundRect">
            <a:avLst>
              <a:gd name="adj" fmla="val 4615"/>
            </a:avLst>
          </a:prstGeom>
          <a:solidFill>
            <a:srgbClr val="FFFFFF">
              <a:alpha val="8000"/>
            </a:srgbClr>
          </a:solidFill>
          <a:ln w="12700" cap="flat" cmpd="sng">
            <a:solidFill>
              <a:srgbClr val="00E5FF">
                <a:alpha val="40000"/>
              </a:srgbClr>
            </a:solidFill>
            <a:prstDash val="solid"/>
            <a:round/>
          </a:ln>
        </p:spPr>
        <p:txBody>
          <a:bodyPr vert="horz" wrap="square" lIns="63500" tIns="63500" rIns="63500" bIns="63500" rtlCol="0" anchor="ctr"/>
          <a:lstStyle/>
          <a:p>
            <a:pPr algn="ctr">
              <a:defRPr/>
            </a:pPr>
          </a:p>
        </p:txBody>
      </p:sp>
      <p:pic>
        <p:nvPicPr>
          <p:cNvPr id="9" name="Picture 9"/>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4749800" y="2082800"/>
            <a:ext cx="508000" cy="508000"/>
          </a:xfrm>
          <a:prstGeom prst="rect">
            <a:avLst/>
          </a:prstGeom>
        </p:spPr>
      </p:pic>
      <p:sp>
        <p:nvSpPr>
          <p:cNvPr id="10" name="AutoShape 10"/>
          <p:cNvSpPr/>
          <p:nvPr/>
        </p:nvSpPr>
        <p:spPr>
          <a:xfrm>
            <a:off x="4749800" y="2794000"/>
            <a:ext cx="2692400" cy="762000"/>
          </a:xfrm>
          <a:prstGeom prst="rect">
            <a:avLst/>
          </a:prstGeom>
          <a:noFill/>
          <a:ln w="12700" cap="flat" cmpd="sng">
            <a:noFill/>
            <a:prstDash val="solid"/>
            <a:round/>
          </a:ln>
        </p:spPr>
        <p:txBody>
          <a:bodyPr vert="horz" wrap="square" lIns="0" tIns="0" rIns="0" bIns="0" rtlCol="0" anchor="t" anchorCtr="0"/>
          <a:lstStyle/>
          <a:p>
            <a:pPr indent="0" algn="l">
              <a:lnSpc>
                <a:spcPct val="125000"/>
              </a:lnSpc>
              <a:defRPr/>
            </a:pPr>
            <a:r>
              <a:rPr lang="en-US" sz="1800" b="1" i="0" u="none" strike="noStrike">
                <a:solidFill>
                  <a:srgbClr val="FFFFFF"/>
                </a:solidFill>
                <a:latin typeface="Noto Sans SC" panose="020B0500000000000000" charset="-122"/>
                <a:ea typeface="Noto Sans SC" panose="020B0500000000000000" charset="-122"/>
                <a:cs typeface="Noto Sans SC" panose="020B0500000000000000" charset="-122"/>
                <a:sym typeface="Noto Sans SC" panose="020B0500000000000000" charset="-122"/>
              </a:rPr>
              <a:t>产品能处理生产工作负载</a:t>
            </a:r>
            <a:endParaRPr lang="en-US" sz="1100"/>
          </a:p>
        </p:txBody>
      </p:sp>
      <p:sp>
        <p:nvSpPr>
          <p:cNvPr id="11" name="AutoShape 11"/>
          <p:cNvSpPr/>
          <p:nvPr/>
        </p:nvSpPr>
        <p:spPr>
          <a:xfrm>
            <a:off x="4749800" y="3683000"/>
            <a:ext cx="2692400" cy="1905000"/>
          </a:xfrm>
          <a:prstGeom prst="rect">
            <a:avLst/>
          </a:prstGeom>
          <a:noFill/>
          <a:ln w="12700" cap="flat" cmpd="sng">
            <a:noFill/>
            <a:prstDash val="solid"/>
            <a:round/>
          </a:ln>
        </p:spPr>
        <p:txBody>
          <a:bodyPr vert="horz" wrap="square" lIns="0" tIns="0" rIns="0" bIns="0" rtlCol="0" anchor="t" anchorCtr="0"/>
          <a:lstStyle/>
          <a:p>
            <a:pPr indent="0" algn="l">
              <a:lnSpc>
                <a:spcPct val="125000"/>
              </a:lnSpc>
              <a:defRPr/>
            </a:pPr>
            <a:r>
              <a:rPr lang="en-US" sz="1300" b="0" i="0" u="none" strike="noStrike">
                <a:solidFill>
                  <a:srgbClr val="D1D5DB"/>
                </a:solidFill>
                <a:latin typeface="Noto Sans SC" panose="020B0500000000000000" charset="-122"/>
                <a:ea typeface="Noto Sans SC" panose="020B0500000000000000" charset="-122"/>
                <a:cs typeface="Noto Sans SC" panose="020B0500000000000000" charset="-122"/>
                <a:sym typeface="Noto Sans SC" panose="020B0500000000000000" charset="-122"/>
              </a:rPr>
              <a:t>基础设施已硬化，安全合规措施全部到位，系统的稳定性与可靠性在真实生产高并发条件下得到充分验证，无系统性风险。</a:t>
            </a:r>
            <a:endParaRPr lang="en-US" sz="1100"/>
          </a:p>
        </p:txBody>
      </p:sp>
      <p:sp>
        <p:nvSpPr>
          <p:cNvPr id="12" name="AutoShape 12"/>
          <p:cNvSpPr/>
          <p:nvPr/>
        </p:nvSpPr>
        <p:spPr>
          <a:xfrm>
            <a:off x="8128000" y="1778000"/>
            <a:ext cx="3302000" cy="4318000"/>
          </a:xfrm>
          <a:prstGeom prst="roundRect">
            <a:avLst>
              <a:gd name="adj" fmla="val 4615"/>
            </a:avLst>
          </a:prstGeom>
          <a:solidFill>
            <a:srgbClr val="FFFFFF">
              <a:alpha val="8000"/>
            </a:srgbClr>
          </a:solidFill>
          <a:ln w="12700" cap="flat" cmpd="sng">
            <a:solidFill>
              <a:srgbClr val="00E5FF">
                <a:alpha val="40000"/>
              </a:srgbClr>
            </a:solidFill>
            <a:prstDash val="solid"/>
            <a:round/>
          </a:ln>
        </p:spPr>
        <p:txBody>
          <a:bodyPr vert="horz" wrap="square" lIns="63500" tIns="63500" rIns="63500" bIns="63500" rtlCol="0" anchor="ctr"/>
          <a:lstStyle/>
          <a:p>
            <a:pPr algn="ctr">
              <a:defRPr/>
            </a:pPr>
          </a:p>
        </p:txBody>
      </p:sp>
      <p:pic>
        <p:nvPicPr>
          <p:cNvPr id="13" name="Picture 13"/>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8432800" y="2082800"/>
            <a:ext cx="508000" cy="508000"/>
          </a:xfrm>
          <a:prstGeom prst="rect">
            <a:avLst/>
          </a:prstGeom>
        </p:spPr>
      </p:pic>
      <p:sp>
        <p:nvSpPr>
          <p:cNvPr id="14" name="AutoShape 14"/>
          <p:cNvSpPr/>
          <p:nvPr/>
        </p:nvSpPr>
        <p:spPr>
          <a:xfrm>
            <a:off x="8432800" y="2794000"/>
            <a:ext cx="2692400" cy="762000"/>
          </a:xfrm>
          <a:prstGeom prst="rect">
            <a:avLst/>
          </a:prstGeom>
          <a:noFill/>
          <a:ln w="12700" cap="flat" cmpd="sng">
            <a:noFill/>
            <a:prstDash val="solid"/>
            <a:round/>
          </a:ln>
        </p:spPr>
        <p:txBody>
          <a:bodyPr vert="horz" wrap="square" lIns="0" tIns="0" rIns="0" bIns="0" rtlCol="0" anchor="t" anchorCtr="0"/>
          <a:lstStyle/>
          <a:p>
            <a:pPr indent="0" algn="l">
              <a:lnSpc>
                <a:spcPct val="125000"/>
              </a:lnSpc>
              <a:defRPr/>
            </a:pPr>
            <a:r>
              <a:rPr lang="en-US" sz="1800" b="1" i="0" u="none" strike="noStrike">
                <a:solidFill>
                  <a:srgbClr val="FFFFFF"/>
                </a:solidFill>
                <a:latin typeface="Noto Sans SC" panose="020B0500000000000000" charset="-122"/>
                <a:ea typeface="Noto Sans SC" panose="020B0500000000000000" charset="-122"/>
                <a:cs typeface="Noto Sans SC" panose="020B0500000000000000" charset="-122"/>
                <a:sym typeface="Noto Sans SC" panose="020B0500000000000000" charset="-122"/>
              </a:rPr>
              <a:t>运营无需创始人瓶颈</a:t>
            </a:r>
            <a:endParaRPr lang="en-US" sz="1100"/>
          </a:p>
        </p:txBody>
      </p:sp>
      <p:sp>
        <p:nvSpPr>
          <p:cNvPr id="15" name="AutoShape 15"/>
          <p:cNvSpPr/>
          <p:nvPr/>
        </p:nvSpPr>
        <p:spPr>
          <a:xfrm>
            <a:off x="8432800" y="3683000"/>
            <a:ext cx="2692400" cy="1905000"/>
          </a:xfrm>
          <a:prstGeom prst="rect">
            <a:avLst/>
          </a:prstGeom>
          <a:noFill/>
          <a:ln w="12700" cap="flat" cmpd="sng">
            <a:noFill/>
            <a:prstDash val="solid"/>
            <a:round/>
          </a:ln>
        </p:spPr>
        <p:txBody>
          <a:bodyPr vert="horz" wrap="square" lIns="0" tIns="0" rIns="0" bIns="0" rtlCol="0" anchor="t" anchorCtr="0"/>
          <a:lstStyle/>
          <a:p>
            <a:pPr indent="0" algn="l">
              <a:lnSpc>
                <a:spcPct val="125000"/>
              </a:lnSpc>
              <a:defRPr/>
            </a:pPr>
            <a:r>
              <a:rPr lang="en-US" sz="1300" b="0" i="0" u="none" strike="noStrike">
                <a:solidFill>
                  <a:srgbClr val="D1D5DB"/>
                </a:solidFill>
                <a:latin typeface="Noto Sans SC" panose="020B0500000000000000" charset="-122"/>
                <a:ea typeface="Noto Sans SC" panose="020B0500000000000000" charset="-122"/>
                <a:cs typeface="Noto Sans SC" panose="020B0500000000000000" charset="-122"/>
                <a:sym typeface="Noto Sans SC" panose="020B0500000000000000" charset="-122"/>
              </a:rPr>
              <a:t>标准化流程和自动化工具已全面部署，创始人不再亲自陷入支持、分类、规划或报告等日常事务，团队可独立高效运转。</a:t>
            </a:r>
            <a:endParaRPr lang="en-US" sz="110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000000">
              <a:alpha val="80000"/>
            </a:srgbClr>
          </a:solidFill>
          <a:ln w="25400" cap="flat" cmpd="sng">
            <a:noFill/>
            <a:prstDash val="solid"/>
            <a:round/>
          </a:ln>
        </p:spPr>
        <p:txBody>
          <a:bodyPr vert="horz" wrap="square" lIns="63500" tIns="63500" rIns="63500" bIns="63500" rtlCol="0" anchor="ctr"/>
          <a:lstStyle/>
          <a:p>
            <a:pPr algn="ctr">
              <a:defRPr/>
            </a:pPr>
          </a:p>
        </p:txBody>
      </p:sp>
      <p:sp>
        <p:nvSpPr>
          <p:cNvPr id="3" name="AutoShape 3"/>
          <p:cNvSpPr/>
          <p:nvPr/>
        </p:nvSpPr>
        <p:spPr>
          <a:xfrm>
            <a:off x="762000" y="635000"/>
            <a:ext cx="76200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3200" b="1" i="0" u="none" strike="noStrike">
                <a:solidFill>
                  <a:srgbClr val="FFFFFF"/>
                </a:solidFill>
                <a:latin typeface="Noto Sans SC" panose="020B0500000000000000" charset="-122"/>
                <a:ea typeface="Noto Sans SC" panose="020B0500000000000000" charset="-122"/>
                <a:cs typeface="Noto Sans SC" panose="020B0500000000000000" charset="-122"/>
                <a:sym typeface="Noto Sans SC" panose="020B0500000000000000" charset="-122"/>
              </a:rPr>
              <a:t>发布阶段的陷阱</a:t>
            </a:r>
            <a:endParaRPr lang="en-US" sz="1100"/>
          </a:p>
        </p:txBody>
      </p:sp>
      <p:sp>
        <p:nvSpPr>
          <p:cNvPr id="4" name="AutoShape 4"/>
          <p:cNvSpPr/>
          <p:nvPr/>
        </p:nvSpPr>
        <p:spPr>
          <a:xfrm>
            <a:off x="762000" y="1524000"/>
            <a:ext cx="5207000" cy="2413000"/>
          </a:xfrm>
          <a:prstGeom prst="roundRect">
            <a:avLst>
              <a:gd name="adj" fmla="val 6315"/>
            </a:avLst>
          </a:prstGeom>
          <a:solidFill>
            <a:srgbClr val="192832">
              <a:alpha val="60000"/>
            </a:srgbClr>
          </a:solidFill>
          <a:ln w="12700" cap="flat" cmpd="sng">
            <a:solidFill>
              <a:srgbClr val="00E5FF">
                <a:alpha val="40000"/>
              </a:srgbClr>
            </a:solidFill>
            <a:prstDash val="solid"/>
            <a:round/>
          </a:ln>
        </p:spPr>
        <p:txBody>
          <a:bodyPr vert="horz" wrap="square" lIns="63500" tIns="63500" rIns="63500" bIns="63500" rtlCol="0" anchor="ctr"/>
          <a:lstStyle/>
          <a:p>
            <a:pPr algn="ctr">
              <a:defRPr/>
            </a:pPr>
          </a:p>
        </p:txBody>
      </p:sp>
      <p:pic>
        <p:nvPicPr>
          <p:cNvPr id="5" name="Picture 5"/>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066800" y="1828800"/>
            <a:ext cx="304800" cy="304800"/>
          </a:xfrm>
          <a:prstGeom prst="rect">
            <a:avLst/>
          </a:prstGeom>
        </p:spPr>
      </p:pic>
      <p:sp>
        <p:nvSpPr>
          <p:cNvPr id="6" name="AutoShape 6"/>
          <p:cNvSpPr/>
          <p:nvPr/>
        </p:nvSpPr>
        <p:spPr>
          <a:xfrm>
            <a:off x="1498600" y="1803400"/>
            <a:ext cx="4318000" cy="3556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00E5FF"/>
                </a:solidFill>
                <a:latin typeface="Noto Sans SC" panose="020B0500000000000000" charset="-122"/>
                <a:ea typeface="Noto Sans SC" panose="020B0500000000000000" charset="-122"/>
                <a:cs typeface="Noto Sans SC" panose="020B0500000000000000" charset="-122"/>
                <a:sym typeface="Noto Sans SC" panose="020B0500000000000000" charset="-122"/>
              </a:rPr>
              <a:t>挑战一：技术债到期</a:t>
            </a:r>
            <a:endParaRPr lang="en-US" sz="1100"/>
          </a:p>
        </p:txBody>
      </p:sp>
      <p:sp>
        <p:nvSpPr>
          <p:cNvPr id="7" name="AutoShape 7"/>
          <p:cNvSpPr/>
          <p:nvPr/>
        </p:nvSpPr>
        <p:spPr>
          <a:xfrm>
            <a:off x="1066800" y="2286000"/>
            <a:ext cx="4597400" cy="1397000"/>
          </a:xfrm>
          <a:prstGeom prst="rect">
            <a:avLst/>
          </a:prstGeom>
          <a:noFill/>
          <a:ln w="12700" cap="flat" cmpd="sng">
            <a:noFill/>
            <a:prstDash val="solid"/>
            <a:round/>
          </a:ln>
        </p:spPr>
        <p:txBody>
          <a:bodyPr vert="horz" wrap="square" lIns="0" tIns="0" rIns="0" bIns="0" rtlCol="0" anchor="t" anchorCtr="0"/>
          <a:lstStyle/>
          <a:p>
            <a:pPr indent="0" algn="l">
              <a:lnSpc>
                <a:spcPct val="117000"/>
              </a:lnSpc>
              <a:defRPr/>
            </a:pPr>
            <a:r>
              <a:rPr lang="en-US" sz="1200" b="0" i="0" u="none" strike="noStrike">
                <a:solidFill>
                  <a:srgbClr val="E5E7EB"/>
                </a:solidFill>
                <a:latin typeface="Noto Sans SC" panose="020B0500000000000000" charset="-122"/>
                <a:ea typeface="Noto Sans SC" panose="020B0500000000000000" charset="-122"/>
                <a:cs typeface="Noto Sans SC" panose="020B0500000000000000" charset="-122"/>
                <a:sym typeface="Noto Sans SC" panose="020B0500000000000000" charset="-122"/>
              </a:rPr>
              <a:t>风险: 为速度和验证而构建的MVP代码库，在面对真实流量、新功能和复杂性时，开始暴露出其短板。</a:t>
            </a:r>
            <a:endParaRPr lang="en-US" sz="1100"/>
          </a:p>
          <a:p>
            <a:pPr indent="0" algn="l">
              <a:lnSpc>
                <a:spcPct val="117000"/>
              </a:lnSpc>
            </a:pPr>
            <a:r>
              <a:rPr lang="en-US" sz="1200" b="1" i="0" u="none" strike="noStrike">
                <a:solidFill>
                  <a:srgbClr val="00E5FF">
                    <a:alpha val="90196"/>
                  </a:srgbClr>
                </a:solidFill>
                <a:latin typeface="Noto Sans SC" panose="020B0500000000000000" charset="-122"/>
                <a:ea typeface="Noto Sans SC" panose="020B0500000000000000" charset="-122"/>
                <a:cs typeface="Noto Sans SC" panose="020B0500000000000000" charset="-122"/>
                <a:sym typeface="Noto Sans SC" panose="020B0500000000000000" charset="-122"/>
              </a:rPr>
              <a:t>应对: 进行系统性的架构审计，针对性地重构核心模块，加固地基。</a:t>
            </a:r>
            <a:endParaRPr lang="en-US" sz="1200" b="1" i="0" u="none" strike="noStrike">
              <a:solidFill>
                <a:srgbClr val="00E5FF">
                  <a:alpha val="90196"/>
                </a:srgbClr>
              </a:solidFill>
              <a:latin typeface="Noto Sans SC" panose="020B0500000000000000" charset="-122"/>
              <a:ea typeface="Noto Sans SC" panose="020B0500000000000000" charset="-122"/>
              <a:cs typeface="Noto Sans SC" panose="020B0500000000000000" charset="-122"/>
              <a:sym typeface="Noto Sans SC" panose="020B0500000000000000" charset="-122"/>
            </a:endParaRPr>
          </a:p>
        </p:txBody>
      </p:sp>
      <p:sp>
        <p:nvSpPr>
          <p:cNvPr id="8" name="AutoShape 8"/>
          <p:cNvSpPr/>
          <p:nvPr/>
        </p:nvSpPr>
        <p:spPr>
          <a:xfrm>
            <a:off x="6223000" y="1524000"/>
            <a:ext cx="5207000" cy="2413000"/>
          </a:xfrm>
          <a:prstGeom prst="roundRect">
            <a:avLst>
              <a:gd name="adj" fmla="val 6315"/>
            </a:avLst>
          </a:prstGeom>
          <a:solidFill>
            <a:srgbClr val="192832">
              <a:alpha val="60000"/>
            </a:srgbClr>
          </a:solidFill>
          <a:ln w="12700" cap="flat" cmpd="sng">
            <a:solidFill>
              <a:srgbClr val="00E5FF">
                <a:alpha val="40000"/>
              </a:srgbClr>
            </a:solidFill>
            <a:prstDash val="solid"/>
            <a:round/>
          </a:ln>
        </p:spPr>
        <p:txBody>
          <a:bodyPr vert="horz" wrap="square" lIns="63500" tIns="63500" rIns="63500" bIns="63500" rtlCol="0" anchor="ctr"/>
          <a:lstStyle/>
          <a:p>
            <a:pPr algn="ctr">
              <a:defRPr/>
            </a:pPr>
          </a:p>
        </p:txBody>
      </p:sp>
      <p:pic>
        <p:nvPicPr>
          <p:cNvPr id="9" name="Picture 9"/>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6527800" y="1828800"/>
            <a:ext cx="304800" cy="304800"/>
          </a:xfrm>
          <a:prstGeom prst="rect">
            <a:avLst/>
          </a:prstGeom>
        </p:spPr>
      </p:pic>
      <p:sp>
        <p:nvSpPr>
          <p:cNvPr id="10" name="AutoShape 10"/>
          <p:cNvSpPr/>
          <p:nvPr/>
        </p:nvSpPr>
        <p:spPr>
          <a:xfrm>
            <a:off x="6959600" y="1803400"/>
            <a:ext cx="4318000" cy="3556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00E5FF"/>
                </a:solidFill>
                <a:latin typeface="Noto Sans SC" panose="020B0500000000000000" charset="-122"/>
                <a:ea typeface="Noto Sans SC" panose="020B0500000000000000" charset="-122"/>
                <a:cs typeface="Noto Sans SC" panose="020B0500000000000000" charset="-122"/>
                <a:sym typeface="Noto Sans SC" panose="020B0500000000000000" charset="-122"/>
              </a:rPr>
              <a:t>挑战二：创始人成为瓶颈</a:t>
            </a:r>
            <a:endParaRPr lang="en-US" sz="1100"/>
          </a:p>
        </p:txBody>
      </p:sp>
      <p:sp>
        <p:nvSpPr>
          <p:cNvPr id="11" name="AutoShape 11"/>
          <p:cNvSpPr/>
          <p:nvPr/>
        </p:nvSpPr>
        <p:spPr>
          <a:xfrm>
            <a:off x="6527800" y="2286000"/>
            <a:ext cx="4597400" cy="1397000"/>
          </a:xfrm>
          <a:prstGeom prst="rect">
            <a:avLst/>
          </a:prstGeom>
          <a:noFill/>
          <a:ln w="12700" cap="flat" cmpd="sng">
            <a:noFill/>
            <a:prstDash val="solid"/>
            <a:round/>
          </a:ln>
        </p:spPr>
        <p:txBody>
          <a:bodyPr vert="horz" wrap="square" lIns="0" tIns="0" rIns="0" bIns="0" rtlCol="0" anchor="t" anchorCtr="0"/>
          <a:lstStyle/>
          <a:p>
            <a:pPr indent="0" algn="l">
              <a:lnSpc>
                <a:spcPct val="117000"/>
              </a:lnSpc>
              <a:defRPr/>
            </a:pPr>
            <a:r>
              <a:rPr lang="en-US" sz="1200" b="0" i="0" u="none" strike="noStrike">
                <a:solidFill>
                  <a:srgbClr val="E5E7EB"/>
                </a:solidFill>
                <a:latin typeface="Noto Sans SC" panose="020B0500000000000000" charset="-122"/>
                <a:ea typeface="Noto Sans SC" panose="020B0500000000000000" charset="-122"/>
                <a:cs typeface="Noto Sans SC" panose="020B0500000000000000" charset="-122"/>
                <a:sym typeface="Noto Sans SC" panose="020B0500000000000000" charset="-122"/>
              </a:rPr>
              <a:t>风险: MVP阶段“创始人深度参与一切”的优势，在业务规模化阶段会转变为制约团队效率与发展的瓶颈。</a:t>
            </a:r>
            <a:endParaRPr lang="en-US" sz="1100"/>
          </a:p>
          <a:p>
            <a:pPr indent="0" algn="l">
              <a:lnSpc>
                <a:spcPct val="117000"/>
              </a:lnSpc>
            </a:pPr>
            <a:r>
              <a:rPr lang="en-US" sz="1200" b="1" i="0" u="none" strike="noStrike">
                <a:solidFill>
                  <a:srgbClr val="00E5FF">
                    <a:alpha val="90196"/>
                  </a:srgbClr>
                </a:solidFill>
                <a:latin typeface="Noto Sans SC" panose="020B0500000000000000" charset="-122"/>
                <a:ea typeface="Noto Sans SC" panose="020B0500000000000000" charset="-122"/>
                <a:cs typeface="Noto Sans SC" panose="020B0500000000000000" charset="-122"/>
                <a:sym typeface="Noto Sans SC" panose="020B0500000000000000" charset="-122"/>
              </a:rPr>
              <a:t>应对: 全面审计创始人事务，识别可系统化、委派的工作，建立清晰的决策流程。</a:t>
            </a:r>
            <a:endParaRPr lang="en-US" sz="1200" b="1" i="0" u="none" strike="noStrike">
              <a:solidFill>
                <a:srgbClr val="00E5FF">
                  <a:alpha val="90196"/>
                </a:srgbClr>
              </a:solidFill>
              <a:latin typeface="Noto Sans SC" panose="020B0500000000000000" charset="-122"/>
              <a:ea typeface="Noto Sans SC" panose="020B0500000000000000" charset="-122"/>
              <a:cs typeface="Noto Sans SC" panose="020B0500000000000000" charset="-122"/>
              <a:sym typeface="Noto Sans SC" panose="020B0500000000000000" charset="-122"/>
            </a:endParaRPr>
          </a:p>
        </p:txBody>
      </p:sp>
      <p:sp>
        <p:nvSpPr>
          <p:cNvPr id="12" name="AutoShape 12"/>
          <p:cNvSpPr/>
          <p:nvPr/>
        </p:nvSpPr>
        <p:spPr>
          <a:xfrm>
            <a:off x="762000" y="4191000"/>
            <a:ext cx="5207000" cy="2413000"/>
          </a:xfrm>
          <a:prstGeom prst="roundRect">
            <a:avLst>
              <a:gd name="adj" fmla="val 6315"/>
            </a:avLst>
          </a:prstGeom>
          <a:solidFill>
            <a:srgbClr val="192832">
              <a:alpha val="60000"/>
            </a:srgbClr>
          </a:solidFill>
          <a:ln w="12700" cap="flat" cmpd="sng">
            <a:solidFill>
              <a:srgbClr val="00E5FF">
                <a:alpha val="40000"/>
              </a:srgbClr>
            </a:solidFill>
            <a:prstDash val="solid"/>
            <a:round/>
          </a:ln>
        </p:spPr>
        <p:txBody>
          <a:bodyPr vert="horz" wrap="square" lIns="63500" tIns="63500" rIns="63500" bIns="63500" rtlCol="0" anchor="ctr"/>
          <a:lstStyle/>
          <a:p>
            <a:pPr algn="ctr">
              <a:defRPr/>
            </a:pPr>
          </a:p>
        </p:txBody>
      </p:sp>
      <p:pic>
        <p:nvPicPr>
          <p:cNvPr id="13" name="Picture 13"/>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1066800" y="4495800"/>
            <a:ext cx="304800" cy="304800"/>
          </a:xfrm>
          <a:prstGeom prst="rect">
            <a:avLst/>
          </a:prstGeom>
        </p:spPr>
      </p:pic>
      <p:sp>
        <p:nvSpPr>
          <p:cNvPr id="14" name="AutoShape 14"/>
          <p:cNvSpPr/>
          <p:nvPr/>
        </p:nvSpPr>
        <p:spPr>
          <a:xfrm>
            <a:off x="1498600" y="4470400"/>
            <a:ext cx="4318000" cy="3556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00E5FF"/>
                </a:solidFill>
                <a:latin typeface="Noto Sans SC" panose="020B0500000000000000" charset="-122"/>
                <a:ea typeface="Noto Sans SC" panose="020B0500000000000000" charset="-122"/>
                <a:cs typeface="Noto Sans SC" panose="020B0500000000000000" charset="-122"/>
                <a:sym typeface="Noto Sans SC" panose="020B0500000000000000" charset="-122"/>
              </a:rPr>
              <a:t>挑战三：安全与合规不可推迟</a:t>
            </a:r>
            <a:endParaRPr lang="en-US" sz="1100"/>
          </a:p>
        </p:txBody>
      </p:sp>
      <p:sp>
        <p:nvSpPr>
          <p:cNvPr id="15" name="AutoShape 15"/>
          <p:cNvSpPr/>
          <p:nvPr/>
        </p:nvSpPr>
        <p:spPr>
          <a:xfrm>
            <a:off x="1066800" y="4953000"/>
            <a:ext cx="4597400" cy="1397000"/>
          </a:xfrm>
          <a:prstGeom prst="rect">
            <a:avLst/>
          </a:prstGeom>
          <a:noFill/>
          <a:ln w="12700" cap="flat" cmpd="sng">
            <a:noFill/>
            <a:prstDash val="solid"/>
            <a:round/>
          </a:ln>
        </p:spPr>
        <p:txBody>
          <a:bodyPr vert="horz" wrap="square" lIns="0" tIns="0" rIns="0" bIns="0" rtlCol="0" anchor="t" anchorCtr="0"/>
          <a:lstStyle/>
          <a:p>
            <a:pPr indent="0" algn="l">
              <a:lnSpc>
                <a:spcPct val="117000"/>
              </a:lnSpc>
              <a:defRPr/>
            </a:pPr>
            <a:r>
              <a:rPr lang="en-US" sz="1200" b="0" i="0" u="none" strike="noStrike">
                <a:solidFill>
                  <a:srgbClr val="E5E7EB"/>
                </a:solidFill>
                <a:latin typeface="Noto Sans SC" panose="020B0500000000000000" charset="-122"/>
                <a:ea typeface="Noto Sans SC" panose="020B0500000000000000" charset="-122"/>
                <a:cs typeface="Noto Sans SC" panose="020B0500000000000000" charset="-122"/>
                <a:sym typeface="Noto Sans SC" panose="020B0500000000000000" charset="-122"/>
              </a:rPr>
              <a:t>风险: MVP阶段的简化安全措施，在面对真实用户数据和商业流量时，极易引发数据泄露和合规风险。</a:t>
            </a:r>
            <a:endParaRPr lang="en-US" sz="1100"/>
          </a:p>
          <a:p>
            <a:pPr indent="0" algn="l">
              <a:lnSpc>
                <a:spcPct val="117000"/>
              </a:lnSpc>
            </a:pPr>
            <a:r>
              <a:rPr lang="en-US" sz="1200" b="1" i="0" u="none" strike="noStrike">
                <a:solidFill>
                  <a:srgbClr val="00E5FF">
                    <a:alpha val="90196"/>
                  </a:srgbClr>
                </a:solidFill>
                <a:latin typeface="Noto Sans SC" panose="020B0500000000000000" charset="-122"/>
                <a:ea typeface="Noto Sans SC" panose="020B0500000000000000" charset="-122"/>
                <a:cs typeface="Noto Sans SC" panose="020B0500000000000000" charset="-122"/>
                <a:sym typeface="Noto Sans SC" panose="020B0500000000000000" charset="-122"/>
              </a:rPr>
              <a:t>应对: 在生产规模全面铺开前，进行系统性的安全审计与合规审查，补齐安全短板。</a:t>
            </a:r>
            <a:endParaRPr lang="en-US" sz="1200" b="1" i="0" u="none" strike="noStrike">
              <a:solidFill>
                <a:srgbClr val="00E5FF">
                  <a:alpha val="90196"/>
                </a:srgbClr>
              </a:solidFill>
              <a:latin typeface="Noto Sans SC" panose="020B0500000000000000" charset="-122"/>
              <a:ea typeface="Noto Sans SC" panose="020B0500000000000000" charset="-122"/>
              <a:cs typeface="Noto Sans SC" panose="020B0500000000000000" charset="-122"/>
              <a:sym typeface="Noto Sans SC" panose="020B0500000000000000" charset="-122"/>
            </a:endParaRPr>
          </a:p>
        </p:txBody>
      </p:sp>
      <p:sp>
        <p:nvSpPr>
          <p:cNvPr id="16" name="AutoShape 16"/>
          <p:cNvSpPr/>
          <p:nvPr/>
        </p:nvSpPr>
        <p:spPr>
          <a:xfrm>
            <a:off x="6223000" y="4191000"/>
            <a:ext cx="5207000" cy="2413000"/>
          </a:xfrm>
          <a:prstGeom prst="roundRect">
            <a:avLst>
              <a:gd name="adj" fmla="val 6315"/>
            </a:avLst>
          </a:prstGeom>
          <a:solidFill>
            <a:srgbClr val="192832">
              <a:alpha val="60000"/>
            </a:srgbClr>
          </a:solidFill>
          <a:ln w="12700" cap="flat" cmpd="sng">
            <a:solidFill>
              <a:srgbClr val="00E5FF">
                <a:alpha val="40000"/>
              </a:srgbClr>
            </a:solidFill>
            <a:prstDash val="solid"/>
            <a:round/>
          </a:ln>
        </p:spPr>
        <p:txBody>
          <a:bodyPr vert="horz" wrap="square" lIns="63500" tIns="63500" rIns="63500" bIns="63500" rtlCol="0" anchor="ctr"/>
          <a:lstStyle/>
          <a:p>
            <a:pPr algn="ctr">
              <a:defRPr/>
            </a:pPr>
          </a:p>
        </p:txBody>
      </p:sp>
      <p:pic>
        <p:nvPicPr>
          <p:cNvPr id="17" name="Picture 17"/>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6527800" y="4495800"/>
            <a:ext cx="304800" cy="304800"/>
          </a:xfrm>
          <a:prstGeom prst="rect">
            <a:avLst/>
          </a:prstGeom>
        </p:spPr>
      </p:pic>
      <p:sp>
        <p:nvSpPr>
          <p:cNvPr id="18" name="AutoShape 18"/>
          <p:cNvSpPr/>
          <p:nvPr/>
        </p:nvSpPr>
        <p:spPr>
          <a:xfrm>
            <a:off x="6959600" y="4470400"/>
            <a:ext cx="4318000" cy="3556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00E5FF"/>
                </a:solidFill>
                <a:latin typeface="Noto Sans SC" panose="020B0500000000000000" charset="-122"/>
                <a:ea typeface="Noto Sans SC" panose="020B0500000000000000" charset="-122"/>
                <a:cs typeface="Noto Sans SC" panose="020B0500000000000000" charset="-122"/>
                <a:sym typeface="Noto Sans SC" panose="020B0500000000000000" charset="-122"/>
              </a:rPr>
              <a:t>挑战四：准备就绪前的扩张</a:t>
            </a:r>
            <a:endParaRPr lang="en-US" sz="1100"/>
          </a:p>
        </p:txBody>
      </p:sp>
      <p:sp>
        <p:nvSpPr>
          <p:cNvPr id="19" name="AutoShape 19"/>
          <p:cNvSpPr/>
          <p:nvPr/>
        </p:nvSpPr>
        <p:spPr>
          <a:xfrm>
            <a:off x="6527800" y="4953000"/>
            <a:ext cx="4597400" cy="1397000"/>
          </a:xfrm>
          <a:prstGeom prst="rect">
            <a:avLst/>
          </a:prstGeom>
          <a:noFill/>
          <a:ln w="12700" cap="flat" cmpd="sng">
            <a:noFill/>
            <a:prstDash val="solid"/>
            <a:round/>
          </a:ln>
        </p:spPr>
        <p:txBody>
          <a:bodyPr vert="horz" wrap="square" lIns="0" tIns="0" rIns="0" bIns="0" rtlCol="0" anchor="t" anchorCtr="0"/>
          <a:lstStyle/>
          <a:p>
            <a:pPr indent="0" algn="l">
              <a:lnSpc>
                <a:spcPct val="117000"/>
              </a:lnSpc>
              <a:defRPr/>
            </a:pPr>
            <a:r>
              <a:rPr lang="en-US" sz="1200" b="0" i="0" u="none" strike="noStrike">
                <a:solidFill>
                  <a:srgbClr val="E5E7EB"/>
                </a:solidFill>
                <a:latin typeface="Noto Sans SC" panose="020B0500000000000000" charset="-122"/>
                <a:ea typeface="Noto Sans SC" panose="020B0500000000000000" charset="-122"/>
                <a:cs typeface="Noto Sans SC" panose="020B0500000000000000" charset="-122"/>
                <a:sym typeface="Noto Sans SC" panose="020B0500000000000000" charset="-122"/>
              </a:rPr>
              <a:t>风险: 过早进入新市场、拓展新业务线或接受不符合阶段的融资，可能会稀释甚至扼杀初期建立的产品-市场契合优势。</a:t>
            </a:r>
            <a:endParaRPr lang="en-US" sz="1100"/>
          </a:p>
          <a:p>
            <a:pPr indent="0" algn="l">
              <a:lnSpc>
                <a:spcPct val="117000"/>
              </a:lnSpc>
            </a:pPr>
            <a:r>
              <a:rPr lang="en-US" sz="1200" b="1" i="0" u="none" strike="noStrike">
                <a:solidFill>
                  <a:srgbClr val="00E5FF">
                    <a:alpha val="90196"/>
                  </a:srgbClr>
                </a:solidFill>
                <a:latin typeface="Noto Sans SC" panose="020B0500000000000000" charset="-122"/>
                <a:ea typeface="Noto Sans SC" panose="020B0500000000000000" charset="-122"/>
                <a:cs typeface="Noto Sans SC" panose="020B0500000000000000" charset="-122"/>
                <a:sym typeface="Noto Sans SC" panose="020B0500000000000000" charset="-122"/>
              </a:rPr>
              <a:t>应对: 聚焦核心业务，巩固现有市场的壁垒，避免因盲目扩张导致资源分散。</a:t>
            </a:r>
            <a:endParaRPr lang="en-US" sz="1200" b="1" i="0" u="none" strike="noStrike">
              <a:solidFill>
                <a:srgbClr val="00E5FF">
                  <a:alpha val="90196"/>
                </a:srgbClr>
              </a:solidFill>
              <a:latin typeface="Noto Sans SC" panose="020B0500000000000000" charset="-122"/>
              <a:ea typeface="Noto Sans SC" panose="020B0500000000000000" charset="-122"/>
              <a:cs typeface="Noto Sans SC" panose="020B0500000000000000" charset="-122"/>
              <a:sym typeface="Noto Sans SC" panose="020B0500000000000000" charset="-122"/>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111827">
              <a:alpha val="80000"/>
            </a:srgbClr>
          </a:solidFill>
          <a:ln w="25400" cap="flat" cmpd="sng">
            <a:noFill/>
            <a:prstDash val="solid"/>
            <a:round/>
          </a:ln>
        </p:spPr>
        <p:txBody>
          <a:bodyPr vert="horz" wrap="square" lIns="63500" tIns="63500" rIns="63500" bIns="63500" rtlCol="0" anchor="ctr"/>
          <a:lstStyle/>
          <a:p>
            <a:pPr algn="ctr">
              <a:defRPr/>
            </a:pPr>
          </a:p>
        </p:txBody>
      </p:sp>
      <p:sp>
        <p:nvSpPr>
          <p:cNvPr id="3" name="AutoShape 3"/>
          <p:cNvSpPr/>
          <p:nvPr/>
        </p:nvSpPr>
        <p:spPr>
          <a:xfrm>
            <a:off x="762000" y="635000"/>
            <a:ext cx="106680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3200" b="1" i="0" u="none" strike="noStrike">
                <a:solidFill>
                  <a:srgbClr val="FFFFFF"/>
                </a:solidFill>
                <a:latin typeface="Noto Sans SC" panose="020B0500000000000000" charset="-122"/>
                <a:ea typeface="Noto Sans SC" panose="020B0500000000000000" charset="-122"/>
                <a:cs typeface="Noto Sans SC" panose="020B0500000000000000" charset="-122"/>
                <a:sym typeface="Noto Sans SC" panose="020B0500000000000000" charset="-122"/>
              </a:rPr>
              <a:t>利用AI构建可持续的增长引擎</a:t>
            </a:r>
            <a:endParaRPr lang="en-US" sz="1100"/>
          </a:p>
        </p:txBody>
      </p:sp>
      <p:sp>
        <p:nvSpPr>
          <p:cNvPr id="4" name="AutoShape 4"/>
          <p:cNvSpPr/>
          <p:nvPr/>
        </p:nvSpPr>
        <p:spPr>
          <a:xfrm>
            <a:off x="762000" y="1333500"/>
            <a:ext cx="10668000" cy="609600"/>
          </a:xfrm>
          <a:prstGeom prst="rect">
            <a:avLst/>
          </a:prstGeom>
          <a:noFill/>
          <a:ln w="12700" cap="flat" cmpd="sng">
            <a:noFill/>
            <a:prstDash val="solid"/>
            <a:round/>
          </a:ln>
        </p:spPr>
        <p:txBody>
          <a:bodyPr vert="horz" wrap="square" lIns="0" tIns="0" rIns="0" bIns="0" rtlCol="0" anchor="t" anchorCtr="0"/>
          <a:lstStyle/>
          <a:p>
            <a:pPr indent="0" algn="l">
              <a:lnSpc>
                <a:spcPct val="117000"/>
              </a:lnSpc>
              <a:defRPr/>
            </a:pPr>
            <a:r>
              <a:rPr lang="en-US" sz="1400" b="0" i="0" u="none" strike="noStrike">
                <a:solidFill>
                  <a:srgbClr val="D1D5DB"/>
                </a:solidFill>
                <a:latin typeface="Noto Sans SC" panose="020B0500000000000000" charset="-122"/>
                <a:ea typeface="Noto Sans SC" panose="020B0500000000000000" charset="-122"/>
                <a:cs typeface="Noto Sans SC" panose="020B0500000000000000" charset="-122"/>
                <a:sym typeface="Noto Sans SC" panose="020B0500000000000000" charset="-122"/>
              </a:rPr>
              <a:t>核心策略：协同使用Claude的三个形态（Chat, Cowork, Code），让它们的输出相互成为输入，形成一个强大的系统。</a:t>
            </a:r>
            <a:endParaRPr lang="en-US" sz="1100"/>
          </a:p>
        </p:txBody>
      </p:sp>
      <p:sp>
        <p:nvSpPr>
          <p:cNvPr id="5" name="AutoShape 5"/>
          <p:cNvSpPr/>
          <p:nvPr/>
        </p:nvSpPr>
        <p:spPr>
          <a:xfrm>
            <a:off x="762000" y="2159000"/>
            <a:ext cx="5207000" cy="1968500"/>
          </a:xfrm>
          <a:prstGeom prst="roundRect">
            <a:avLst>
              <a:gd name="adj" fmla="val 5161"/>
            </a:avLst>
          </a:prstGeom>
          <a:solidFill>
            <a:srgbClr val="1E293B">
              <a:alpha val="60000"/>
            </a:srgbClr>
          </a:solidFill>
          <a:ln w="12700" cap="flat" cmpd="sng">
            <a:solidFill>
              <a:srgbClr val="00E5FF">
                <a:alpha val="30000"/>
              </a:srgbClr>
            </a:solidFill>
            <a:prstDash val="solid"/>
            <a:round/>
          </a:ln>
        </p:spPr>
        <p:txBody>
          <a:bodyPr vert="horz" wrap="square" lIns="63500" tIns="63500" rIns="63500" bIns="63500" rtlCol="0" anchor="ctr"/>
          <a:lstStyle/>
          <a:p>
            <a:pPr algn="ctr">
              <a:defRPr/>
            </a:pPr>
          </a:p>
        </p:txBody>
      </p:sp>
      <p:pic>
        <p:nvPicPr>
          <p:cNvPr id="6" name="Picture 6"/>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016000" y="2413000"/>
            <a:ext cx="304800" cy="304800"/>
          </a:xfrm>
          <a:prstGeom prst="rect">
            <a:avLst/>
          </a:prstGeom>
        </p:spPr>
      </p:pic>
      <p:sp>
        <p:nvSpPr>
          <p:cNvPr id="7" name="AutoShape 7"/>
          <p:cNvSpPr/>
          <p:nvPr/>
        </p:nvSpPr>
        <p:spPr>
          <a:xfrm>
            <a:off x="1447800" y="2387600"/>
            <a:ext cx="4318000" cy="3556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FFFFFF"/>
                </a:solidFill>
                <a:latin typeface="Noto Sans SC" panose="020B0500000000000000" charset="-122"/>
                <a:ea typeface="Noto Sans SC" panose="020B0500000000000000" charset="-122"/>
                <a:cs typeface="Noto Sans SC" panose="020B0500000000000000" charset="-122"/>
                <a:sym typeface="Noto Sans SC" panose="020B0500000000000000" charset="-122"/>
              </a:rPr>
              <a:t>1. 偿还技术债</a:t>
            </a:r>
            <a:endParaRPr lang="en-US" sz="1100"/>
          </a:p>
        </p:txBody>
      </p:sp>
      <p:sp>
        <p:nvSpPr>
          <p:cNvPr id="8" name="AutoShape 8"/>
          <p:cNvSpPr/>
          <p:nvPr/>
        </p:nvSpPr>
        <p:spPr>
          <a:xfrm>
            <a:off x="1016000" y="2921000"/>
            <a:ext cx="4699000" cy="1016000"/>
          </a:xfrm>
          <a:prstGeom prst="rect">
            <a:avLst/>
          </a:prstGeom>
          <a:noFill/>
          <a:ln w="12700" cap="flat" cmpd="sng">
            <a:noFill/>
            <a:prstDash val="solid"/>
            <a:round/>
          </a:ln>
        </p:spPr>
        <p:txBody>
          <a:bodyPr vert="horz" wrap="square" lIns="0" tIns="0" rIns="0" bIns="0" rtlCol="0" anchor="t" anchorCtr="0"/>
          <a:lstStyle/>
          <a:p>
            <a:pPr indent="0" algn="l">
              <a:lnSpc>
                <a:spcPct val="125000"/>
              </a:lnSpc>
              <a:defRPr/>
            </a:pPr>
            <a:r>
              <a:rPr lang="en-US" sz="1200" b="0" i="0" u="none" strike="noStrike">
                <a:solidFill>
                  <a:srgbClr val="D1D5DB"/>
                </a:solidFill>
                <a:latin typeface="Noto Sans SC" panose="020B0500000000000000" charset="-122"/>
                <a:ea typeface="Noto Sans SC" panose="020B0500000000000000" charset="-122"/>
                <a:cs typeface="Noto Sans SC" panose="020B0500000000000000" charset="-122"/>
                <a:sym typeface="Noto Sans SC" panose="020B0500000000000000" charset="-122"/>
              </a:rPr>
              <a:t>•</a:t>
            </a:r>
            <a:r>
              <a:rPr lang="en-US" sz="1200" b="1" i="0" u="none" strike="noStrike">
                <a:solidFill>
                  <a:srgbClr val="D1D5DB"/>
                </a:solidFill>
                <a:latin typeface="Noto Sans SC" panose="020B0500000000000000" charset="-122"/>
                <a:ea typeface="Noto Sans SC" panose="020B0500000000000000" charset="-122"/>
                <a:cs typeface="Noto Sans SC" panose="020B0500000000000000" charset="-122"/>
                <a:sym typeface="Noto Sans SC" panose="020B0500000000000000" charset="-122"/>
              </a:rPr>
              <a:t>Claude Code</a:t>
            </a:r>
            <a:r>
              <a:rPr lang="en-US" sz="1200" b="0" i="0" u="none" strike="noStrike">
                <a:solidFill>
                  <a:srgbClr val="D1D5DB"/>
                </a:solidFill>
                <a:latin typeface="Noto Sans SC" panose="020B0500000000000000" charset="-122"/>
                <a:ea typeface="Noto Sans SC" panose="020B0500000000000000" charset="-122"/>
                <a:cs typeface="Noto Sans SC" panose="020B0500000000000000" charset="-122"/>
                <a:sym typeface="Noto Sans SC" panose="020B0500000000000000" charset="-122"/>
              </a:rPr>
              <a:t>: 对MVP代码库进行全面的架构审计。</a:t>
            </a:r>
            <a:endParaRPr lang="en-US" sz="1100"/>
          </a:p>
          <a:p>
            <a:pPr indent="0" algn="l">
              <a:lnSpc>
                <a:spcPct val="125000"/>
              </a:lnSpc>
            </a:pPr>
            <a:r>
              <a:rPr lang="en-US" sz="1200" b="0" i="0" u="none" strike="noStrike">
                <a:solidFill>
                  <a:srgbClr val="D1D5DB"/>
                </a:solidFill>
                <a:latin typeface="Noto Sans SC" panose="020B0500000000000000" charset="-122"/>
                <a:ea typeface="Noto Sans SC" panose="020B0500000000000000" charset="-122"/>
                <a:cs typeface="Noto Sans SC" panose="020B0500000000000000" charset="-122"/>
                <a:sym typeface="Noto Sans SC" panose="020B0500000000000000" charset="-122"/>
              </a:rPr>
              <a:t>•</a:t>
            </a:r>
            <a:r>
              <a:rPr lang="en-US" sz="1200" b="1" i="0" u="none" strike="noStrike">
                <a:solidFill>
                  <a:srgbClr val="D1D5DB"/>
                </a:solidFill>
                <a:latin typeface="Noto Sans SC" panose="020B0500000000000000" charset="-122"/>
                <a:ea typeface="Noto Sans SC" panose="020B0500000000000000" charset="-122"/>
                <a:cs typeface="Noto Sans SC" panose="020B0500000000000000" charset="-122"/>
                <a:sym typeface="Noto Sans SC" panose="020B0500000000000000" charset="-122"/>
              </a:rPr>
              <a:t>Claude (Chat)</a:t>
            </a:r>
            <a:r>
              <a:rPr lang="en-US" sz="1200" b="0" i="0" u="none" strike="noStrike">
                <a:solidFill>
                  <a:srgbClr val="D1D5DB"/>
                </a:solidFill>
                <a:latin typeface="Noto Sans SC" panose="020B0500000000000000" charset="-122"/>
                <a:ea typeface="Noto Sans SC" panose="020B0500000000000000" charset="-122"/>
                <a:cs typeface="Noto Sans SC" panose="020B0500000000000000" charset="-122"/>
                <a:sym typeface="Noto Sans SC" panose="020B0500000000000000" charset="-122"/>
              </a:rPr>
              <a:t>: 对审计结果进行分类和排序，制定修复计划。</a:t>
            </a:r>
            <a:endParaRPr lang="en-US" sz="1200" b="0" i="0" u="none" strike="noStrike">
              <a:solidFill>
                <a:srgbClr val="D1D5DB"/>
              </a:solidFill>
              <a:latin typeface="Noto Sans SC" panose="020B0500000000000000" charset="-122"/>
              <a:ea typeface="Noto Sans SC" panose="020B0500000000000000" charset="-122"/>
              <a:cs typeface="Noto Sans SC" panose="020B0500000000000000" charset="-122"/>
              <a:sym typeface="Noto Sans SC" panose="020B0500000000000000" charset="-122"/>
            </a:endParaRPr>
          </a:p>
        </p:txBody>
      </p:sp>
      <p:sp>
        <p:nvSpPr>
          <p:cNvPr id="9" name="AutoShape 9"/>
          <p:cNvSpPr/>
          <p:nvPr/>
        </p:nvSpPr>
        <p:spPr>
          <a:xfrm>
            <a:off x="6223000" y="2159000"/>
            <a:ext cx="5207000" cy="1968500"/>
          </a:xfrm>
          <a:prstGeom prst="roundRect">
            <a:avLst>
              <a:gd name="adj" fmla="val 5161"/>
            </a:avLst>
          </a:prstGeom>
          <a:solidFill>
            <a:srgbClr val="1E293B">
              <a:alpha val="60000"/>
            </a:srgbClr>
          </a:solidFill>
          <a:ln w="12700" cap="flat" cmpd="sng">
            <a:solidFill>
              <a:srgbClr val="00E5FF">
                <a:alpha val="30000"/>
              </a:srgbClr>
            </a:solidFill>
            <a:prstDash val="solid"/>
            <a:round/>
          </a:ln>
        </p:spPr>
        <p:txBody>
          <a:bodyPr vert="horz" wrap="square" lIns="63500" tIns="63500" rIns="63500" bIns="63500" rtlCol="0" anchor="ctr"/>
          <a:lstStyle/>
          <a:p>
            <a:pPr algn="ctr">
              <a:defRPr/>
            </a:pPr>
          </a:p>
        </p:txBody>
      </p:sp>
      <p:pic>
        <p:nvPicPr>
          <p:cNvPr id="10" name="Picture 10"/>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6477000" y="2413000"/>
            <a:ext cx="304800" cy="304800"/>
          </a:xfrm>
          <a:prstGeom prst="rect">
            <a:avLst/>
          </a:prstGeom>
        </p:spPr>
      </p:pic>
      <p:sp>
        <p:nvSpPr>
          <p:cNvPr id="11" name="AutoShape 11"/>
          <p:cNvSpPr/>
          <p:nvPr/>
        </p:nvSpPr>
        <p:spPr>
          <a:xfrm>
            <a:off x="6908800" y="2387600"/>
            <a:ext cx="4318000" cy="3556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FFFFFF"/>
                </a:solidFill>
                <a:latin typeface="Noto Sans SC" panose="020B0500000000000000" charset="-122"/>
                <a:ea typeface="Noto Sans SC" panose="020B0500000000000000" charset="-122"/>
                <a:cs typeface="Noto Sans SC" panose="020B0500000000000000" charset="-122"/>
                <a:sym typeface="Noto Sans SC" panose="020B0500000000000000" charset="-122"/>
              </a:rPr>
              <a:t>2. 构建替代创始人注意力的系统</a:t>
            </a:r>
            <a:endParaRPr lang="en-US" sz="1100"/>
          </a:p>
        </p:txBody>
      </p:sp>
      <p:sp>
        <p:nvSpPr>
          <p:cNvPr id="12" name="AutoShape 12"/>
          <p:cNvSpPr/>
          <p:nvPr/>
        </p:nvSpPr>
        <p:spPr>
          <a:xfrm>
            <a:off x="6477000" y="2921000"/>
            <a:ext cx="4699000" cy="1016000"/>
          </a:xfrm>
          <a:prstGeom prst="rect">
            <a:avLst/>
          </a:prstGeom>
          <a:noFill/>
          <a:ln w="12700" cap="flat" cmpd="sng">
            <a:noFill/>
            <a:prstDash val="solid"/>
            <a:round/>
          </a:ln>
        </p:spPr>
        <p:txBody>
          <a:bodyPr vert="horz" wrap="square" lIns="0" tIns="0" rIns="0" bIns="0" rtlCol="0" anchor="t" anchorCtr="0"/>
          <a:lstStyle/>
          <a:p>
            <a:pPr indent="0" algn="l">
              <a:lnSpc>
                <a:spcPct val="125000"/>
              </a:lnSpc>
              <a:defRPr/>
            </a:pPr>
            <a:r>
              <a:rPr lang="en-US" sz="1200" b="0" i="0" u="none" strike="noStrike">
                <a:solidFill>
                  <a:srgbClr val="D1D5DB"/>
                </a:solidFill>
                <a:latin typeface="Noto Sans SC" panose="020B0500000000000000" charset="-122"/>
                <a:ea typeface="Noto Sans SC" panose="020B0500000000000000" charset="-122"/>
                <a:cs typeface="Noto Sans SC" panose="020B0500000000000000" charset="-122"/>
                <a:sym typeface="Noto Sans SC" panose="020B0500000000000000" charset="-122"/>
              </a:rPr>
              <a:t>•</a:t>
            </a:r>
            <a:r>
              <a:rPr lang="en-US" sz="1200" b="1" i="0" u="none" strike="noStrike">
                <a:solidFill>
                  <a:srgbClr val="D1D5DB"/>
                </a:solidFill>
                <a:latin typeface="Noto Sans SC" panose="020B0500000000000000" charset="-122"/>
                <a:ea typeface="Noto Sans SC" panose="020B0500000000000000" charset="-122"/>
                <a:cs typeface="Noto Sans SC" panose="020B0500000000000000" charset="-122"/>
                <a:sym typeface="Noto Sans SC" panose="020B0500000000000000" charset="-122"/>
              </a:rPr>
              <a:t>Claude Cowork</a:t>
            </a:r>
            <a:r>
              <a:rPr lang="en-US" sz="1200" b="0" i="0" u="none" strike="noStrike">
                <a:solidFill>
                  <a:srgbClr val="D1D5DB"/>
                </a:solidFill>
                <a:latin typeface="Noto Sans SC" panose="020B0500000000000000" charset="-122"/>
                <a:ea typeface="Noto Sans SC" panose="020B0500000000000000" charset="-122"/>
                <a:cs typeface="Noto Sans SC" panose="020B0500000000000000" charset="-122"/>
                <a:sym typeface="Noto Sans SC" panose="020B0500000000000000" charset="-122"/>
              </a:rPr>
              <a:t>: 审计创始人当前的运营负载，将任务分类为“可自动化”、“可委派”和“需创始人决策”。</a:t>
            </a:r>
            <a:endParaRPr lang="en-US" sz="1100"/>
          </a:p>
        </p:txBody>
      </p:sp>
      <p:sp>
        <p:nvSpPr>
          <p:cNvPr id="13" name="AutoShape 13"/>
          <p:cNvSpPr/>
          <p:nvPr/>
        </p:nvSpPr>
        <p:spPr>
          <a:xfrm>
            <a:off x="762000" y="4381500"/>
            <a:ext cx="5207000" cy="1968500"/>
          </a:xfrm>
          <a:prstGeom prst="roundRect">
            <a:avLst>
              <a:gd name="adj" fmla="val 5161"/>
            </a:avLst>
          </a:prstGeom>
          <a:solidFill>
            <a:srgbClr val="1E293B">
              <a:alpha val="60000"/>
            </a:srgbClr>
          </a:solidFill>
          <a:ln w="12700" cap="flat" cmpd="sng">
            <a:solidFill>
              <a:srgbClr val="00E5FF">
                <a:alpha val="30000"/>
              </a:srgbClr>
            </a:solidFill>
            <a:prstDash val="solid"/>
            <a:round/>
          </a:ln>
        </p:spPr>
        <p:txBody>
          <a:bodyPr vert="horz" wrap="square" lIns="63500" tIns="63500" rIns="63500" bIns="63500" rtlCol="0" anchor="ctr"/>
          <a:lstStyle/>
          <a:p>
            <a:pPr algn="ctr">
              <a:defRPr/>
            </a:pPr>
          </a:p>
        </p:txBody>
      </p:sp>
      <p:pic>
        <p:nvPicPr>
          <p:cNvPr id="14" name="Picture 14"/>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1016000" y="4635500"/>
            <a:ext cx="304800" cy="304800"/>
          </a:xfrm>
          <a:prstGeom prst="rect">
            <a:avLst/>
          </a:prstGeom>
        </p:spPr>
      </p:pic>
      <p:sp>
        <p:nvSpPr>
          <p:cNvPr id="15" name="AutoShape 15"/>
          <p:cNvSpPr/>
          <p:nvPr/>
        </p:nvSpPr>
        <p:spPr>
          <a:xfrm>
            <a:off x="1447800" y="4610100"/>
            <a:ext cx="4318000" cy="3556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FFFFFF"/>
                </a:solidFill>
                <a:latin typeface="Noto Sans SC" panose="020B0500000000000000" charset="-122"/>
                <a:ea typeface="Noto Sans SC" panose="020B0500000000000000" charset="-122"/>
                <a:cs typeface="Noto Sans SC" panose="020B0500000000000000" charset="-122"/>
                <a:sym typeface="Noto Sans SC" panose="020B0500000000000000" charset="-122"/>
              </a:rPr>
              <a:t>3. 将安全与合规变为产品工作流</a:t>
            </a:r>
            <a:endParaRPr lang="en-US" sz="1100"/>
          </a:p>
        </p:txBody>
      </p:sp>
      <p:sp>
        <p:nvSpPr>
          <p:cNvPr id="16" name="AutoShape 16"/>
          <p:cNvSpPr/>
          <p:nvPr/>
        </p:nvSpPr>
        <p:spPr>
          <a:xfrm>
            <a:off x="1016000" y="5143500"/>
            <a:ext cx="4699000" cy="1016000"/>
          </a:xfrm>
          <a:prstGeom prst="rect">
            <a:avLst/>
          </a:prstGeom>
          <a:noFill/>
          <a:ln w="12700" cap="flat" cmpd="sng">
            <a:noFill/>
            <a:prstDash val="solid"/>
            <a:round/>
          </a:ln>
        </p:spPr>
        <p:txBody>
          <a:bodyPr vert="horz" wrap="square" lIns="0" tIns="0" rIns="0" bIns="0" rtlCol="0" anchor="t" anchorCtr="0"/>
          <a:lstStyle/>
          <a:p>
            <a:pPr indent="0" algn="l">
              <a:lnSpc>
                <a:spcPct val="125000"/>
              </a:lnSpc>
              <a:defRPr/>
            </a:pPr>
            <a:r>
              <a:rPr lang="en-US" sz="1200" b="0" i="0" u="none" strike="noStrike">
                <a:solidFill>
                  <a:srgbClr val="D1D5DB"/>
                </a:solidFill>
                <a:latin typeface="Noto Sans SC" panose="020B0500000000000000" charset="-122"/>
                <a:ea typeface="Noto Sans SC" panose="020B0500000000000000" charset="-122"/>
                <a:cs typeface="Noto Sans SC" panose="020B0500000000000000" charset="-122"/>
                <a:sym typeface="Noto Sans SC" panose="020B0500000000000000" charset="-122"/>
              </a:rPr>
              <a:t>•</a:t>
            </a:r>
            <a:r>
              <a:rPr lang="en-US" sz="1200" b="1" i="0" u="none" strike="noStrike">
                <a:solidFill>
                  <a:srgbClr val="D1D5DB"/>
                </a:solidFill>
                <a:latin typeface="Noto Sans SC" panose="020B0500000000000000" charset="-122"/>
                <a:ea typeface="Noto Sans SC" panose="020B0500000000000000" charset="-122"/>
                <a:cs typeface="Noto Sans SC" panose="020B0500000000000000" charset="-122"/>
                <a:sym typeface="Noto Sans SC" panose="020B0500000000000000" charset="-122"/>
              </a:rPr>
              <a:t>Claude Code</a:t>
            </a:r>
            <a:r>
              <a:rPr lang="en-US" sz="1200" b="0" i="0" u="none" strike="noStrike">
                <a:solidFill>
                  <a:srgbClr val="D1D5DB"/>
                </a:solidFill>
                <a:latin typeface="Noto Sans SC" panose="020B0500000000000000" charset="-122"/>
                <a:ea typeface="Noto Sans SC" panose="020B0500000000000000" charset="-122"/>
                <a:cs typeface="Noto Sans SC" panose="020B0500000000000000" charset="-122"/>
                <a:sym typeface="Noto Sans SC" panose="020B0500000000000000" charset="-122"/>
              </a:rPr>
              <a:t>: 扫描代码，找出与合规框架相关的问题。</a:t>
            </a:r>
            <a:endParaRPr lang="en-US" sz="1100"/>
          </a:p>
          <a:p>
            <a:pPr indent="0" algn="l">
              <a:lnSpc>
                <a:spcPct val="125000"/>
              </a:lnSpc>
            </a:pPr>
            <a:r>
              <a:rPr lang="en-US" sz="1200" b="0" i="0" u="none" strike="noStrike">
                <a:solidFill>
                  <a:srgbClr val="D1D5DB"/>
                </a:solidFill>
                <a:latin typeface="Noto Sans SC" panose="020B0500000000000000" charset="-122"/>
                <a:ea typeface="Noto Sans SC" panose="020B0500000000000000" charset="-122"/>
                <a:cs typeface="Noto Sans SC" panose="020B0500000000000000" charset="-122"/>
                <a:sym typeface="Noto Sans SC" panose="020B0500000000000000" charset="-122"/>
              </a:rPr>
              <a:t>•</a:t>
            </a:r>
            <a:r>
              <a:rPr lang="en-US" sz="1200" b="1" i="0" u="none" strike="noStrike">
                <a:solidFill>
                  <a:srgbClr val="D1D5DB"/>
                </a:solidFill>
                <a:latin typeface="Noto Sans SC" panose="020B0500000000000000" charset="-122"/>
                <a:ea typeface="Noto Sans SC" panose="020B0500000000000000" charset="-122"/>
                <a:cs typeface="Noto Sans SC" panose="020B0500000000000000" charset="-122"/>
                <a:sym typeface="Noto Sans SC" panose="020B0500000000000000" charset="-122"/>
              </a:rPr>
              <a:t>Claude (Chat)</a:t>
            </a:r>
            <a:r>
              <a:rPr lang="en-US" sz="1200" b="0" i="0" u="none" strike="noStrike">
                <a:solidFill>
                  <a:srgbClr val="D1D5DB"/>
                </a:solidFill>
                <a:latin typeface="Noto Sans SC" panose="020B0500000000000000" charset="-122"/>
                <a:ea typeface="Noto Sans SC" panose="020B0500000000000000" charset="-122"/>
                <a:cs typeface="Noto Sans SC" panose="020B0500000000000000" charset="-122"/>
                <a:sym typeface="Noto Sans SC" panose="020B0500000000000000" charset="-122"/>
              </a:rPr>
              <a:t>: 帮助优先处理修复工作。</a:t>
            </a:r>
            <a:endParaRPr lang="en-US" sz="1200" b="0" i="0" u="none" strike="noStrike">
              <a:solidFill>
                <a:srgbClr val="D1D5DB"/>
              </a:solidFill>
              <a:latin typeface="Noto Sans SC" panose="020B0500000000000000" charset="-122"/>
              <a:ea typeface="Noto Sans SC" panose="020B0500000000000000" charset="-122"/>
              <a:cs typeface="Noto Sans SC" panose="020B0500000000000000" charset="-122"/>
              <a:sym typeface="Noto Sans SC" panose="020B0500000000000000" charset="-122"/>
            </a:endParaRPr>
          </a:p>
        </p:txBody>
      </p:sp>
      <p:sp>
        <p:nvSpPr>
          <p:cNvPr id="17" name="AutoShape 17"/>
          <p:cNvSpPr/>
          <p:nvPr/>
        </p:nvSpPr>
        <p:spPr>
          <a:xfrm>
            <a:off x="6223000" y="4381500"/>
            <a:ext cx="5207000" cy="1968500"/>
          </a:xfrm>
          <a:prstGeom prst="roundRect">
            <a:avLst>
              <a:gd name="adj" fmla="val 5161"/>
            </a:avLst>
          </a:prstGeom>
          <a:solidFill>
            <a:srgbClr val="1E293B">
              <a:alpha val="60000"/>
            </a:srgbClr>
          </a:solidFill>
          <a:ln w="12700" cap="flat" cmpd="sng">
            <a:solidFill>
              <a:srgbClr val="00E5FF">
                <a:alpha val="30000"/>
              </a:srgbClr>
            </a:solidFill>
            <a:prstDash val="solid"/>
            <a:round/>
          </a:ln>
        </p:spPr>
        <p:txBody>
          <a:bodyPr vert="horz" wrap="square" lIns="63500" tIns="63500" rIns="63500" bIns="63500" rtlCol="0" anchor="ctr"/>
          <a:lstStyle/>
          <a:p>
            <a:pPr algn="ctr">
              <a:defRPr/>
            </a:pPr>
          </a:p>
        </p:txBody>
      </p:sp>
      <p:pic>
        <p:nvPicPr>
          <p:cNvPr id="18" name="Picture 18"/>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6477000" y="4635500"/>
            <a:ext cx="304800" cy="304800"/>
          </a:xfrm>
          <a:prstGeom prst="rect">
            <a:avLst/>
          </a:prstGeom>
        </p:spPr>
      </p:pic>
      <p:sp>
        <p:nvSpPr>
          <p:cNvPr id="19" name="AutoShape 19"/>
          <p:cNvSpPr/>
          <p:nvPr/>
        </p:nvSpPr>
        <p:spPr>
          <a:xfrm>
            <a:off x="6908800" y="4610100"/>
            <a:ext cx="4318000" cy="3556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FFFFFF"/>
                </a:solidFill>
                <a:latin typeface="Noto Sans SC" panose="020B0500000000000000" charset="-122"/>
                <a:ea typeface="Noto Sans SC" panose="020B0500000000000000" charset="-122"/>
                <a:cs typeface="Noto Sans SC" panose="020B0500000000000000" charset="-122"/>
                <a:sym typeface="Noto Sans SC" panose="020B0500000000000000" charset="-122"/>
              </a:rPr>
              <a:t>4. 建立产品管理流程</a:t>
            </a:r>
            <a:endParaRPr lang="en-US" sz="1100"/>
          </a:p>
        </p:txBody>
      </p:sp>
      <p:sp>
        <p:nvSpPr>
          <p:cNvPr id="20" name="AutoShape 20"/>
          <p:cNvSpPr/>
          <p:nvPr/>
        </p:nvSpPr>
        <p:spPr>
          <a:xfrm>
            <a:off x="6477000" y="5143500"/>
            <a:ext cx="4699000" cy="1016000"/>
          </a:xfrm>
          <a:prstGeom prst="rect">
            <a:avLst/>
          </a:prstGeom>
          <a:noFill/>
          <a:ln w="12700" cap="flat" cmpd="sng">
            <a:noFill/>
            <a:prstDash val="solid"/>
            <a:round/>
          </a:ln>
        </p:spPr>
        <p:txBody>
          <a:bodyPr vert="horz" wrap="square" lIns="0" tIns="0" rIns="0" bIns="0" rtlCol="0" anchor="t" anchorCtr="0"/>
          <a:lstStyle/>
          <a:p>
            <a:pPr indent="0" algn="l">
              <a:lnSpc>
                <a:spcPct val="125000"/>
              </a:lnSpc>
              <a:defRPr/>
            </a:pPr>
            <a:r>
              <a:rPr lang="en-US" sz="1200" b="0" i="0" u="none" strike="noStrike">
                <a:solidFill>
                  <a:srgbClr val="D1D5DB"/>
                </a:solidFill>
                <a:latin typeface="Noto Sans SC" panose="020B0500000000000000" charset="-122"/>
                <a:ea typeface="Noto Sans SC" panose="020B0500000000000000" charset="-122"/>
                <a:cs typeface="Noto Sans SC" panose="020B0500000000000000" charset="-122"/>
                <a:sym typeface="Noto Sans SC" panose="020B0500000000000000" charset="-122"/>
              </a:rPr>
              <a:t>•</a:t>
            </a:r>
            <a:r>
              <a:rPr lang="en-US" sz="1200" b="1" i="0" u="none" strike="noStrike">
                <a:solidFill>
                  <a:srgbClr val="D1D5DB"/>
                </a:solidFill>
                <a:latin typeface="Noto Sans SC" panose="020B0500000000000000" charset="-122"/>
                <a:ea typeface="Noto Sans SC" panose="020B0500000000000000" charset="-122"/>
                <a:cs typeface="Noto Sans SC" panose="020B0500000000000000" charset="-122"/>
                <a:sym typeface="Noto Sans SC" panose="020B0500000000000000" charset="-122"/>
              </a:rPr>
              <a:t>Claude (Chat)</a:t>
            </a:r>
            <a:r>
              <a:rPr lang="en-US" sz="1200" b="0" i="0" u="none" strike="noStrike">
                <a:solidFill>
                  <a:srgbClr val="D1D5DB"/>
                </a:solidFill>
                <a:latin typeface="Noto Sans SC" panose="020B0500000000000000" charset="-122"/>
                <a:ea typeface="Noto Sans SC" panose="020B0500000000000000" charset="-122"/>
                <a:cs typeface="Noto Sans SC" panose="020B0500000000000000" charset="-122"/>
                <a:sym typeface="Noto Sans SC" panose="020B0500000000000000" charset="-122"/>
              </a:rPr>
              <a:t>: 设计轻量级的产品管理流程。</a:t>
            </a:r>
            <a:endParaRPr lang="en-US" sz="1100"/>
          </a:p>
          <a:p>
            <a:pPr indent="0" algn="l">
              <a:lnSpc>
                <a:spcPct val="125000"/>
              </a:lnSpc>
            </a:pPr>
            <a:r>
              <a:rPr lang="en-US" sz="1200" b="0" i="0" u="none" strike="noStrike">
                <a:solidFill>
                  <a:srgbClr val="D1D5DB"/>
                </a:solidFill>
                <a:latin typeface="Noto Sans SC" panose="020B0500000000000000" charset="-122"/>
                <a:ea typeface="Noto Sans SC" panose="020B0500000000000000" charset="-122"/>
                <a:cs typeface="Noto Sans SC" panose="020B0500000000000000" charset="-122"/>
                <a:sym typeface="Noto Sans SC" panose="020B0500000000000000" charset="-122"/>
              </a:rPr>
              <a:t>•</a:t>
            </a:r>
            <a:r>
              <a:rPr lang="en-US" sz="1200" b="1" i="0" u="none" strike="noStrike">
                <a:solidFill>
                  <a:srgbClr val="D1D5DB"/>
                </a:solidFill>
                <a:latin typeface="Noto Sans SC" panose="020B0500000000000000" charset="-122"/>
                <a:ea typeface="Noto Sans SC" panose="020B0500000000000000" charset="-122"/>
                <a:cs typeface="Noto Sans SC" panose="020B0500000000000000" charset="-122"/>
                <a:sym typeface="Noto Sans SC" panose="020B0500000000000000" charset="-122"/>
              </a:rPr>
              <a:t>Claude Cowork</a:t>
            </a:r>
            <a:r>
              <a:rPr lang="en-US" sz="1200" b="0" i="0" u="none" strike="noStrike">
                <a:solidFill>
                  <a:srgbClr val="D1D5DB"/>
                </a:solidFill>
                <a:latin typeface="Noto Sans SC" panose="020B0500000000000000" charset="-122"/>
                <a:ea typeface="Noto Sans SC" panose="020B0500000000000000" charset="-122"/>
                <a:cs typeface="Noto Sans SC" panose="020B0500000000000000" charset="-122"/>
                <a:sym typeface="Noto Sans SC" panose="020B0500000000000000" charset="-122"/>
              </a:rPr>
              <a:t>: 实现并运行这些流程的日常操作。</a:t>
            </a:r>
            <a:endParaRPr lang="en-US" sz="1200" b="0" i="0" u="none" strike="noStrike">
              <a:solidFill>
                <a:srgbClr val="D1D5DB"/>
              </a:solidFill>
              <a:latin typeface="Noto Sans SC" panose="020B0500000000000000" charset="-122"/>
              <a:ea typeface="Noto Sans SC" panose="020B0500000000000000" charset="-122"/>
              <a:cs typeface="Noto Sans SC" panose="020B0500000000000000" charset="-122"/>
              <a:sym typeface="Noto Sans SC" panose="020B0500000000000000" charset="-122"/>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0F172A">
              <a:alpha val="80000"/>
            </a:srgbClr>
          </a:solidFill>
          <a:ln w="25400" cap="flat" cmpd="sng">
            <a:noFill/>
            <a:prstDash val="solid"/>
            <a:round/>
          </a:ln>
        </p:spPr>
        <p:txBody>
          <a:bodyPr vert="horz" wrap="square" lIns="63500" tIns="63500" rIns="63500" bIns="63500" rtlCol="0" anchor="ctr"/>
          <a:lstStyle/>
          <a:p>
            <a:pPr algn="ctr">
              <a:defRPr/>
            </a:pPr>
          </a:p>
        </p:txBody>
      </p:sp>
      <p:sp>
        <p:nvSpPr>
          <p:cNvPr id="3" name="AutoShape 3"/>
          <p:cNvSpPr/>
          <p:nvPr/>
        </p:nvSpPr>
        <p:spPr>
          <a:xfrm>
            <a:off x="762000" y="635000"/>
            <a:ext cx="106680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3200" b="1" i="0" u="none" strike="noStrike">
                <a:solidFill>
                  <a:srgbClr val="FFFFFF"/>
                </a:solidFill>
                <a:latin typeface="Noto Sans SC" panose="020B0500000000000000" charset="-122"/>
                <a:ea typeface="Noto Sans SC" panose="020B0500000000000000" charset="-122"/>
                <a:cs typeface="Noto Sans SC" panose="020B0500000000000000" charset="-122"/>
                <a:sym typeface="Noto Sans SC" panose="020B0500000000000000" charset="-122"/>
              </a:rPr>
              <a:t>第四阶段：规模化阶段 (Scale Stage)</a:t>
            </a:r>
            <a:endParaRPr lang="en-US" sz="1100"/>
          </a:p>
        </p:txBody>
      </p:sp>
      <p:sp>
        <p:nvSpPr>
          <p:cNvPr id="4" name="AutoShape 4"/>
          <p:cNvSpPr/>
          <p:nvPr/>
        </p:nvSpPr>
        <p:spPr>
          <a:xfrm>
            <a:off x="762000" y="1397000"/>
            <a:ext cx="10668000" cy="889000"/>
          </a:xfrm>
          <a:prstGeom prst="roundRect">
            <a:avLst>
              <a:gd name="adj" fmla="val 14285"/>
            </a:avLst>
          </a:prstGeom>
          <a:solidFill>
            <a:srgbClr val="00E5FF">
              <a:alpha val="10000"/>
            </a:srgbClr>
          </a:solidFill>
          <a:ln w="12700" cap="flat" cmpd="sng">
            <a:solidFill>
              <a:srgbClr val="00E5FF">
                <a:alpha val="30000"/>
              </a:srgbClr>
            </a:solidFill>
            <a:prstDash val="solid"/>
            <a:round/>
          </a:ln>
        </p:spPr>
        <p:txBody>
          <a:bodyPr vert="horz" wrap="square" lIns="304800" tIns="0" rIns="304800" bIns="0" rtlCol="0" anchor="ctr" anchorCtr="0"/>
          <a:lstStyle/>
          <a:p>
            <a:pPr indent="0" algn="ctr">
              <a:lnSpc>
                <a:spcPct val="125000"/>
              </a:lnSpc>
              <a:defRPr/>
            </a:pPr>
            <a:r>
              <a:rPr lang="en-US" sz="1600" b="1" i="0" u="none" strike="noStrike">
                <a:solidFill>
                  <a:srgbClr val="00E5FF"/>
                </a:solidFill>
                <a:latin typeface="Noto Sans SC" panose="020B0500000000000000" charset="-122"/>
                <a:ea typeface="Noto Sans SC" panose="020B0500000000000000" charset="-122"/>
                <a:cs typeface="Noto Sans SC" panose="020B0500000000000000" charset="-122"/>
                <a:sym typeface="Noto Sans SC" panose="020B0500000000000000" charset="-122"/>
              </a:rPr>
              <a:t>阶段目标：</a:t>
            </a:r>
            <a:r>
              <a:rPr lang="en-US" sz="1600" b="0" i="0" u="none" strike="noStrike">
                <a:solidFill>
                  <a:srgbClr val="F1F5F9"/>
                </a:solidFill>
                <a:latin typeface="Noto Sans SC" panose="020B0500000000000000" charset="-122"/>
                <a:ea typeface="Noto Sans SC" panose="020B0500000000000000" charset="-122"/>
                <a:cs typeface="Noto Sans SC" panose="020B0500000000000000" charset="-122"/>
                <a:sym typeface="Noto Sans SC" panose="020B0500000000000000" charset="-122"/>
              </a:rPr>
              <a:t>将公司从“赌注”转变为“可持续的业务”，建立成熟的运营体系与市场壁垒。</a:t>
            </a:r>
            <a:endParaRPr lang="en-US" sz="1100"/>
          </a:p>
        </p:txBody>
      </p:sp>
      <p:sp>
        <p:nvSpPr>
          <p:cNvPr id="5" name="AutoShape 5"/>
          <p:cNvSpPr/>
          <p:nvPr/>
        </p:nvSpPr>
        <p:spPr>
          <a:xfrm>
            <a:off x="762000" y="2667000"/>
            <a:ext cx="3302000" cy="3556000"/>
          </a:xfrm>
          <a:prstGeom prst="roundRect">
            <a:avLst>
              <a:gd name="adj" fmla="val 3846"/>
            </a:avLst>
          </a:prstGeom>
          <a:solidFill>
            <a:srgbClr val="1E293B">
              <a:alpha val="60000"/>
            </a:srgbClr>
          </a:solidFill>
          <a:ln w="12700" cap="flat" cmpd="sng">
            <a:solidFill>
              <a:srgbClr val="FFFFFF">
                <a:alpha val="15000"/>
              </a:srgbClr>
            </a:solidFill>
            <a:prstDash val="solid"/>
            <a:round/>
          </a:ln>
          <a:effectLst>
            <a:outerShdw blurRad="254000" dist="127000" dir="2700000" algn="tl" rotWithShape="0">
              <a:srgbClr val="000000">
                <a:alpha val="30000"/>
              </a:srgbClr>
            </a:outerShdw>
          </a:effectLst>
        </p:spPr>
        <p:txBody>
          <a:bodyPr vert="horz" wrap="square" lIns="63500" tIns="63500" rIns="63500" bIns="63500" rtlCol="0" anchor="ctr"/>
          <a:lstStyle/>
          <a:p>
            <a:pPr algn="ctr">
              <a:defRPr/>
            </a:pPr>
          </a:p>
        </p:txBody>
      </p:sp>
      <p:sp>
        <p:nvSpPr>
          <p:cNvPr id="6" name="AutoShape 6"/>
          <p:cNvSpPr/>
          <p:nvPr/>
        </p:nvSpPr>
        <p:spPr>
          <a:xfrm>
            <a:off x="762000" y="2667000"/>
            <a:ext cx="3302000" cy="50800"/>
          </a:xfrm>
          <a:prstGeom prst="roundRect">
            <a:avLst>
              <a:gd name="adj" fmla="val 0"/>
            </a:avLst>
          </a:prstGeom>
          <a:solidFill>
            <a:srgbClr val="00E5FF">
              <a:alpha val="100000"/>
            </a:srgbClr>
          </a:solidFill>
          <a:ln w="25400" cap="flat" cmpd="sng">
            <a:noFill/>
            <a:prstDash val="solid"/>
            <a:round/>
          </a:ln>
        </p:spPr>
        <p:txBody>
          <a:bodyPr vert="horz" wrap="square" lIns="63500" tIns="63500" rIns="63500" bIns="63500" rtlCol="0" anchor="ctr"/>
          <a:lstStyle/>
          <a:p>
            <a:pPr algn="ctr">
              <a:defRPr/>
            </a:pPr>
          </a:p>
        </p:txBody>
      </p:sp>
      <p:sp>
        <p:nvSpPr>
          <p:cNvPr id="7" name="AutoShape 7"/>
          <p:cNvSpPr/>
          <p:nvPr/>
        </p:nvSpPr>
        <p:spPr>
          <a:xfrm>
            <a:off x="1066800" y="2971800"/>
            <a:ext cx="609600" cy="609600"/>
          </a:xfrm>
          <a:prstGeom prst="ellipse">
            <a:avLst/>
          </a:prstGeom>
          <a:solidFill>
            <a:srgbClr val="00E5FF">
              <a:alpha val="15000"/>
            </a:srgbClr>
          </a:solidFill>
          <a:ln w="25400" cap="flat" cmpd="sng">
            <a:noFill/>
            <a:prstDash val="solid"/>
            <a:round/>
          </a:ln>
        </p:spPr>
        <p:txBody>
          <a:bodyPr vert="horz" wrap="square" lIns="63500" tIns="63500" rIns="63500" bIns="63500" rtlCol="0" anchor="ctr"/>
          <a:lstStyle/>
          <a:p>
            <a:pPr algn="ctr">
              <a:defRPr/>
            </a:pPr>
          </a:p>
        </p:txBody>
      </p:sp>
      <p:pic>
        <p:nvPicPr>
          <p:cNvPr id="8" name="Picture 8"/>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219200" y="3124200"/>
            <a:ext cx="304800" cy="304800"/>
          </a:xfrm>
          <a:prstGeom prst="rect">
            <a:avLst/>
          </a:prstGeom>
        </p:spPr>
      </p:pic>
      <p:sp>
        <p:nvSpPr>
          <p:cNvPr id="9" name="AutoShape 9"/>
          <p:cNvSpPr/>
          <p:nvPr/>
        </p:nvSpPr>
        <p:spPr>
          <a:xfrm>
            <a:off x="1066800" y="3784600"/>
            <a:ext cx="26924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FFFFFF"/>
                </a:solidFill>
                <a:latin typeface="Noto Sans SC" panose="020B0500000000000000" charset="-122"/>
                <a:ea typeface="Noto Sans SC" panose="020B0500000000000000" charset="-122"/>
                <a:cs typeface="Noto Sans SC" panose="020B0500000000000000" charset="-122"/>
                <a:sym typeface="Noto Sans SC" panose="020B0500000000000000" charset="-122"/>
              </a:rPr>
              <a:t>构建系统性增长</a:t>
            </a:r>
            <a:endParaRPr lang="en-US" sz="1100"/>
          </a:p>
        </p:txBody>
      </p:sp>
      <p:sp>
        <p:nvSpPr>
          <p:cNvPr id="10" name="AutoShape 10"/>
          <p:cNvSpPr/>
          <p:nvPr/>
        </p:nvSpPr>
        <p:spPr>
          <a:xfrm>
            <a:off x="1066800" y="4292600"/>
            <a:ext cx="2692400" cy="1524000"/>
          </a:xfrm>
          <a:prstGeom prst="rect">
            <a:avLst/>
          </a:prstGeom>
          <a:noFill/>
          <a:ln w="12700" cap="flat" cmpd="sng">
            <a:noFill/>
            <a:prstDash val="solid"/>
            <a:round/>
          </a:ln>
        </p:spPr>
        <p:txBody>
          <a:bodyPr vert="horz" wrap="square" lIns="0" tIns="0" rIns="0" bIns="0" rtlCol="0" anchor="t" anchorCtr="0"/>
          <a:lstStyle/>
          <a:p>
            <a:pPr indent="0" algn="l">
              <a:lnSpc>
                <a:spcPct val="125000"/>
              </a:lnSpc>
              <a:defRPr/>
            </a:pPr>
            <a:r>
              <a:rPr lang="en-US" sz="1300" b="0" i="0" u="none" strike="noStrike">
                <a:solidFill>
                  <a:srgbClr val="CBD5E1"/>
                </a:solidFill>
                <a:latin typeface="Noto Sans SC" panose="020B0500000000000000" charset="-122"/>
                <a:ea typeface="Noto Sans SC" panose="020B0500000000000000" charset="-122"/>
                <a:cs typeface="Noto Sans SC" panose="020B0500000000000000" charset="-122"/>
                <a:sym typeface="Noto Sans SC" panose="020B0500000000000000" charset="-122"/>
              </a:rPr>
              <a:t>告别依赖直觉的粗放式增长，转向依靠成熟组织运营的系统性增长模式，实现业务规模的可预测、可复制扩张。</a:t>
            </a:r>
            <a:endParaRPr lang="en-US" sz="1100"/>
          </a:p>
        </p:txBody>
      </p:sp>
      <p:sp>
        <p:nvSpPr>
          <p:cNvPr id="11" name="AutoShape 11"/>
          <p:cNvSpPr/>
          <p:nvPr/>
        </p:nvSpPr>
        <p:spPr>
          <a:xfrm>
            <a:off x="4445000" y="2667000"/>
            <a:ext cx="3302000" cy="3556000"/>
          </a:xfrm>
          <a:prstGeom prst="roundRect">
            <a:avLst>
              <a:gd name="adj" fmla="val 3846"/>
            </a:avLst>
          </a:prstGeom>
          <a:solidFill>
            <a:srgbClr val="1E293B">
              <a:alpha val="60000"/>
            </a:srgbClr>
          </a:solidFill>
          <a:ln w="12700" cap="flat" cmpd="sng">
            <a:solidFill>
              <a:srgbClr val="FFFFFF">
                <a:alpha val="15000"/>
              </a:srgbClr>
            </a:solidFill>
            <a:prstDash val="solid"/>
            <a:round/>
          </a:ln>
          <a:effectLst>
            <a:outerShdw blurRad="254000" dist="127000" dir="2700000" algn="tl" rotWithShape="0">
              <a:srgbClr val="000000">
                <a:alpha val="30000"/>
              </a:srgbClr>
            </a:outerShdw>
          </a:effectLst>
        </p:spPr>
        <p:txBody>
          <a:bodyPr vert="horz" wrap="square" lIns="63500" tIns="63500" rIns="63500" bIns="63500" rtlCol="0" anchor="ctr"/>
          <a:lstStyle/>
          <a:p>
            <a:pPr algn="ctr">
              <a:defRPr/>
            </a:pPr>
          </a:p>
        </p:txBody>
      </p:sp>
      <p:sp>
        <p:nvSpPr>
          <p:cNvPr id="12" name="AutoShape 12"/>
          <p:cNvSpPr/>
          <p:nvPr/>
        </p:nvSpPr>
        <p:spPr>
          <a:xfrm>
            <a:off x="4445000" y="2667000"/>
            <a:ext cx="3302000" cy="50800"/>
          </a:xfrm>
          <a:prstGeom prst="roundRect">
            <a:avLst>
              <a:gd name="adj" fmla="val 0"/>
            </a:avLst>
          </a:prstGeom>
          <a:solidFill>
            <a:srgbClr val="00E5FF">
              <a:alpha val="100000"/>
            </a:srgbClr>
          </a:solidFill>
          <a:ln w="25400" cap="flat" cmpd="sng">
            <a:noFill/>
            <a:prstDash val="solid"/>
            <a:round/>
          </a:ln>
        </p:spPr>
        <p:txBody>
          <a:bodyPr vert="horz" wrap="square" lIns="63500" tIns="63500" rIns="63500" bIns="63500" rtlCol="0" anchor="ctr"/>
          <a:lstStyle/>
          <a:p>
            <a:pPr algn="ctr">
              <a:defRPr/>
            </a:pPr>
          </a:p>
        </p:txBody>
      </p:sp>
      <p:sp>
        <p:nvSpPr>
          <p:cNvPr id="13" name="AutoShape 13"/>
          <p:cNvSpPr/>
          <p:nvPr/>
        </p:nvSpPr>
        <p:spPr>
          <a:xfrm>
            <a:off x="4749800" y="2971800"/>
            <a:ext cx="609600" cy="609600"/>
          </a:xfrm>
          <a:prstGeom prst="ellipse">
            <a:avLst/>
          </a:prstGeom>
          <a:solidFill>
            <a:srgbClr val="00E5FF">
              <a:alpha val="15000"/>
            </a:srgbClr>
          </a:solidFill>
          <a:ln w="25400" cap="flat" cmpd="sng">
            <a:noFill/>
            <a:prstDash val="solid"/>
            <a:round/>
          </a:ln>
        </p:spPr>
        <p:txBody>
          <a:bodyPr vert="horz" wrap="square" lIns="63500" tIns="63500" rIns="63500" bIns="63500" rtlCol="0" anchor="ctr"/>
          <a:lstStyle/>
          <a:p>
            <a:pPr algn="ctr">
              <a:defRPr/>
            </a:pPr>
          </a:p>
        </p:txBody>
      </p:sp>
      <p:pic>
        <p:nvPicPr>
          <p:cNvPr id="14" name="Picture 14"/>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4902200" y="3124200"/>
            <a:ext cx="304800" cy="304800"/>
          </a:xfrm>
          <a:prstGeom prst="rect">
            <a:avLst/>
          </a:prstGeom>
        </p:spPr>
      </p:pic>
      <p:sp>
        <p:nvSpPr>
          <p:cNvPr id="15" name="AutoShape 15"/>
          <p:cNvSpPr/>
          <p:nvPr/>
        </p:nvSpPr>
        <p:spPr>
          <a:xfrm>
            <a:off x="4749800" y="3784600"/>
            <a:ext cx="26924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FFFFFF"/>
                </a:solidFill>
                <a:latin typeface="Noto Sans SC" panose="020B0500000000000000" charset="-122"/>
                <a:ea typeface="Noto Sans SC" panose="020B0500000000000000" charset="-122"/>
                <a:cs typeface="Noto Sans SC" panose="020B0500000000000000" charset="-122"/>
                <a:sym typeface="Noto Sans SC" panose="020B0500000000000000" charset="-122"/>
              </a:rPr>
              <a:t>构建防御性护城河</a:t>
            </a:r>
            <a:endParaRPr lang="en-US" sz="1100"/>
          </a:p>
        </p:txBody>
      </p:sp>
      <p:sp>
        <p:nvSpPr>
          <p:cNvPr id="16" name="AutoShape 16"/>
          <p:cNvSpPr/>
          <p:nvPr/>
        </p:nvSpPr>
        <p:spPr>
          <a:xfrm>
            <a:off x="4749800" y="4292600"/>
            <a:ext cx="2692400" cy="1524000"/>
          </a:xfrm>
          <a:prstGeom prst="rect">
            <a:avLst/>
          </a:prstGeom>
          <a:noFill/>
          <a:ln w="12700" cap="flat" cmpd="sng">
            <a:noFill/>
            <a:prstDash val="solid"/>
            <a:round/>
          </a:ln>
        </p:spPr>
        <p:txBody>
          <a:bodyPr vert="horz" wrap="square" lIns="0" tIns="0" rIns="0" bIns="0" rtlCol="0" anchor="t" anchorCtr="0"/>
          <a:lstStyle/>
          <a:p>
            <a:pPr indent="0" algn="l">
              <a:lnSpc>
                <a:spcPct val="125000"/>
              </a:lnSpc>
              <a:defRPr/>
            </a:pPr>
            <a:r>
              <a:rPr lang="en-US" sz="1300" b="0" i="0" u="none" strike="noStrike">
                <a:solidFill>
                  <a:srgbClr val="CBD5E1"/>
                </a:solidFill>
                <a:latin typeface="Noto Sans SC" panose="020B0500000000000000" charset="-122"/>
                <a:ea typeface="Noto Sans SC" panose="020B0500000000000000" charset="-122"/>
                <a:cs typeface="Noto Sans SC" panose="020B0500000000000000" charset="-122"/>
                <a:sym typeface="Noto Sans SC" panose="020B0500000000000000" charset="-122"/>
              </a:rPr>
              <a:t>利用积累的产品深度、与用户核心工具的深度集成，以及专有的系统数据和工作流，建立难以被复制的竞争壁垒，巩固市场领先地位。</a:t>
            </a:r>
            <a:endParaRPr lang="en-US" sz="1100"/>
          </a:p>
        </p:txBody>
      </p:sp>
      <p:sp>
        <p:nvSpPr>
          <p:cNvPr id="17" name="AutoShape 17"/>
          <p:cNvSpPr/>
          <p:nvPr/>
        </p:nvSpPr>
        <p:spPr>
          <a:xfrm>
            <a:off x="8128000" y="2667000"/>
            <a:ext cx="3302000" cy="3556000"/>
          </a:xfrm>
          <a:prstGeom prst="roundRect">
            <a:avLst>
              <a:gd name="adj" fmla="val 3846"/>
            </a:avLst>
          </a:prstGeom>
          <a:solidFill>
            <a:srgbClr val="1E293B">
              <a:alpha val="60000"/>
            </a:srgbClr>
          </a:solidFill>
          <a:ln w="12700" cap="flat" cmpd="sng">
            <a:solidFill>
              <a:srgbClr val="FFFFFF">
                <a:alpha val="15000"/>
              </a:srgbClr>
            </a:solidFill>
            <a:prstDash val="solid"/>
            <a:round/>
          </a:ln>
          <a:effectLst>
            <a:outerShdw blurRad="254000" dist="127000" dir="2700000" algn="tl" rotWithShape="0">
              <a:srgbClr val="000000">
                <a:alpha val="30000"/>
              </a:srgbClr>
            </a:outerShdw>
          </a:effectLst>
        </p:spPr>
        <p:txBody>
          <a:bodyPr vert="horz" wrap="square" lIns="63500" tIns="63500" rIns="63500" bIns="63500" rtlCol="0" anchor="ctr"/>
          <a:lstStyle/>
          <a:p>
            <a:pPr algn="ctr">
              <a:defRPr/>
            </a:pPr>
          </a:p>
        </p:txBody>
      </p:sp>
      <p:sp>
        <p:nvSpPr>
          <p:cNvPr id="18" name="AutoShape 18"/>
          <p:cNvSpPr/>
          <p:nvPr/>
        </p:nvSpPr>
        <p:spPr>
          <a:xfrm>
            <a:off x="8128000" y="2667000"/>
            <a:ext cx="3302000" cy="50800"/>
          </a:xfrm>
          <a:prstGeom prst="roundRect">
            <a:avLst>
              <a:gd name="adj" fmla="val 0"/>
            </a:avLst>
          </a:prstGeom>
          <a:solidFill>
            <a:srgbClr val="00E5FF">
              <a:alpha val="100000"/>
            </a:srgbClr>
          </a:solidFill>
          <a:ln w="25400" cap="flat" cmpd="sng">
            <a:noFill/>
            <a:prstDash val="solid"/>
            <a:round/>
          </a:ln>
        </p:spPr>
        <p:txBody>
          <a:bodyPr vert="horz" wrap="square" lIns="63500" tIns="63500" rIns="63500" bIns="63500" rtlCol="0" anchor="ctr"/>
          <a:lstStyle/>
          <a:p>
            <a:pPr algn="ctr">
              <a:defRPr/>
            </a:pPr>
          </a:p>
        </p:txBody>
      </p:sp>
      <p:sp>
        <p:nvSpPr>
          <p:cNvPr id="19" name="AutoShape 19"/>
          <p:cNvSpPr/>
          <p:nvPr/>
        </p:nvSpPr>
        <p:spPr>
          <a:xfrm>
            <a:off x="8432800" y="2971800"/>
            <a:ext cx="609600" cy="609600"/>
          </a:xfrm>
          <a:prstGeom prst="ellipse">
            <a:avLst/>
          </a:prstGeom>
          <a:solidFill>
            <a:srgbClr val="00E5FF">
              <a:alpha val="15000"/>
            </a:srgbClr>
          </a:solidFill>
          <a:ln w="25400" cap="flat" cmpd="sng">
            <a:noFill/>
            <a:prstDash val="solid"/>
            <a:round/>
          </a:ln>
        </p:spPr>
        <p:txBody>
          <a:bodyPr vert="horz" wrap="square" lIns="63500" tIns="63500" rIns="63500" bIns="63500" rtlCol="0" anchor="ctr"/>
          <a:lstStyle/>
          <a:p>
            <a:pPr algn="ctr">
              <a:defRPr/>
            </a:pPr>
          </a:p>
        </p:txBody>
      </p:sp>
      <p:pic>
        <p:nvPicPr>
          <p:cNvPr id="20" name="Picture 20"/>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8585200" y="3124200"/>
            <a:ext cx="304800" cy="304800"/>
          </a:xfrm>
          <a:prstGeom prst="rect">
            <a:avLst/>
          </a:prstGeom>
        </p:spPr>
      </p:pic>
      <p:sp>
        <p:nvSpPr>
          <p:cNvPr id="21" name="AutoShape 21"/>
          <p:cNvSpPr/>
          <p:nvPr/>
        </p:nvSpPr>
        <p:spPr>
          <a:xfrm>
            <a:off x="8432800" y="3784600"/>
            <a:ext cx="26924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FFFFFF"/>
                </a:solidFill>
                <a:latin typeface="Noto Sans SC" panose="020B0500000000000000" charset="-122"/>
                <a:ea typeface="Noto Sans SC" panose="020B0500000000000000" charset="-122"/>
                <a:cs typeface="Noto Sans SC" panose="020B0500000000000000" charset="-122"/>
                <a:sym typeface="Noto Sans SC" panose="020B0500000000000000" charset="-122"/>
              </a:rPr>
              <a:t>承受外部审视</a:t>
            </a:r>
            <a:endParaRPr lang="en-US" sz="1100"/>
          </a:p>
        </p:txBody>
      </p:sp>
      <p:sp>
        <p:nvSpPr>
          <p:cNvPr id="22" name="AutoShape 22"/>
          <p:cNvSpPr/>
          <p:nvPr/>
        </p:nvSpPr>
        <p:spPr>
          <a:xfrm>
            <a:off x="8432800" y="4292600"/>
            <a:ext cx="2692400" cy="1524000"/>
          </a:xfrm>
          <a:prstGeom prst="rect">
            <a:avLst/>
          </a:prstGeom>
          <a:noFill/>
          <a:ln w="12700" cap="flat" cmpd="sng">
            <a:noFill/>
            <a:prstDash val="solid"/>
            <a:round/>
          </a:ln>
        </p:spPr>
        <p:txBody>
          <a:bodyPr vert="horz" wrap="square" lIns="0" tIns="0" rIns="0" bIns="0" rtlCol="0" anchor="t" anchorCtr="0"/>
          <a:lstStyle/>
          <a:p>
            <a:pPr indent="0" algn="l">
              <a:lnSpc>
                <a:spcPct val="125000"/>
              </a:lnSpc>
              <a:defRPr/>
            </a:pPr>
            <a:r>
              <a:rPr lang="en-US" sz="1300" b="0" i="0" u="none" strike="noStrike">
                <a:solidFill>
                  <a:srgbClr val="CBD5E1"/>
                </a:solidFill>
                <a:latin typeface="Noto Sans SC" panose="020B0500000000000000" charset="-122"/>
                <a:ea typeface="Noto Sans SC" panose="020B0500000000000000" charset="-122"/>
                <a:cs typeface="Noto Sans SC" panose="020B0500000000000000" charset="-122"/>
                <a:sym typeface="Noto Sans SC" panose="020B0500000000000000" charset="-122"/>
              </a:rPr>
              <a:t>建立完善的治理结构、合规体系与财务控制，打磨清晰的战略叙事，满足投资者、分析师及企业客户的高标准要求。</a:t>
            </a:r>
            <a:endParaRPr lang="en-US" sz="110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000000">
              <a:alpha val="80000"/>
            </a:srgbClr>
          </a:solidFill>
          <a:ln w="25400" cap="flat" cmpd="sng">
            <a:noFill/>
            <a:prstDash val="solid"/>
            <a:round/>
          </a:ln>
        </p:spPr>
        <p:txBody>
          <a:bodyPr vert="horz" wrap="square" lIns="63500" tIns="63500" rIns="63500" bIns="63500" rtlCol="0" anchor="ctr"/>
          <a:lstStyle/>
          <a:p>
            <a:pPr algn="ctr">
              <a:defRPr/>
            </a:pPr>
          </a:p>
        </p:txBody>
      </p:sp>
      <p:sp>
        <p:nvSpPr>
          <p:cNvPr id="3" name="AutoShape 3"/>
          <p:cNvSpPr/>
          <p:nvPr/>
        </p:nvSpPr>
        <p:spPr>
          <a:xfrm>
            <a:off x="762000" y="635000"/>
            <a:ext cx="106680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3200" b="1" i="0" u="none" strike="noStrike">
                <a:solidFill>
                  <a:srgbClr val="FFFFFF"/>
                </a:solidFill>
                <a:latin typeface="Noto Sans SC" panose="020B0500000000000000" charset="-122"/>
                <a:ea typeface="Noto Sans SC" panose="020B0500000000000000" charset="-122"/>
                <a:cs typeface="Noto Sans SC" panose="020B0500000000000000" charset="-122"/>
                <a:sym typeface="Noto Sans SC" panose="020B0500000000000000" charset="-122"/>
              </a:rPr>
              <a:t>何时达到规模化阶段的终点？</a:t>
            </a:r>
            <a:endParaRPr lang="en-US" sz="1100"/>
          </a:p>
        </p:txBody>
      </p:sp>
      <p:sp>
        <p:nvSpPr>
          <p:cNvPr id="4" name="AutoShape 4"/>
          <p:cNvSpPr/>
          <p:nvPr/>
        </p:nvSpPr>
        <p:spPr>
          <a:xfrm>
            <a:off x="762000" y="1397000"/>
            <a:ext cx="10668000" cy="889000"/>
          </a:xfrm>
          <a:prstGeom prst="roundRect">
            <a:avLst>
              <a:gd name="adj" fmla="val 11428"/>
            </a:avLst>
          </a:prstGeom>
          <a:solidFill>
            <a:srgbClr val="00E5FF">
              <a:alpha val="10000"/>
            </a:srgbClr>
          </a:solidFill>
          <a:ln w="12700" cap="flat" cmpd="sng">
            <a:solidFill>
              <a:srgbClr val="00E5FF">
                <a:alpha val="40000"/>
              </a:srgbClr>
            </a:solidFill>
            <a:prstDash val="solid"/>
            <a:round/>
          </a:ln>
        </p:spPr>
        <p:txBody>
          <a:bodyPr vert="horz" wrap="square" lIns="254000" tIns="0" rIns="254000" bIns="0" rtlCol="0" anchor="ctr" anchorCtr="0"/>
          <a:lstStyle/>
          <a:p>
            <a:pPr indent="0" algn="ctr">
              <a:lnSpc>
                <a:spcPct val="125000"/>
              </a:lnSpc>
              <a:defRPr/>
            </a:pPr>
            <a:r>
              <a:rPr lang="en-US" sz="1600" b="1" i="0" u="none" strike="noStrike">
                <a:solidFill>
                  <a:srgbClr val="00E5FF"/>
                </a:solidFill>
                <a:latin typeface="Noto Sans SC" panose="020B0500000000000000" charset="-122"/>
                <a:ea typeface="Noto Sans SC" panose="020B0500000000000000" charset="-122"/>
                <a:cs typeface="Noto Sans SC" panose="020B0500000000000000" charset="-122"/>
                <a:sym typeface="Noto Sans SC" panose="020B0500000000000000" charset="-122"/>
              </a:rPr>
              <a:t>退出条件：</a:t>
            </a:r>
            <a:r>
              <a:rPr lang="en-US" sz="1400" b="0" i="0" u="none" strike="noStrike">
                <a:solidFill>
                  <a:srgbClr val="E6F5FF"/>
                </a:solidFill>
                <a:latin typeface="Noto Sans SC" panose="020B0500000000000000" charset="-122"/>
                <a:ea typeface="Noto Sans SC" panose="020B0500000000000000" charset="-122"/>
                <a:cs typeface="Noto Sans SC" panose="020B0500000000000000" charset="-122"/>
                <a:sym typeface="Noto Sans SC" panose="020B0500000000000000" charset="-122"/>
              </a:rPr>
              <a:t>公司在创始人不直接参与日常运营的情况下仍能可持续发展。</a:t>
            </a:r>
            <a:endParaRPr lang="en-US" sz="1100"/>
          </a:p>
        </p:txBody>
      </p:sp>
      <p:sp>
        <p:nvSpPr>
          <p:cNvPr id="5" name="AutoShape 5"/>
          <p:cNvSpPr/>
          <p:nvPr/>
        </p:nvSpPr>
        <p:spPr>
          <a:xfrm>
            <a:off x="762000" y="2540000"/>
            <a:ext cx="5207000" cy="3937000"/>
          </a:xfrm>
          <a:prstGeom prst="roundRect">
            <a:avLst>
              <a:gd name="adj" fmla="val 3870"/>
            </a:avLst>
          </a:prstGeom>
          <a:solidFill>
            <a:srgbClr val="FFFFFF">
              <a:alpha val="8000"/>
            </a:srgbClr>
          </a:solidFill>
          <a:ln w="12700" cap="flat" cmpd="sng">
            <a:solidFill>
              <a:srgbClr val="FFFFFF">
                <a:alpha val="15000"/>
              </a:srgbClr>
            </a:solidFill>
            <a:prstDash val="solid"/>
            <a:round/>
          </a:ln>
        </p:spPr>
        <p:txBody>
          <a:bodyPr vert="horz" wrap="square" lIns="63500" tIns="63500" rIns="63500" bIns="63500" rtlCol="0" anchor="ctr"/>
          <a:lstStyle/>
          <a:p>
            <a:pPr algn="ctr">
              <a:defRPr/>
            </a:pPr>
          </a:p>
        </p:txBody>
      </p:sp>
      <p:pic>
        <p:nvPicPr>
          <p:cNvPr id="6" name="Picture 6"/>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066800" y="2844800"/>
            <a:ext cx="304800" cy="304800"/>
          </a:xfrm>
          <a:prstGeom prst="rect">
            <a:avLst/>
          </a:prstGeom>
        </p:spPr>
      </p:pic>
      <p:sp>
        <p:nvSpPr>
          <p:cNvPr id="7" name="AutoShape 7"/>
          <p:cNvSpPr/>
          <p:nvPr/>
        </p:nvSpPr>
        <p:spPr>
          <a:xfrm>
            <a:off x="1473200" y="2819400"/>
            <a:ext cx="3810000" cy="3556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FFFFFF"/>
                </a:solidFill>
                <a:latin typeface="Noto Sans SC" panose="020B0500000000000000" charset="-122"/>
                <a:ea typeface="Noto Sans SC" panose="020B0500000000000000" charset="-122"/>
                <a:cs typeface="Noto Sans SC" panose="020B0500000000000000" charset="-122"/>
                <a:sym typeface="Noto Sans SC" panose="020B0500000000000000" charset="-122"/>
              </a:rPr>
              <a:t>具体表现特征</a:t>
            </a:r>
            <a:endParaRPr lang="en-US" sz="1100"/>
          </a:p>
        </p:txBody>
      </p:sp>
      <p:cxnSp>
        <p:nvCxnSpPr>
          <p:cNvPr id="8" name="Connector 8"/>
          <p:cNvCxnSpPr/>
          <p:nvPr/>
        </p:nvCxnSpPr>
        <p:spPr>
          <a:xfrm rot="-9496">
            <a:off x="1066809" y="3295650"/>
            <a:ext cx="4597400" cy="12700"/>
          </a:xfrm>
          <a:prstGeom prst="straightConnector1">
            <a:avLst/>
          </a:prstGeom>
          <a:solidFill>
            <a:srgbClr val="DEE0E3">
              <a:alpha val="100000"/>
            </a:srgbClr>
          </a:solidFill>
          <a:ln w="12700" cap="flat" cmpd="sng">
            <a:solidFill>
              <a:srgbClr val="FFFFFF">
                <a:alpha val="15000"/>
              </a:srgbClr>
            </a:solidFill>
            <a:prstDash val="solid"/>
            <a:round/>
            <a:headEnd type="none" w="med" len="med"/>
            <a:tailEnd type="none" w="med" len="med"/>
          </a:ln>
        </p:spPr>
      </p:cxnSp>
      <p:sp>
        <p:nvSpPr>
          <p:cNvPr id="9" name="AutoShape 9"/>
          <p:cNvSpPr/>
          <p:nvPr/>
        </p:nvSpPr>
        <p:spPr>
          <a:xfrm>
            <a:off x="1066800" y="3556000"/>
            <a:ext cx="4597400" cy="762000"/>
          </a:xfrm>
          <a:prstGeom prst="rect">
            <a:avLst/>
          </a:prstGeom>
          <a:noFill/>
          <a:ln w="12700" cap="flat" cmpd="sng">
            <a:noFill/>
            <a:prstDash val="solid"/>
            <a:round/>
          </a:ln>
        </p:spPr>
        <p:txBody>
          <a:bodyPr vert="horz" wrap="square" lIns="0" tIns="0" rIns="0" bIns="0" rtlCol="0" anchor="t" anchorCtr="0"/>
          <a:lstStyle/>
          <a:p>
            <a:pPr indent="0" algn="l">
              <a:lnSpc>
                <a:spcPct val="108000"/>
              </a:lnSpc>
              <a:defRPr/>
            </a:pPr>
            <a:r>
              <a:rPr lang="en-US" sz="1400" b="1" i="0" u="none" strike="noStrike">
                <a:solidFill>
                  <a:srgbClr val="00E5FF"/>
                </a:solidFill>
                <a:latin typeface="Noto Sans SC" panose="020B0500000000000000" charset="-122"/>
                <a:ea typeface="Noto Sans SC" panose="020B0500000000000000" charset="-122"/>
                <a:cs typeface="Noto Sans SC" panose="020B0500000000000000" charset="-122"/>
                <a:sym typeface="Noto Sans SC" panose="020B0500000000000000" charset="-122"/>
              </a:rPr>
              <a:t>01. 系统性增长</a:t>
            </a:r>
            <a:br>
              <a:rPr lang="en-US" sz="1600" b="0" i="0" u="none" strike="noStrike">
                <a:solidFill>
                  <a:srgbClr val="1F2329"/>
                </a:solidFill>
                <a:latin typeface="Noto Sans SC" panose="020B0500000000000000" charset="-122"/>
                <a:ea typeface="Noto Sans SC" panose="020B0500000000000000" charset="-122"/>
                <a:cs typeface="Noto Sans SC" panose="020B0500000000000000" charset="-122"/>
                <a:sym typeface="Noto Sans SC" panose="020B0500000000000000" charset="-122"/>
              </a:rPr>
            </a:br>
            <a:r>
              <a:rPr lang="en-US" sz="1200" b="0" i="0" u="none" strike="noStrike">
                <a:solidFill>
                  <a:srgbClr val="C8D7E6"/>
                </a:solidFill>
                <a:latin typeface="Noto Sans SC" panose="020B0500000000000000" charset="-122"/>
                <a:ea typeface="Noto Sans SC" panose="020B0500000000000000" charset="-122"/>
                <a:cs typeface="Noto Sans SC" panose="020B0500000000000000" charset="-122"/>
                <a:sym typeface="Noto Sans SC" panose="020B0500000000000000" charset="-122"/>
              </a:rPr>
              <a:t>业务增长不再依赖单点突破，而是基于体系化运营，结果具备高度可预测性与可审计性。</a:t>
            </a:r>
            <a:endParaRPr lang="en-US" sz="1100"/>
          </a:p>
        </p:txBody>
      </p:sp>
      <p:sp>
        <p:nvSpPr>
          <p:cNvPr id="10" name="AutoShape 10"/>
          <p:cNvSpPr/>
          <p:nvPr/>
        </p:nvSpPr>
        <p:spPr>
          <a:xfrm>
            <a:off x="1066800" y="4445000"/>
            <a:ext cx="4597400" cy="889000"/>
          </a:xfrm>
          <a:prstGeom prst="rect">
            <a:avLst/>
          </a:prstGeom>
          <a:noFill/>
          <a:ln w="12700" cap="flat" cmpd="sng">
            <a:noFill/>
            <a:prstDash val="solid"/>
            <a:round/>
          </a:ln>
        </p:spPr>
        <p:txBody>
          <a:bodyPr vert="horz" wrap="square" lIns="0" tIns="0" rIns="0" bIns="0" rtlCol="0" anchor="t" anchorCtr="0"/>
          <a:lstStyle/>
          <a:p>
            <a:pPr indent="0" algn="l">
              <a:lnSpc>
                <a:spcPct val="108000"/>
              </a:lnSpc>
              <a:defRPr/>
            </a:pPr>
            <a:r>
              <a:rPr lang="en-US" sz="1400" b="1" i="0" u="none" strike="noStrike">
                <a:solidFill>
                  <a:srgbClr val="00E5FF"/>
                </a:solidFill>
                <a:latin typeface="Noto Sans SC" panose="020B0500000000000000" charset="-122"/>
                <a:ea typeface="Noto Sans SC" panose="020B0500000000000000" charset="-122"/>
                <a:cs typeface="Noto Sans SC" panose="020B0500000000000000" charset="-122"/>
                <a:sym typeface="Noto Sans SC" panose="020B0500000000000000" charset="-122"/>
              </a:rPr>
              <a:t>02. 坚固的护城河</a:t>
            </a:r>
            <a:br>
              <a:rPr lang="en-US" sz="1600" b="0" i="0" u="none" strike="noStrike">
                <a:solidFill>
                  <a:srgbClr val="1F2329"/>
                </a:solidFill>
                <a:latin typeface="Noto Sans SC" panose="020B0500000000000000" charset="-122"/>
                <a:ea typeface="Noto Sans SC" panose="020B0500000000000000" charset="-122"/>
                <a:cs typeface="Noto Sans SC" panose="020B0500000000000000" charset="-122"/>
                <a:sym typeface="Noto Sans SC" panose="020B0500000000000000" charset="-122"/>
              </a:rPr>
            </a:br>
            <a:r>
              <a:rPr lang="en-US" sz="1200" b="0" i="0" u="none" strike="noStrike">
                <a:solidFill>
                  <a:srgbClr val="C8D7E6"/>
                </a:solidFill>
                <a:latin typeface="Noto Sans SC" panose="020B0500000000000000" charset="-122"/>
                <a:ea typeface="Noto Sans SC" panose="020B0500000000000000" charset="-122"/>
                <a:cs typeface="Noto Sans SC" panose="020B0500000000000000" charset="-122"/>
                <a:sym typeface="Noto Sans SC" panose="020B0500000000000000" charset="-122"/>
              </a:rPr>
              <a:t>已建立难以复制的竞争壁垒，能够从容应对“资金充足的巨头复制产品”的极端挑战，确保用户留存。</a:t>
            </a:r>
            <a:endParaRPr lang="en-US" sz="1100"/>
          </a:p>
        </p:txBody>
      </p:sp>
      <p:sp>
        <p:nvSpPr>
          <p:cNvPr id="11" name="AutoShape 11"/>
          <p:cNvSpPr/>
          <p:nvPr/>
        </p:nvSpPr>
        <p:spPr>
          <a:xfrm>
            <a:off x="1066800" y="5461000"/>
            <a:ext cx="4597400" cy="762000"/>
          </a:xfrm>
          <a:prstGeom prst="rect">
            <a:avLst/>
          </a:prstGeom>
          <a:noFill/>
          <a:ln w="12700" cap="flat" cmpd="sng">
            <a:noFill/>
            <a:prstDash val="solid"/>
            <a:round/>
          </a:ln>
        </p:spPr>
        <p:txBody>
          <a:bodyPr vert="horz" wrap="square" lIns="0" tIns="0" rIns="0" bIns="0" rtlCol="0" anchor="t" anchorCtr="0"/>
          <a:lstStyle/>
          <a:p>
            <a:pPr indent="0" algn="l">
              <a:lnSpc>
                <a:spcPct val="108000"/>
              </a:lnSpc>
              <a:defRPr/>
            </a:pPr>
            <a:r>
              <a:rPr lang="en-US" sz="1400" b="1" i="0" u="none" strike="noStrike">
                <a:solidFill>
                  <a:srgbClr val="00E5FF"/>
                </a:solidFill>
                <a:latin typeface="Noto Sans SC" panose="020B0500000000000000" charset="-122"/>
                <a:ea typeface="Noto Sans SC" panose="020B0500000000000000" charset="-122"/>
                <a:cs typeface="Noto Sans SC" panose="020B0500000000000000" charset="-122"/>
                <a:sym typeface="Noto Sans SC" panose="020B0500000000000000" charset="-122"/>
              </a:rPr>
              <a:t>03. 运营成熟化</a:t>
            </a:r>
            <a:br>
              <a:rPr lang="en-US" sz="1600" b="0" i="0" u="none" strike="noStrike">
                <a:solidFill>
                  <a:srgbClr val="1F2329"/>
                </a:solidFill>
                <a:latin typeface="Noto Sans SC" panose="020B0500000000000000" charset="-122"/>
                <a:ea typeface="Noto Sans SC" panose="020B0500000000000000" charset="-122"/>
                <a:cs typeface="Noto Sans SC" panose="020B0500000000000000" charset="-122"/>
                <a:sym typeface="Noto Sans SC" panose="020B0500000000000000" charset="-122"/>
              </a:rPr>
            </a:br>
            <a:r>
              <a:rPr lang="en-US" sz="1200" b="0" i="0" u="none" strike="noStrike">
                <a:solidFill>
                  <a:srgbClr val="C8D7E6"/>
                </a:solidFill>
                <a:latin typeface="Noto Sans SC" panose="020B0500000000000000" charset="-122"/>
                <a:ea typeface="Noto Sans SC" panose="020B0500000000000000" charset="-122"/>
                <a:cs typeface="Noto Sans SC" panose="020B0500000000000000" charset="-122"/>
                <a:sym typeface="Noto Sans SC" panose="020B0500000000000000" charset="-122"/>
              </a:rPr>
              <a:t>组织架构与管理流程已实现标准化与专业化，具备长期、稳定、可持续的运营与自我迭代能力。</a:t>
            </a:r>
            <a:endParaRPr lang="en-US" sz="1100"/>
          </a:p>
        </p:txBody>
      </p:sp>
      <p:sp>
        <p:nvSpPr>
          <p:cNvPr id="12" name="AutoShape 12"/>
          <p:cNvSpPr/>
          <p:nvPr/>
        </p:nvSpPr>
        <p:spPr>
          <a:xfrm>
            <a:off x="6223000" y="2540000"/>
            <a:ext cx="5207000" cy="3937000"/>
          </a:xfrm>
          <a:prstGeom prst="roundRect">
            <a:avLst>
              <a:gd name="adj" fmla="val 3870"/>
            </a:avLst>
          </a:prstGeom>
          <a:solidFill>
            <a:srgbClr val="FFFFFF">
              <a:alpha val="8000"/>
            </a:srgbClr>
          </a:solidFill>
          <a:ln w="12700" cap="flat" cmpd="sng">
            <a:solidFill>
              <a:srgbClr val="FFFFFF">
                <a:alpha val="15000"/>
              </a:srgbClr>
            </a:solidFill>
            <a:prstDash val="solid"/>
            <a:round/>
          </a:ln>
        </p:spPr>
        <p:txBody>
          <a:bodyPr vert="horz" wrap="square" lIns="63500" tIns="63500" rIns="63500" bIns="63500" rtlCol="0" anchor="ctr"/>
          <a:lstStyle/>
          <a:p>
            <a:pPr algn="ctr">
              <a:defRPr/>
            </a:pPr>
          </a:p>
        </p:txBody>
      </p:sp>
      <p:pic>
        <p:nvPicPr>
          <p:cNvPr id="13" name="Picture 13"/>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6527800" y="2844800"/>
            <a:ext cx="304800" cy="304800"/>
          </a:xfrm>
          <a:prstGeom prst="rect">
            <a:avLst/>
          </a:prstGeom>
        </p:spPr>
      </p:pic>
      <p:sp>
        <p:nvSpPr>
          <p:cNvPr id="14" name="AutoShape 14"/>
          <p:cNvSpPr/>
          <p:nvPr/>
        </p:nvSpPr>
        <p:spPr>
          <a:xfrm>
            <a:off x="6934200" y="2819400"/>
            <a:ext cx="3810000" cy="3556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FFFFFF"/>
                </a:solidFill>
                <a:latin typeface="Noto Sans SC" panose="020B0500000000000000" charset="-122"/>
                <a:ea typeface="Noto Sans SC" panose="020B0500000000000000" charset="-122"/>
                <a:cs typeface="Noto Sans SC" panose="020B0500000000000000" charset="-122"/>
                <a:sym typeface="Noto Sans SC" panose="020B0500000000000000" charset="-122"/>
              </a:rPr>
              <a:t>典型终点里程碑事件</a:t>
            </a:r>
            <a:endParaRPr lang="en-US" sz="1100"/>
          </a:p>
        </p:txBody>
      </p:sp>
      <p:cxnSp>
        <p:nvCxnSpPr>
          <p:cNvPr id="15" name="Connector 15"/>
          <p:cNvCxnSpPr/>
          <p:nvPr/>
        </p:nvCxnSpPr>
        <p:spPr>
          <a:xfrm rot="-9496">
            <a:off x="6527809" y="3295650"/>
            <a:ext cx="4597400" cy="12700"/>
          </a:xfrm>
          <a:prstGeom prst="straightConnector1">
            <a:avLst/>
          </a:prstGeom>
          <a:solidFill>
            <a:srgbClr val="DEE0E3">
              <a:alpha val="100000"/>
            </a:srgbClr>
          </a:solidFill>
          <a:ln w="12700" cap="flat" cmpd="sng">
            <a:solidFill>
              <a:srgbClr val="FFFFFF">
                <a:alpha val="15000"/>
              </a:srgbClr>
            </a:solidFill>
            <a:prstDash val="solid"/>
            <a:round/>
            <a:headEnd type="none" w="med" len="med"/>
            <a:tailEnd type="none" w="med" len="med"/>
          </a:ln>
        </p:spPr>
      </p:cxnSp>
      <p:sp>
        <p:nvSpPr>
          <p:cNvPr id="16" name="AutoShape 16"/>
          <p:cNvSpPr/>
          <p:nvPr/>
        </p:nvSpPr>
        <p:spPr>
          <a:xfrm>
            <a:off x="6527800" y="3556000"/>
            <a:ext cx="4597400" cy="762000"/>
          </a:xfrm>
          <a:prstGeom prst="rect">
            <a:avLst/>
          </a:prstGeom>
          <a:noFill/>
          <a:ln w="12700" cap="flat" cmpd="sng">
            <a:noFill/>
            <a:prstDash val="solid"/>
            <a:round/>
          </a:ln>
        </p:spPr>
        <p:txBody>
          <a:bodyPr vert="horz" wrap="square" lIns="0" tIns="0" rIns="0" bIns="0" rtlCol="0" anchor="t" anchorCtr="0"/>
          <a:lstStyle/>
          <a:p>
            <a:pPr indent="0" algn="l">
              <a:lnSpc>
                <a:spcPct val="108000"/>
              </a:lnSpc>
              <a:defRPr/>
            </a:pPr>
            <a:r>
              <a:rPr lang="en-US" sz="1400" b="1" i="0" u="none" strike="noStrike">
                <a:solidFill>
                  <a:srgbClr val="00E5FF"/>
                </a:solidFill>
                <a:latin typeface="Noto Sans SC" panose="020B0500000000000000" charset="-122"/>
                <a:ea typeface="Noto Sans SC" panose="020B0500000000000000" charset="-122"/>
                <a:cs typeface="Noto Sans SC" panose="020B0500000000000000" charset="-122"/>
                <a:sym typeface="Noto Sans SC" panose="020B0500000000000000" charset="-122"/>
              </a:rPr>
              <a:t>1. 实现可持续盈利</a:t>
            </a:r>
            <a:br>
              <a:rPr lang="en-US" sz="1600" b="0" i="0" u="none" strike="noStrike">
                <a:solidFill>
                  <a:srgbClr val="1F2329"/>
                </a:solidFill>
                <a:latin typeface="Noto Sans SC" panose="020B0500000000000000" charset="-122"/>
                <a:ea typeface="Noto Sans SC" panose="020B0500000000000000" charset="-122"/>
                <a:cs typeface="Noto Sans SC" panose="020B0500000000000000" charset="-122"/>
                <a:sym typeface="Noto Sans SC" panose="020B0500000000000000" charset="-122"/>
              </a:rPr>
            </a:br>
            <a:r>
              <a:rPr lang="en-US" sz="1200" b="0" i="0" u="none" strike="noStrike">
                <a:solidFill>
                  <a:srgbClr val="C8D7E6"/>
                </a:solidFill>
                <a:latin typeface="Noto Sans SC" panose="020B0500000000000000" charset="-122"/>
                <a:ea typeface="Noto Sans SC" panose="020B0500000000000000" charset="-122"/>
                <a:cs typeface="Noto Sans SC" panose="020B0500000000000000" charset="-122"/>
                <a:sym typeface="Noto Sans SC" panose="020B0500000000000000" charset="-122"/>
              </a:rPr>
              <a:t>在不再依赖外部资本输血的规模上，实现正向现金流与净利润，具备自我造血生存能力。</a:t>
            </a:r>
            <a:endParaRPr lang="en-US" sz="1100"/>
          </a:p>
        </p:txBody>
      </p:sp>
      <p:sp>
        <p:nvSpPr>
          <p:cNvPr id="17" name="AutoShape 17"/>
          <p:cNvSpPr/>
          <p:nvPr/>
        </p:nvSpPr>
        <p:spPr>
          <a:xfrm>
            <a:off x="6527800" y="4572000"/>
            <a:ext cx="4597400" cy="762000"/>
          </a:xfrm>
          <a:prstGeom prst="rect">
            <a:avLst/>
          </a:prstGeom>
          <a:noFill/>
          <a:ln w="12700" cap="flat" cmpd="sng">
            <a:noFill/>
            <a:prstDash val="solid"/>
            <a:round/>
          </a:ln>
        </p:spPr>
        <p:txBody>
          <a:bodyPr vert="horz" wrap="square" lIns="0" tIns="0" rIns="0" bIns="0" rtlCol="0" anchor="t" anchorCtr="0"/>
          <a:lstStyle/>
          <a:p>
            <a:pPr indent="0" algn="l">
              <a:lnSpc>
                <a:spcPct val="108000"/>
              </a:lnSpc>
              <a:defRPr/>
            </a:pPr>
            <a:r>
              <a:rPr lang="en-US" sz="1400" b="1" i="0" u="none" strike="noStrike">
                <a:solidFill>
                  <a:srgbClr val="00E5FF"/>
                </a:solidFill>
                <a:latin typeface="Noto Sans SC" panose="020B0500000000000000" charset="-122"/>
                <a:ea typeface="Noto Sans SC" panose="020B0500000000000000" charset="-122"/>
                <a:cs typeface="Noto Sans SC" panose="020B0500000000000000" charset="-122"/>
                <a:sym typeface="Noto Sans SC" panose="020B0500000000000000" charset="-122"/>
              </a:rPr>
              <a:t>2. 筹备首次公开募股 (IPO)</a:t>
            </a:r>
            <a:br>
              <a:rPr lang="en-US" sz="1600" b="0" i="0" u="none" strike="noStrike">
                <a:solidFill>
                  <a:srgbClr val="1F2329"/>
                </a:solidFill>
                <a:latin typeface="Noto Sans SC" panose="020B0500000000000000" charset="-122"/>
                <a:ea typeface="Noto Sans SC" panose="020B0500000000000000" charset="-122"/>
                <a:cs typeface="Noto Sans SC" panose="020B0500000000000000" charset="-122"/>
                <a:sym typeface="Noto Sans SC" panose="020B0500000000000000" charset="-122"/>
              </a:rPr>
            </a:br>
            <a:r>
              <a:rPr lang="en-US" sz="1200" b="0" i="0" u="none" strike="noStrike">
                <a:solidFill>
                  <a:srgbClr val="C8D7E6"/>
                </a:solidFill>
                <a:latin typeface="Noto Sans SC" panose="020B0500000000000000" charset="-122"/>
                <a:ea typeface="Noto Sans SC" panose="020B0500000000000000" charset="-122"/>
                <a:cs typeface="Noto Sans SC" panose="020B0500000000000000" charset="-122"/>
                <a:sym typeface="Noto Sans SC" panose="020B0500000000000000" charset="-122"/>
              </a:rPr>
              <a:t>公司的治理结构、财务规范与业务规模已达到资本市场的上市标准，准备迈向公众公司阶段。</a:t>
            </a:r>
            <a:endParaRPr lang="en-US" sz="1100"/>
          </a:p>
        </p:txBody>
      </p:sp>
      <p:sp>
        <p:nvSpPr>
          <p:cNvPr id="18" name="AutoShape 18"/>
          <p:cNvSpPr/>
          <p:nvPr/>
        </p:nvSpPr>
        <p:spPr>
          <a:xfrm>
            <a:off x="6527800" y="5588000"/>
            <a:ext cx="4597400" cy="762000"/>
          </a:xfrm>
          <a:prstGeom prst="rect">
            <a:avLst/>
          </a:prstGeom>
          <a:noFill/>
          <a:ln w="12700" cap="flat" cmpd="sng">
            <a:noFill/>
            <a:prstDash val="solid"/>
            <a:round/>
          </a:ln>
        </p:spPr>
        <p:txBody>
          <a:bodyPr vert="horz" wrap="square" lIns="0" tIns="0" rIns="0" bIns="0" rtlCol="0" anchor="t" anchorCtr="0"/>
          <a:lstStyle/>
          <a:p>
            <a:pPr indent="0" algn="l">
              <a:lnSpc>
                <a:spcPct val="108000"/>
              </a:lnSpc>
              <a:defRPr/>
            </a:pPr>
            <a:r>
              <a:rPr lang="en-US" sz="1400" b="1" i="0" u="none" strike="noStrike">
                <a:solidFill>
                  <a:srgbClr val="00E5FF"/>
                </a:solidFill>
                <a:latin typeface="Noto Sans SC" panose="020B0500000000000000" charset="-122"/>
                <a:ea typeface="Noto Sans SC" panose="020B0500000000000000" charset="-122"/>
                <a:cs typeface="Noto Sans SC" panose="020B0500000000000000" charset="-122"/>
                <a:sym typeface="Noto Sans SC" panose="020B0500000000000000" charset="-122"/>
              </a:rPr>
              <a:t>3. 达成战略并购 (M&amp;A)</a:t>
            </a:r>
            <a:br>
              <a:rPr lang="en-US" sz="1600" b="0" i="0" u="none" strike="noStrike">
                <a:solidFill>
                  <a:srgbClr val="1F2329"/>
                </a:solidFill>
                <a:latin typeface="Noto Sans SC" panose="020B0500000000000000" charset="-122"/>
                <a:ea typeface="Noto Sans SC" panose="020B0500000000000000" charset="-122"/>
                <a:cs typeface="Noto Sans SC" panose="020B0500000000000000" charset="-122"/>
                <a:sym typeface="Noto Sans SC" panose="020B0500000000000000" charset="-122"/>
              </a:rPr>
            </a:br>
            <a:r>
              <a:rPr lang="en-US" sz="1200" b="0" i="0" u="none" strike="noStrike">
                <a:solidFill>
                  <a:srgbClr val="C8D7E6"/>
                </a:solidFill>
                <a:latin typeface="Noto Sans SC" panose="020B0500000000000000" charset="-122"/>
                <a:ea typeface="Noto Sans SC" panose="020B0500000000000000" charset="-122"/>
                <a:cs typeface="Noto Sans SC" panose="020B0500000000000000" charset="-122"/>
                <a:sym typeface="Noto Sans SC" panose="020B0500000000000000" charset="-122"/>
              </a:rPr>
              <a:t>成为行业巨头或战略投资方的优质并购标的，实现资本与资源的深度整合。</a:t>
            </a:r>
            <a:endParaRPr lang="en-US" sz="110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000000">
              <a:alpha val="80000"/>
            </a:srgbClr>
          </a:solidFill>
          <a:ln w="25400" cap="flat" cmpd="sng">
            <a:noFill/>
            <a:prstDash val="solid"/>
            <a:round/>
          </a:ln>
        </p:spPr>
        <p:txBody>
          <a:bodyPr vert="horz" wrap="square" lIns="63500" tIns="63500" rIns="63500" bIns="63500" rtlCol="0" anchor="ctr"/>
          <a:lstStyle/>
          <a:p>
            <a:pPr algn="ctr">
              <a:defRPr/>
            </a:pPr>
          </a:p>
        </p:txBody>
      </p:sp>
      <p:sp>
        <p:nvSpPr>
          <p:cNvPr id="3" name="AutoShape 3"/>
          <p:cNvSpPr/>
          <p:nvPr/>
        </p:nvSpPr>
        <p:spPr>
          <a:xfrm>
            <a:off x="762000" y="635000"/>
            <a:ext cx="7620000" cy="5715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3200" b="1" i="0" u="none" strike="noStrike">
                <a:solidFill>
                  <a:srgbClr val="FFFFFF"/>
                </a:solidFill>
                <a:latin typeface="Noto Sans SC" panose="020B0500000000000000" charset="-122"/>
                <a:ea typeface="Noto Sans SC" panose="020B0500000000000000" charset="-122"/>
                <a:cs typeface="Noto Sans SC" panose="020B0500000000000000" charset="-122"/>
                <a:sym typeface="Noto Sans SC" panose="020B0500000000000000" charset="-122"/>
              </a:rPr>
              <a:t>规模化阶段的陷阱</a:t>
            </a:r>
            <a:endParaRPr lang="en-US" sz="1100"/>
          </a:p>
        </p:txBody>
      </p:sp>
      <p:sp>
        <p:nvSpPr>
          <p:cNvPr id="4" name="AutoShape 4"/>
          <p:cNvSpPr/>
          <p:nvPr/>
        </p:nvSpPr>
        <p:spPr>
          <a:xfrm>
            <a:off x="762000" y="1524000"/>
            <a:ext cx="5207000" cy="2413000"/>
          </a:xfrm>
          <a:prstGeom prst="roundRect">
            <a:avLst>
              <a:gd name="adj" fmla="val 6315"/>
            </a:avLst>
          </a:prstGeom>
          <a:solidFill>
            <a:srgbClr val="FFFFFF">
              <a:alpha val="8000"/>
            </a:srgbClr>
          </a:solidFill>
          <a:ln w="12700" cap="flat" cmpd="sng">
            <a:solidFill>
              <a:srgbClr val="00E5FF">
                <a:alpha val="30000"/>
              </a:srgbClr>
            </a:solidFill>
            <a:prstDash val="solid"/>
            <a:round/>
          </a:ln>
        </p:spPr>
        <p:txBody>
          <a:bodyPr vert="horz" wrap="square" lIns="63500" tIns="63500" rIns="63500" bIns="63500" rtlCol="0" anchor="ctr"/>
          <a:lstStyle/>
          <a:p>
            <a:pPr algn="ctr">
              <a:defRPr/>
            </a:pPr>
          </a:p>
        </p:txBody>
      </p:sp>
      <p:pic>
        <p:nvPicPr>
          <p:cNvPr id="5" name="Picture 5"/>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066800" y="1828800"/>
            <a:ext cx="304800" cy="304800"/>
          </a:xfrm>
          <a:prstGeom prst="rect">
            <a:avLst/>
          </a:prstGeom>
        </p:spPr>
      </p:pic>
      <p:sp>
        <p:nvSpPr>
          <p:cNvPr id="6" name="AutoShape 6"/>
          <p:cNvSpPr/>
          <p:nvPr/>
        </p:nvSpPr>
        <p:spPr>
          <a:xfrm>
            <a:off x="1498600" y="1803400"/>
            <a:ext cx="4318000" cy="3556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00E5FF"/>
                </a:solidFill>
                <a:latin typeface="Noto Sans SC" panose="020B0500000000000000" charset="-122"/>
                <a:ea typeface="Noto Sans SC" panose="020B0500000000000000" charset="-122"/>
                <a:cs typeface="Noto Sans SC" panose="020B0500000000000000" charset="-122"/>
                <a:sym typeface="Noto Sans SC" panose="020B0500000000000000" charset="-122"/>
              </a:rPr>
              <a:t>挑战一：下放运营层</a:t>
            </a:r>
            <a:endParaRPr lang="en-US" sz="1100"/>
          </a:p>
        </p:txBody>
      </p:sp>
      <p:sp>
        <p:nvSpPr>
          <p:cNvPr id="7" name="AutoShape 7"/>
          <p:cNvSpPr/>
          <p:nvPr/>
        </p:nvSpPr>
        <p:spPr>
          <a:xfrm>
            <a:off x="1066800" y="2286000"/>
            <a:ext cx="4597400" cy="1397000"/>
          </a:xfrm>
          <a:prstGeom prst="rect">
            <a:avLst/>
          </a:prstGeom>
          <a:noFill/>
          <a:ln w="12700" cap="flat" cmpd="sng">
            <a:noFill/>
            <a:prstDash val="solid"/>
            <a:round/>
          </a:ln>
        </p:spPr>
        <p:txBody>
          <a:bodyPr vert="horz" wrap="square" lIns="0" tIns="0" rIns="0" bIns="0" rtlCol="0" anchor="t" anchorCtr="0"/>
          <a:lstStyle/>
          <a:p>
            <a:pPr indent="0" algn="l">
              <a:lnSpc>
                <a:spcPct val="117000"/>
              </a:lnSpc>
              <a:defRPr/>
            </a:pPr>
            <a:r>
              <a:rPr lang="en-US" sz="1300" b="0" i="0" u="none" strike="noStrike">
                <a:solidFill>
                  <a:srgbClr val="D1D5DB"/>
                </a:solidFill>
                <a:latin typeface="Noto Sans SC" panose="020B0500000000000000" charset="-122"/>
                <a:ea typeface="Noto Sans SC" panose="020B0500000000000000" charset="-122"/>
                <a:cs typeface="Noto Sans SC" panose="020B0500000000000000" charset="-122"/>
                <a:sym typeface="Noto Sans SC" panose="020B0500000000000000" charset="-122"/>
              </a:rPr>
              <a:t>风险：创始人难以放手，导致系统无法独立可靠地运行。核心挑战在于将隐性的个人知识，转化为可记录、可审计、可转移的标准化系统。</a:t>
            </a:r>
            <a:endParaRPr lang="en-US" sz="1100"/>
          </a:p>
        </p:txBody>
      </p:sp>
      <p:sp>
        <p:nvSpPr>
          <p:cNvPr id="8" name="AutoShape 8"/>
          <p:cNvSpPr/>
          <p:nvPr/>
        </p:nvSpPr>
        <p:spPr>
          <a:xfrm>
            <a:off x="6223000" y="1524000"/>
            <a:ext cx="5207000" cy="2413000"/>
          </a:xfrm>
          <a:prstGeom prst="roundRect">
            <a:avLst>
              <a:gd name="adj" fmla="val 6315"/>
            </a:avLst>
          </a:prstGeom>
          <a:solidFill>
            <a:srgbClr val="FFFFFF">
              <a:alpha val="8000"/>
            </a:srgbClr>
          </a:solidFill>
          <a:ln w="12700" cap="flat" cmpd="sng">
            <a:solidFill>
              <a:srgbClr val="00E5FF">
                <a:alpha val="30000"/>
              </a:srgbClr>
            </a:solidFill>
            <a:prstDash val="solid"/>
            <a:round/>
          </a:ln>
        </p:spPr>
        <p:txBody>
          <a:bodyPr vert="horz" wrap="square" lIns="63500" tIns="63500" rIns="63500" bIns="63500" rtlCol="0" anchor="ctr"/>
          <a:lstStyle/>
          <a:p>
            <a:pPr algn="ctr">
              <a:defRPr/>
            </a:pPr>
          </a:p>
        </p:txBody>
      </p:sp>
      <p:pic>
        <p:nvPicPr>
          <p:cNvPr id="9" name="Picture 9"/>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6527800" y="1828800"/>
            <a:ext cx="304800" cy="304800"/>
          </a:xfrm>
          <a:prstGeom prst="rect">
            <a:avLst/>
          </a:prstGeom>
        </p:spPr>
      </p:pic>
      <p:sp>
        <p:nvSpPr>
          <p:cNvPr id="10" name="AutoShape 10"/>
          <p:cNvSpPr/>
          <p:nvPr/>
        </p:nvSpPr>
        <p:spPr>
          <a:xfrm>
            <a:off x="6959600" y="1803400"/>
            <a:ext cx="4318000" cy="3556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00E5FF"/>
                </a:solidFill>
                <a:latin typeface="Noto Sans SC" panose="020B0500000000000000" charset="-122"/>
                <a:ea typeface="Noto Sans SC" panose="020B0500000000000000" charset="-122"/>
                <a:cs typeface="Noto Sans SC" panose="020B0500000000000000" charset="-122"/>
                <a:sym typeface="Noto Sans SC" panose="020B0500000000000000" charset="-122"/>
              </a:rPr>
              <a:t>挑战二：规模化技术运营</a:t>
            </a:r>
            <a:endParaRPr lang="en-US" sz="1100"/>
          </a:p>
        </p:txBody>
      </p:sp>
      <p:sp>
        <p:nvSpPr>
          <p:cNvPr id="11" name="AutoShape 11"/>
          <p:cNvSpPr/>
          <p:nvPr/>
        </p:nvSpPr>
        <p:spPr>
          <a:xfrm>
            <a:off x="6527800" y="2286000"/>
            <a:ext cx="4597400" cy="1397000"/>
          </a:xfrm>
          <a:prstGeom prst="rect">
            <a:avLst/>
          </a:prstGeom>
          <a:noFill/>
          <a:ln w="12700" cap="flat" cmpd="sng">
            <a:noFill/>
            <a:prstDash val="solid"/>
            <a:round/>
          </a:ln>
        </p:spPr>
        <p:txBody>
          <a:bodyPr vert="horz" wrap="square" lIns="0" tIns="0" rIns="0" bIns="0" rtlCol="0" anchor="t" anchorCtr="0"/>
          <a:lstStyle/>
          <a:p>
            <a:pPr indent="0" algn="l">
              <a:lnSpc>
                <a:spcPct val="117000"/>
              </a:lnSpc>
              <a:defRPr/>
            </a:pPr>
            <a:r>
              <a:rPr lang="en-US" sz="1300" b="0" i="0" u="none" strike="noStrike">
                <a:solidFill>
                  <a:srgbClr val="D1D5DB"/>
                </a:solidFill>
                <a:latin typeface="Noto Sans SC" panose="020B0500000000000000" charset="-122"/>
                <a:ea typeface="Noto Sans SC" panose="020B0500000000000000" charset="-122"/>
                <a:cs typeface="Noto Sans SC" panose="020B0500000000000000" charset="-122"/>
                <a:sym typeface="Noto Sans SC" panose="020B0500000000000000" charset="-122"/>
              </a:rPr>
              <a:t>风险：客户评估的重心从单一产品转向组织的整体可靠性。必须建立完善的基础设施支持、技术文档以及SLA服务等级协议，以确立可靠的合作伙伴身份。</a:t>
            </a:r>
            <a:endParaRPr lang="en-US" sz="1100"/>
          </a:p>
        </p:txBody>
      </p:sp>
      <p:sp>
        <p:nvSpPr>
          <p:cNvPr id="12" name="AutoShape 12"/>
          <p:cNvSpPr/>
          <p:nvPr/>
        </p:nvSpPr>
        <p:spPr>
          <a:xfrm>
            <a:off x="762000" y="4191000"/>
            <a:ext cx="5207000" cy="2413000"/>
          </a:xfrm>
          <a:prstGeom prst="roundRect">
            <a:avLst>
              <a:gd name="adj" fmla="val 6315"/>
            </a:avLst>
          </a:prstGeom>
          <a:solidFill>
            <a:srgbClr val="FFFFFF">
              <a:alpha val="8000"/>
            </a:srgbClr>
          </a:solidFill>
          <a:ln w="12700" cap="flat" cmpd="sng">
            <a:solidFill>
              <a:srgbClr val="00E5FF">
                <a:alpha val="30000"/>
              </a:srgbClr>
            </a:solidFill>
            <a:prstDash val="solid"/>
            <a:round/>
          </a:ln>
        </p:spPr>
        <p:txBody>
          <a:bodyPr vert="horz" wrap="square" lIns="63500" tIns="63500" rIns="63500" bIns="63500" rtlCol="0" anchor="ctr"/>
          <a:lstStyle/>
          <a:p>
            <a:pPr algn="ctr">
              <a:defRPr/>
            </a:pPr>
          </a:p>
        </p:txBody>
      </p:sp>
      <p:pic>
        <p:nvPicPr>
          <p:cNvPr id="13" name="Picture 13"/>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1066800" y="4495800"/>
            <a:ext cx="304800" cy="304800"/>
          </a:xfrm>
          <a:prstGeom prst="rect">
            <a:avLst/>
          </a:prstGeom>
        </p:spPr>
      </p:pic>
      <p:sp>
        <p:nvSpPr>
          <p:cNvPr id="14" name="AutoShape 14"/>
          <p:cNvSpPr/>
          <p:nvPr/>
        </p:nvSpPr>
        <p:spPr>
          <a:xfrm>
            <a:off x="1498600" y="4470400"/>
            <a:ext cx="4318000" cy="3556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00E5FF"/>
                </a:solidFill>
                <a:latin typeface="Noto Sans SC" panose="020B0500000000000000" charset="-122"/>
                <a:ea typeface="Noto Sans SC" panose="020B0500000000000000" charset="-122"/>
                <a:cs typeface="Noto Sans SC" panose="020B0500000000000000" charset="-122"/>
                <a:sym typeface="Noto Sans SC" panose="020B0500000000000000" charset="-122"/>
              </a:rPr>
              <a:t>挑战三：规模化组织职能</a:t>
            </a:r>
            <a:endParaRPr lang="en-US" sz="1100"/>
          </a:p>
        </p:txBody>
      </p:sp>
      <p:sp>
        <p:nvSpPr>
          <p:cNvPr id="15" name="AutoShape 15"/>
          <p:cNvSpPr/>
          <p:nvPr/>
        </p:nvSpPr>
        <p:spPr>
          <a:xfrm>
            <a:off x="1066800" y="4953000"/>
            <a:ext cx="4597400" cy="1397000"/>
          </a:xfrm>
          <a:prstGeom prst="rect">
            <a:avLst/>
          </a:prstGeom>
          <a:noFill/>
          <a:ln w="12700" cap="flat" cmpd="sng">
            <a:noFill/>
            <a:prstDash val="solid"/>
            <a:round/>
          </a:ln>
        </p:spPr>
        <p:txBody>
          <a:bodyPr vert="horz" wrap="square" lIns="0" tIns="0" rIns="0" bIns="0" rtlCol="0" anchor="t" anchorCtr="0"/>
          <a:lstStyle/>
          <a:p>
            <a:pPr indent="0" algn="l">
              <a:lnSpc>
                <a:spcPct val="117000"/>
              </a:lnSpc>
              <a:defRPr/>
            </a:pPr>
            <a:r>
              <a:rPr lang="en-US" sz="1300" b="0" i="0" u="none" strike="noStrike">
                <a:solidFill>
                  <a:srgbClr val="D1D5DB"/>
                </a:solidFill>
                <a:latin typeface="Noto Sans SC" panose="020B0500000000000000" charset="-122"/>
                <a:ea typeface="Noto Sans SC" panose="020B0500000000000000" charset="-122"/>
                <a:cs typeface="Noto Sans SC" panose="020B0500000000000000" charset="-122"/>
                <a:sym typeface="Noto Sans SC" panose="020B0500000000000000" charset="-122"/>
              </a:rPr>
              <a:t>风险：随着业务扩张，公司急需搭建完整的运营职能闭环，包括财务报告体系、合规监控机制、合同全生命周期管理以及专业的客户支持团队。</a:t>
            </a:r>
            <a:endParaRPr lang="en-US" sz="1100"/>
          </a:p>
        </p:txBody>
      </p:sp>
      <p:sp>
        <p:nvSpPr>
          <p:cNvPr id="16" name="AutoShape 16"/>
          <p:cNvSpPr/>
          <p:nvPr/>
        </p:nvSpPr>
        <p:spPr>
          <a:xfrm>
            <a:off x="6223000" y="4191000"/>
            <a:ext cx="5207000" cy="2413000"/>
          </a:xfrm>
          <a:prstGeom prst="roundRect">
            <a:avLst>
              <a:gd name="adj" fmla="val 6315"/>
            </a:avLst>
          </a:prstGeom>
          <a:solidFill>
            <a:srgbClr val="FFFFFF">
              <a:alpha val="8000"/>
            </a:srgbClr>
          </a:solidFill>
          <a:ln w="12700" cap="flat" cmpd="sng">
            <a:solidFill>
              <a:srgbClr val="00E5FF">
                <a:alpha val="30000"/>
              </a:srgbClr>
            </a:solidFill>
            <a:prstDash val="solid"/>
            <a:round/>
          </a:ln>
        </p:spPr>
        <p:txBody>
          <a:bodyPr vert="horz" wrap="square" lIns="63500" tIns="63500" rIns="63500" bIns="63500" rtlCol="0" anchor="ctr"/>
          <a:lstStyle/>
          <a:p>
            <a:pPr algn="ctr">
              <a:defRPr/>
            </a:pPr>
          </a:p>
        </p:txBody>
      </p:sp>
      <p:pic>
        <p:nvPicPr>
          <p:cNvPr id="17" name="Picture 17"/>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6527800" y="4495800"/>
            <a:ext cx="304800" cy="304800"/>
          </a:xfrm>
          <a:prstGeom prst="rect">
            <a:avLst/>
          </a:prstGeom>
        </p:spPr>
      </p:pic>
      <p:sp>
        <p:nvSpPr>
          <p:cNvPr id="18" name="AutoShape 18"/>
          <p:cNvSpPr/>
          <p:nvPr/>
        </p:nvSpPr>
        <p:spPr>
          <a:xfrm>
            <a:off x="6959600" y="4470400"/>
            <a:ext cx="4318000" cy="3556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00E5FF"/>
                </a:solidFill>
                <a:latin typeface="Noto Sans SC" panose="020B0500000000000000" charset="-122"/>
                <a:ea typeface="Noto Sans SC" panose="020B0500000000000000" charset="-122"/>
                <a:cs typeface="Noto Sans SC" panose="020B0500000000000000" charset="-122"/>
                <a:sym typeface="Noto Sans SC" panose="020B0500000000000000" charset="-122"/>
              </a:rPr>
              <a:t>挑战四：构建GTM职能</a:t>
            </a:r>
            <a:endParaRPr lang="en-US" sz="1100"/>
          </a:p>
        </p:txBody>
      </p:sp>
      <p:sp>
        <p:nvSpPr>
          <p:cNvPr id="19" name="AutoShape 19"/>
          <p:cNvSpPr/>
          <p:nvPr/>
        </p:nvSpPr>
        <p:spPr>
          <a:xfrm>
            <a:off x="6527800" y="4953000"/>
            <a:ext cx="4597400" cy="1397000"/>
          </a:xfrm>
          <a:prstGeom prst="rect">
            <a:avLst/>
          </a:prstGeom>
          <a:noFill/>
          <a:ln w="12700" cap="flat" cmpd="sng">
            <a:noFill/>
            <a:prstDash val="solid"/>
            <a:round/>
          </a:ln>
        </p:spPr>
        <p:txBody>
          <a:bodyPr vert="horz" wrap="square" lIns="0" tIns="0" rIns="0" bIns="0" rtlCol="0" anchor="t" anchorCtr="0"/>
          <a:lstStyle/>
          <a:p>
            <a:pPr indent="0" algn="l">
              <a:lnSpc>
                <a:spcPct val="117000"/>
              </a:lnSpc>
              <a:defRPr/>
            </a:pPr>
            <a:r>
              <a:rPr lang="en-US" sz="1300" b="0" i="0" u="none" strike="noStrike">
                <a:solidFill>
                  <a:srgbClr val="D1D5DB"/>
                </a:solidFill>
                <a:latin typeface="Noto Sans SC" panose="020B0500000000000000" charset="-122"/>
                <a:ea typeface="Noto Sans SC" panose="020B0500000000000000" charset="-122"/>
                <a:cs typeface="Noto Sans SC" panose="020B0500000000000000" charset="-122"/>
                <a:sym typeface="Noto Sans SC" panose="020B0500000000000000" charset="-122"/>
              </a:rPr>
              <a:t>风险：有机增长逐渐触及天花板，依赖自然流量已无法支撑业务目标。需要系统性地构建专业的市场推广、销售拓客以及分析师关系网络，驱动下一阶段的增长。</a:t>
            </a:r>
            <a:endParaRPr lang="en-US" sz="110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000000">
              <a:alpha val="80000"/>
            </a:srgbClr>
          </a:solidFill>
          <a:ln w="25400" cap="flat" cmpd="sng">
            <a:noFill/>
            <a:prstDash val="solid"/>
            <a:round/>
          </a:ln>
        </p:spPr>
        <p:txBody>
          <a:bodyPr vert="horz" wrap="square" lIns="63500" tIns="63500" rIns="63500" bIns="63500" rtlCol="0" anchor="ctr"/>
          <a:lstStyle/>
          <a:p>
            <a:pPr algn="ctr">
              <a:defRPr/>
            </a:pPr>
          </a:p>
        </p:txBody>
      </p:sp>
      <p:sp>
        <p:nvSpPr>
          <p:cNvPr id="3" name="AutoShape 3"/>
          <p:cNvSpPr/>
          <p:nvPr/>
        </p:nvSpPr>
        <p:spPr>
          <a:xfrm>
            <a:off x="762000" y="635000"/>
            <a:ext cx="7620000" cy="5715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3200" b="1" i="0" u="none" strike="noStrike">
                <a:solidFill>
                  <a:srgbClr val="FFFFFF"/>
                </a:solidFill>
                <a:latin typeface="Noto Sans SC" panose="020B0500000000000000" charset="-122"/>
                <a:ea typeface="Noto Sans SC" panose="020B0500000000000000" charset="-122"/>
                <a:cs typeface="Noto Sans SC" panose="020B0500000000000000" charset="-122"/>
                <a:sym typeface="Noto Sans SC" panose="020B0500000000000000" charset="-122"/>
              </a:rPr>
              <a:t>利用AI保持规模化优势</a:t>
            </a:r>
            <a:endParaRPr lang="en-US" sz="1100"/>
          </a:p>
        </p:txBody>
      </p:sp>
      <p:sp>
        <p:nvSpPr>
          <p:cNvPr id="4" name="AutoShape 4"/>
          <p:cNvSpPr/>
          <p:nvPr/>
        </p:nvSpPr>
        <p:spPr>
          <a:xfrm>
            <a:off x="762000" y="1333500"/>
            <a:ext cx="10668000" cy="381000"/>
          </a:xfrm>
          <a:prstGeom prst="rect">
            <a:avLst/>
          </a:prstGeom>
          <a:noFill/>
          <a:ln w="12700" cap="flat" cmpd="sng">
            <a:noFill/>
            <a:prstDash val="solid"/>
            <a:round/>
          </a:ln>
        </p:spPr>
        <p:txBody>
          <a:bodyPr vert="horz" wrap="square" lIns="0" tIns="0" rIns="0" bIns="0" rtlCol="0" anchor="t" anchorCtr="0"/>
          <a:lstStyle/>
          <a:p>
            <a:pPr indent="0" algn="l">
              <a:lnSpc>
                <a:spcPct val="125000"/>
              </a:lnSpc>
              <a:defRPr/>
            </a:pPr>
            <a:r>
              <a:rPr lang="en-US" sz="1600" b="0" i="0" u="none" strike="noStrike">
                <a:solidFill>
                  <a:srgbClr val="E5E7EB"/>
                </a:solidFill>
                <a:latin typeface="Noto Sans SC" panose="020B0500000000000000" charset="-122"/>
                <a:ea typeface="Noto Sans SC" panose="020B0500000000000000" charset="-122"/>
                <a:cs typeface="Noto Sans SC" panose="020B0500000000000000" charset="-122"/>
                <a:sym typeface="Noto Sans SC" panose="020B0500000000000000" charset="-122"/>
              </a:rPr>
              <a:t>核心策略：继续使用AI来规模化你构建公司的方式，实现效率与能力的双重跃升。</a:t>
            </a:r>
            <a:endParaRPr lang="en-US" sz="1100"/>
          </a:p>
        </p:txBody>
      </p:sp>
      <p:sp>
        <p:nvSpPr>
          <p:cNvPr id="5" name="AutoShape 5"/>
          <p:cNvSpPr/>
          <p:nvPr/>
        </p:nvSpPr>
        <p:spPr>
          <a:xfrm>
            <a:off x="762000" y="2159000"/>
            <a:ext cx="3378200" cy="4064000"/>
          </a:xfrm>
          <a:prstGeom prst="roundRect">
            <a:avLst>
              <a:gd name="adj" fmla="val 4511"/>
            </a:avLst>
          </a:prstGeom>
          <a:solidFill>
            <a:srgbClr val="FFFFFF">
              <a:alpha val="8000"/>
            </a:srgbClr>
          </a:solidFill>
          <a:ln w="12700" cap="flat" cmpd="sng">
            <a:solidFill>
              <a:srgbClr val="00E5FF">
                <a:alpha val="30000"/>
              </a:srgbClr>
            </a:solidFill>
            <a:prstDash val="solid"/>
            <a:round/>
          </a:ln>
        </p:spPr>
        <p:txBody>
          <a:bodyPr vert="horz" wrap="square" lIns="63500" tIns="63500" rIns="63500" bIns="63500" rtlCol="0" anchor="ctr"/>
          <a:lstStyle/>
          <a:p>
            <a:pPr algn="ctr">
              <a:defRPr/>
            </a:pPr>
          </a:p>
        </p:txBody>
      </p:sp>
      <p:pic>
        <p:nvPicPr>
          <p:cNvPr id="6" name="Picture 6"/>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066800" y="2463800"/>
            <a:ext cx="457200" cy="457200"/>
          </a:xfrm>
          <a:prstGeom prst="rect">
            <a:avLst/>
          </a:prstGeom>
        </p:spPr>
      </p:pic>
      <p:sp>
        <p:nvSpPr>
          <p:cNvPr id="7" name="AutoShape 7"/>
          <p:cNvSpPr/>
          <p:nvPr/>
        </p:nvSpPr>
        <p:spPr>
          <a:xfrm>
            <a:off x="1066800" y="3048000"/>
            <a:ext cx="2768600" cy="381000"/>
          </a:xfrm>
          <a:prstGeom prst="rect">
            <a:avLst/>
          </a:prstGeom>
          <a:noFill/>
          <a:ln w="12700" cap="flat" cmpd="sng">
            <a:noFill/>
            <a:prstDash val="solid"/>
            <a:round/>
          </a:ln>
        </p:spPr>
        <p:txBody>
          <a:bodyPr vert="horz" wrap="square" lIns="0" tIns="0" rIns="0" bIns="0" rtlCol="0" anchor="t" anchorCtr="0"/>
          <a:lstStyle/>
          <a:p>
            <a:pPr indent="0" algn="l">
              <a:lnSpc>
                <a:spcPct val="125000"/>
              </a:lnSpc>
              <a:defRPr/>
            </a:pPr>
            <a:r>
              <a:rPr lang="en-US" sz="1800" b="1" i="0" u="none" strike="noStrike">
                <a:solidFill>
                  <a:srgbClr val="FFFFFF"/>
                </a:solidFill>
                <a:latin typeface="Noto Sans SC" panose="020B0500000000000000" charset="-122"/>
                <a:ea typeface="Noto Sans SC" panose="020B0500000000000000" charset="-122"/>
                <a:cs typeface="Noto Sans SC" panose="020B0500000000000000" charset="-122"/>
                <a:sym typeface="Noto Sans SC" panose="020B0500000000000000" charset="-122"/>
              </a:rPr>
              <a:t>日常任务自动化</a:t>
            </a:r>
            <a:endParaRPr lang="en-US" sz="1100"/>
          </a:p>
        </p:txBody>
      </p:sp>
      <p:sp>
        <p:nvSpPr>
          <p:cNvPr id="8" name="AutoShape 8"/>
          <p:cNvSpPr/>
          <p:nvPr/>
        </p:nvSpPr>
        <p:spPr>
          <a:xfrm>
            <a:off x="1066800" y="3556000"/>
            <a:ext cx="2768600" cy="2286000"/>
          </a:xfrm>
          <a:prstGeom prst="rect">
            <a:avLst/>
          </a:prstGeom>
          <a:noFill/>
          <a:ln w="12700" cap="flat" cmpd="sng">
            <a:noFill/>
            <a:prstDash val="solid"/>
            <a:round/>
          </a:ln>
        </p:spPr>
        <p:txBody>
          <a:bodyPr vert="horz" wrap="square" lIns="0" tIns="0" rIns="0" bIns="0" rtlCol="0" anchor="t" anchorCtr="0"/>
          <a:lstStyle/>
          <a:p>
            <a:pPr indent="0" algn="l">
              <a:lnSpc>
                <a:spcPct val="125000"/>
              </a:lnSpc>
              <a:defRPr/>
            </a:pPr>
            <a:r>
              <a:rPr lang="en-US" sz="1300" b="0" i="0" u="none" strike="noStrike">
                <a:solidFill>
                  <a:srgbClr val="D1D5DB"/>
                </a:solidFill>
                <a:latin typeface="Noto Sans SC" panose="020B0500000000000000" charset="-122"/>
                <a:ea typeface="Noto Sans SC" panose="020B0500000000000000" charset="-122"/>
                <a:cs typeface="Noto Sans SC" panose="020B0500000000000000" charset="-122"/>
                <a:sym typeface="Noto Sans SC" panose="020B0500000000000000" charset="-122"/>
              </a:rPr>
              <a:t>将重复性工作交给 Claude Cowork，释放核心精力。</a:t>
            </a:r>
            <a:endParaRPr lang="en-US" sz="1100"/>
          </a:p>
          <a:p>
            <a:pPr indent="0" algn="l">
              <a:lnSpc>
                <a:spcPct val="125000"/>
              </a:lnSpc>
            </a:pPr>
            <a:br>
              <a:rPr lang="en-US" sz="1300" b="0" i="0" u="none" strike="noStrike">
                <a:solidFill>
                  <a:srgbClr val="1F2329"/>
                </a:solidFill>
                <a:latin typeface="Noto Sans SC" panose="020B0500000000000000" charset="-122"/>
                <a:ea typeface="Noto Sans SC" panose="020B0500000000000000" charset="-122"/>
                <a:cs typeface="Noto Sans SC" panose="020B0500000000000000" charset="-122"/>
                <a:sym typeface="Noto Sans SC" panose="020B0500000000000000" charset="-122"/>
              </a:rPr>
            </a:br>
            <a:endParaRPr lang="en-US" sz="1300" b="0" i="0" u="none" strike="noStrike">
              <a:solidFill>
                <a:srgbClr val="1F2329"/>
              </a:solidFill>
              <a:latin typeface="Noto Sans SC" panose="020B0500000000000000" charset="-122"/>
              <a:ea typeface="Noto Sans SC" panose="020B0500000000000000" charset="-122"/>
              <a:cs typeface="Noto Sans SC" panose="020B0500000000000000" charset="-122"/>
              <a:sym typeface="Noto Sans SC" panose="020B0500000000000000" charset="-122"/>
            </a:endParaRPr>
          </a:p>
          <a:p>
            <a:pPr indent="0" algn="l">
              <a:lnSpc>
                <a:spcPct val="125000"/>
              </a:lnSpc>
            </a:pPr>
            <a:r>
              <a:rPr lang="en-US" sz="1300" b="1" i="0" u="none" strike="noStrike">
                <a:solidFill>
                  <a:srgbClr val="00E5FF"/>
                </a:solidFill>
                <a:latin typeface="Noto Sans SC" panose="020B0500000000000000" charset="-122"/>
                <a:ea typeface="Noto Sans SC" panose="020B0500000000000000" charset="-122"/>
                <a:cs typeface="Noto Sans SC" panose="020B0500000000000000" charset="-122"/>
                <a:sym typeface="Noto Sans SC" panose="020B0500000000000000" charset="-122"/>
              </a:rPr>
              <a:t>Claude (Chat)：</a:t>
            </a:r>
            <a:r>
              <a:rPr lang="en-US" sz="1300" b="0" i="0" u="none" strike="noStrike">
                <a:solidFill>
                  <a:srgbClr val="9CA3AF"/>
                </a:solidFill>
                <a:latin typeface="Noto Sans SC" panose="020B0500000000000000" charset="-122"/>
                <a:ea typeface="Noto Sans SC" panose="020B0500000000000000" charset="-122"/>
                <a:cs typeface="Noto Sans SC" panose="020B0500000000000000" charset="-122"/>
                <a:sym typeface="Noto Sans SC" panose="020B0500000000000000" charset="-122"/>
              </a:rPr>
              <a:t>绘制“瓶颈地图”，识别并自动化所有非核心工作流，建立高效的个人协作体系。</a:t>
            </a:r>
            <a:endParaRPr lang="en-US" sz="1300" b="0" i="0" u="none" strike="noStrike">
              <a:solidFill>
                <a:srgbClr val="9CA3AF"/>
              </a:solidFill>
              <a:latin typeface="Noto Sans SC" panose="020B0500000000000000" charset="-122"/>
              <a:ea typeface="Noto Sans SC" panose="020B0500000000000000" charset="-122"/>
              <a:cs typeface="Noto Sans SC" panose="020B0500000000000000" charset="-122"/>
              <a:sym typeface="Noto Sans SC" panose="020B0500000000000000" charset="-122"/>
            </a:endParaRPr>
          </a:p>
        </p:txBody>
      </p:sp>
      <p:sp>
        <p:nvSpPr>
          <p:cNvPr id="9" name="AutoShape 9"/>
          <p:cNvSpPr/>
          <p:nvPr/>
        </p:nvSpPr>
        <p:spPr>
          <a:xfrm>
            <a:off x="4406900" y="2159000"/>
            <a:ext cx="3378200" cy="4064000"/>
          </a:xfrm>
          <a:prstGeom prst="roundRect">
            <a:avLst>
              <a:gd name="adj" fmla="val 4511"/>
            </a:avLst>
          </a:prstGeom>
          <a:solidFill>
            <a:srgbClr val="FFFFFF">
              <a:alpha val="8000"/>
            </a:srgbClr>
          </a:solidFill>
          <a:ln w="12700" cap="flat" cmpd="sng">
            <a:solidFill>
              <a:srgbClr val="00E5FF">
                <a:alpha val="30000"/>
              </a:srgbClr>
            </a:solidFill>
            <a:prstDash val="solid"/>
            <a:round/>
          </a:ln>
        </p:spPr>
        <p:txBody>
          <a:bodyPr vert="horz" wrap="square" lIns="63500" tIns="63500" rIns="63500" bIns="63500" rtlCol="0" anchor="ctr"/>
          <a:lstStyle/>
          <a:p>
            <a:pPr algn="ctr">
              <a:defRPr/>
            </a:pPr>
          </a:p>
        </p:txBody>
      </p:sp>
      <p:pic>
        <p:nvPicPr>
          <p:cNvPr id="10" name="Picture 10"/>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4711700" y="2463800"/>
            <a:ext cx="457200" cy="457200"/>
          </a:xfrm>
          <a:prstGeom prst="rect">
            <a:avLst/>
          </a:prstGeom>
        </p:spPr>
      </p:pic>
      <p:sp>
        <p:nvSpPr>
          <p:cNvPr id="11" name="AutoShape 11"/>
          <p:cNvSpPr/>
          <p:nvPr/>
        </p:nvSpPr>
        <p:spPr>
          <a:xfrm>
            <a:off x="4711700" y="3048000"/>
            <a:ext cx="2768600" cy="381000"/>
          </a:xfrm>
          <a:prstGeom prst="rect">
            <a:avLst/>
          </a:prstGeom>
          <a:noFill/>
          <a:ln w="12700" cap="flat" cmpd="sng">
            <a:noFill/>
            <a:prstDash val="solid"/>
            <a:round/>
          </a:ln>
        </p:spPr>
        <p:txBody>
          <a:bodyPr vert="horz" wrap="square" lIns="0" tIns="0" rIns="0" bIns="0" rtlCol="0" anchor="t" anchorCtr="0"/>
          <a:lstStyle/>
          <a:p>
            <a:pPr indent="0" algn="l">
              <a:lnSpc>
                <a:spcPct val="125000"/>
              </a:lnSpc>
              <a:defRPr/>
            </a:pPr>
            <a:r>
              <a:rPr lang="en-US" sz="1800" b="1" i="0" u="none" strike="noStrike">
                <a:solidFill>
                  <a:srgbClr val="FFFFFF"/>
                </a:solidFill>
                <a:latin typeface="Noto Sans SC" panose="020B0500000000000000" charset="-122"/>
                <a:ea typeface="Noto Sans SC" panose="020B0500000000000000" charset="-122"/>
                <a:cs typeface="Noto Sans SC" panose="020B0500000000000000" charset="-122"/>
                <a:sym typeface="Noto Sans SC" panose="020B0500000000000000" charset="-122"/>
              </a:rPr>
              <a:t>技术运营基建化</a:t>
            </a:r>
            <a:endParaRPr lang="en-US" sz="1100"/>
          </a:p>
        </p:txBody>
      </p:sp>
      <p:sp>
        <p:nvSpPr>
          <p:cNvPr id="12" name="AutoShape 12"/>
          <p:cNvSpPr/>
          <p:nvPr/>
        </p:nvSpPr>
        <p:spPr>
          <a:xfrm>
            <a:off x="4711700" y="3556000"/>
            <a:ext cx="2768600" cy="2286000"/>
          </a:xfrm>
          <a:prstGeom prst="rect">
            <a:avLst/>
          </a:prstGeom>
          <a:noFill/>
          <a:ln w="12700" cap="flat" cmpd="sng">
            <a:noFill/>
            <a:prstDash val="solid"/>
            <a:round/>
          </a:ln>
        </p:spPr>
        <p:txBody>
          <a:bodyPr vert="horz" wrap="square" lIns="0" tIns="0" rIns="0" bIns="0" rtlCol="0" anchor="t" anchorCtr="0"/>
          <a:lstStyle/>
          <a:p>
            <a:pPr indent="0" algn="l">
              <a:lnSpc>
                <a:spcPct val="125000"/>
              </a:lnSpc>
              <a:defRPr/>
            </a:pPr>
            <a:r>
              <a:rPr lang="en-US" sz="1300" b="0" i="0" u="none" strike="noStrike">
                <a:solidFill>
                  <a:srgbClr val="D1D5DB"/>
                </a:solidFill>
                <a:latin typeface="Noto Sans SC" panose="020B0500000000000000" charset="-122"/>
                <a:ea typeface="Noto Sans SC" panose="020B0500000000000000" charset="-122"/>
                <a:cs typeface="Noto Sans SC" panose="020B0500000000000000" charset="-122"/>
                <a:sym typeface="Noto Sans SC" panose="020B0500000000000000" charset="-122"/>
              </a:rPr>
              <a:t>构建企业级技术支持体系，满足大客户高标准需求。</a:t>
            </a:r>
            <a:endParaRPr lang="en-US" sz="1100"/>
          </a:p>
          <a:p>
            <a:pPr indent="0" algn="l">
              <a:lnSpc>
                <a:spcPct val="125000"/>
              </a:lnSpc>
            </a:pPr>
            <a:br>
              <a:rPr lang="en-US" sz="1300" b="0" i="0" u="none" strike="noStrike">
                <a:solidFill>
                  <a:srgbClr val="1F2329"/>
                </a:solidFill>
                <a:latin typeface="Noto Sans SC" panose="020B0500000000000000" charset="-122"/>
                <a:ea typeface="Noto Sans SC" panose="020B0500000000000000" charset="-122"/>
                <a:cs typeface="Noto Sans SC" panose="020B0500000000000000" charset="-122"/>
                <a:sym typeface="Noto Sans SC" panose="020B0500000000000000" charset="-122"/>
              </a:rPr>
            </a:br>
            <a:endParaRPr lang="en-US" sz="1300" b="0" i="0" u="none" strike="noStrike">
              <a:solidFill>
                <a:srgbClr val="1F2329"/>
              </a:solidFill>
              <a:latin typeface="Noto Sans SC" panose="020B0500000000000000" charset="-122"/>
              <a:ea typeface="Noto Sans SC" panose="020B0500000000000000" charset="-122"/>
              <a:cs typeface="Noto Sans SC" panose="020B0500000000000000" charset="-122"/>
              <a:sym typeface="Noto Sans SC" panose="020B0500000000000000" charset="-122"/>
            </a:endParaRPr>
          </a:p>
          <a:p>
            <a:pPr indent="0" algn="l">
              <a:lnSpc>
                <a:spcPct val="117000"/>
              </a:lnSpc>
            </a:pPr>
            <a:r>
              <a:rPr lang="en-US" sz="1300" b="1" i="0" u="none" strike="noStrike">
                <a:solidFill>
                  <a:srgbClr val="00E5FF"/>
                </a:solidFill>
                <a:latin typeface="Noto Sans SC" panose="020B0500000000000000" charset="-122"/>
                <a:ea typeface="Noto Sans SC" panose="020B0500000000000000" charset="-122"/>
                <a:cs typeface="Noto Sans SC" panose="020B0500000000000000" charset="-122"/>
                <a:sym typeface="Noto Sans SC" panose="020B0500000000000000" charset="-122"/>
              </a:rPr>
              <a:t>Claude (Chat)：</a:t>
            </a:r>
            <a:r>
              <a:rPr lang="en-US" sz="1300" b="0" i="0" u="none" strike="noStrike">
                <a:solidFill>
                  <a:srgbClr val="9CA3AF"/>
                </a:solidFill>
                <a:latin typeface="Noto Sans SC" panose="020B0500000000000000" charset="-122"/>
                <a:ea typeface="Noto Sans SC" panose="020B0500000000000000" charset="-122"/>
                <a:cs typeface="Noto Sans SC" panose="020B0500000000000000" charset="-122"/>
                <a:sym typeface="Noto Sans SC" panose="020B0500000000000000" charset="-122"/>
              </a:rPr>
              <a:t>起草和维护SLA、支持手册等专业文档。</a:t>
            </a:r>
            <a:endParaRPr lang="en-US" sz="1300" b="0" i="0" u="none" strike="noStrike">
              <a:solidFill>
                <a:srgbClr val="9CA3AF"/>
              </a:solidFill>
              <a:latin typeface="Noto Sans SC" panose="020B0500000000000000" charset="-122"/>
              <a:ea typeface="Noto Sans SC" panose="020B0500000000000000" charset="-122"/>
              <a:cs typeface="Noto Sans SC" panose="020B0500000000000000" charset="-122"/>
              <a:sym typeface="Noto Sans SC" panose="020B0500000000000000" charset="-122"/>
            </a:endParaRPr>
          </a:p>
          <a:p>
            <a:pPr indent="0" algn="l">
              <a:lnSpc>
                <a:spcPct val="117000"/>
              </a:lnSpc>
            </a:pPr>
            <a:r>
              <a:rPr lang="en-US" sz="1300" b="1" i="0" u="none" strike="noStrike">
                <a:solidFill>
                  <a:srgbClr val="00E5FF"/>
                </a:solidFill>
                <a:latin typeface="Noto Sans SC" panose="020B0500000000000000" charset="-122"/>
                <a:ea typeface="Noto Sans SC" panose="020B0500000000000000" charset="-122"/>
                <a:cs typeface="Noto Sans SC" panose="020B0500000000000000" charset="-122"/>
                <a:sym typeface="Noto Sans SC" panose="020B0500000000000000" charset="-122"/>
              </a:rPr>
              <a:t>Claude Code：</a:t>
            </a:r>
            <a:r>
              <a:rPr lang="en-US" sz="1300" b="0" i="0" u="none" strike="noStrike">
                <a:solidFill>
                  <a:srgbClr val="9CA3AF"/>
                </a:solidFill>
                <a:latin typeface="Noto Sans SC" panose="020B0500000000000000" charset="-122"/>
                <a:ea typeface="Noto Sans SC" panose="020B0500000000000000" charset="-122"/>
                <a:cs typeface="Noto Sans SC" panose="020B0500000000000000" charset="-122"/>
                <a:sym typeface="Noto Sans SC" panose="020B0500000000000000" charset="-122"/>
              </a:rPr>
              <a:t>审计加固代码库，搭建日志监控等基础设施。</a:t>
            </a:r>
            <a:endParaRPr lang="en-US" sz="1300" b="0" i="0" u="none" strike="noStrike">
              <a:solidFill>
                <a:srgbClr val="9CA3AF"/>
              </a:solidFill>
              <a:latin typeface="Noto Sans SC" panose="020B0500000000000000" charset="-122"/>
              <a:ea typeface="Noto Sans SC" panose="020B0500000000000000" charset="-122"/>
              <a:cs typeface="Noto Sans SC" panose="020B0500000000000000" charset="-122"/>
              <a:sym typeface="Noto Sans SC" panose="020B0500000000000000" charset="-122"/>
            </a:endParaRPr>
          </a:p>
        </p:txBody>
      </p:sp>
      <p:sp>
        <p:nvSpPr>
          <p:cNvPr id="13" name="AutoShape 13"/>
          <p:cNvSpPr/>
          <p:nvPr/>
        </p:nvSpPr>
        <p:spPr>
          <a:xfrm>
            <a:off x="8051800" y="2159000"/>
            <a:ext cx="3378200" cy="4064000"/>
          </a:xfrm>
          <a:prstGeom prst="roundRect">
            <a:avLst>
              <a:gd name="adj" fmla="val 4511"/>
            </a:avLst>
          </a:prstGeom>
          <a:solidFill>
            <a:srgbClr val="FFFFFF">
              <a:alpha val="8000"/>
            </a:srgbClr>
          </a:solidFill>
          <a:ln w="12700" cap="flat" cmpd="sng">
            <a:solidFill>
              <a:srgbClr val="00E5FF">
                <a:alpha val="30000"/>
              </a:srgbClr>
            </a:solidFill>
            <a:prstDash val="solid"/>
            <a:round/>
          </a:ln>
        </p:spPr>
        <p:txBody>
          <a:bodyPr vert="horz" wrap="square" lIns="63500" tIns="63500" rIns="63500" bIns="63500" rtlCol="0" anchor="ctr"/>
          <a:lstStyle/>
          <a:p>
            <a:pPr algn="ctr">
              <a:defRPr/>
            </a:pPr>
          </a:p>
        </p:txBody>
      </p:sp>
      <p:pic>
        <p:nvPicPr>
          <p:cNvPr id="14" name="Picture 14"/>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8356600" y="2463800"/>
            <a:ext cx="457200" cy="457200"/>
          </a:xfrm>
          <a:prstGeom prst="rect">
            <a:avLst/>
          </a:prstGeom>
        </p:spPr>
      </p:pic>
      <p:sp>
        <p:nvSpPr>
          <p:cNvPr id="15" name="AutoShape 15"/>
          <p:cNvSpPr/>
          <p:nvPr/>
        </p:nvSpPr>
        <p:spPr>
          <a:xfrm>
            <a:off x="8356600" y="3048000"/>
            <a:ext cx="2768600" cy="381000"/>
          </a:xfrm>
          <a:prstGeom prst="rect">
            <a:avLst/>
          </a:prstGeom>
          <a:noFill/>
          <a:ln w="12700" cap="flat" cmpd="sng">
            <a:noFill/>
            <a:prstDash val="solid"/>
            <a:round/>
          </a:ln>
        </p:spPr>
        <p:txBody>
          <a:bodyPr vert="horz" wrap="square" lIns="0" tIns="0" rIns="0" bIns="0" rtlCol="0" anchor="t" anchorCtr="0"/>
          <a:lstStyle/>
          <a:p>
            <a:pPr indent="0" algn="l">
              <a:lnSpc>
                <a:spcPct val="125000"/>
              </a:lnSpc>
              <a:defRPr/>
            </a:pPr>
            <a:r>
              <a:rPr lang="en-US" sz="1800" b="1" i="0" u="none" strike="noStrike">
                <a:solidFill>
                  <a:srgbClr val="FFFFFF"/>
                </a:solidFill>
                <a:latin typeface="Noto Sans SC" panose="020B0500000000000000" charset="-122"/>
                <a:ea typeface="Noto Sans SC" panose="020B0500000000000000" charset="-122"/>
                <a:cs typeface="Noto Sans SC" panose="020B0500000000000000" charset="-122"/>
                <a:sym typeface="Noto Sans SC" panose="020B0500000000000000" charset="-122"/>
              </a:rPr>
              <a:t>GTM职能专业化</a:t>
            </a:r>
            <a:endParaRPr lang="en-US" sz="1100"/>
          </a:p>
        </p:txBody>
      </p:sp>
      <p:sp>
        <p:nvSpPr>
          <p:cNvPr id="16" name="AutoShape 16"/>
          <p:cNvSpPr/>
          <p:nvPr/>
        </p:nvSpPr>
        <p:spPr>
          <a:xfrm>
            <a:off x="8356600" y="3556000"/>
            <a:ext cx="2768600" cy="2286000"/>
          </a:xfrm>
          <a:prstGeom prst="rect">
            <a:avLst/>
          </a:prstGeom>
          <a:noFill/>
          <a:ln w="12700" cap="flat" cmpd="sng">
            <a:noFill/>
            <a:prstDash val="solid"/>
            <a:round/>
          </a:ln>
        </p:spPr>
        <p:txBody>
          <a:bodyPr vert="horz" wrap="square" lIns="0" tIns="0" rIns="0" bIns="0" rtlCol="0" anchor="t" anchorCtr="0"/>
          <a:lstStyle/>
          <a:p>
            <a:pPr indent="0" algn="l">
              <a:lnSpc>
                <a:spcPct val="125000"/>
              </a:lnSpc>
              <a:defRPr/>
            </a:pPr>
            <a:r>
              <a:rPr lang="en-US" sz="1300" b="0" i="0" u="none" strike="noStrike">
                <a:solidFill>
                  <a:srgbClr val="D1D5DB"/>
                </a:solidFill>
                <a:latin typeface="Noto Sans SC" panose="020B0500000000000000" charset="-122"/>
                <a:ea typeface="Noto Sans SC" panose="020B0500000000000000" charset="-122"/>
                <a:cs typeface="Noto Sans SC" panose="020B0500000000000000" charset="-122"/>
                <a:sym typeface="Noto Sans SC" panose="020B0500000000000000" charset="-122"/>
              </a:rPr>
              <a:t>从零构建专业的市场与销售能力，为下一阶段增长蓄力。</a:t>
            </a:r>
            <a:endParaRPr lang="en-US" sz="1100"/>
          </a:p>
          <a:p>
            <a:pPr indent="0" algn="l">
              <a:lnSpc>
                <a:spcPct val="125000"/>
              </a:lnSpc>
            </a:pPr>
            <a:br>
              <a:rPr lang="en-US" sz="1300" b="0" i="0" u="none" strike="noStrike">
                <a:solidFill>
                  <a:srgbClr val="1F2329"/>
                </a:solidFill>
                <a:latin typeface="Noto Sans SC" panose="020B0500000000000000" charset="-122"/>
                <a:ea typeface="Noto Sans SC" panose="020B0500000000000000" charset="-122"/>
                <a:cs typeface="Noto Sans SC" panose="020B0500000000000000" charset="-122"/>
                <a:sym typeface="Noto Sans SC" panose="020B0500000000000000" charset="-122"/>
              </a:rPr>
            </a:br>
            <a:endParaRPr lang="en-US" sz="1300" b="0" i="0" u="none" strike="noStrike">
              <a:solidFill>
                <a:srgbClr val="1F2329"/>
              </a:solidFill>
              <a:latin typeface="Noto Sans SC" panose="020B0500000000000000" charset="-122"/>
              <a:ea typeface="Noto Sans SC" panose="020B0500000000000000" charset="-122"/>
              <a:cs typeface="Noto Sans SC" panose="020B0500000000000000" charset="-122"/>
              <a:sym typeface="Noto Sans SC" panose="020B0500000000000000" charset="-122"/>
            </a:endParaRPr>
          </a:p>
          <a:p>
            <a:pPr indent="0" algn="l">
              <a:lnSpc>
                <a:spcPct val="117000"/>
              </a:lnSpc>
            </a:pPr>
            <a:r>
              <a:rPr lang="en-US" sz="1300" b="1" i="0" u="none" strike="noStrike">
                <a:solidFill>
                  <a:srgbClr val="00E5FF"/>
                </a:solidFill>
                <a:latin typeface="Noto Sans SC" panose="020B0500000000000000" charset="-122"/>
                <a:ea typeface="Noto Sans SC" panose="020B0500000000000000" charset="-122"/>
                <a:cs typeface="Noto Sans SC" panose="020B0500000000000000" charset="-122"/>
                <a:sym typeface="Noto Sans SC" panose="020B0500000000000000" charset="-122"/>
              </a:rPr>
              <a:t>Claude (Chat)：</a:t>
            </a:r>
            <a:r>
              <a:rPr lang="en-US" sz="1300" b="0" i="0" u="none" strike="noStrike">
                <a:solidFill>
                  <a:srgbClr val="9CA3AF"/>
                </a:solidFill>
                <a:latin typeface="Noto Sans SC" panose="020B0500000000000000" charset="-122"/>
                <a:ea typeface="Noto Sans SC" panose="020B0500000000000000" charset="-122"/>
                <a:cs typeface="Noto Sans SC" panose="020B0500000000000000" charset="-122"/>
                <a:sym typeface="Noto Sans SC" panose="020B0500000000000000" charset="-122"/>
              </a:rPr>
              <a:t>制定市场细分策略，输出销售手册与信息架构。</a:t>
            </a:r>
            <a:endParaRPr lang="en-US" sz="1300" b="0" i="0" u="none" strike="noStrike">
              <a:solidFill>
                <a:srgbClr val="9CA3AF"/>
              </a:solidFill>
              <a:latin typeface="Noto Sans SC" panose="020B0500000000000000" charset="-122"/>
              <a:ea typeface="Noto Sans SC" panose="020B0500000000000000" charset="-122"/>
              <a:cs typeface="Noto Sans SC" panose="020B0500000000000000" charset="-122"/>
              <a:sym typeface="Noto Sans SC" panose="020B0500000000000000" charset="-122"/>
            </a:endParaRPr>
          </a:p>
          <a:p>
            <a:pPr indent="0" algn="l">
              <a:lnSpc>
                <a:spcPct val="117000"/>
              </a:lnSpc>
            </a:pPr>
            <a:r>
              <a:rPr lang="en-US" sz="1300" b="1" i="0" u="none" strike="noStrike">
                <a:solidFill>
                  <a:srgbClr val="00E5FF"/>
                </a:solidFill>
                <a:latin typeface="Noto Sans SC" panose="020B0500000000000000" charset="-122"/>
                <a:ea typeface="Noto Sans SC" panose="020B0500000000000000" charset="-122"/>
                <a:cs typeface="Noto Sans SC" panose="020B0500000000000000" charset="-122"/>
                <a:sym typeface="Noto Sans SC" panose="020B0500000000000000" charset="-122"/>
              </a:rPr>
              <a:t>Claude Cowork：</a:t>
            </a:r>
            <a:r>
              <a:rPr lang="en-US" sz="1300" b="0" i="0" u="none" strike="noStrike">
                <a:solidFill>
                  <a:srgbClr val="9CA3AF"/>
                </a:solidFill>
                <a:latin typeface="Noto Sans SC" panose="020B0500000000000000" charset="-122"/>
                <a:ea typeface="Noto Sans SC" panose="020B0500000000000000" charset="-122"/>
                <a:cs typeface="Noto Sans SC" panose="020B0500000000000000" charset="-122"/>
                <a:sym typeface="Noto Sans SC" panose="020B0500000000000000" charset="-122"/>
              </a:rPr>
              <a:t>作为战术执行层，自动化管理内容管道与外展序列。</a:t>
            </a:r>
            <a:endParaRPr lang="en-US" sz="1300" b="0" i="0" u="none" strike="noStrike">
              <a:solidFill>
                <a:srgbClr val="9CA3AF"/>
              </a:solidFill>
              <a:latin typeface="Noto Sans SC" panose="020B0500000000000000" charset="-122"/>
              <a:ea typeface="Noto Sans SC" panose="020B0500000000000000" charset="-122"/>
              <a:cs typeface="Noto Sans SC" panose="020B0500000000000000" charset="-122"/>
              <a:sym typeface="Noto Sans SC" panose="020B0500000000000000" charset="-122"/>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000000">
              <a:alpha val="80000"/>
            </a:srgbClr>
          </a:solidFill>
          <a:ln w="25400" cap="flat" cmpd="sng">
            <a:noFill/>
            <a:prstDash val="solid"/>
            <a:round/>
          </a:ln>
        </p:spPr>
        <p:txBody>
          <a:bodyPr vert="horz" wrap="square" lIns="63500" tIns="63500" rIns="63500" bIns="63500" rtlCol="0" anchor="ctr"/>
          <a:lstStyle/>
          <a:p>
            <a:pPr algn="ctr">
              <a:defRPr/>
            </a:pPr>
          </a:p>
        </p:txBody>
      </p:sp>
      <p:sp>
        <p:nvSpPr>
          <p:cNvPr id="3" name="AutoShape 3"/>
          <p:cNvSpPr/>
          <p:nvPr/>
        </p:nvSpPr>
        <p:spPr>
          <a:xfrm>
            <a:off x="762000" y="635000"/>
            <a:ext cx="10668000" cy="5715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3200" b="1" i="0" u="none" strike="noStrike">
                <a:solidFill>
                  <a:srgbClr val="FFFFFF"/>
                </a:solidFill>
                <a:latin typeface="Noto Sans SC" panose="020B0500000000000000" charset="-122"/>
                <a:ea typeface="Noto Sans SC" panose="020B0500000000000000" charset="-122"/>
                <a:cs typeface="Noto Sans SC" panose="020B0500000000000000" charset="-122"/>
                <a:sym typeface="Noto Sans SC" panose="020B0500000000000000" charset="-122"/>
              </a:rPr>
              <a:t>构建护城河：数据飞轮与工作流锁定</a:t>
            </a:r>
            <a:endParaRPr lang="en-US" sz="1100"/>
          </a:p>
        </p:txBody>
      </p:sp>
      <p:sp>
        <p:nvSpPr>
          <p:cNvPr id="4" name="AutoShape 4"/>
          <p:cNvSpPr/>
          <p:nvPr/>
        </p:nvSpPr>
        <p:spPr>
          <a:xfrm>
            <a:off x="762000" y="1651000"/>
            <a:ext cx="3302000" cy="4572000"/>
          </a:xfrm>
          <a:prstGeom prst="roundRect">
            <a:avLst>
              <a:gd name="adj" fmla="val 4615"/>
            </a:avLst>
          </a:prstGeom>
          <a:solidFill>
            <a:srgbClr val="FFFFFF">
              <a:alpha val="8000"/>
            </a:srgbClr>
          </a:solidFill>
          <a:ln w="12700" cap="flat" cmpd="sng">
            <a:solidFill>
              <a:srgbClr val="00E5FF">
                <a:alpha val="30000"/>
              </a:srgbClr>
            </a:solidFill>
            <a:prstDash val="solid"/>
            <a:round/>
          </a:ln>
        </p:spPr>
        <p:txBody>
          <a:bodyPr vert="horz" wrap="square" lIns="63500" tIns="63500" rIns="63500" bIns="63500" rtlCol="0" anchor="ctr"/>
          <a:lstStyle/>
          <a:p>
            <a:pPr algn="ctr">
              <a:defRPr/>
            </a:pPr>
          </a:p>
        </p:txBody>
      </p:sp>
      <p:sp>
        <p:nvSpPr>
          <p:cNvPr id="5" name="AutoShape 5"/>
          <p:cNvSpPr/>
          <p:nvPr/>
        </p:nvSpPr>
        <p:spPr>
          <a:xfrm>
            <a:off x="1066800" y="1955800"/>
            <a:ext cx="609600" cy="609600"/>
          </a:xfrm>
          <a:prstGeom prst="ellipse">
            <a:avLst/>
          </a:prstGeom>
          <a:solidFill>
            <a:srgbClr val="00E5FF">
              <a:alpha val="15000"/>
            </a:srgbClr>
          </a:solidFill>
          <a:ln w="25400" cap="flat" cmpd="sng">
            <a:noFill/>
            <a:prstDash val="solid"/>
            <a:round/>
          </a:ln>
        </p:spPr>
        <p:txBody>
          <a:bodyPr vert="horz" wrap="square" lIns="63500" tIns="63500" rIns="63500" bIns="63500" rtlCol="0" anchor="ctr"/>
          <a:lstStyle/>
          <a:p>
            <a:pPr algn="ctr">
              <a:defRPr/>
            </a:pPr>
          </a:p>
        </p:txBody>
      </p:sp>
      <p:pic>
        <p:nvPicPr>
          <p:cNvPr id="6" name="Picture 6"/>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193800" y="2082800"/>
            <a:ext cx="355600" cy="355600"/>
          </a:xfrm>
          <a:prstGeom prst="rect">
            <a:avLst/>
          </a:prstGeom>
        </p:spPr>
      </p:pic>
      <p:sp>
        <p:nvSpPr>
          <p:cNvPr id="7" name="AutoShape 7"/>
          <p:cNvSpPr/>
          <p:nvPr/>
        </p:nvSpPr>
        <p:spPr>
          <a:xfrm>
            <a:off x="1066800" y="2730500"/>
            <a:ext cx="2692400" cy="381000"/>
          </a:xfrm>
          <a:prstGeom prst="rect">
            <a:avLst/>
          </a:prstGeom>
          <a:noFill/>
          <a:ln w="12700" cap="flat" cmpd="sng">
            <a:noFill/>
            <a:prstDash val="solid"/>
            <a:round/>
          </a:ln>
        </p:spPr>
        <p:txBody>
          <a:bodyPr vert="horz" wrap="square" lIns="0" tIns="0" rIns="0" bIns="0" rtlCol="0" anchor="t" anchorCtr="0"/>
          <a:lstStyle/>
          <a:p>
            <a:pPr indent="0" algn="l">
              <a:lnSpc>
                <a:spcPct val="125000"/>
              </a:lnSpc>
              <a:defRPr/>
            </a:pPr>
            <a:r>
              <a:rPr lang="en-US" sz="1800" b="1" i="0" u="none" strike="noStrike">
                <a:solidFill>
                  <a:srgbClr val="FFFFFF"/>
                </a:solidFill>
                <a:latin typeface="Noto Sans SC" panose="020B0500000000000000" charset="-122"/>
                <a:ea typeface="Noto Sans SC" panose="020B0500000000000000" charset="-122"/>
                <a:cs typeface="Noto Sans SC" panose="020B0500000000000000" charset="-122"/>
                <a:sym typeface="Noto Sans SC" panose="020B0500000000000000" charset="-122"/>
              </a:rPr>
              <a:t>策略一：领域知识AI化</a:t>
            </a:r>
            <a:endParaRPr lang="en-US" sz="1100"/>
          </a:p>
        </p:txBody>
      </p:sp>
      <p:sp>
        <p:nvSpPr>
          <p:cNvPr id="8" name="AutoShape 8"/>
          <p:cNvSpPr/>
          <p:nvPr/>
        </p:nvSpPr>
        <p:spPr>
          <a:xfrm>
            <a:off x="1066800" y="3238500"/>
            <a:ext cx="2692400" cy="2540000"/>
          </a:xfrm>
          <a:prstGeom prst="rect">
            <a:avLst/>
          </a:prstGeom>
          <a:noFill/>
          <a:ln w="12700" cap="flat" cmpd="sng">
            <a:noFill/>
            <a:prstDash val="solid"/>
            <a:round/>
          </a:ln>
        </p:spPr>
        <p:txBody>
          <a:bodyPr vert="horz" wrap="square" lIns="0" tIns="0" rIns="0" bIns="0" rtlCol="0" anchor="t" anchorCtr="0"/>
          <a:lstStyle/>
          <a:p>
            <a:pPr indent="0" algn="l">
              <a:lnSpc>
                <a:spcPct val="117000"/>
              </a:lnSpc>
              <a:defRPr/>
            </a:pPr>
            <a:r>
              <a:rPr lang="en-US" sz="1300" b="0" i="0" u="none" strike="noStrike">
                <a:solidFill>
                  <a:srgbClr val="D1D5DB"/>
                </a:solidFill>
                <a:latin typeface="Noto Sans SC" panose="020B0500000000000000" charset="-122"/>
                <a:ea typeface="Noto Sans SC" panose="020B0500000000000000" charset="-122"/>
                <a:cs typeface="Noto Sans SC" panose="020B0500000000000000" charset="-122"/>
                <a:sym typeface="Noto Sans SC" panose="020B0500000000000000" charset="-122"/>
              </a:rPr>
              <a:t>将创始人的行业经验与专业知识，通过Claude进行结构化捕获与提炼，构建独有的企业级知识库。</a:t>
            </a:r>
            <a:endParaRPr lang="en-US" sz="1100"/>
          </a:p>
          <a:p>
            <a:pPr indent="0" algn="l">
              <a:lnSpc>
                <a:spcPct val="117000"/>
              </a:lnSpc>
            </a:pPr>
            <a:br>
              <a:rPr lang="en-US" sz="1300" b="0" i="0" u="none" strike="noStrike">
                <a:solidFill>
                  <a:srgbClr val="1F2329"/>
                </a:solidFill>
                <a:latin typeface="Noto Sans SC" panose="020B0500000000000000" charset="-122"/>
                <a:ea typeface="Noto Sans SC" panose="020B0500000000000000" charset="-122"/>
                <a:cs typeface="Noto Sans SC" panose="020B0500000000000000" charset="-122"/>
                <a:sym typeface="Noto Sans SC" panose="020B0500000000000000" charset="-122"/>
              </a:rPr>
            </a:br>
            <a:endParaRPr lang="en-US" sz="1300" b="0" i="0" u="none" strike="noStrike">
              <a:solidFill>
                <a:srgbClr val="1F2329"/>
              </a:solidFill>
              <a:latin typeface="Noto Sans SC" panose="020B0500000000000000" charset="-122"/>
              <a:ea typeface="Noto Sans SC" panose="020B0500000000000000" charset="-122"/>
              <a:cs typeface="Noto Sans SC" panose="020B0500000000000000" charset="-122"/>
              <a:sym typeface="Noto Sans SC" panose="020B0500000000000000" charset="-122"/>
            </a:endParaRPr>
          </a:p>
          <a:p>
            <a:pPr indent="0" algn="l">
              <a:lnSpc>
                <a:spcPct val="117000"/>
              </a:lnSpc>
            </a:pPr>
            <a:r>
              <a:rPr lang="en-US" sz="1300" b="1" i="0" u="none" strike="noStrike">
                <a:solidFill>
                  <a:srgbClr val="00E5FF"/>
                </a:solidFill>
                <a:latin typeface="Noto Sans SC" panose="020B0500000000000000" charset="-122"/>
                <a:ea typeface="Noto Sans SC" panose="020B0500000000000000" charset="-122"/>
                <a:cs typeface="Noto Sans SC" panose="020B0500000000000000" charset="-122"/>
                <a:sym typeface="Noto Sans SC" panose="020B0500000000000000" charset="-122"/>
              </a:rPr>
              <a:t>核心价值：</a:t>
            </a:r>
            <a:r>
              <a:rPr lang="en-US" sz="1300" b="0" i="0" u="none" strike="noStrike">
                <a:solidFill>
                  <a:srgbClr val="D1D5DB"/>
                </a:solidFill>
                <a:latin typeface="Noto Sans SC" panose="020B0500000000000000" charset="-122"/>
                <a:ea typeface="Noto Sans SC" panose="020B0500000000000000" charset="-122"/>
                <a:cs typeface="Noto Sans SC" panose="020B0500000000000000" charset="-122"/>
                <a:sym typeface="Noto Sans SC" panose="020B0500000000000000" charset="-122"/>
              </a:rPr>
              <a:t>使产品具备解决行业特定复杂问题的能力，形成通用AI无法复制的深度竞争壁垒。</a:t>
            </a:r>
            <a:endParaRPr lang="en-US" sz="1300" b="0" i="0" u="none" strike="noStrike">
              <a:solidFill>
                <a:srgbClr val="D1D5DB"/>
              </a:solidFill>
              <a:latin typeface="Noto Sans SC" panose="020B0500000000000000" charset="-122"/>
              <a:ea typeface="Noto Sans SC" panose="020B0500000000000000" charset="-122"/>
              <a:cs typeface="Noto Sans SC" panose="020B0500000000000000" charset="-122"/>
              <a:sym typeface="Noto Sans SC" panose="020B0500000000000000" charset="-122"/>
            </a:endParaRPr>
          </a:p>
        </p:txBody>
      </p:sp>
      <p:sp>
        <p:nvSpPr>
          <p:cNvPr id="9" name="AutoShape 9"/>
          <p:cNvSpPr/>
          <p:nvPr/>
        </p:nvSpPr>
        <p:spPr>
          <a:xfrm>
            <a:off x="4445000" y="1651000"/>
            <a:ext cx="3302000" cy="4572000"/>
          </a:xfrm>
          <a:prstGeom prst="roundRect">
            <a:avLst>
              <a:gd name="adj" fmla="val 4615"/>
            </a:avLst>
          </a:prstGeom>
          <a:solidFill>
            <a:srgbClr val="FFFFFF">
              <a:alpha val="8000"/>
            </a:srgbClr>
          </a:solidFill>
          <a:ln w="12700" cap="flat" cmpd="sng">
            <a:solidFill>
              <a:srgbClr val="00E5FF">
                <a:alpha val="30000"/>
              </a:srgbClr>
            </a:solidFill>
            <a:prstDash val="solid"/>
            <a:round/>
          </a:ln>
        </p:spPr>
        <p:txBody>
          <a:bodyPr vert="horz" wrap="square" lIns="63500" tIns="63500" rIns="63500" bIns="63500" rtlCol="0" anchor="ctr"/>
          <a:lstStyle/>
          <a:p>
            <a:pPr algn="ctr">
              <a:defRPr/>
            </a:pPr>
          </a:p>
        </p:txBody>
      </p:sp>
      <p:sp>
        <p:nvSpPr>
          <p:cNvPr id="10" name="AutoShape 10"/>
          <p:cNvSpPr/>
          <p:nvPr/>
        </p:nvSpPr>
        <p:spPr>
          <a:xfrm>
            <a:off x="4749800" y="1955800"/>
            <a:ext cx="609600" cy="609600"/>
          </a:xfrm>
          <a:prstGeom prst="ellipse">
            <a:avLst/>
          </a:prstGeom>
          <a:solidFill>
            <a:srgbClr val="00E5FF">
              <a:alpha val="15000"/>
            </a:srgbClr>
          </a:solidFill>
          <a:ln w="25400" cap="flat" cmpd="sng">
            <a:noFill/>
            <a:prstDash val="solid"/>
            <a:round/>
          </a:ln>
        </p:spPr>
        <p:txBody>
          <a:bodyPr vert="horz" wrap="square" lIns="63500" tIns="63500" rIns="63500" bIns="63500" rtlCol="0" anchor="ctr"/>
          <a:lstStyle/>
          <a:p>
            <a:pPr algn="ctr">
              <a:defRPr/>
            </a:pPr>
          </a:p>
        </p:txBody>
      </p:sp>
      <p:pic>
        <p:nvPicPr>
          <p:cNvPr id="11" name="Picture 11"/>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4876800" y="2082800"/>
            <a:ext cx="355600" cy="355600"/>
          </a:xfrm>
          <a:prstGeom prst="rect">
            <a:avLst/>
          </a:prstGeom>
        </p:spPr>
      </p:pic>
      <p:sp>
        <p:nvSpPr>
          <p:cNvPr id="12" name="AutoShape 12"/>
          <p:cNvSpPr/>
          <p:nvPr/>
        </p:nvSpPr>
        <p:spPr>
          <a:xfrm>
            <a:off x="4749800" y="2730500"/>
            <a:ext cx="2692400" cy="381000"/>
          </a:xfrm>
          <a:prstGeom prst="rect">
            <a:avLst/>
          </a:prstGeom>
          <a:noFill/>
          <a:ln w="12700" cap="flat" cmpd="sng">
            <a:noFill/>
            <a:prstDash val="solid"/>
            <a:round/>
          </a:ln>
        </p:spPr>
        <p:txBody>
          <a:bodyPr vert="horz" wrap="square" lIns="0" tIns="0" rIns="0" bIns="0" rtlCol="0" anchor="t" anchorCtr="0"/>
          <a:lstStyle/>
          <a:p>
            <a:pPr indent="0" algn="l">
              <a:lnSpc>
                <a:spcPct val="125000"/>
              </a:lnSpc>
              <a:defRPr/>
            </a:pPr>
            <a:r>
              <a:rPr lang="en-US" sz="1800" b="1" i="0" u="none" strike="noStrike">
                <a:solidFill>
                  <a:srgbClr val="FFFFFF"/>
                </a:solidFill>
                <a:latin typeface="Noto Sans SC" panose="020B0500000000000000" charset="-122"/>
                <a:ea typeface="Noto Sans SC" panose="020B0500000000000000" charset="-122"/>
                <a:cs typeface="Noto Sans SC" panose="020B0500000000000000" charset="-122"/>
                <a:sym typeface="Noto Sans SC" panose="020B0500000000000000" charset="-122"/>
              </a:rPr>
              <a:t>策略二：数据飞轮自增强</a:t>
            </a:r>
            <a:endParaRPr lang="en-US" sz="1100"/>
          </a:p>
        </p:txBody>
      </p:sp>
      <p:sp>
        <p:nvSpPr>
          <p:cNvPr id="13" name="AutoShape 13"/>
          <p:cNvSpPr/>
          <p:nvPr/>
        </p:nvSpPr>
        <p:spPr>
          <a:xfrm>
            <a:off x="4749800" y="3238500"/>
            <a:ext cx="2692400" cy="2540000"/>
          </a:xfrm>
          <a:prstGeom prst="rect">
            <a:avLst/>
          </a:prstGeom>
          <a:noFill/>
          <a:ln w="12700" cap="flat" cmpd="sng">
            <a:noFill/>
            <a:prstDash val="solid"/>
            <a:round/>
          </a:ln>
        </p:spPr>
        <p:txBody>
          <a:bodyPr vert="horz" wrap="square" lIns="0" tIns="0" rIns="0" bIns="0" rtlCol="0" anchor="t" anchorCtr="0"/>
          <a:lstStyle/>
          <a:p>
            <a:pPr indent="0" algn="l">
              <a:lnSpc>
                <a:spcPct val="117000"/>
              </a:lnSpc>
              <a:defRPr/>
            </a:pPr>
            <a:r>
              <a:rPr lang="en-US" sz="1300" b="0" i="0" u="none" strike="noStrike">
                <a:solidFill>
                  <a:srgbClr val="D1D5DB"/>
                </a:solidFill>
                <a:latin typeface="Noto Sans SC" panose="020B0500000000000000" charset="-122"/>
                <a:ea typeface="Noto Sans SC" panose="020B0500000000000000" charset="-122"/>
                <a:cs typeface="Noto Sans SC" panose="020B0500000000000000" charset="-122"/>
                <a:sym typeface="Noto Sans SC" panose="020B0500000000000000" charset="-122"/>
              </a:rPr>
              <a:t>利用用户的每一次交互数据，持续迭代优化底层模型，让产品随着使用不断进化。</a:t>
            </a:r>
            <a:endParaRPr lang="en-US" sz="1100"/>
          </a:p>
          <a:p>
            <a:pPr indent="0" algn="l">
              <a:lnSpc>
                <a:spcPct val="117000"/>
              </a:lnSpc>
            </a:pPr>
            <a:br>
              <a:rPr lang="en-US" sz="1300" b="0" i="0" u="none" strike="noStrike">
                <a:solidFill>
                  <a:srgbClr val="1F2329"/>
                </a:solidFill>
                <a:latin typeface="Noto Sans SC" panose="020B0500000000000000" charset="-122"/>
                <a:ea typeface="Noto Sans SC" panose="020B0500000000000000" charset="-122"/>
                <a:cs typeface="Noto Sans SC" panose="020B0500000000000000" charset="-122"/>
                <a:sym typeface="Noto Sans SC" panose="020B0500000000000000" charset="-122"/>
              </a:rPr>
            </a:br>
            <a:endParaRPr lang="en-US" sz="1300" b="0" i="0" u="none" strike="noStrike">
              <a:solidFill>
                <a:srgbClr val="1F2329"/>
              </a:solidFill>
              <a:latin typeface="Noto Sans SC" panose="020B0500000000000000" charset="-122"/>
              <a:ea typeface="Noto Sans SC" panose="020B0500000000000000" charset="-122"/>
              <a:cs typeface="Noto Sans SC" panose="020B0500000000000000" charset="-122"/>
              <a:sym typeface="Noto Sans SC" panose="020B0500000000000000" charset="-122"/>
            </a:endParaRPr>
          </a:p>
          <a:p>
            <a:pPr indent="0" algn="l">
              <a:lnSpc>
                <a:spcPct val="117000"/>
              </a:lnSpc>
            </a:pPr>
            <a:r>
              <a:rPr lang="en-US" sz="1300" b="1" i="0" u="none" strike="noStrike">
                <a:solidFill>
                  <a:srgbClr val="00E5FF"/>
                </a:solidFill>
                <a:latin typeface="Noto Sans SC" panose="020B0500000000000000" charset="-122"/>
                <a:ea typeface="Noto Sans SC" panose="020B0500000000000000" charset="-122"/>
                <a:cs typeface="Noto Sans SC" panose="020B0500000000000000" charset="-122"/>
                <a:sym typeface="Noto Sans SC" panose="020B0500000000000000" charset="-122"/>
              </a:rPr>
              <a:t>核心价值：</a:t>
            </a:r>
            <a:r>
              <a:rPr lang="en-US" sz="1300" b="0" i="0" u="none" strike="noStrike">
                <a:solidFill>
                  <a:srgbClr val="D1D5DB"/>
                </a:solidFill>
                <a:latin typeface="Noto Sans SC" panose="020B0500000000000000" charset="-122"/>
                <a:ea typeface="Noto Sans SC" panose="020B0500000000000000" charset="-122"/>
                <a:cs typeface="Noto Sans SC" panose="020B0500000000000000" charset="-122"/>
                <a:sym typeface="Noto Sans SC" panose="020B0500000000000000" charset="-122"/>
              </a:rPr>
              <a:t>形成“用户越多→数据越丰富→产品越智能→吸引更多用户”的正向循环，构建指数级增长的防御优势。</a:t>
            </a:r>
            <a:endParaRPr lang="en-US" sz="1300" b="0" i="0" u="none" strike="noStrike">
              <a:solidFill>
                <a:srgbClr val="D1D5DB"/>
              </a:solidFill>
              <a:latin typeface="Noto Sans SC" panose="020B0500000000000000" charset="-122"/>
              <a:ea typeface="Noto Sans SC" panose="020B0500000000000000" charset="-122"/>
              <a:cs typeface="Noto Sans SC" panose="020B0500000000000000" charset="-122"/>
              <a:sym typeface="Noto Sans SC" panose="020B0500000000000000" charset="-122"/>
            </a:endParaRPr>
          </a:p>
        </p:txBody>
      </p:sp>
      <p:sp>
        <p:nvSpPr>
          <p:cNvPr id="14" name="AutoShape 14"/>
          <p:cNvSpPr/>
          <p:nvPr/>
        </p:nvSpPr>
        <p:spPr>
          <a:xfrm>
            <a:off x="8128000" y="1651000"/>
            <a:ext cx="3302000" cy="4572000"/>
          </a:xfrm>
          <a:prstGeom prst="roundRect">
            <a:avLst>
              <a:gd name="adj" fmla="val 4615"/>
            </a:avLst>
          </a:prstGeom>
          <a:solidFill>
            <a:srgbClr val="FFFFFF">
              <a:alpha val="8000"/>
            </a:srgbClr>
          </a:solidFill>
          <a:ln w="12700" cap="flat" cmpd="sng">
            <a:solidFill>
              <a:srgbClr val="00E5FF">
                <a:alpha val="30000"/>
              </a:srgbClr>
            </a:solidFill>
            <a:prstDash val="solid"/>
            <a:round/>
          </a:ln>
        </p:spPr>
        <p:txBody>
          <a:bodyPr vert="horz" wrap="square" lIns="63500" tIns="63500" rIns="63500" bIns="63500" rtlCol="0" anchor="ctr"/>
          <a:lstStyle/>
          <a:p>
            <a:pPr algn="ctr">
              <a:defRPr/>
            </a:pPr>
          </a:p>
        </p:txBody>
      </p:sp>
      <p:sp>
        <p:nvSpPr>
          <p:cNvPr id="15" name="AutoShape 15"/>
          <p:cNvSpPr/>
          <p:nvPr/>
        </p:nvSpPr>
        <p:spPr>
          <a:xfrm>
            <a:off x="8432800" y="1955800"/>
            <a:ext cx="609600" cy="609600"/>
          </a:xfrm>
          <a:prstGeom prst="ellipse">
            <a:avLst/>
          </a:prstGeom>
          <a:solidFill>
            <a:srgbClr val="00E5FF">
              <a:alpha val="15000"/>
            </a:srgbClr>
          </a:solidFill>
          <a:ln w="25400" cap="flat" cmpd="sng">
            <a:noFill/>
            <a:prstDash val="solid"/>
            <a:round/>
          </a:ln>
        </p:spPr>
        <p:txBody>
          <a:bodyPr vert="horz" wrap="square" lIns="63500" tIns="63500" rIns="63500" bIns="63500" rtlCol="0" anchor="ctr"/>
          <a:lstStyle/>
          <a:p>
            <a:pPr algn="ctr">
              <a:defRPr/>
            </a:pPr>
          </a:p>
        </p:txBody>
      </p:sp>
      <p:pic>
        <p:nvPicPr>
          <p:cNvPr id="16" name="Picture 16"/>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8559800" y="2082800"/>
            <a:ext cx="355600" cy="355600"/>
          </a:xfrm>
          <a:prstGeom prst="rect">
            <a:avLst/>
          </a:prstGeom>
        </p:spPr>
      </p:pic>
      <p:sp>
        <p:nvSpPr>
          <p:cNvPr id="17" name="AutoShape 17"/>
          <p:cNvSpPr/>
          <p:nvPr/>
        </p:nvSpPr>
        <p:spPr>
          <a:xfrm>
            <a:off x="8432800" y="2730500"/>
            <a:ext cx="2692400" cy="381000"/>
          </a:xfrm>
          <a:prstGeom prst="rect">
            <a:avLst/>
          </a:prstGeom>
          <a:noFill/>
          <a:ln w="12700" cap="flat" cmpd="sng">
            <a:noFill/>
            <a:prstDash val="solid"/>
            <a:round/>
          </a:ln>
        </p:spPr>
        <p:txBody>
          <a:bodyPr vert="horz" wrap="square" lIns="0" tIns="0" rIns="0" bIns="0" rtlCol="0" anchor="t" anchorCtr="0"/>
          <a:lstStyle/>
          <a:p>
            <a:pPr indent="0" algn="l">
              <a:lnSpc>
                <a:spcPct val="125000"/>
              </a:lnSpc>
              <a:defRPr/>
            </a:pPr>
            <a:r>
              <a:rPr lang="en-US" sz="1800" b="1" i="0" u="none" strike="noStrike">
                <a:solidFill>
                  <a:srgbClr val="FFFFFF"/>
                </a:solidFill>
                <a:latin typeface="Noto Sans SC" panose="020B0500000000000000" charset="-122"/>
                <a:ea typeface="Noto Sans SC" panose="020B0500000000000000" charset="-122"/>
                <a:cs typeface="Noto Sans SC" panose="020B0500000000000000" charset="-122"/>
                <a:sym typeface="Noto Sans SC" panose="020B0500000000000000" charset="-122"/>
              </a:rPr>
              <a:t>策略三：工作流生态锁定</a:t>
            </a:r>
            <a:endParaRPr lang="en-US" sz="1100"/>
          </a:p>
        </p:txBody>
      </p:sp>
      <p:sp>
        <p:nvSpPr>
          <p:cNvPr id="18" name="AutoShape 18"/>
          <p:cNvSpPr/>
          <p:nvPr/>
        </p:nvSpPr>
        <p:spPr>
          <a:xfrm>
            <a:off x="8432800" y="3238500"/>
            <a:ext cx="2692400" cy="2540000"/>
          </a:xfrm>
          <a:prstGeom prst="rect">
            <a:avLst/>
          </a:prstGeom>
          <a:noFill/>
          <a:ln w="12700" cap="flat" cmpd="sng">
            <a:noFill/>
            <a:prstDash val="solid"/>
            <a:round/>
          </a:ln>
        </p:spPr>
        <p:txBody>
          <a:bodyPr vert="horz" wrap="square" lIns="0" tIns="0" rIns="0" bIns="0" rtlCol="0" anchor="t" anchorCtr="0"/>
          <a:lstStyle/>
          <a:p>
            <a:pPr indent="0" algn="l">
              <a:lnSpc>
                <a:spcPct val="117000"/>
              </a:lnSpc>
              <a:defRPr/>
            </a:pPr>
            <a:r>
              <a:rPr lang="en-US" sz="1300" b="0" i="0" u="none" strike="noStrike">
                <a:solidFill>
                  <a:srgbClr val="D1D5DB"/>
                </a:solidFill>
                <a:latin typeface="Noto Sans SC" panose="020B0500000000000000" charset="-122"/>
                <a:ea typeface="Noto Sans SC" panose="020B0500000000000000" charset="-122"/>
                <a:cs typeface="Noto Sans SC" panose="020B0500000000000000" charset="-122"/>
                <a:sym typeface="Noto Sans SC" panose="020B0500000000000000" charset="-122"/>
              </a:rPr>
              <a:t>提供完善的API、Webhooks和SDK，鼓励用户在产品之上构建自定义自动化流程与业务模块。</a:t>
            </a:r>
            <a:endParaRPr lang="en-US" sz="1100"/>
          </a:p>
          <a:p>
            <a:pPr indent="0" algn="l">
              <a:lnSpc>
                <a:spcPct val="117000"/>
              </a:lnSpc>
            </a:pPr>
            <a:br>
              <a:rPr lang="en-US" sz="1300" b="0" i="0" u="none" strike="noStrike">
                <a:solidFill>
                  <a:srgbClr val="1F2329"/>
                </a:solidFill>
                <a:latin typeface="Noto Sans SC" panose="020B0500000000000000" charset="-122"/>
                <a:ea typeface="Noto Sans SC" panose="020B0500000000000000" charset="-122"/>
                <a:cs typeface="Noto Sans SC" panose="020B0500000000000000" charset="-122"/>
                <a:sym typeface="Noto Sans SC" panose="020B0500000000000000" charset="-122"/>
              </a:rPr>
            </a:br>
            <a:endParaRPr lang="en-US" sz="1300" b="0" i="0" u="none" strike="noStrike">
              <a:solidFill>
                <a:srgbClr val="1F2329"/>
              </a:solidFill>
              <a:latin typeface="Noto Sans SC" panose="020B0500000000000000" charset="-122"/>
              <a:ea typeface="Noto Sans SC" panose="020B0500000000000000" charset="-122"/>
              <a:cs typeface="Noto Sans SC" panose="020B0500000000000000" charset="-122"/>
              <a:sym typeface="Noto Sans SC" panose="020B0500000000000000" charset="-122"/>
            </a:endParaRPr>
          </a:p>
          <a:p>
            <a:pPr indent="0" algn="l">
              <a:lnSpc>
                <a:spcPct val="117000"/>
              </a:lnSpc>
            </a:pPr>
            <a:r>
              <a:rPr lang="en-US" sz="1300" b="1" i="0" u="none" strike="noStrike">
                <a:solidFill>
                  <a:srgbClr val="00E5FF"/>
                </a:solidFill>
                <a:latin typeface="Noto Sans SC" panose="020B0500000000000000" charset="-122"/>
                <a:ea typeface="Noto Sans SC" panose="020B0500000000000000" charset="-122"/>
                <a:cs typeface="Noto Sans SC" panose="020B0500000000000000" charset="-122"/>
                <a:sym typeface="Noto Sans SC" panose="020B0500000000000000" charset="-122"/>
              </a:rPr>
              <a:t>核心价值：</a:t>
            </a:r>
            <a:r>
              <a:rPr lang="en-US" sz="1300" b="0" i="0" u="none" strike="noStrike">
                <a:solidFill>
                  <a:srgbClr val="D1D5DB"/>
                </a:solidFill>
                <a:latin typeface="Noto Sans SC" panose="020B0500000000000000" charset="-122"/>
                <a:ea typeface="Noto Sans SC" panose="020B0500000000000000" charset="-122"/>
                <a:cs typeface="Noto Sans SC" panose="020B0500000000000000" charset="-122"/>
                <a:sym typeface="Noto Sans SC" panose="020B0500000000000000" charset="-122"/>
              </a:rPr>
              <a:t>通过提高用户的沉没成本与迁移难度，建立稳固的生态壁垒，实现极高的用户留存与忠诚度。</a:t>
            </a:r>
            <a:endParaRPr lang="en-US" sz="1300" b="0" i="0" u="none" strike="noStrike">
              <a:solidFill>
                <a:srgbClr val="D1D5DB"/>
              </a:solidFill>
              <a:latin typeface="Noto Sans SC" panose="020B0500000000000000" charset="-122"/>
              <a:ea typeface="Noto Sans SC" panose="020B0500000000000000" charset="-122"/>
              <a:cs typeface="Noto Sans SC" panose="020B0500000000000000" charset="-122"/>
              <a:sym typeface="Noto Sans SC" panose="020B0500000000000000" charset="-122"/>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000000">
              <a:alpha val="80000"/>
            </a:srgbClr>
          </a:solidFill>
          <a:ln w="25400" cap="flat" cmpd="sng">
            <a:noFill/>
            <a:prstDash val="solid"/>
            <a:round/>
          </a:ln>
        </p:spPr>
        <p:txBody>
          <a:bodyPr vert="horz" wrap="square" lIns="63500" tIns="63500" rIns="63500" bIns="63500" rtlCol="0" anchor="ctr"/>
          <a:lstStyle/>
          <a:p>
            <a:pPr algn="ctr">
              <a:defRPr/>
            </a:pPr>
          </a:p>
        </p:txBody>
      </p:sp>
      <p:sp>
        <p:nvSpPr>
          <p:cNvPr id="3" name="AutoShape 3"/>
          <p:cNvSpPr/>
          <p:nvPr/>
        </p:nvSpPr>
        <p:spPr>
          <a:xfrm>
            <a:off x="762000" y="635000"/>
            <a:ext cx="10668000" cy="5715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3200" b="1" i="0" u="none" strike="noStrike">
                <a:solidFill>
                  <a:srgbClr val="FFFFFF"/>
                </a:solidFill>
                <a:latin typeface="Noto Sans SC" panose="020B0500000000000000" charset="-122"/>
                <a:ea typeface="Noto Sans SC" panose="020B0500000000000000" charset="-122"/>
                <a:cs typeface="Noto Sans SC" panose="020B0500000000000000" charset="-122"/>
                <a:sym typeface="Noto Sans SC" panose="020B0500000000000000" charset="-122"/>
              </a:rPr>
              <a:t>总结：相同的工作，新的规则</a:t>
            </a:r>
            <a:endParaRPr lang="en-US" sz="1100"/>
          </a:p>
        </p:txBody>
      </p:sp>
      <p:sp>
        <p:nvSpPr>
          <p:cNvPr id="4" name="AutoShape 4"/>
          <p:cNvSpPr/>
          <p:nvPr/>
        </p:nvSpPr>
        <p:spPr>
          <a:xfrm>
            <a:off x="762000" y="1460500"/>
            <a:ext cx="10668000" cy="1016000"/>
          </a:xfrm>
          <a:prstGeom prst="roundRect">
            <a:avLst>
              <a:gd name="adj" fmla="val 10000"/>
            </a:avLst>
          </a:prstGeom>
          <a:solidFill>
            <a:srgbClr val="FFFFFF">
              <a:alpha val="8000"/>
            </a:srgbClr>
          </a:solidFill>
          <a:ln w="12700" cap="flat" cmpd="sng">
            <a:solidFill>
              <a:srgbClr val="00E5FF">
                <a:alpha val="30000"/>
              </a:srgbClr>
            </a:solidFill>
            <a:prstDash val="solid"/>
            <a:round/>
          </a:ln>
        </p:spPr>
        <p:txBody>
          <a:bodyPr vert="horz" wrap="square" lIns="63500" tIns="63500" rIns="63500" bIns="63500" rtlCol="0" anchor="ctr"/>
          <a:lstStyle/>
          <a:p>
            <a:pPr algn="ctr">
              <a:defRPr/>
            </a:pPr>
          </a:p>
        </p:txBody>
      </p:sp>
      <p:sp>
        <p:nvSpPr>
          <p:cNvPr id="5" name="AutoShape 5"/>
          <p:cNvSpPr/>
          <p:nvPr/>
        </p:nvSpPr>
        <p:spPr>
          <a:xfrm>
            <a:off x="1016000" y="1587500"/>
            <a:ext cx="10160000" cy="762000"/>
          </a:xfrm>
          <a:prstGeom prst="rect">
            <a:avLst/>
          </a:prstGeom>
          <a:noFill/>
          <a:ln w="12700" cap="flat" cmpd="sng">
            <a:noFill/>
            <a:prstDash val="solid"/>
            <a:round/>
          </a:ln>
        </p:spPr>
        <p:txBody>
          <a:bodyPr vert="horz" wrap="square" lIns="0" tIns="0" rIns="0" bIns="0" rtlCol="0" anchor="ctr" anchorCtr="0"/>
          <a:lstStyle/>
          <a:p>
            <a:pPr indent="0" algn="l">
              <a:lnSpc>
                <a:spcPct val="117000"/>
              </a:lnSpc>
              <a:defRPr/>
            </a:pPr>
            <a:r>
              <a:rPr lang="en-US" sz="1400" b="0" i="0" u="none" strike="noStrike">
                <a:solidFill>
                  <a:srgbClr val="E5E7EB"/>
                </a:solidFill>
                <a:latin typeface="Noto Sans SC" panose="020B0500000000000000" charset="-122"/>
                <a:ea typeface="Noto Sans SC" panose="020B0500000000000000" charset="-122"/>
                <a:cs typeface="Noto Sans SC" panose="020B0500000000000000" charset="-122"/>
                <a:sym typeface="Noto Sans SC" panose="020B0500000000000000" charset="-122"/>
              </a:rPr>
              <a:t>创始人的核心工作没有改变——找到真实问题，构建解决方案，并将其扩展成一家重要的公司。改变的是实现这一目标的路径。</a:t>
            </a:r>
            <a:endParaRPr lang="en-US" sz="1100"/>
          </a:p>
        </p:txBody>
      </p:sp>
      <p:sp>
        <p:nvSpPr>
          <p:cNvPr id="6" name="AutoShape 6"/>
          <p:cNvSpPr/>
          <p:nvPr/>
        </p:nvSpPr>
        <p:spPr>
          <a:xfrm>
            <a:off x="762000" y="2794000"/>
            <a:ext cx="3810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00E5FF"/>
                </a:solidFill>
                <a:latin typeface="Noto Sans SC" panose="020B0500000000000000" charset="-122"/>
                <a:ea typeface="Noto Sans SC" panose="020B0500000000000000" charset="-122"/>
                <a:cs typeface="Noto Sans SC" panose="020B0500000000000000" charset="-122"/>
                <a:sym typeface="Noto Sans SC" panose="020B0500000000000000" charset="-122"/>
              </a:rPr>
              <a:t>AI 带来的压缩效应</a:t>
            </a:r>
            <a:endParaRPr lang="en-US" sz="1100"/>
          </a:p>
        </p:txBody>
      </p:sp>
      <p:sp>
        <p:nvSpPr>
          <p:cNvPr id="7" name="AutoShape 7"/>
          <p:cNvSpPr/>
          <p:nvPr/>
        </p:nvSpPr>
        <p:spPr>
          <a:xfrm>
            <a:off x="762000" y="3302000"/>
            <a:ext cx="2476500" cy="1778000"/>
          </a:xfrm>
          <a:prstGeom prst="roundRect">
            <a:avLst>
              <a:gd name="adj" fmla="val 5714"/>
            </a:avLst>
          </a:prstGeom>
          <a:solidFill>
            <a:srgbClr val="FFFFFF">
              <a:alpha val="5000"/>
            </a:srgbClr>
          </a:solidFill>
          <a:ln w="12700" cap="flat" cmpd="sng">
            <a:solidFill>
              <a:srgbClr val="FFFFFF">
                <a:alpha val="10000"/>
              </a:srgbClr>
            </a:solidFill>
            <a:prstDash val="solid"/>
            <a:round/>
          </a:ln>
        </p:spPr>
        <p:txBody>
          <a:bodyPr vert="horz" wrap="square" lIns="63500" tIns="63500" rIns="63500" bIns="63500" rtlCol="0" anchor="ctr"/>
          <a:lstStyle/>
          <a:p>
            <a:pPr algn="ctr">
              <a:defRPr/>
            </a:pPr>
          </a:p>
        </p:txBody>
      </p:sp>
      <p:pic>
        <p:nvPicPr>
          <p:cNvPr id="8" name="Picture 8"/>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016000" y="3556000"/>
            <a:ext cx="355600" cy="355600"/>
          </a:xfrm>
          <a:prstGeom prst="rect">
            <a:avLst/>
          </a:prstGeom>
        </p:spPr>
      </p:pic>
      <p:sp>
        <p:nvSpPr>
          <p:cNvPr id="9" name="AutoShape 9"/>
          <p:cNvSpPr/>
          <p:nvPr/>
        </p:nvSpPr>
        <p:spPr>
          <a:xfrm>
            <a:off x="1016000" y="4038600"/>
            <a:ext cx="1968500" cy="304800"/>
          </a:xfrm>
          <a:prstGeom prst="rect">
            <a:avLst/>
          </a:prstGeom>
          <a:noFill/>
          <a:ln w="12700" cap="flat" cmpd="sng">
            <a:noFill/>
            <a:prstDash val="solid"/>
            <a:round/>
          </a:ln>
        </p:spPr>
        <p:txBody>
          <a:bodyPr vert="horz" wrap="square" lIns="0" tIns="0" rIns="0" bIns="0" rtlCol="0" anchor="t" anchorCtr="0"/>
          <a:lstStyle/>
          <a:p>
            <a:pPr indent="0" algn="l">
              <a:lnSpc>
                <a:spcPct val="125000"/>
              </a:lnSpc>
              <a:defRPr/>
            </a:pPr>
            <a:r>
              <a:rPr lang="en-US" sz="1400" b="1" i="0" u="none" strike="noStrike">
                <a:solidFill>
                  <a:srgbClr val="FFFFFF"/>
                </a:solidFill>
                <a:latin typeface="Noto Sans SC" panose="020B0500000000000000" charset="-122"/>
                <a:ea typeface="Noto Sans SC" panose="020B0500000000000000" charset="-122"/>
                <a:cs typeface="Noto Sans SC" panose="020B0500000000000000" charset="-122"/>
                <a:sym typeface="Noto Sans SC" panose="020B0500000000000000" charset="-122"/>
              </a:rPr>
              <a:t>验证周期压缩</a:t>
            </a:r>
            <a:endParaRPr lang="en-US" sz="1100"/>
          </a:p>
        </p:txBody>
      </p:sp>
      <p:sp>
        <p:nvSpPr>
          <p:cNvPr id="10" name="AutoShape 10"/>
          <p:cNvSpPr/>
          <p:nvPr/>
        </p:nvSpPr>
        <p:spPr>
          <a:xfrm>
            <a:off x="1016000" y="4419600"/>
            <a:ext cx="1968500" cy="508000"/>
          </a:xfrm>
          <a:prstGeom prst="rect">
            <a:avLst/>
          </a:prstGeom>
          <a:noFill/>
          <a:ln w="12700" cap="flat" cmpd="sng">
            <a:noFill/>
            <a:prstDash val="solid"/>
            <a:round/>
          </a:ln>
        </p:spPr>
        <p:txBody>
          <a:bodyPr vert="horz" wrap="square" lIns="0" tIns="0" rIns="0" bIns="0" rtlCol="0" anchor="t" anchorCtr="0"/>
          <a:lstStyle/>
          <a:p>
            <a:pPr indent="0" algn="l">
              <a:lnSpc>
                <a:spcPct val="108000"/>
              </a:lnSpc>
              <a:defRPr/>
            </a:pPr>
            <a:r>
              <a:rPr lang="en-US" sz="1100" b="0" i="0" u="none" strike="noStrike">
                <a:solidFill>
                  <a:srgbClr val="9CA3AF"/>
                </a:solidFill>
                <a:latin typeface="Noto Sans SC" panose="020B0500000000000000" charset="-122"/>
                <a:ea typeface="Noto Sans SC" panose="020B0500000000000000" charset="-122"/>
                <a:cs typeface="Noto Sans SC" panose="020B0500000000000000" charset="-122"/>
                <a:sym typeface="Noto Sans SC" panose="020B0500000000000000" charset="-122"/>
              </a:rPr>
              <a:t>从数月的市场调研与反馈，缩短至数小时内完成快速验证。</a:t>
            </a:r>
            <a:endParaRPr lang="en-US" sz="1100"/>
          </a:p>
        </p:txBody>
      </p:sp>
      <p:sp>
        <p:nvSpPr>
          <p:cNvPr id="11" name="AutoShape 11"/>
          <p:cNvSpPr/>
          <p:nvPr/>
        </p:nvSpPr>
        <p:spPr>
          <a:xfrm>
            <a:off x="3492500" y="3302000"/>
            <a:ext cx="2476500" cy="1778000"/>
          </a:xfrm>
          <a:prstGeom prst="roundRect">
            <a:avLst>
              <a:gd name="adj" fmla="val 5714"/>
            </a:avLst>
          </a:prstGeom>
          <a:solidFill>
            <a:srgbClr val="FFFFFF">
              <a:alpha val="5000"/>
            </a:srgbClr>
          </a:solidFill>
          <a:ln w="12700" cap="flat" cmpd="sng">
            <a:solidFill>
              <a:srgbClr val="FFFFFF">
                <a:alpha val="10000"/>
              </a:srgbClr>
            </a:solidFill>
            <a:prstDash val="solid"/>
            <a:round/>
          </a:ln>
        </p:spPr>
        <p:txBody>
          <a:bodyPr vert="horz" wrap="square" lIns="63500" tIns="63500" rIns="63500" bIns="63500" rtlCol="0" anchor="ctr"/>
          <a:lstStyle/>
          <a:p>
            <a:pPr algn="ctr">
              <a:defRPr/>
            </a:pPr>
          </a:p>
        </p:txBody>
      </p:sp>
      <p:pic>
        <p:nvPicPr>
          <p:cNvPr id="12" name="Picture 12"/>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3746500" y="3556000"/>
            <a:ext cx="355600" cy="355600"/>
          </a:xfrm>
          <a:prstGeom prst="rect">
            <a:avLst/>
          </a:prstGeom>
        </p:spPr>
      </p:pic>
      <p:sp>
        <p:nvSpPr>
          <p:cNvPr id="13" name="AutoShape 13"/>
          <p:cNvSpPr/>
          <p:nvPr/>
        </p:nvSpPr>
        <p:spPr>
          <a:xfrm>
            <a:off x="3746500" y="4038600"/>
            <a:ext cx="1968500" cy="304800"/>
          </a:xfrm>
          <a:prstGeom prst="rect">
            <a:avLst/>
          </a:prstGeom>
          <a:noFill/>
          <a:ln w="12700" cap="flat" cmpd="sng">
            <a:noFill/>
            <a:prstDash val="solid"/>
            <a:round/>
          </a:ln>
        </p:spPr>
        <p:txBody>
          <a:bodyPr vert="horz" wrap="square" lIns="0" tIns="0" rIns="0" bIns="0" rtlCol="0" anchor="t" anchorCtr="0"/>
          <a:lstStyle/>
          <a:p>
            <a:pPr indent="0" algn="l">
              <a:lnSpc>
                <a:spcPct val="125000"/>
              </a:lnSpc>
              <a:defRPr/>
            </a:pPr>
            <a:r>
              <a:rPr lang="en-US" sz="1400" b="1" i="0" u="none" strike="noStrike">
                <a:solidFill>
                  <a:srgbClr val="FFFFFF"/>
                </a:solidFill>
                <a:latin typeface="Noto Sans SC" panose="020B0500000000000000" charset="-122"/>
                <a:ea typeface="Noto Sans SC" panose="020B0500000000000000" charset="-122"/>
                <a:cs typeface="Noto Sans SC" panose="020B0500000000000000" charset="-122"/>
                <a:sym typeface="Noto Sans SC" panose="020B0500000000000000" charset="-122"/>
              </a:rPr>
              <a:t>原型构建简化</a:t>
            </a:r>
            <a:endParaRPr lang="en-US" sz="1100"/>
          </a:p>
        </p:txBody>
      </p:sp>
      <p:sp>
        <p:nvSpPr>
          <p:cNvPr id="14" name="AutoShape 14"/>
          <p:cNvSpPr/>
          <p:nvPr/>
        </p:nvSpPr>
        <p:spPr>
          <a:xfrm>
            <a:off x="3746500" y="4419600"/>
            <a:ext cx="1968500" cy="508000"/>
          </a:xfrm>
          <a:prstGeom prst="rect">
            <a:avLst/>
          </a:prstGeom>
          <a:noFill/>
          <a:ln w="12700" cap="flat" cmpd="sng">
            <a:noFill/>
            <a:prstDash val="solid"/>
            <a:round/>
          </a:ln>
        </p:spPr>
        <p:txBody>
          <a:bodyPr vert="horz" wrap="square" lIns="0" tIns="0" rIns="0" bIns="0" rtlCol="0" anchor="t" anchorCtr="0"/>
          <a:lstStyle/>
          <a:p>
            <a:pPr indent="0" algn="l">
              <a:lnSpc>
                <a:spcPct val="108000"/>
              </a:lnSpc>
              <a:defRPr/>
            </a:pPr>
            <a:r>
              <a:rPr lang="en-US" sz="1100" b="0" i="0" u="none" strike="noStrike">
                <a:solidFill>
                  <a:srgbClr val="9CA3AF"/>
                </a:solidFill>
                <a:latin typeface="Noto Sans SC" panose="020B0500000000000000" charset="-122"/>
                <a:ea typeface="Noto Sans SC" panose="020B0500000000000000" charset="-122"/>
                <a:cs typeface="Noto Sans SC" panose="020B0500000000000000" charset="-122"/>
                <a:sym typeface="Noto Sans SC" panose="020B0500000000000000" charset="-122"/>
              </a:rPr>
              <a:t>不再重度依赖技术合伙人，清晰的问题定义配合几次AI对话即可生成原型。</a:t>
            </a:r>
            <a:endParaRPr lang="en-US" sz="1100"/>
          </a:p>
        </p:txBody>
      </p:sp>
      <p:sp>
        <p:nvSpPr>
          <p:cNvPr id="15" name="AutoShape 15"/>
          <p:cNvSpPr/>
          <p:nvPr/>
        </p:nvSpPr>
        <p:spPr>
          <a:xfrm>
            <a:off x="6223000" y="3302000"/>
            <a:ext cx="2476500" cy="1778000"/>
          </a:xfrm>
          <a:prstGeom prst="roundRect">
            <a:avLst>
              <a:gd name="adj" fmla="val 5714"/>
            </a:avLst>
          </a:prstGeom>
          <a:solidFill>
            <a:srgbClr val="FFFFFF">
              <a:alpha val="5000"/>
            </a:srgbClr>
          </a:solidFill>
          <a:ln w="12700" cap="flat" cmpd="sng">
            <a:solidFill>
              <a:srgbClr val="FFFFFF">
                <a:alpha val="10000"/>
              </a:srgbClr>
            </a:solidFill>
            <a:prstDash val="solid"/>
            <a:round/>
          </a:ln>
        </p:spPr>
        <p:txBody>
          <a:bodyPr vert="horz" wrap="square" lIns="63500" tIns="63500" rIns="63500" bIns="63500" rtlCol="0" anchor="ctr"/>
          <a:lstStyle/>
          <a:p>
            <a:pPr algn="ctr">
              <a:defRPr/>
            </a:pPr>
          </a:p>
        </p:txBody>
      </p:sp>
      <p:pic>
        <p:nvPicPr>
          <p:cNvPr id="16" name="Picture 16"/>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6477000" y="3556000"/>
            <a:ext cx="355600" cy="355600"/>
          </a:xfrm>
          <a:prstGeom prst="rect">
            <a:avLst/>
          </a:prstGeom>
        </p:spPr>
      </p:pic>
      <p:sp>
        <p:nvSpPr>
          <p:cNvPr id="17" name="AutoShape 17"/>
          <p:cNvSpPr/>
          <p:nvPr/>
        </p:nvSpPr>
        <p:spPr>
          <a:xfrm>
            <a:off x="6477000" y="4038600"/>
            <a:ext cx="1968500" cy="304800"/>
          </a:xfrm>
          <a:prstGeom prst="rect">
            <a:avLst/>
          </a:prstGeom>
          <a:noFill/>
          <a:ln w="12700" cap="flat" cmpd="sng">
            <a:noFill/>
            <a:prstDash val="solid"/>
            <a:round/>
          </a:ln>
        </p:spPr>
        <p:txBody>
          <a:bodyPr vert="horz" wrap="square" lIns="0" tIns="0" rIns="0" bIns="0" rtlCol="0" anchor="t" anchorCtr="0"/>
          <a:lstStyle/>
          <a:p>
            <a:pPr indent="0" algn="l">
              <a:lnSpc>
                <a:spcPct val="125000"/>
              </a:lnSpc>
              <a:defRPr/>
            </a:pPr>
            <a:r>
              <a:rPr lang="en-US" sz="1400" b="1" i="0" u="none" strike="noStrike">
                <a:solidFill>
                  <a:srgbClr val="FFFFFF"/>
                </a:solidFill>
                <a:latin typeface="Noto Sans SC" panose="020B0500000000000000" charset="-122"/>
                <a:ea typeface="Noto Sans SC" panose="020B0500000000000000" charset="-122"/>
                <a:cs typeface="Noto Sans SC" panose="020B0500000000000000" charset="-122"/>
                <a:sym typeface="Noto Sans SC" panose="020B0500000000000000" charset="-122"/>
              </a:rPr>
              <a:t>发布流程平滑</a:t>
            </a:r>
            <a:endParaRPr lang="en-US" sz="1100"/>
          </a:p>
        </p:txBody>
      </p:sp>
      <p:sp>
        <p:nvSpPr>
          <p:cNvPr id="18" name="AutoShape 18"/>
          <p:cNvSpPr/>
          <p:nvPr/>
        </p:nvSpPr>
        <p:spPr>
          <a:xfrm>
            <a:off x="6477000" y="4419600"/>
            <a:ext cx="1968500" cy="508000"/>
          </a:xfrm>
          <a:prstGeom prst="rect">
            <a:avLst/>
          </a:prstGeom>
          <a:noFill/>
          <a:ln w="12700" cap="flat" cmpd="sng">
            <a:noFill/>
            <a:prstDash val="solid"/>
            <a:round/>
          </a:ln>
        </p:spPr>
        <p:txBody>
          <a:bodyPr vert="horz" wrap="square" lIns="0" tIns="0" rIns="0" bIns="0" rtlCol="0" anchor="t" anchorCtr="0"/>
          <a:lstStyle/>
          <a:p>
            <a:pPr indent="0" algn="l">
              <a:lnSpc>
                <a:spcPct val="108000"/>
              </a:lnSpc>
              <a:defRPr/>
            </a:pPr>
            <a:r>
              <a:rPr lang="en-US" sz="1100" b="0" i="0" u="none" strike="noStrike">
                <a:solidFill>
                  <a:srgbClr val="9CA3AF"/>
                </a:solidFill>
                <a:latin typeface="Noto Sans SC" panose="020B0500000000000000" charset="-122"/>
                <a:ea typeface="Noto Sans SC" panose="020B0500000000000000" charset="-122"/>
                <a:cs typeface="Noto Sans SC" panose="020B0500000000000000" charset="-122"/>
                <a:sym typeface="Noto Sans SC" panose="020B0500000000000000" charset="-122"/>
              </a:rPr>
              <a:t>告别发布前的混乱冲刺，借助AI工具实现持续、稳定的开发工作流。</a:t>
            </a:r>
            <a:endParaRPr lang="en-US" sz="1100"/>
          </a:p>
        </p:txBody>
      </p:sp>
      <p:sp>
        <p:nvSpPr>
          <p:cNvPr id="19" name="AutoShape 19"/>
          <p:cNvSpPr/>
          <p:nvPr/>
        </p:nvSpPr>
        <p:spPr>
          <a:xfrm>
            <a:off x="8953500" y="3302000"/>
            <a:ext cx="2476500" cy="1778000"/>
          </a:xfrm>
          <a:prstGeom prst="roundRect">
            <a:avLst>
              <a:gd name="adj" fmla="val 5714"/>
            </a:avLst>
          </a:prstGeom>
          <a:solidFill>
            <a:srgbClr val="FFFFFF">
              <a:alpha val="5000"/>
            </a:srgbClr>
          </a:solidFill>
          <a:ln w="12700" cap="flat" cmpd="sng">
            <a:solidFill>
              <a:srgbClr val="FFFFFF">
                <a:alpha val="10000"/>
              </a:srgbClr>
            </a:solidFill>
            <a:prstDash val="solid"/>
            <a:round/>
          </a:ln>
        </p:spPr>
        <p:txBody>
          <a:bodyPr vert="horz" wrap="square" lIns="63500" tIns="63500" rIns="63500" bIns="63500" rtlCol="0" anchor="ctr"/>
          <a:lstStyle/>
          <a:p>
            <a:pPr algn="ctr">
              <a:defRPr/>
            </a:pPr>
          </a:p>
        </p:txBody>
      </p:sp>
      <p:pic>
        <p:nvPicPr>
          <p:cNvPr id="20" name="Picture 20"/>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9207500" y="3556000"/>
            <a:ext cx="355600" cy="355600"/>
          </a:xfrm>
          <a:prstGeom prst="rect">
            <a:avLst/>
          </a:prstGeom>
        </p:spPr>
      </p:pic>
      <p:sp>
        <p:nvSpPr>
          <p:cNvPr id="21" name="AutoShape 21"/>
          <p:cNvSpPr/>
          <p:nvPr/>
        </p:nvSpPr>
        <p:spPr>
          <a:xfrm>
            <a:off x="9207500" y="4038600"/>
            <a:ext cx="1968500" cy="304800"/>
          </a:xfrm>
          <a:prstGeom prst="rect">
            <a:avLst/>
          </a:prstGeom>
          <a:noFill/>
          <a:ln w="12700" cap="flat" cmpd="sng">
            <a:noFill/>
            <a:prstDash val="solid"/>
            <a:round/>
          </a:ln>
        </p:spPr>
        <p:txBody>
          <a:bodyPr vert="horz" wrap="square" lIns="0" tIns="0" rIns="0" bIns="0" rtlCol="0" anchor="t" anchorCtr="0"/>
          <a:lstStyle/>
          <a:p>
            <a:pPr indent="0" algn="l">
              <a:lnSpc>
                <a:spcPct val="125000"/>
              </a:lnSpc>
              <a:defRPr/>
            </a:pPr>
            <a:r>
              <a:rPr lang="en-US" sz="1400" b="1" i="0" u="none" strike="noStrike">
                <a:solidFill>
                  <a:srgbClr val="FFFFFF"/>
                </a:solidFill>
                <a:latin typeface="Noto Sans SC" panose="020B0500000000000000" charset="-122"/>
                <a:ea typeface="Noto Sans SC" panose="020B0500000000000000" charset="-122"/>
                <a:cs typeface="Noto Sans SC" panose="020B0500000000000000" charset="-122"/>
                <a:sym typeface="Noto Sans SC" panose="020B0500000000000000" charset="-122"/>
              </a:rPr>
              <a:t>运营负担转移</a:t>
            </a:r>
            <a:endParaRPr lang="en-US" sz="1100"/>
          </a:p>
        </p:txBody>
      </p:sp>
      <p:sp>
        <p:nvSpPr>
          <p:cNvPr id="22" name="AutoShape 22"/>
          <p:cNvSpPr/>
          <p:nvPr/>
        </p:nvSpPr>
        <p:spPr>
          <a:xfrm>
            <a:off x="9207500" y="4419600"/>
            <a:ext cx="1968500" cy="508000"/>
          </a:xfrm>
          <a:prstGeom prst="rect">
            <a:avLst/>
          </a:prstGeom>
          <a:noFill/>
          <a:ln w="12700" cap="flat" cmpd="sng">
            <a:noFill/>
            <a:prstDash val="solid"/>
            <a:round/>
          </a:ln>
        </p:spPr>
        <p:txBody>
          <a:bodyPr vert="horz" wrap="square" lIns="0" tIns="0" rIns="0" bIns="0" rtlCol="0" anchor="t" anchorCtr="0"/>
          <a:lstStyle/>
          <a:p>
            <a:pPr indent="0" algn="l">
              <a:lnSpc>
                <a:spcPct val="108000"/>
              </a:lnSpc>
              <a:defRPr/>
            </a:pPr>
            <a:r>
              <a:rPr lang="en-US" sz="1100" b="0" i="0" u="none" strike="noStrike">
                <a:solidFill>
                  <a:srgbClr val="9CA3AF"/>
                </a:solidFill>
                <a:latin typeface="Noto Sans SC" panose="020B0500000000000000" charset="-122"/>
                <a:ea typeface="Noto Sans SC" panose="020B0500000000000000" charset="-122"/>
                <a:cs typeface="Noto Sans SC" panose="020B0500000000000000" charset="-122"/>
                <a:sym typeface="Noto Sans SC" panose="020B0500000000000000" charset="-122"/>
              </a:rPr>
              <a:t>早期无需招聘大量“救火队员”，将重复性运营工作交由AI自动化处理。</a:t>
            </a:r>
            <a:endParaRPr lang="en-US" sz="1100"/>
          </a:p>
        </p:txBody>
      </p:sp>
      <p:sp>
        <p:nvSpPr>
          <p:cNvPr id="23" name="AutoShape 23"/>
          <p:cNvSpPr/>
          <p:nvPr/>
        </p:nvSpPr>
        <p:spPr>
          <a:xfrm>
            <a:off x="762000" y="5461000"/>
            <a:ext cx="10668000" cy="762000"/>
          </a:xfrm>
          <a:prstGeom prst="roundRect">
            <a:avLst>
              <a:gd name="adj" fmla="val 13333"/>
            </a:avLst>
          </a:prstGeom>
          <a:gradFill rotWithShape="1">
            <a:gsLst>
              <a:gs pos="0">
                <a:srgbClr val="00E5FF">
                  <a:alpha val="15000"/>
                </a:srgbClr>
              </a:gs>
              <a:gs pos="100000">
                <a:srgbClr val="00E5FF">
                  <a:alpha val="5000"/>
                </a:srgbClr>
              </a:gs>
            </a:gsLst>
            <a:lin ang="0"/>
          </a:gradFill>
          <a:ln w="12700" cap="flat" cmpd="sng">
            <a:solidFill>
              <a:srgbClr val="00E5FF">
                <a:alpha val="40000"/>
              </a:srgbClr>
            </a:solidFill>
            <a:prstDash val="solid"/>
            <a:round/>
          </a:ln>
        </p:spPr>
        <p:txBody>
          <a:bodyPr vert="horz" wrap="square" lIns="63500" tIns="63500" rIns="63500" bIns="63500" rtlCol="0" anchor="ctr"/>
          <a:lstStyle/>
          <a:p>
            <a:pPr algn="ctr">
              <a:defRPr/>
            </a:pPr>
          </a:p>
        </p:txBody>
      </p:sp>
      <p:pic>
        <p:nvPicPr>
          <p:cNvPr id="24" name="Picture 24"/>
          <p:cNvPicPr>
            <a:picLocks noChangeAspect="1"/>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1016000" y="5689600"/>
            <a:ext cx="304800" cy="304800"/>
          </a:xfrm>
          <a:prstGeom prst="rect">
            <a:avLst/>
          </a:prstGeom>
        </p:spPr>
      </p:pic>
      <p:sp>
        <p:nvSpPr>
          <p:cNvPr id="25" name="AutoShape 25"/>
          <p:cNvSpPr/>
          <p:nvPr/>
        </p:nvSpPr>
        <p:spPr>
          <a:xfrm>
            <a:off x="1460500" y="5461000"/>
            <a:ext cx="9652000" cy="762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400" b="0" i="0" u="none" strike="noStrike">
                <a:solidFill>
                  <a:srgbClr val="FFFFFF"/>
                </a:solidFill>
                <a:latin typeface="Noto Sans SC" panose="020B0500000000000000" charset="-122"/>
                <a:ea typeface="Noto Sans SC" panose="020B0500000000000000" charset="-122"/>
                <a:cs typeface="Noto Sans SC" panose="020B0500000000000000" charset="-122"/>
                <a:sym typeface="Noto Sans SC" panose="020B0500000000000000" charset="-122"/>
              </a:rPr>
              <a:t>最终瓶颈：不再是“你能构建什么”，而是“你选择构建什么”——战略选择重于技术实现。</a:t>
            </a:r>
            <a:endParaRPr lang="en-US" sz="110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000000">
              <a:alpha val="80000"/>
            </a:srgbClr>
          </a:solidFill>
          <a:ln w="25400" cap="flat" cmpd="sng">
            <a:noFill/>
            <a:prstDash val="solid"/>
            <a:round/>
          </a:ln>
        </p:spPr>
        <p:txBody>
          <a:bodyPr vert="horz" wrap="square" lIns="63500" tIns="63500" rIns="63500" bIns="63500" rtlCol="0" anchor="ctr"/>
          <a:lstStyle/>
          <a:p>
            <a:pPr algn="ctr">
              <a:defRPr/>
            </a:pPr>
          </a:p>
        </p:txBody>
      </p:sp>
      <p:sp>
        <p:nvSpPr>
          <p:cNvPr id="3" name="AutoShape 3"/>
          <p:cNvSpPr/>
          <p:nvPr/>
        </p:nvSpPr>
        <p:spPr>
          <a:xfrm>
            <a:off x="762000" y="635000"/>
            <a:ext cx="76200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3200" b="1" i="0" u="none" strike="noStrike">
                <a:solidFill>
                  <a:srgbClr val="FFFFFF"/>
                </a:solidFill>
                <a:latin typeface="Noto Sans SC" panose="020B0500000000000000" charset="-122"/>
                <a:ea typeface="Noto Sans SC" panose="020B0500000000000000" charset="-122"/>
                <a:cs typeface="Noto Sans SC" panose="020B0500000000000000" charset="-122"/>
                <a:sym typeface="Noto Sans SC" panose="020B0500000000000000" charset="-122"/>
              </a:rPr>
              <a:t>学习资源与成功案例</a:t>
            </a:r>
            <a:endParaRPr lang="en-US" sz="1100"/>
          </a:p>
        </p:txBody>
      </p:sp>
      <p:sp>
        <p:nvSpPr>
          <p:cNvPr id="4" name="AutoShape 4"/>
          <p:cNvSpPr/>
          <p:nvPr/>
        </p:nvSpPr>
        <p:spPr>
          <a:xfrm>
            <a:off x="762000" y="1397000"/>
            <a:ext cx="5207000" cy="4953000"/>
          </a:xfrm>
          <a:prstGeom prst="roundRect">
            <a:avLst>
              <a:gd name="adj" fmla="val 3076"/>
            </a:avLst>
          </a:prstGeom>
          <a:solidFill>
            <a:srgbClr val="FFFFFF">
              <a:alpha val="5000"/>
            </a:srgbClr>
          </a:solidFill>
          <a:ln w="12700" cap="flat" cmpd="sng">
            <a:solidFill>
              <a:srgbClr val="00E5FF">
                <a:alpha val="30000"/>
              </a:srgbClr>
            </a:solidFill>
            <a:prstDash val="solid"/>
            <a:round/>
          </a:ln>
        </p:spPr>
        <p:txBody>
          <a:bodyPr vert="horz" wrap="square" lIns="63500" tIns="63500" rIns="63500" bIns="63500" rtlCol="0" anchor="ctr"/>
          <a:lstStyle/>
          <a:p>
            <a:pPr algn="ctr">
              <a:defRPr/>
            </a:pPr>
          </a:p>
        </p:txBody>
      </p:sp>
      <p:pic>
        <p:nvPicPr>
          <p:cNvPr id="5" name="Picture 5"/>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066800" y="1701800"/>
            <a:ext cx="304800" cy="304800"/>
          </a:xfrm>
          <a:prstGeom prst="rect">
            <a:avLst/>
          </a:prstGeom>
        </p:spPr>
      </p:pic>
      <p:sp>
        <p:nvSpPr>
          <p:cNvPr id="6" name="AutoShape 6"/>
          <p:cNvSpPr/>
          <p:nvPr/>
        </p:nvSpPr>
        <p:spPr>
          <a:xfrm>
            <a:off x="1473200" y="1676400"/>
            <a:ext cx="3810000" cy="3556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00E5FF"/>
                </a:solidFill>
                <a:latin typeface="Noto Sans SC" panose="020B0500000000000000" charset="-122"/>
                <a:ea typeface="Noto Sans SC" panose="020B0500000000000000" charset="-122"/>
                <a:cs typeface="Noto Sans SC" panose="020B0500000000000000" charset="-122"/>
                <a:sym typeface="Noto Sans SC" panose="020B0500000000000000" charset="-122"/>
              </a:rPr>
              <a:t>官方资源库</a:t>
            </a:r>
            <a:endParaRPr lang="en-US" sz="1100"/>
          </a:p>
        </p:txBody>
      </p:sp>
      <p:cxnSp>
        <p:nvCxnSpPr>
          <p:cNvPr id="7" name="Connector 7"/>
          <p:cNvCxnSpPr/>
          <p:nvPr/>
        </p:nvCxnSpPr>
        <p:spPr>
          <a:xfrm rot="-9496">
            <a:off x="1066809" y="2152650"/>
            <a:ext cx="4597400" cy="12700"/>
          </a:xfrm>
          <a:prstGeom prst="straightConnector1">
            <a:avLst/>
          </a:prstGeom>
          <a:solidFill>
            <a:srgbClr val="DEE0E3">
              <a:alpha val="100000"/>
            </a:srgbClr>
          </a:solidFill>
          <a:ln w="12700" cap="flat" cmpd="sng">
            <a:solidFill>
              <a:srgbClr val="FFFFFF">
                <a:alpha val="15000"/>
              </a:srgbClr>
            </a:solidFill>
            <a:prstDash val="solid"/>
            <a:round/>
            <a:headEnd type="none" w="med" len="med"/>
            <a:tailEnd type="none" w="med" len="med"/>
          </a:ln>
        </p:spPr>
      </p:cxnSp>
      <p:sp>
        <p:nvSpPr>
          <p:cNvPr id="8" name="AutoShape 8"/>
          <p:cNvSpPr/>
          <p:nvPr/>
        </p:nvSpPr>
        <p:spPr>
          <a:xfrm>
            <a:off x="1066800" y="2349500"/>
            <a:ext cx="4597400" cy="825500"/>
          </a:xfrm>
          <a:prstGeom prst="rect">
            <a:avLst/>
          </a:prstGeom>
          <a:noFill/>
          <a:ln w="12700" cap="flat" cmpd="sng">
            <a:noFill/>
            <a:prstDash val="solid"/>
            <a:round/>
          </a:ln>
        </p:spPr>
        <p:txBody>
          <a:bodyPr vert="horz" wrap="square" lIns="0" tIns="0" rIns="0" bIns="0" rtlCol="0" anchor="t" anchorCtr="0"/>
          <a:lstStyle/>
          <a:p>
            <a:pPr indent="0" algn="l">
              <a:lnSpc>
                <a:spcPct val="108000"/>
              </a:lnSpc>
              <a:defRPr/>
            </a:pPr>
            <a:r>
              <a:rPr lang="en-US" sz="1400" b="1" i="0" u="none" strike="noStrike">
                <a:solidFill>
                  <a:srgbClr val="FFFFFF"/>
                </a:solidFill>
                <a:latin typeface="Noto Sans SC" panose="020B0500000000000000" charset="-122"/>
                <a:ea typeface="Noto Sans SC" panose="020B0500000000000000" charset="-122"/>
                <a:cs typeface="Noto Sans SC" panose="020B0500000000000000" charset="-122"/>
                <a:sym typeface="Noto Sans SC" panose="020B0500000000000000" charset="-122"/>
              </a:rPr>
              <a:t>构建AI代理指南</a:t>
            </a:r>
            <a:br>
              <a:rPr lang="en-US" sz="1600" b="0" i="0" u="none" strike="noStrike">
                <a:solidFill>
                  <a:srgbClr val="1F2329"/>
                </a:solidFill>
                <a:latin typeface="Noto Sans SC" panose="020B0500000000000000" charset="-122"/>
                <a:ea typeface="Noto Sans SC" panose="020B0500000000000000" charset="-122"/>
                <a:cs typeface="Noto Sans SC" panose="020B0500000000000000" charset="-122"/>
                <a:sym typeface="Noto Sans SC" panose="020B0500000000000000" charset="-122"/>
              </a:rPr>
            </a:br>
            <a:r>
              <a:rPr lang="en-US" sz="1200" b="0" i="0" u="none" strike="noStrike">
                <a:solidFill>
                  <a:srgbClr val="D1D5DB"/>
                </a:solidFill>
                <a:latin typeface="Noto Sans SC" panose="020B0500000000000000" charset="-122"/>
                <a:ea typeface="Noto Sans SC" panose="020B0500000000000000" charset="-122"/>
                <a:cs typeface="Noto Sans SC" panose="020B0500000000000000" charset="-122"/>
                <a:sym typeface="Noto Sans SC" panose="020B0500000000000000" charset="-122"/>
              </a:rPr>
              <a:t>了解初创公司如何利用智能代理减少对创始人的依赖，提升运营效率。</a:t>
            </a:r>
            <a:endParaRPr lang="en-US" sz="1100"/>
          </a:p>
        </p:txBody>
      </p:sp>
      <p:sp>
        <p:nvSpPr>
          <p:cNvPr id="9" name="AutoShape 9"/>
          <p:cNvSpPr/>
          <p:nvPr/>
        </p:nvSpPr>
        <p:spPr>
          <a:xfrm>
            <a:off x="1066800" y="3302000"/>
            <a:ext cx="4597400" cy="825500"/>
          </a:xfrm>
          <a:prstGeom prst="rect">
            <a:avLst/>
          </a:prstGeom>
          <a:noFill/>
          <a:ln w="12700" cap="flat" cmpd="sng">
            <a:noFill/>
            <a:prstDash val="solid"/>
            <a:round/>
          </a:ln>
        </p:spPr>
        <p:txBody>
          <a:bodyPr vert="horz" wrap="square" lIns="0" tIns="0" rIns="0" bIns="0" rtlCol="0" anchor="t" anchorCtr="0"/>
          <a:lstStyle/>
          <a:p>
            <a:pPr indent="0" algn="l">
              <a:lnSpc>
                <a:spcPct val="108000"/>
              </a:lnSpc>
              <a:defRPr/>
            </a:pPr>
            <a:r>
              <a:rPr lang="en-US" sz="1400" b="1" i="0" u="none" strike="noStrike">
                <a:solidFill>
                  <a:srgbClr val="FFFFFF"/>
                </a:solidFill>
                <a:latin typeface="Noto Sans SC" panose="020B0500000000000000" charset="-122"/>
                <a:ea typeface="Noto Sans SC" panose="020B0500000000000000" charset="-122"/>
                <a:cs typeface="Noto Sans SC" panose="020B0500000000000000" charset="-122"/>
                <a:sym typeface="Noto Sans SC" panose="020B0500000000000000" charset="-122"/>
              </a:rPr>
              <a:t>Claude Code 完整文档</a:t>
            </a:r>
            <a:br>
              <a:rPr lang="en-US" sz="1600" b="0" i="0" u="none" strike="noStrike">
                <a:solidFill>
                  <a:srgbClr val="1F2329"/>
                </a:solidFill>
                <a:latin typeface="Noto Sans SC" panose="020B0500000000000000" charset="-122"/>
                <a:ea typeface="Noto Sans SC" panose="020B0500000000000000" charset="-122"/>
                <a:cs typeface="Noto Sans SC" panose="020B0500000000000000" charset="-122"/>
                <a:sym typeface="Noto Sans SC" panose="020B0500000000000000" charset="-122"/>
              </a:rPr>
            </a:br>
            <a:r>
              <a:rPr lang="en-US" sz="1200" b="0" i="0" u="none" strike="noStrike">
                <a:solidFill>
                  <a:srgbClr val="D1D5DB"/>
                </a:solidFill>
                <a:latin typeface="Noto Sans SC" panose="020B0500000000000000" charset="-122"/>
                <a:ea typeface="Noto Sans SC" panose="020B0500000000000000" charset="-122"/>
                <a:cs typeface="Noto Sans SC" panose="020B0500000000000000" charset="-122"/>
                <a:sym typeface="Noto Sans SC" panose="020B0500000000000000" charset="-122"/>
              </a:rPr>
              <a:t>涵盖从环境安装到高级工作流配置的全流程指南，助力开发者快速上手。</a:t>
            </a:r>
            <a:endParaRPr lang="en-US" sz="1100"/>
          </a:p>
        </p:txBody>
      </p:sp>
      <p:sp>
        <p:nvSpPr>
          <p:cNvPr id="10" name="AutoShape 10"/>
          <p:cNvSpPr/>
          <p:nvPr/>
        </p:nvSpPr>
        <p:spPr>
          <a:xfrm>
            <a:off x="1066800" y="4254500"/>
            <a:ext cx="4597400" cy="825500"/>
          </a:xfrm>
          <a:prstGeom prst="rect">
            <a:avLst/>
          </a:prstGeom>
          <a:noFill/>
          <a:ln w="12700" cap="flat" cmpd="sng">
            <a:noFill/>
            <a:prstDash val="solid"/>
            <a:round/>
          </a:ln>
        </p:spPr>
        <p:txBody>
          <a:bodyPr vert="horz" wrap="square" lIns="0" tIns="0" rIns="0" bIns="0" rtlCol="0" anchor="t" anchorCtr="0"/>
          <a:lstStyle/>
          <a:p>
            <a:pPr indent="0" algn="l">
              <a:lnSpc>
                <a:spcPct val="108000"/>
              </a:lnSpc>
              <a:defRPr/>
            </a:pPr>
            <a:r>
              <a:rPr lang="en-US" sz="1400" b="1" i="0" u="none" strike="noStrike">
                <a:solidFill>
                  <a:srgbClr val="FFFFFF"/>
                </a:solidFill>
                <a:latin typeface="Noto Sans SC" panose="020B0500000000000000" charset="-122"/>
                <a:ea typeface="Noto Sans SC" panose="020B0500000000000000" charset="-122"/>
                <a:cs typeface="Noto Sans SC" panose="020B0500000000000000" charset="-122"/>
                <a:sym typeface="Noto Sans SC" panose="020B0500000000000000" charset="-122"/>
              </a:rPr>
              <a:t>CLAUDE.md 最佳实践</a:t>
            </a:r>
            <a:br>
              <a:rPr lang="en-US" sz="1600" b="0" i="0" u="none" strike="noStrike">
                <a:solidFill>
                  <a:srgbClr val="1F2329"/>
                </a:solidFill>
                <a:latin typeface="Noto Sans SC" panose="020B0500000000000000" charset="-122"/>
                <a:ea typeface="Noto Sans SC" panose="020B0500000000000000" charset="-122"/>
                <a:cs typeface="Noto Sans SC" panose="020B0500000000000000" charset="-122"/>
                <a:sym typeface="Noto Sans SC" panose="020B0500000000000000" charset="-122"/>
              </a:rPr>
            </a:br>
            <a:r>
              <a:rPr lang="en-US" sz="1200" b="0" i="0" u="none" strike="noStrike">
                <a:solidFill>
                  <a:srgbClr val="D1D5DB"/>
                </a:solidFill>
                <a:latin typeface="Noto Sans SC" panose="020B0500000000000000" charset="-122"/>
                <a:ea typeface="Noto Sans SC" panose="020B0500000000000000" charset="-122"/>
                <a:cs typeface="Noto Sans SC" panose="020B0500000000000000" charset="-122"/>
                <a:sym typeface="Noto Sans SC" panose="020B0500000000000000" charset="-122"/>
              </a:rPr>
              <a:t>MVP阶段创始人必读，掌握如何为AI助手设置高效的开发环境与协作规范。</a:t>
            </a:r>
            <a:endParaRPr lang="en-US" sz="1100"/>
          </a:p>
        </p:txBody>
      </p:sp>
      <p:sp>
        <p:nvSpPr>
          <p:cNvPr id="11" name="AutoShape 11"/>
          <p:cNvSpPr/>
          <p:nvPr/>
        </p:nvSpPr>
        <p:spPr>
          <a:xfrm>
            <a:off x="1066800" y="5207000"/>
            <a:ext cx="4597400" cy="825500"/>
          </a:xfrm>
          <a:prstGeom prst="rect">
            <a:avLst/>
          </a:prstGeom>
          <a:noFill/>
          <a:ln w="12700" cap="flat" cmpd="sng">
            <a:noFill/>
            <a:prstDash val="solid"/>
            <a:round/>
          </a:ln>
        </p:spPr>
        <p:txBody>
          <a:bodyPr vert="horz" wrap="square" lIns="0" tIns="0" rIns="0" bIns="0" rtlCol="0" anchor="t" anchorCtr="0"/>
          <a:lstStyle/>
          <a:p>
            <a:pPr indent="0" algn="l">
              <a:lnSpc>
                <a:spcPct val="108000"/>
              </a:lnSpc>
              <a:defRPr/>
            </a:pPr>
            <a:r>
              <a:rPr lang="en-US" sz="1400" b="1" i="0" u="none" strike="noStrike">
                <a:solidFill>
                  <a:srgbClr val="FFFFFF"/>
                </a:solidFill>
                <a:latin typeface="Noto Sans SC" panose="020B0500000000000000" charset="-122"/>
                <a:ea typeface="Noto Sans SC" panose="020B0500000000000000" charset="-122"/>
                <a:cs typeface="Noto Sans SC" panose="020B0500000000000000" charset="-122"/>
                <a:sym typeface="Noto Sans SC" panose="020B0500000000000000" charset="-122"/>
              </a:rPr>
              <a:t>Anthropic 创业扶持计划</a:t>
            </a:r>
            <a:br>
              <a:rPr lang="en-US" sz="1600" b="0" i="0" u="none" strike="noStrike">
                <a:solidFill>
                  <a:srgbClr val="1F2329"/>
                </a:solidFill>
                <a:latin typeface="Noto Sans SC" panose="020B0500000000000000" charset="-122"/>
                <a:ea typeface="Noto Sans SC" panose="020B0500000000000000" charset="-122"/>
                <a:cs typeface="Noto Sans SC" panose="020B0500000000000000" charset="-122"/>
                <a:sym typeface="Noto Sans SC" panose="020B0500000000000000" charset="-122"/>
              </a:rPr>
            </a:br>
            <a:r>
              <a:rPr lang="en-US" sz="1200" b="0" i="0" u="none" strike="noStrike">
                <a:solidFill>
                  <a:srgbClr val="D1D5DB"/>
                </a:solidFill>
                <a:latin typeface="Noto Sans SC" panose="020B0500000000000000" charset="-122"/>
                <a:ea typeface="Noto Sans SC" panose="020B0500000000000000" charset="-122"/>
                <a:cs typeface="Noto Sans SC" panose="020B0500000000000000" charset="-122"/>
                <a:sym typeface="Noto Sans SC" panose="020B0500000000000000" charset="-122"/>
              </a:rPr>
              <a:t>为 qualifying 初创公司提供免费API积分、最高速率限制及独家行业活动邀请。</a:t>
            </a:r>
            <a:endParaRPr lang="en-US" sz="1100"/>
          </a:p>
        </p:txBody>
      </p:sp>
      <p:sp>
        <p:nvSpPr>
          <p:cNvPr id="12" name="AutoShape 12"/>
          <p:cNvSpPr/>
          <p:nvPr/>
        </p:nvSpPr>
        <p:spPr>
          <a:xfrm>
            <a:off x="6223000" y="1397000"/>
            <a:ext cx="5207000" cy="4953000"/>
          </a:xfrm>
          <a:prstGeom prst="roundRect">
            <a:avLst>
              <a:gd name="adj" fmla="val 3076"/>
            </a:avLst>
          </a:prstGeom>
          <a:solidFill>
            <a:srgbClr val="FFFFFF">
              <a:alpha val="5000"/>
            </a:srgbClr>
          </a:solidFill>
          <a:ln w="12700" cap="flat" cmpd="sng">
            <a:solidFill>
              <a:srgbClr val="00E5FF">
                <a:alpha val="30000"/>
              </a:srgbClr>
            </a:solidFill>
            <a:prstDash val="solid"/>
            <a:round/>
          </a:ln>
        </p:spPr>
        <p:txBody>
          <a:bodyPr vert="horz" wrap="square" lIns="63500" tIns="63500" rIns="63500" bIns="63500" rtlCol="0" anchor="ctr"/>
          <a:lstStyle/>
          <a:p>
            <a:pPr algn="ctr">
              <a:defRPr/>
            </a:pPr>
          </a:p>
        </p:txBody>
      </p:sp>
      <p:pic>
        <p:nvPicPr>
          <p:cNvPr id="13" name="Picture 13"/>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6527800" y="1701800"/>
            <a:ext cx="304800" cy="304800"/>
          </a:xfrm>
          <a:prstGeom prst="rect">
            <a:avLst/>
          </a:prstGeom>
        </p:spPr>
      </p:pic>
      <p:sp>
        <p:nvSpPr>
          <p:cNvPr id="14" name="AutoShape 14"/>
          <p:cNvSpPr/>
          <p:nvPr/>
        </p:nvSpPr>
        <p:spPr>
          <a:xfrm>
            <a:off x="6934200" y="1676400"/>
            <a:ext cx="3810000" cy="3556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00E5FF"/>
                </a:solidFill>
                <a:latin typeface="Noto Sans SC" panose="020B0500000000000000" charset="-122"/>
                <a:ea typeface="Noto Sans SC" panose="020B0500000000000000" charset="-122"/>
                <a:cs typeface="Noto Sans SC" panose="020B0500000000000000" charset="-122"/>
                <a:sym typeface="Noto Sans SC" panose="020B0500000000000000" charset="-122"/>
              </a:rPr>
              <a:t>创始人成功故事精选</a:t>
            </a:r>
            <a:endParaRPr lang="en-US" sz="1100"/>
          </a:p>
        </p:txBody>
      </p:sp>
      <p:cxnSp>
        <p:nvCxnSpPr>
          <p:cNvPr id="15" name="Connector 15"/>
          <p:cNvCxnSpPr/>
          <p:nvPr/>
        </p:nvCxnSpPr>
        <p:spPr>
          <a:xfrm rot="-9496">
            <a:off x="6527809" y="2152650"/>
            <a:ext cx="4597400" cy="12700"/>
          </a:xfrm>
          <a:prstGeom prst="straightConnector1">
            <a:avLst/>
          </a:prstGeom>
          <a:solidFill>
            <a:srgbClr val="DEE0E3">
              <a:alpha val="100000"/>
            </a:srgbClr>
          </a:solidFill>
          <a:ln w="12700" cap="flat" cmpd="sng">
            <a:solidFill>
              <a:srgbClr val="FFFFFF">
                <a:alpha val="15000"/>
              </a:srgbClr>
            </a:solidFill>
            <a:prstDash val="solid"/>
            <a:round/>
            <a:headEnd type="none" w="med" len="med"/>
            <a:tailEnd type="none" w="med" len="med"/>
          </a:ln>
        </p:spPr>
      </p:cxnSp>
      <p:pic>
        <p:nvPicPr>
          <p:cNvPr id="16" name="Picture 16"/>
          <p:cNvPicPr>
            <a:picLocks noChangeAspect="1"/>
          </p:cNvPicPr>
          <p:nvPr/>
        </p:nvPicPr>
        <p:blipFill>
          <a:blip r:embed="rId6"/>
          <a:srcRect l="60" r="60"/>
          <a:stretch>
            <a:fillRect/>
          </a:stretch>
        </p:blipFill>
        <p:spPr>
          <a:xfrm>
            <a:off x="6527800" y="2413000"/>
            <a:ext cx="406400" cy="406400"/>
          </a:xfrm>
          <a:prstGeom prst="roundRect">
            <a:avLst>
              <a:gd name="adj" fmla="val 25000"/>
            </a:avLst>
          </a:prstGeom>
          <a:noFill/>
          <a:ln w="25400" cap="flat" cmpd="sng">
            <a:noFill/>
            <a:prstDash val="solid"/>
            <a:round/>
          </a:ln>
        </p:spPr>
      </p:pic>
      <p:sp>
        <p:nvSpPr>
          <p:cNvPr id="17" name="AutoShape 17"/>
          <p:cNvSpPr/>
          <p:nvPr/>
        </p:nvSpPr>
        <p:spPr>
          <a:xfrm>
            <a:off x="7061200" y="2387600"/>
            <a:ext cx="4318000" cy="635000"/>
          </a:xfrm>
          <a:prstGeom prst="rect">
            <a:avLst/>
          </a:prstGeom>
          <a:noFill/>
          <a:ln w="12700" cap="flat" cmpd="sng">
            <a:noFill/>
            <a:prstDash val="solid"/>
            <a:round/>
          </a:ln>
        </p:spPr>
        <p:txBody>
          <a:bodyPr vert="horz" wrap="square" lIns="0" tIns="0" rIns="0" bIns="0" rtlCol="0" anchor="t" anchorCtr="0"/>
          <a:lstStyle/>
          <a:p>
            <a:pPr indent="0" algn="l">
              <a:lnSpc>
                <a:spcPct val="100000"/>
              </a:lnSpc>
              <a:defRPr/>
            </a:pPr>
            <a:r>
              <a:rPr lang="en-US" sz="1300" b="1" i="0" u="none" strike="noStrike">
                <a:solidFill>
                  <a:srgbClr val="FFFFFF"/>
                </a:solidFill>
                <a:latin typeface="Noto Sans SC" panose="020B0500000000000000" charset="-122"/>
                <a:ea typeface="Noto Sans SC" panose="020B0500000000000000" charset="-122"/>
                <a:cs typeface="Noto Sans SC" panose="020B0500000000000000" charset="-122"/>
                <a:sym typeface="Noto Sans SC" panose="020B0500000000000000" charset="-122"/>
              </a:rPr>
              <a:t>YC 创业集群 (HumanLayer, Ambral 等)</a:t>
            </a:r>
            <a:br>
              <a:rPr lang="en-US" sz="1600" b="0" i="0" u="none" strike="noStrike">
                <a:solidFill>
                  <a:srgbClr val="1F2329"/>
                </a:solidFill>
                <a:latin typeface="Noto Sans SC" panose="020B0500000000000000" charset="-122"/>
                <a:ea typeface="Noto Sans SC" panose="020B0500000000000000" charset="-122"/>
                <a:cs typeface="Noto Sans SC" panose="020B0500000000000000" charset="-122"/>
                <a:sym typeface="Noto Sans SC" panose="020B0500000000000000" charset="-122"/>
              </a:rPr>
            </a:br>
            <a:r>
              <a:rPr lang="en-US" sz="1100" b="0" i="0" u="none" strike="noStrike">
                <a:solidFill>
                  <a:srgbClr val="D1D5DB"/>
                </a:solidFill>
                <a:latin typeface="Noto Sans SC" panose="020B0500000000000000" charset="-122"/>
                <a:ea typeface="Noto Sans SC" panose="020B0500000000000000" charset="-122"/>
                <a:cs typeface="Noto Sans SC" panose="020B0500000000000000" charset="-122"/>
                <a:sym typeface="Noto Sans SC" panose="020B0500000000000000" charset="-122"/>
              </a:rPr>
              <a:t>利用 Claude Code 实现开发流程加速，将产品原型推向市场的周期缩短30%以上。</a:t>
            </a:r>
            <a:endParaRPr lang="en-US" sz="1100"/>
          </a:p>
        </p:txBody>
      </p:sp>
      <p:pic>
        <p:nvPicPr>
          <p:cNvPr id="18" name="Picture 18"/>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6527800" y="3429000"/>
            <a:ext cx="406400" cy="406400"/>
          </a:xfrm>
          <a:prstGeom prst="rect">
            <a:avLst/>
          </a:prstGeom>
        </p:spPr>
      </p:pic>
      <p:sp>
        <p:nvSpPr>
          <p:cNvPr id="19" name="AutoShape 19"/>
          <p:cNvSpPr/>
          <p:nvPr/>
        </p:nvSpPr>
        <p:spPr>
          <a:xfrm>
            <a:off x="7061200" y="3403600"/>
            <a:ext cx="4318000" cy="635000"/>
          </a:xfrm>
          <a:prstGeom prst="rect">
            <a:avLst/>
          </a:prstGeom>
          <a:noFill/>
          <a:ln w="12700" cap="flat" cmpd="sng">
            <a:noFill/>
            <a:prstDash val="solid"/>
            <a:round/>
          </a:ln>
        </p:spPr>
        <p:txBody>
          <a:bodyPr vert="horz" wrap="square" lIns="0" tIns="0" rIns="0" bIns="0" rtlCol="0" anchor="t" anchorCtr="0"/>
          <a:lstStyle/>
          <a:p>
            <a:pPr indent="0" algn="l">
              <a:lnSpc>
                <a:spcPct val="100000"/>
              </a:lnSpc>
              <a:defRPr/>
            </a:pPr>
            <a:r>
              <a:rPr lang="en-US" sz="1300" b="1" i="0" u="none" strike="noStrike">
                <a:solidFill>
                  <a:srgbClr val="FFFFFF"/>
                </a:solidFill>
                <a:latin typeface="Noto Sans SC" panose="020B0500000000000000" charset="-122"/>
                <a:ea typeface="Noto Sans SC" panose="020B0500000000000000" charset="-122"/>
                <a:cs typeface="Noto Sans SC" panose="020B0500000000000000" charset="-122"/>
                <a:sym typeface="Noto Sans SC" panose="020B0500000000000000" charset="-122"/>
              </a:rPr>
              <a:t>垂直领域深度赋能 (GC AI / Anything)</a:t>
            </a:r>
            <a:br>
              <a:rPr lang="en-US" sz="1600" b="0" i="0" u="none" strike="noStrike">
                <a:solidFill>
                  <a:srgbClr val="1F2329"/>
                </a:solidFill>
                <a:latin typeface="Noto Sans SC" panose="020B0500000000000000" charset="-122"/>
                <a:ea typeface="Noto Sans SC" panose="020B0500000000000000" charset="-122"/>
                <a:cs typeface="Noto Sans SC" panose="020B0500000000000000" charset="-122"/>
                <a:sym typeface="Noto Sans SC" panose="020B0500000000000000" charset="-122"/>
              </a:rPr>
            </a:br>
            <a:r>
              <a:rPr lang="en-US" sz="1100" b="0" i="0" u="none" strike="noStrike">
                <a:solidFill>
                  <a:srgbClr val="D1D5DB"/>
                </a:solidFill>
                <a:latin typeface="Noto Sans SC" panose="020B0500000000000000" charset="-122"/>
                <a:ea typeface="Noto Sans SC" panose="020B0500000000000000" charset="-122"/>
                <a:cs typeface="Noto Sans SC" panose="020B0500000000000000" charset="-122"/>
                <a:sym typeface="Noto Sans SC" panose="020B0500000000000000" charset="-122"/>
              </a:rPr>
              <a:t>GC AI 构建法律专用平台服务内部团队；Anything 帮助150万非技术用户将想法转化为软件产品。</a:t>
            </a:r>
            <a:endParaRPr lang="en-US" sz="1100"/>
          </a:p>
        </p:txBody>
      </p:sp>
      <p:pic>
        <p:nvPicPr>
          <p:cNvPr id="20" name="Picture 20"/>
          <p:cNvPicPr>
            <a:picLocks noChangeAspect="1"/>
          </p:cNvPicPr>
          <p:nvPr/>
        </p:nvPicPr>
        <p:blipFill>
          <a:blip r:embed="rId9"/>
          <a:srcRect l="14898" r="14898"/>
          <a:stretch>
            <a:fillRect/>
          </a:stretch>
        </p:blipFill>
        <p:spPr>
          <a:xfrm>
            <a:off x="6527800" y="4445000"/>
            <a:ext cx="406400" cy="406400"/>
          </a:xfrm>
          <a:prstGeom prst="roundRect">
            <a:avLst>
              <a:gd name="adj" fmla="val 25000"/>
            </a:avLst>
          </a:prstGeom>
          <a:noFill/>
          <a:ln w="25400" cap="flat" cmpd="sng">
            <a:noFill/>
            <a:prstDash val="solid"/>
            <a:round/>
          </a:ln>
        </p:spPr>
      </p:pic>
      <p:sp>
        <p:nvSpPr>
          <p:cNvPr id="21" name="AutoShape 21"/>
          <p:cNvSpPr/>
          <p:nvPr/>
        </p:nvSpPr>
        <p:spPr>
          <a:xfrm>
            <a:off x="7061200" y="4419600"/>
            <a:ext cx="4318000" cy="635000"/>
          </a:xfrm>
          <a:prstGeom prst="rect">
            <a:avLst/>
          </a:prstGeom>
          <a:noFill/>
          <a:ln w="12700" cap="flat" cmpd="sng">
            <a:noFill/>
            <a:prstDash val="solid"/>
            <a:round/>
          </a:ln>
        </p:spPr>
        <p:txBody>
          <a:bodyPr vert="horz" wrap="square" lIns="0" tIns="0" rIns="0" bIns="0" rtlCol="0" anchor="t" anchorCtr="0"/>
          <a:lstStyle/>
          <a:p>
            <a:pPr indent="0" algn="l">
              <a:lnSpc>
                <a:spcPct val="100000"/>
              </a:lnSpc>
              <a:defRPr/>
            </a:pPr>
            <a:r>
              <a:rPr lang="en-US" sz="1300" b="1" i="0" u="none" strike="noStrike">
                <a:solidFill>
                  <a:srgbClr val="FFFFFF"/>
                </a:solidFill>
                <a:latin typeface="Noto Sans SC" panose="020B0500000000000000" charset="-122"/>
                <a:ea typeface="Noto Sans SC" panose="020B0500000000000000" charset="-122"/>
                <a:cs typeface="Noto Sans SC" panose="020B0500000000000000" charset="-122"/>
                <a:sym typeface="Noto Sans SC" panose="020B0500000000000000" charset="-122"/>
              </a:rPr>
              <a:t>Carta Healthcare - 医疗数据革命</a:t>
            </a:r>
            <a:br>
              <a:rPr lang="en-US" sz="1600" b="0" i="0" u="none" strike="noStrike">
                <a:solidFill>
                  <a:srgbClr val="1F2329"/>
                </a:solidFill>
                <a:latin typeface="Noto Sans SC" panose="020B0500000000000000" charset="-122"/>
                <a:ea typeface="Noto Sans SC" panose="020B0500000000000000" charset="-122"/>
                <a:cs typeface="Noto Sans SC" panose="020B0500000000000000" charset="-122"/>
                <a:sym typeface="Noto Sans SC" panose="020B0500000000000000" charset="-122"/>
              </a:rPr>
            </a:br>
            <a:r>
              <a:rPr lang="en-US" sz="1100" b="0" i="0" u="none" strike="noStrike">
                <a:solidFill>
                  <a:srgbClr val="D1D5DB"/>
                </a:solidFill>
                <a:latin typeface="Noto Sans SC" panose="020B0500000000000000" charset="-122"/>
                <a:ea typeface="Noto Sans SC" panose="020B0500000000000000" charset="-122"/>
                <a:cs typeface="Noto Sans SC" panose="020B0500000000000000" charset="-122"/>
                <a:sym typeface="Noto Sans SC" panose="020B0500000000000000" charset="-122"/>
              </a:rPr>
              <a:t>每年处理22,000个外科病例，利用AI将关键数据提取时间减少66%，显著提升医疗运营效率。</a:t>
            </a:r>
            <a:endParaRPr lang="en-US" sz="1100"/>
          </a:p>
        </p:txBody>
      </p:sp>
      <p:pic>
        <p:nvPicPr>
          <p:cNvPr id="22" name="Picture 22"/>
          <p:cNvPicPr>
            <a:picLocks noChangeAspect="1"/>
          </p:cNvPicPr>
          <p:nvPr/>
        </p:nvPicPr>
        <p:blipFill>
          <a:blip r:embed="rId10"/>
          <a:srcRect l="25609" r="25609"/>
          <a:stretch>
            <a:fillRect/>
          </a:stretch>
        </p:blipFill>
        <p:spPr>
          <a:xfrm>
            <a:off x="6527800" y="5461000"/>
            <a:ext cx="406400" cy="406400"/>
          </a:xfrm>
          <a:prstGeom prst="roundRect">
            <a:avLst>
              <a:gd name="adj" fmla="val 25000"/>
            </a:avLst>
          </a:prstGeom>
          <a:noFill/>
          <a:ln w="25400" cap="flat" cmpd="sng">
            <a:noFill/>
            <a:prstDash val="solid"/>
            <a:round/>
          </a:ln>
        </p:spPr>
      </p:pic>
      <p:sp>
        <p:nvSpPr>
          <p:cNvPr id="23" name="AutoShape 23"/>
          <p:cNvSpPr/>
          <p:nvPr/>
        </p:nvSpPr>
        <p:spPr>
          <a:xfrm>
            <a:off x="7061200" y="5435600"/>
            <a:ext cx="4318000" cy="635000"/>
          </a:xfrm>
          <a:prstGeom prst="rect">
            <a:avLst/>
          </a:prstGeom>
          <a:noFill/>
          <a:ln w="12700" cap="flat" cmpd="sng">
            <a:noFill/>
            <a:prstDash val="solid"/>
            <a:round/>
          </a:ln>
        </p:spPr>
        <p:txBody>
          <a:bodyPr vert="horz" wrap="square" lIns="0" tIns="0" rIns="0" bIns="0" rtlCol="0" anchor="t" anchorCtr="0"/>
          <a:lstStyle/>
          <a:p>
            <a:pPr indent="0" algn="l">
              <a:lnSpc>
                <a:spcPct val="100000"/>
              </a:lnSpc>
              <a:defRPr/>
            </a:pPr>
            <a:r>
              <a:rPr lang="en-US" sz="1300" b="1" i="0" u="none" strike="noStrike">
                <a:solidFill>
                  <a:srgbClr val="FFFFFF"/>
                </a:solidFill>
                <a:latin typeface="Noto Sans SC" panose="020B0500000000000000" charset="-122"/>
                <a:ea typeface="Noto Sans SC" panose="020B0500000000000000" charset="-122"/>
                <a:cs typeface="Noto Sans SC" panose="020B0500000000000000" charset="-122"/>
                <a:sym typeface="Noto Sans SC" panose="020B0500000000000000" charset="-122"/>
              </a:rPr>
              <a:t>Duvo AI - 供应链自动化专家</a:t>
            </a:r>
            <a:br>
              <a:rPr lang="en-US" sz="1600" b="0" i="0" u="none" strike="noStrike">
                <a:solidFill>
                  <a:srgbClr val="1F2329"/>
                </a:solidFill>
                <a:latin typeface="Noto Sans SC" panose="020B0500000000000000" charset="-122"/>
                <a:ea typeface="Noto Sans SC" panose="020B0500000000000000" charset="-122"/>
                <a:cs typeface="Noto Sans SC" panose="020B0500000000000000" charset="-122"/>
                <a:sym typeface="Noto Sans SC" panose="020B0500000000000000" charset="-122"/>
              </a:rPr>
            </a:br>
            <a:r>
              <a:rPr lang="en-US" sz="1100" b="0" i="0" u="none" strike="noStrike">
                <a:solidFill>
                  <a:srgbClr val="D1D5DB"/>
                </a:solidFill>
                <a:latin typeface="Noto Sans SC" panose="020B0500000000000000" charset="-122"/>
                <a:ea typeface="Noto Sans SC" panose="020B0500000000000000" charset="-122"/>
                <a:cs typeface="Noto Sans SC" panose="020B0500000000000000" charset="-122"/>
                <a:sym typeface="Noto Sans SC" panose="020B0500000000000000" charset="-122"/>
              </a:rPr>
              <a:t>构建完全基于 Claude 的智能AI代理，实现采购与供应链全流程的自动化管理。</a:t>
            </a:r>
            <a:endParaRPr lang="en-US" sz="110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111827">
              <a:alpha val="75000"/>
            </a:srgbClr>
          </a:solidFill>
          <a:ln w="25400" cap="flat" cmpd="sng">
            <a:noFill/>
            <a:prstDash val="solid"/>
            <a:round/>
          </a:ln>
        </p:spPr>
        <p:txBody>
          <a:bodyPr vert="horz" wrap="square" lIns="63500" tIns="63500" rIns="63500" bIns="63500" rtlCol="0" anchor="ctr"/>
          <a:lstStyle/>
          <a:p>
            <a:pPr algn="ctr">
              <a:defRPr/>
            </a:pPr>
          </a:p>
        </p:txBody>
      </p:sp>
      <p:sp>
        <p:nvSpPr>
          <p:cNvPr id="3" name="AutoShape 3"/>
          <p:cNvSpPr/>
          <p:nvPr/>
        </p:nvSpPr>
        <p:spPr>
          <a:xfrm>
            <a:off x="1016000" y="2667000"/>
            <a:ext cx="10160000" cy="889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4800" b="1" i="0" u="none" strike="noStrike">
                <a:solidFill>
                  <a:srgbClr val="FFFFFF"/>
                </a:solidFill>
                <a:latin typeface="Poppins"/>
                <a:ea typeface="Poppins"/>
                <a:cs typeface="Poppins"/>
                <a:sym typeface="Poppins"/>
              </a:rPr>
              <a:t>Thank You</a:t>
            </a:r>
            <a:endParaRPr lang="en-US" sz="1100"/>
          </a:p>
        </p:txBody>
      </p:sp>
      <p:sp>
        <p:nvSpPr>
          <p:cNvPr id="4" name="AutoShape 4"/>
          <p:cNvSpPr/>
          <p:nvPr/>
        </p:nvSpPr>
        <p:spPr>
          <a:xfrm>
            <a:off x="1016000" y="3683000"/>
            <a:ext cx="10160000" cy="508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2200" b="0" i="0" u="none" strike="noStrike">
                <a:solidFill>
                  <a:srgbClr val="00E5FF"/>
                </a:solidFill>
                <a:latin typeface="Poppins"/>
                <a:ea typeface="Poppins"/>
                <a:cs typeface="Poppins"/>
                <a:sym typeface="Poppins"/>
              </a:rPr>
              <a:t>The Future is Built with AI</a:t>
            </a:r>
            <a:endParaRPr lang="en-US" sz="1100"/>
          </a:p>
        </p:txBody>
      </p:sp>
      <p:pic>
        <p:nvPicPr>
          <p:cNvPr id="5" name="Picture 5"/>
          <p:cNvPicPr>
            <a:picLocks noChangeAspect="1"/>
          </p:cNvPicPr>
          <p:nvPr/>
        </p:nvPicPr>
        <p:blipFill>
          <a:blip r:embed="rId2"/>
          <a:stretch>
            <a:fillRect/>
          </a:stretch>
        </p:blipFill>
        <p:spPr>
          <a:xfrm>
            <a:off x="10668000" y="6190112"/>
            <a:ext cx="1524000" cy="667888"/>
          </a:xfrm>
          <a:prstGeom prst="rect">
            <a:avLst/>
          </a:prstGeom>
        </p:spPr>
      </p:pic>
    </p:spTree>
  </p:cSld>
  <p:clrMapOvr>
    <a:masterClrMapping/>
  </p:clrMapOvr>
</p:sld>
</file>

<file path=ppt/theme/theme1.xml><?xml version="1.0" encoding="utf-8"?>
<a:theme xmlns:a="http://schemas.openxmlformats.org/drawingml/2006/main" name="Office 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默认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9121</Words>
  <Application>WPS 演示</Application>
  <PresentationFormat/>
  <Paragraphs>580</Paragraphs>
  <Slides>29</Slides>
  <Notes>0</Notes>
  <HiddenSlides>0</HiddenSlides>
  <MMClips>0</MMClips>
  <ScaleCrop>false</ScaleCrop>
  <HeadingPairs>
    <vt:vector size="6" baseType="variant">
      <vt:variant>
        <vt:lpstr>已用的字体</vt:lpstr>
      </vt:variant>
      <vt:variant>
        <vt:i4>9</vt:i4>
      </vt:variant>
      <vt:variant>
        <vt:lpstr>主题</vt:lpstr>
      </vt:variant>
      <vt:variant>
        <vt:i4>2</vt:i4>
      </vt:variant>
      <vt:variant>
        <vt:lpstr>幻灯片标题</vt:lpstr>
      </vt:variant>
      <vt:variant>
        <vt:i4>29</vt:i4>
      </vt:variant>
    </vt:vector>
  </HeadingPairs>
  <TitlesOfParts>
    <vt:vector size="40" baseType="lpstr">
      <vt:lpstr>Arial</vt:lpstr>
      <vt:lpstr>宋体</vt:lpstr>
      <vt:lpstr>Wingdings</vt:lpstr>
      <vt:lpstr>Arial</vt:lpstr>
      <vt:lpstr>Poppins</vt:lpstr>
      <vt:lpstr>Segoe Print</vt:lpstr>
      <vt:lpstr>Noto Sans SC</vt:lpstr>
      <vt:lpstr>微软雅黑</vt:lpstr>
      <vt:lpstr>Arial Unicode MS</vt:lpstr>
      <vt:lpstr>Office 主题​​</vt:lpstr>
      <vt:lpstr>默认主题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冰侠客</cp:lastModifiedBy>
  <cp:revision>1</cp:revision>
  <dcterms:created xsi:type="dcterms:W3CDTF">2026-05-15T06:08:24Z</dcterms:created>
  <dcterms:modified xsi:type="dcterms:W3CDTF">2026-05-15T06:08:24Z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0D77E89F7D024A24A0F0E9A8FDB4F9CC_13</vt:lpwstr>
  </property>
  <property fmtid="{D5CDD505-2E9C-101B-9397-08002B2CF9AE}" pid="3" name="KSOProductBuildVer">
    <vt:lpwstr>2052-12.1.0.25865</vt:lpwstr>
  </property>
</Properties>
</file>