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3550" r:id="rId4"/>
    <p:sldId id="3582" r:id="rId5"/>
    <p:sldId id="3583" r:id="rId6"/>
    <p:sldId id="3581" r:id="rId7"/>
    <p:sldId id="3584" r:id="rId8"/>
    <p:sldId id="3585" r:id="rId9"/>
    <p:sldId id="3586" r:id="rId10"/>
    <p:sldId id="3587" r:id="rId11"/>
    <p:sldId id="3588" r:id="rId12"/>
    <p:sldId id="3589" r:id="rId13"/>
    <p:sldId id="3590" r:id="rId14"/>
    <p:sldId id="3591" r:id="rId15"/>
    <p:sldId id="3592" r:id="rId16"/>
    <p:sldId id="3593" r:id="rId17"/>
    <p:sldId id="3595" r:id="rId18"/>
    <p:sldId id="3594" r:id="rId19"/>
    <p:sldId id="3596" r:id="rId20"/>
    <p:sldId id="3597" r:id="rId21"/>
    <p:sldId id="3598" r:id="rId22"/>
    <p:sldId id="3599" r:id="rId23"/>
    <p:sldId id="3600" r:id="rId24"/>
    <p:sldId id="360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拼图游戏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6537-6A07-CFED-561B-2FCC98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zh-CN" sz="4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本章知识点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13118-7275-031A-9151-78481A7B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0669"/>
            <a:ext cx="10058400" cy="4023360"/>
          </a:xfrm>
        </p:spPr>
        <p:txBody>
          <a:bodyPr>
            <a:normAutofit fontScale="77500" lnSpcReduction="20000"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自动创建多个不同角色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使用随机函数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处理鼠标点击事件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模块化编程方法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播放声音文件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在窗口显示文字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1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B2176-DE81-4EB8-9286-3EFEFE1F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4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添加图片块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14B45D-A2DD-151F-05CA-0DDBE6CF09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lang="zh-CN" altLang="zh-CN" sz="24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准备图片资源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拼图游戏是将一系列小的图片块拼成一幅完整的大图像，首先得为游戏准一些小图片，要保证每一张小图片都是完整图像的某个组成部分。</a:t>
            </a:r>
            <a:endParaRPr lang="zh-CN" altLang="en-US" sz="2400" dirty="0"/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9E996281-34B1-0D08-3FE2-198E6E216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925" y="1845734"/>
            <a:ext cx="3592513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321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4"/>
            <a:ext cx="10058400" cy="5453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创建游戏场景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游戏使用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个图片块来完成拼图，最终图像的尺寸应该是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个图片块大小，每个图片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块的宽度和高度都是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96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个像素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+mn-ea"/>
              </a:rPr>
              <a:t>SIZE = 96             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+mn-ea"/>
              </a:rPr>
              <a:t>WIDTH = SIZE * 3      </a:t>
            </a:r>
            <a:endParaRPr lang="zh-CN" altLang="zh-CN" kern="100" dirty="0">
              <a:effectLst/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HEIGHT = SIZE * 3 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接着将场景显示出来，这需要在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函数中进行处理：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draw():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screen.fill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((255, 255, 255))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775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4"/>
            <a:ext cx="10058400" cy="5453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1.3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用列表管理图片块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定义一个列表，将创建的图片块角色加入其中：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pics = []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pic = Actor("puzzle_pic0")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pics.append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(pic)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编写代码来自动创建所有图片块角色：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for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in range(8):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pic = Actor("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puzzle_pic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 + str(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pic.index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# 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图片块索引值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pics.append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(pic)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7866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打乱图片块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022" y="2225878"/>
            <a:ext cx="10058400" cy="4023360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在拼图游戏中，玩家需要将分散的图片块拼合成完整的图像。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所</a:t>
            </a:r>
            <a:endParaRPr lang="en-US" altLang="zh-CN" sz="28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有图片块都是按固定次序保存在列表中的，只要设法随机打乱图</a:t>
            </a:r>
            <a:endParaRPr lang="en-US" altLang="zh-CN" sz="28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片块在列表中的次序，然后再将它们显示出来，则可以达到分散</a:t>
            </a:r>
            <a:endParaRPr lang="en-US" altLang="zh-CN" sz="28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显示的效果。这需要借助</a:t>
            </a:r>
            <a:r>
              <a:rPr lang="en-US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提供的随机函数。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使用随机函数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首先得导入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random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库，要在程序的最前面加上这一行代码：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import random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接着在之前编写的程序后面加入如下语句：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random.shuffle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(pics)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该语句表示调用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random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库的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shuffle()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函数，参数为列表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pics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。执行这句之后，</a:t>
            </a:r>
            <a:endParaRPr lang="en-US" altLang="zh-CN" sz="2400" kern="0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pics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中各个图片块的次序便被随机打乱了。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2880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5306946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zh-CN" sz="24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 </a:t>
            </a:r>
            <a:r>
              <a:rPr lang="zh-CN" altLang="zh-CN" sz="24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将图片块显示出来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为了让图片能够显示在正确的位置，需要为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每个图片块设置坐标。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程序窗口可以划分为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个方格，一个方格中显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示一个图片块。每个方格的位置可以用一对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数值（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, j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）来表示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其中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代表方格所在列的编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号，而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表示方格所在行的编号。</a:t>
            </a:r>
            <a:endParaRPr lang="en-US" altLang="zh-CN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每个图片块的坐标可以通过其所在的方格编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号来确定，只需要将图片块的大小乘上相应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的列号或行号即可。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1463E36-0E33-9F05-7012-4AAF4423D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054" y="1430345"/>
            <a:ext cx="3701489" cy="374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49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zh-CN" sz="24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 </a:t>
            </a:r>
            <a:r>
              <a:rPr lang="zh-CN" altLang="zh-CN" sz="24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将图片块显示出来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编写如下代码为所有图片块设置坐标：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in range(8):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pics[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].left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% 3 *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pics[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].top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// 3 *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修改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函数，依次调用每个图片块的</a:t>
            </a:r>
            <a:endParaRPr lang="en-US" altLang="zh-CN" kern="0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方法进行显示：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def draw():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screen.fill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((255, 255, 255))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for pic in pics: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	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050" name="图片 2">
            <a:extLst>
              <a:ext uri="{FF2B5EF4-FFF2-40B4-BE49-F238E27FC236}">
                <a16:creationId xmlns:a16="http://schemas.microsoft.com/office/drawing/2014/main" id="{8F229195-579F-1DC0-C728-F82FE598B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612" y="1253192"/>
            <a:ext cx="4057948" cy="4351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2410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移动图片块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022" y="2225878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根据拼图游戏规则，玩家能够移动各个图片块的位置，使得所有</a:t>
            </a:r>
            <a:endParaRPr lang="en-US" altLang="zh-CN" sz="2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图片块拼合成一幅完整的图像。那么如何让玩家来操作图片块呢？</a:t>
            </a:r>
            <a:endParaRPr lang="en-US" altLang="zh-CN" sz="2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我们可以使用鼠标来控制游戏操作，比如当玩家用鼠标点击某个</a:t>
            </a:r>
            <a:endParaRPr lang="en-US" altLang="zh-CN" sz="2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图片块时，能够移动它的位置，并将其重新显示在窗口中。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38375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处理鼠标点击事件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err="1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提供一个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on_mouse_down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函数来处理鼠标点击事件。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err="1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on_mouse_down</a:t>
            </a:r>
            <a:r>
              <a:rPr lang="en-US" altLang="zh-CN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函数提供两个参数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pos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button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，前者表示鼠标点击处的坐标值，后者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表示鼠标的按键值。</a:t>
            </a:r>
            <a:endParaRPr lang="en-US" altLang="zh-CN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pos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是一个元组类型的变量：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pos[0]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表示鼠标点击处的水平坐标；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pos[1]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表示鼠标点击处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的垂直坐标。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编写下面的代码测试一下：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on_mouse_down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(pos):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print("x=" + str(pos[0]))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print("y=" + str(pos[1]))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593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173472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3.2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选取图片块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pos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的值求得鼠标点击的图片块位于哪个方格，进而确定所要选取的图片块是哪一块。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on_mouse_down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函数修改为如下代码：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on_mouse_down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(pos):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pos[0] //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pos[1] // SIZE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+mn-ea"/>
                <a:cs typeface="宋体" panose="02010600030101010101" pitchFamily="2" charset="-122"/>
              </a:rPr>
              <a:t>变量</a:t>
            </a:r>
            <a:r>
              <a:rPr lang="en-US" altLang="zh-CN" dirty="0" err="1">
                <a:effectLst/>
                <a:latin typeface="+mn-ea"/>
                <a:cs typeface="宋体" panose="02010600030101010101" pitchFamily="2" charset="-122"/>
              </a:rPr>
              <a:t>grid_x</a:t>
            </a:r>
            <a:r>
              <a:rPr lang="zh-CN" altLang="zh-CN" dirty="0">
                <a:effectLst/>
                <a:latin typeface="+mn-ea"/>
                <a:cs typeface="宋体" panose="02010600030101010101" pitchFamily="2" charset="-122"/>
              </a:rPr>
              <a:t>和</a:t>
            </a:r>
            <a:r>
              <a:rPr lang="en-US" altLang="zh-CN" dirty="0" err="1">
                <a:effectLst/>
                <a:latin typeface="+mn-ea"/>
                <a:cs typeface="宋体" panose="02010600030101010101" pitchFamily="2" charset="-122"/>
              </a:rPr>
              <a:t>grid_y</a:t>
            </a:r>
            <a:r>
              <a:rPr lang="zh-CN" altLang="zh-CN" dirty="0">
                <a:effectLst/>
                <a:latin typeface="+mn-ea"/>
                <a:cs typeface="宋体" panose="02010600030101010101" pitchFamily="2" charset="-122"/>
              </a:rPr>
              <a:t>表示图片块方格的水平索引值（列号）和垂直索引值（行号）</a:t>
            </a:r>
            <a:r>
              <a:rPr lang="zh-CN" altLang="en-US" kern="0" dirty="0">
                <a:latin typeface="+mn-ea"/>
                <a:cs typeface="宋体" panose="02010600030101010101" pitchFamily="2" charset="-122"/>
              </a:rPr>
              <a:t>。</a:t>
            </a:r>
            <a:endParaRPr lang="en-US" altLang="zh-CN" kern="0" dirty="0">
              <a:latin typeface="+mn-ea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+mn-ea"/>
                <a:cs typeface="宋体" panose="02010600030101010101" pitchFamily="2" charset="-122"/>
              </a:rPr>
              <a:t>遍历列表</a:t>
            </a:r>
            <a:r>
              <a:rPr lang="en-US" altLang="zh-CN" kern="0" dirty="0">
                <a:effectLst/>
                <a:latin typeface="+mn-ea"/>
                <a:cs typeface="宋体" panose="02010600030101010101" pitchFamily="2" charset="-122"/>
              </a:rPr>
              <a:t>pics</a:t>
            </a:r>
            <a:r>
              <a:rPr lang="zh-CN" altLang="zh-CN" kern="0" dirty="0">
                <a:effectLst/>
                <a:latin typeface="+mn-ea"/>
                <a:cs typeface="宋体" panose="02010600030101010101" pitchFamily="2" charset="-122"/>
              </a:rPr>
              <a:t>，看哪个图片块所在方格的水平和垂直索引值与</a:t>
            </a:r>
            <a:r>
              <a:rPr lang="en-US" altLang="zh-CN" kern="0" dirty="0" err="1">
                <a:effectLst/>
                <a:latin typeface="+mn-ea"/>
                <a:cs typeface="宋体" panose="02010600030101010101" pitchFamily="2" charset="-122"/>
              </a:rPr>
              <a:t>grid_x</a:t>
            </a:r>
            <a:r>
              <a:rPr lang="zh-CN" altLang="zh-CN" kern="0" dirty="0">
                <a:effectLst/>
                <a:latin typeface="+mn-ea"/>
                <a:cs typeface="宋体" panose="02010600030101010101" pitchFamily="2" charset="-122"/>
              </a:rPr>
              <a:t>和</a:t>
            </a:r>
            <a:r>
              <a:rPr lang="en-US" altLang="zh-CN" kern="0" dirty="0" err="1">
                <a:effectLst/>
                <a:latin typeface="+mn-ea"/>
                <a:cs typeface="宋体" panose="02010600030101010101" pitchFamily="2" charset="-122"/>
              </a:rPr>
              <a:t>grid_y</a:t>
            </a:r>
            <a:r>
              <a:rPr lang="zh-CN" altLang="zh-CN" kern="0" dirty="0">
                <a:effectLst/>
                <a:latin typeface="+mn-ea"/>
                <a:cs typeface="宋体" panose="02010600030101010101" pitchFamily="2" charset="-122"/>
              </a:rPr>
              <a:t>相</a:t>
            </a:r>
            <a:r>
              <a:rPr lang="zh-CN" altLang="en-US" kern="0" dirty="0">
                <a:effectLst/>
                <a:latin typeface="+mn-ea"/>
                <a:cs typeface="宋体" panose="02010600030101010101" pitchFamily="2" charset="-122"/>
              </a:rPr>
              <a:t>同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pic in pics: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// SIZE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// SIZE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thispic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pic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6184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判断图片块能否移动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若要向上移动图片块，首先要保证该图片块所在的方格不能位于最上面一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行，即</a:t>
            </a:r>
            <a:r>
              <a:rPr lang="en-US" altLang="zh-CN" sz="24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grid_y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的值要大于零。其次要看它上方紧邻的方格中是否存在图片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块，若不存在则可以移动，否则不能移动。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其他三个方向的检查过程也是类似的。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3401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3.4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采用模块化编程方法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定义一个函数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get_pic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，用来获取某个方格中的图片块。同时为其设置两个参数，分别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表示方格的水平和垂直索引值：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get_pic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pic in pics: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// SIZE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// SIZE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return pic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return None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get_pic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函数会循环遍历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pics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列表，并返回满足条件的图片块。若所有图片块都不满足条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件，则返回一个空白块（用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None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表示）。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7739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3" y="474270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18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3.5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改变图片块的位置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移动图片块的操作是将图片块的位置移动一个方格的距离（即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SIZE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常量的值）。比如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在向上的检查中，若发现上方是空白块，便将当前图片块的纵坐标值减去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SIZE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即可。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on_mouse_down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函数进行如下修改：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on_mouse_down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(pos):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pos[0] //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pos[1] //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thispic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get_pic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thispic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!= None: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0 and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get_pic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grid_y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- 1) == None: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thispic.y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-= SIZE</a:t>
            </a: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对于其他方向的操作也可以编写类似的代码。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9260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3.6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减少程序的缩进层级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代码的缩进层级比较多（最多处缩进了三级），会对代码的可读性造成一定影响。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可以采用另一种写法来减少缩进的层级，即在条件语句中使用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return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关键字</a:t>
            </a:r>
            <a:r>
              <a:rPr lang="zh-CN" altLang="en-US" dirty="0"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zh-CN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thispic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== None: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return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将之前的代码进行该写，并加入图片块朝其他方向移动的检查语句。修改后的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on_mouse_down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参见书上第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34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页代码。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8467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实现游戏结束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022" y="2225878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游戏要对玩家的操作及时做出反馈，明确告诉玩家是否达成目标。</a:t>
            </a:r>
            <a:endParaRPr lang="en-US" altLang="zh-CN" sz="2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对于拼图游戏来说，当玩家将图片块拼合成完整图像后，游戏要</a:t>
            </a:r>
            <a:endParaRPr lang="en-US" altLang="zh-CN" sz="2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停止运行，并以文字或声音的形式告诉玩家完成了游戏。那么怎</a:t>
            </a:r>
            <a:endParaRPr lang="en-US" altLang="zh-CN" sz="2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样知道玩家是否将拼图拼好了呢？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03921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6197373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检查拼图是否完成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通过移动图片块让所有图片块按照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至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的编号顺序，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从左上至右下依次摆放在程序窗口各方格中</a:t>
            </a:r>
            <a:r>
              <a:rPr lang="zh-CN" altLang="en-US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按照</a:t>
            </a:r>
            <a:r>
              <a:rPr lang="zh-CN" altLang="en-US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图中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的编号顺序获取每个方格中的图片块，看看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它的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index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属性值是否与图中的编号相一致。</a:t>
            </a:r>
            <a:endParaRPr lang="en-US" altLang="zh-CN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函数中编写如下代码：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update():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in range(8):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pic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get_pic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% 3,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// 3)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if(pic == None 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pic.index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!=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return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E116EA-3C19-28DE-0082-B71FF5B9E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539" y="1378225"/>
            <a:ext cx="3983693" cy="387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8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4.2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显示最后一块图片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定义一个图片块角色，并为其指定位置：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lastpic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=Actor("puzzle_pic8")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lastpic.left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2 *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lastpic.top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2 * SIZE</a:t>
            </a: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定义一个布尔变量用来标识游戏是否结束，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表示结束，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表示没有结束。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在程序的前面加上这一行代码：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finished = False</a:t>
            </a: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函数中加入以下代码：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finished: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lastpic.draw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03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4.2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显示最后一块图片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函数进行修改：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update():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global finished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finished: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return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in range(8):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pic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get_pic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% 3,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// 3)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if(pic == None 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pic.index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!=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return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finished = True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2264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播放声音效果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为游戏音乐和游戏音效分别提供了便捷的播放手段，在拼图游戏中</a:t>
            </a:r>
            <a:endParaRPr lang="en-US" altLang="zh-CN" sz="2400" kern="0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只需要播放一小段游戏结束的音效就足够了。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准备好需要播放的音效文件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，并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将音效文件放入 “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sounds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”文件夹中。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函数的最后编写如下一行代码：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sounds.win.play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2488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4.4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显示文字信息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提供了简便的方式在程序窗口中绘制文字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，可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借助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screen.draw.text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方法实现。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函数中编写如下代码：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finished == True: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lastpic.draw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screen.draw.text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("Finished!", center=(WIDTH // 2, HEIGHT // 2),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=50, color="red")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screen.draw.text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方法中，最先传入的参数是要显示的字符串，</a:t>
            </a:r>
            <a:r>
              <a:rPr lang="zh-CN" altLang="en-US" dirty="0">
                <a:ea typeface="宋体" panose="02010600030101010101" pitchFamily="2" charset="-122"/>
                <a:cs typeface="宋体" panose="02010600030101010101" pitchFamily="2" charset="-122"/>
              </a:rPr>
              <a:t>其余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center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表示文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字中心点的坐标位置；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表示文字的大小；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color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表示文字的颜色。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1225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4.4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显示文字信息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拼图完成后会看到游戏结束画面。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074" name="图片 3">
            <a:extLst>
              <a:ext uri="{FF2B5EF4-FFF2-40B4-BE49-F238E27FC236}">
                <a16:creationId xmlns:a16="http://schemas.microsoft.com/office/drawing/2014/main" id="{B65E7783-88D6-7507-A409-B54A3F8E8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259" y="1827004"/>
            <a:ext cx="3959474" cy="4320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8407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56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在本章中，我们学习了如何编写一个拼图游戏。我们首先讨论了如何自动地从多个图片文件来创建图片块角色，并通过列表统一管理。然后学习了如何使用随机函数打乱列表中的图片块次序，并为各个图片块设置坐标。接下来着重介绍了如何对鼠标点击事件进行处理，使得玩家可以操作鼠标来移动图片块。我们还详细讨论了移动图片块的具体条件及操作步骤。最后我们对游戏结束的判定方法进行了细致的描述，同时简要介绍了如何播放游戏音效，以及如何在游戏中显示文字信息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14093282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</TotalTime>
  <Words>2116</Words>
  <Application>Microsoft Office PowerPoint</Application>
  <PresentationFormat>宽屏</PresentationFormat>
  <Paragraphs>184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等线</vt:lpstr>
      <vt:lpstr>宋体</vt:lpstr>
      <vt:lpstr>微软雅黑</vt:lpstr>
      <vt:lpstr>Calibri</vt:lpstr>
      <vt:lpstr>Calibri Light</vt:lpstr>
      <vt:lpstr>Times New Roman</vt:lpstr>
      <vt:lpstr>Wingdings</vt:lpstr>
      <vt:lpstr>回顾</vt:lpstr>
      <vt:lpstr>拼图游戏</vt:lpstr>
      <vt:lpstr>本章知识点</vt:lpstr>
      <vt:lpstr>1.添加图片块</vt:lpstr>
      <vt:lpstr>PowerPoint 演示文稿</vt:lpstr>
      <vt:lpstr>PowerPoint 演示文稿</vt:lpstr>
      <vt:lpstr>2.打乱图片块</vt:lpstr>
      <vt:lpstr>PowerPoint 演示文稿</vt:lpstr>
      <vt:lpstr>PowerPoint 演示文稿</vt:lpstr>
      <vt:lpstr>PowerPoint 演示文稿</vt:lpstr>
      <vt:lpstr>3.移动图片块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4.实现游戏结束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71</cp:revision>
  <dcterms:created xsi:type="dcterms:W3CDTF">2022-06-28T01:57:29Z</dcterms:created>
  <dcterms:modified xsi:type="dcterms:W3CDTF">2024-01-08T08:43:11Z</dcterms:modified>
</cp:coreProperties>
</file>