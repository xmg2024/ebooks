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0"/>
  </p:notesMasterIdLst>
  <p:sldIdLst>
    <p:sldId id="256" r:id="rId2"/>
    <p:sldId id="257" r:id="rId3"/>
    <p:sldId id="3562" r:id="rId4"/>
    <p:sldId id="3571" r:id="rId5"/>
    <p:sldId id="3582" r:id="rId6"/>
    <p:sldId id="3583" r:id="rId7"/>
    <p:sldId id="3584" r:id="rId8"/>
    <p:sldId id="3585" r:id="rId9"/>
    <p:sldId id="3586" r:id="rId10"/>
    <p:sldId id="3587" r:id="rId11"/>
    <p:sldId id="3588" r:id="rId12"/>
    <p:sldId id="3589" r:id="rId13"/>
    <p:sldId id="3577" r:id="rId14"/>
    <p:sldId id="3590" r:id="rId15"/>
    <p:sldId id="3591" r:id="rId16"/>
    <p:sldId id="3592" r:id="rId17"/>
    <p:sldId id="3593" r:id="rId18"/>
    <p:sldId id="3594" r:id="rId19"/>
    <p:sldId id="3595" r:id="rId20"/>
    <p:sldId id="3596" r:id="rId21"/>
    <p:sldId id="3597" r:id="rId22"/>
    <p:sldId id="3598" r:id="rId23"/>
    <p:sldId id="3599" r:id="rId24"/>
    <p:sldId id="3600" r:id="rId25"/>
    <p:sldId id="3601" r:id="rId26"/>
    <p:sldId id="3602" r:id="rId27"/>
    <p:sldId id="3603" r:id="rId28"/>
    <p:sldId id="3581" r:id="rId2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804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A75420-F708-49F5-92F8-624229C141A5}" type="datetimeFigureOut">
              <a:rPr lang="zh-CN" altLang="en-US" smtClean="0"/>
              <a:t>2024/1/8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3964FB-F2DD-4573-A003-A51F1EB4C90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84127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A98D1-1EC8-4A94-80E2-BD8F9B9879B3}" type="datetimeFigureOut">
              <a:rPr lang="zh-CN" altLang="en-US" smtClean="0"/>
              <a:t>2024/1/8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8F0F4-F8AA-4186-9944-6FC510E21948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114377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A98D1-1EC8-4A94-80E2-BD8F9B9879B3}" type="datetimeFigureOut">
              <a:rPr lang="zh-CN" altLang="en-US" smtClean="0"/>
              <a:t>2024/1/8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8F0F4-F8AA-4186-9944-6FC510E2194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705123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A98D1-1EC8-4A94-80E2-BD8F9B9879B3}" type="datetimeFigureOut">
              <a:rPr lang="zh-CN" altLang="en-US" smtClean="0"/>
              <a:t>2024/1/8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8F0F4-F8AA-4186-9944-6FC510E21948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908531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A98D1-1EC8-4A94-80E2-BD8F9B9879B3}" type="datetimeFigureOut">
              <a:rPr lang="zh-CN" altLang="en-US" smtClean="0"/>
              <a:t>2024/1/8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8F0F4-F8AA-4186-9944-6FC510E2194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12579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A98D1-1EC8-4A94-80E2-BD8F9B9879B3}" type="datetimeFigureOut">
              <a:rPr lang="zh-CN" altLang="en-US" smtClean="0"/>
              <a:t>2024/1/8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8F0F4-F8AA-4186-9944-6FC510E2194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01730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A98D1-1EC8-4A94-80E2-BD8F9B9879B3}" type="datetimeFigureOut">
              <a:rPr lang="zh-CN" altLang="en-US" smtClean="0"/>
              <a:t>2024/1/8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8F0F4-F8AA-4186-9944-6FC510E2194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04929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A98D1-1EC8-4A94-80E2-BD8F9B9879B3}" type="datetimeFigureOut">
              <a:rPr lang="zh-CN" altLang="en-US" smtClean="0"/>
              <a:t>2024/1/8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8F0F4-F8AA-4186-9944-6FC510E2194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32695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083A98D1-1EC8-4A94-80E2-BD8F9B9879B3}" type="datetimeFigureOut">
              <a:rPr lang="zh-CN" altLang="en-US" smtClean="0"/>
              <a:t>2024/1/8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4C8F0F4-F8AA-4186-9944-6FC510E2194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26546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A98D1-1EC8-4A94-80E2-BD8F9B9879B3}" type="datetimeFigureOut">
              <a:rPr lang="zh-CN" altLang="en-US" smtClean="0"/>
              <a:t>2024/1/8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8F0F4-F8AA-4186-9944-6FC510E2194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58449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A98D1-1EC8-4A94-80E2-BD8F9B9879B3}" type="datetimeFigureOut">
              <a:rPr lang="zh-CN" altLang="en-US" smtClean="0"/>
              <a:t>2024/1/8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8F0F4-F8AA-4186-9944-6FC510E2194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52475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A98D1-1EC8-4A94-80E2-BD8F9B9879B3}" type="datetimeFigureOut">
              <a:rPr lang="zh-CN" altLang="en-US" smtClean="0"/>
              <a:t>2024/1/8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8F0F4-F8AA-4186-9944-6FC510E2194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1397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/>
          <p:cNvCxnSpPr/>
          <p:nvPr userDrawn="1"/>
        </p:nvCxnSpPr>
        <p:spPr>
          <a:xfrm>
            <a:off x="1007435" y="833864"/>
            <a:ext cx="10465162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Group 7"/>
          <p:cNvGrpSpPr/>
          <p:nvPr userDrawn="1"/>
        </p:nvGrpSpPr>
        <p:grpSpPr bwMode="auto">
          <a:xfrm>
            <a:off x="431371" y="390528"/>
            <a:ext cx="520496" cy="274638"/>
            <a:chOff x="0" y="0"/>
            <a:chExt cx="1041399" cy="549275"/>
          </a:xfrm>
        </p:grpSpPr>
        <p:sp>
          <p:nvSpPr>
            <p:cNvPr id="13" name="Freeform 16"/>
            <p:cNvSpPr/>
            <p:nvPr/>
          </p:nvSpPr>
          <p:spPr bwMode="auto">
            <a:xfrm>
              <a:off x="0" y="0"/>
              <a:ext cx="361950" cy="549275"/>
            </a:xfrm>
            <a:custGeom>
              <a:avLst/>
              <a:gdLst>
                <a:gd name="T0" fmla="*/ 4 w 400"/>
                <a:gd name="T1" fmla="*/ 92 h 608"/>
                <a:gd name="T2" fmla="*/ 96 w 400"/>
                <a:gd name="T3" fmla="*/ 0 h 608"/>
                <a:gd name="T4" fmla="*/ 400 w 400"/>
                <a:gd name="T5" fmla="*/ 304 h 608"/>
                <a:gd name="T6" fmla="*/ 96 w 400"/>
                <a:gd name="T7" fmla="*/ 608 h 608"/>
                <a:gd name="T8" fmla="*/ 0 w 400"/>
                <a:gd name="T9" fmla="*/ 512 h 608"/>
                <a:gd name="T10" fmla="*/ 212 w 400"/>
                <a:gd name="T11" fmla="*/ 300 h 608"/>
                <a:gd name="T12" fmla="*/ 4 w 400"/>
                <a:gd name="T13" fmla="*/ 92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00" h="608">
                  <a:moveTo>
                    <a:pt x="4" y="92"/>
                  </a:moveTo>
                  <a:lnTo>
                    <a:pt x="96" y="0"/>
                  </a:lnTo>
                  <a:lnTo>
                    <a:pt x="400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005D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14" name="Freeform 17"/>
            <p:cNvSpPr/>
            <p:nvPr/>
          </p:nvSpPr>
          <p:spPr bwMode="auto">
            <a:xfrm>
              <a:off x="338137" y="0"/>
              <a:ext cx="360362" cy="549275"/>
            </a:xfrm>
            <a:custGeom>
              <a:avLst/>
              <a:gdLst>
                <a:gd name="T0" fmla="*/ 4 w 399"/>
                <a:gd name="T1" fmla="*/ 92 h 608"/>
                <a:gd name="T2" fmla="*/ 96 w 399"/>
                <a:gd name="T3" fmla="*/ 0 h 608"/>
                <a:gd name="T4" fmla="*/ 399 w 399"/>
                <a:gd name="T5" fmla="*/ 304 h 608"/>
                <a:gd name="T6" fmla="*/ 96 w 399"/>
                <a:gd name="T7" fmla="*/ 608 h 608"/>
                <a:gd name="T8" fmla="*/ 0 w 399"/>
                <a:gd name="T9" fmla="*/ 512 h 608"/>
                <a:gd name="T10" fmla="*/ 212 w 399"/>
                <a:gd name="T11" fmla="*/ 300 h 608"/>
                <a:gd name="T12" fmla="*/ 4 w 399"/>
                <a:gd name="T13" fmla="*/ 92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6" y="0"/>
                  </a:lnTo>
                  <a:lnTo>
                    <a:pt x="399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399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15" name="Freeform 18"/>
            <p:cNvSpPr/>
            <p:nvPr/>
          </p:nvSpPr>
          <p:spPr bwMode="auto">
            <a:xfrm>
              <a:off x="681037" y="0"/>
              <a:ext cx="360362" cy="549275"/>
            </a:xfrm>
            <a:custGeom>
              <a:avLst/>
              <a:gdLst>
                <a:gd name="T0" fmla="*/ 4 w 399"/>
                <a:gd name="T1" fmla="*/ 92 h 608"/>
                <a:gd name="T2" fmla="*/ 95 w 399"/>
                <a:gd name="T3" fmla="*/ 0 h 608"/>
                <a:gd name="T4" fmla="*/ 399 w 399"/>
                <a:gd name="T5" fmla="*/ 304 h 608"/>
                <a:gd name="T6" fmla="*/ 95 w 399"/>
                <a:gd name="T7" fmla="*/ 608 h 608"/>
                <a:gd name="T8" fmla="*/ 0 w 399"/>
                <a:gd name="T9" fmla="*/ 512 h 608"/>
                <a:gd name="T10" fmla="*/ 212 w 399"/>
                <a:gd name="T11" fmla="*/ 300 h 608"/>
                <a:gd name="T12" fmla="*/ 4 w 399"/>
                <a:gd name="T13" fmla="*/ 92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5" y="0"/>
                  </a:lnTo>
                  <a:lnTo>
                    <a:pt x="399" y="304"/>
                  </a:lnTo>
                  <a:lnTo>
                    <a:pt x="95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</p:grpSp>
      <p:sp>
        <p:nvSpPr>
          <p:cNvPr id="5" name="TextBox 4"/>
          <p:cNvSpPr txBox="1"/>
          <p:nvPr userDrawn="1"/>
        </p:nvSpPr>
        <p:spPr>
          <a:xfrm>
            <a:off x="305771" y="6524628"/>
            <a:ext cx="2909534" cy="2769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yx.ityxb.com</a:t>
            </a:r>
            <a:endParaRPr lang="zh-CN" altLang="en-US" sz="12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0" y="6792875"/>
            <a:ext cx="10633094" cy="84619"/>
          </a:xfrm>
          <a:prstGeom prst="rect">
            <a:avLst/>
          </a:prstGeom>
          <a:solidFill>
            <a:srgbClr val="1369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24" name="矩形 23"/>
          <p:cNvSpPr/>
          <p:nvPr userDrawn="1"/>
        </p:nvSpPr>
        <p:spPr>
          <a:xfrm>
            <a:off x="10705111" y="6792874"/>
            <a:ext cx="1486889" cy="8461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04678" y="294777"/>
            <a:ext cx="2595399" cy="404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97416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>
        <p14:flip dir="r"/>
      </p:transition>
    </mc:Choice>
    <mc:Fallback xmlns="">
      <p:transition spd="slow" advTm="3000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083A98D1-1EC8-4A94-80E2-BD8F9B9879B3}" type="datetimeFigureOut">
              <a:rPr lang="zh-CN" altLang="en-US" smtClean="0"/>
              <a:t>2024/1/8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94C8F0F4-F8AA-4186-9944-6FC510E21948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631176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61EEB1E-5500-9EE0-4B2B-5962B59C579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贪食蛇游戏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15082F6-BB6D-0F1D-7471-1A20173E0AA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07928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C7F6537-6A07-CFED-561B-2FCC989CD0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indent="266700" algn="just">
              <a:lnSpc>
                <a:spcPct val="150000"/>
              </a:lnSpc>
            </a:pPr>
            <a:r>
              <a:rPr lang="zh-CN" altLang="zh-CN" sz="4800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本章知识点</a:t>
            </a:r>
            <a:endParaRPr lang="zh-CN" altLang="zh-CN" sz="4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7A13118-7275-031A-9151-78481A7B9B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133410"/>
            <a:ext cx="10058400" cy="4023360"/>
          </a:xfrm>
        </p:spPr>
        <p:txBody>
          <a:bodyPr>
            <a:normAutofit lnSpcReduction="10000"/>
          </a:bodyPr>
          <a:lstStyle/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"/>
              <a:tabLst>
                <a:tab pos="266700" algn="l"/>
              </a:tabLst>
            </a:pPr>
            <a:r>
              <a:rPr lang="zh-CN" altLang="zh-CN" sz="2800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处理键盘的按键事件</a:t>
            </a:r>
            <a:endParaRPr lang="zh-CN" altLang="zh-CN" sz="2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"/>
              <a:tabLst>
                <a:tab pos="266700" algn="l"/>
              </a:tabLst>
            </a:pPr>
            <a:r>
              <a:rPr lang="zh-CN" altLang="zh-CN" sz="2800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控制角色的方向</a:t>
            </a:r>
            <a:endParaRPr lang="zh-CN" altLang="zh-CN" sz="2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"/>
              <a:tabLst>
                <a:tab pos="266700" algn="l"/>
              </a:tabLst>
            </a:pPr>
            <a:r>
              <a:rPr lang="zh-CN" altLang="zh-CN" sz="2800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旋转角色的图像</a:t>
            </a:r>
            <a:endParaRPr lang="zh-CN" altLang="zh-CN" sz="2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"/>
              <a:tabLst>
                <a:tab pos="266700" algn="l"/>
              </a:tabLst>
            </a:pPr>
            <a:r>
              <a:rPr lang="zh-CN" altLang="zh-CN" sz="2800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字典数据类型的应用</a:t>
            </a:r>
            <a:endParaRPr lang="zh-CN" altLang="zh-CN" sz="2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"/>
              <a:tabLst>
                <a:tab pos="266700" algn="l"/>
              </a:tabLst>
            </a:pPr>
            <a:r>
              <a:rPr lang="zh-CN" altLang="zh-CN" sz="2800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使用延迟变量</a:t>
            </a:r>
            <a:endParaRPr lang="zh-CN" altLang="zh-CN" sz="2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561444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AAA9938F-FD66-BB38-EF2E-4BEA29A526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</a:t>
            </a:r>
            <a:r>
              <a:rPr lang="zh-CN" altLang="en-US" dirty="0"/>
              <a:t>创建场景和角色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6D3FB9B-EFF6-8DBC-CABE-55530406BB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999845"/>
            <a:ext cx="10058400" cy="4339309"/>
          </a:xfrm>
        </p:spPr>
        <p:txBody>
          <a:bodyPr>
            <a:normAutofit lnSpcReduction="10000"/>
          </a:bodyPr>
          <a:lstStyle/>
          <a:p>
            <a:pPr>
              <a:lnSpc>
                <a:spcPct val="120000"/>
              </a:lnSpc>
            </a:pPr>
            <a:r>
              <a:rPr lang="en-US" altLang="zh-CN" sz="2600" b="1" dirty="0">
                <a:effectLst/>
                <a:latin typeface="宋体" panose="02010600030101010101" pitchFamily="2" charset="-122"/>
                <a:cs typeface="宋体" panose="02010600030101010101" pitchFamily="2" charset="-122"/>
              </a:rPr>
              <a:t>1.1 </a:t>
            </a:r>
            <a:r>
              <a:rPr lang="zh-CN" altLang="zh-CN" sz="2600" b="1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创建游戏场景</a:t>
            </a:r>
            <a:endParaRPr lang="en-US" altLang="zh-CN" sz="2600" b="1" dirty="0">
              <a:effectLst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just">
              <a:lnSpc>
                <a:spcPct val="120000"/>
              </a:lnSpc>
            </a:pPr>
            <a:r>
              <a:rPr lang="zh-CN" altLang="zh-CN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将场景的尺寸设定为贪食蛇图像大小的整数倍，代码如下所示：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20000"/>
              </a:lnSpc>
            </a:pPr>
            <a:r>
              <a:rPr lang="en-US" altLang="zh-CN" kern="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SIZE = 15              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66700" algn="just">
              <a:lnSpc>
                <a:spcPct val="120000"/>
              </a:lnSpc>
            </a:pP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WIDTH = SIZE * 30     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66700" algn="just">
              <a:lnSpc>
                <a:spcPct val="120000"/>
              </a:lnSpc>
            </a:pP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HEIGHT = SIZE * 30     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20000"/>
              </a:lnSpc>
            </a:pPr>
            <a:r>
              <a:rPr lang="zh-CN" altLang="zh-CN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为场景设置背景颜色</a:t>
            </a:r>
            <a:r>
              <a:rPr lang="zh-CN" altLang="en-US" b="1" dirty="0">
                <a:ea typeface="宋体" panose="02010600030101010101" pitchFamily="2" charset="-122"/>
                <a:cs typeface="宋体" panose="02010600030101010101" pitchFamily="2" charset="-122"/>
              </a:rPr>
              <a:t>，</a:t>
            </a:r>
            <a:r>
              <a:rPr lang="zh-CN" altLang="zh-CN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在</a:t>
            </a:r>
            <a:r>
              <a:rPr lang="en-US" altLang="zh-CN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draw()</a:t>
            </a:r>
            <a:r>
              <a:rPr lang="zh-CN" altLang="zh-CN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函数中编写如下代码：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266700" algn="just">
              <a:lnSpc>
                <a:spcPct val="120000"/>
              </a:lnSpc>
            </a:pP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def draw():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266700" indent="304800" algn="just">
              <a:lnSpc>
                <a:spcPct val="120000"/>
              </a:lnSpc>
            </a:pPr>
            <a:r>
              <a:rPr lang="en-US" altLang="zh-CN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screen.fill</a:t>
            </a: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((255, 255, 255))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21827652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64EE10F1-EF06-2248-B3DB-7B40CBDE1A96}"/>
              </a:ext>
            </a:extLst>
          </p:cNvPr>
          <p:cNvSpPr txBox="1">
            <a:spLocks/>
          </p:cNvSpPr>
          <p:nvPr/>
        </p:nvSpPr>
        <p:spPr>
          <a:xfrm>
            <a:off x="778779" y="700300"/>
            <a:ext cx="9228250" cy="5112671"/>
          </a:xfrm>
          <a:prstGeom prst="rect">
            <a:avLst/>
          </a:prstGeom>
        </p:spPr>
        <p:txBody>
          <a:bodyPr/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just">
              <a:lnSpc>
                <a:spcPct val="150000"/>
              </a:lnSpc>
              <a:buNone/>
            </a:pPr>
            <a:r>
              <a:rPr lang="en-US" altLang="zh-CN" sz="2400" b="1" dirty="0">
                <a:effectLst/>
                <a:latin typeface="宋体" panose="02010600030101010101" pitchFamily="2" charset="-122"/>
                <a:cs typeface="宋体" panose="02010600030101010101" pitchFamily="2" charset="-122"/>
              </a:rPr>
              <a:t>1.2 </a:t>
            </a:r>
            <a:r>
              <a:rPr lang="zh-CN" altLang="zh-CN" sz="2400" b="1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创建贪食蛇</a:t>
            </a:r>
            <a:endParaRPr lang="en-US" altLang="zh-CN" sz="2400" b="1" dirty="0">
              <a:effectLst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zh-CN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编写如下代码来创建蛇头角色：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50000"/>
              </a:lnSpc>
            </a:pP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lang="en-US" altLang="zh-CN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snake_head</a:t>
            </a: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= Actor("</a:t>
            </a:r>
            <a:r>
              <a:rPr lang="en-US" altLang="zh-CN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snake_head</a:t>
            </a: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", (30 , 30))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zh-CN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在</a:t>
            </a:r>
            <a:r>
              <a:rPr lang="en-US" altLang="zh-CN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draw()</a:t>
            </a:r>
            <a:r>
              <a:rPr lang="zh-CN" altLang="zh-CN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函数中加入一行代码，以便将蛇头显示出来：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50000"/>
              </a:lnSpc>
            </a:pPr>
            <a:r>
              <a:rPr lang="en-US" altLang="zh-CN" kern="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lang="en-US" altLang="zh-CN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snake_head.draw</a:t>
            </a: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()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66700" algn="just">
              <a:lnSpc>
                <a:spcPct val="150000"/>
              </a:lnSpc>
            </a:pP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1026" name="图片 2">
            <a:extLst>
              <a:ext uri="{FF2B5EF4-FFF2-40B4-BE49-F238E27FC236}">
                <a16:creationId xmlns:a16="http://schemas.microsoft.com/office/drawing/2014/main" id="{C26EFA2E-55CF-5735-3BC3-B36A277ED1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97828" y="1175884"/>
            <a:ext cx="4441825" cy="4637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058813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AAA9938F-FD66-BB38-EF2E-4BEA29A526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</a:t>
            </a:r>
            <a:r>
              <a:rPr lang="zh-CN" altLang="en-US" dirty="0"/>
              <a:t>移动蛇头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6D3FB9B-EFF6-8DBC-CABE-55530406BB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999846"/>
            <a:ext cx="10058400" cy="4023360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zh-CN" altLang="zh-CN" sz="2800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按照游戏规则，玩家要控制贪食蛇向上、下、左、右四个不同的方向移动。我们已经学会了如何使用鼠标控制游戏角色，但由于鼠标总共只有三个按键，所能传达的控制命令十分有限。这时我们可以考虑使用另一种常见的游戏交互设备——键盘。</a:t>
            </a:r>
            <a:endParaRPr lang="zh-CN" altLang="zh-CN" sz="2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41538556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64EE10F1-EF06-2248-B3DB-7B40CBDE1A96}"/>
              </a:ext>
            </a:extLst>
          </p:cNvPr>
          <p:cNvSpPr txBox="1">
            <a:spLocks/>
          </p:cNvSpPr>
          <p:nvPr/>
        </p:nvSpPr>
        <p:spPr>
          <a:xfrm>
            <a:off x="778779" y="700300"/>
            <a:ext cx="9228250" cy="5112671"/>
          </a:xfrm>
          <a:prstGeom prst="rect">
            <a:avLst/>
          </a:prstGeom>
        </p:spPr>
        <p:txBody>
          <a:bodyPr/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just">
              <a:lnSpc>
                <a:spcPct val="100000"/>
              </a:lnSpc>
              <a:buNone/>
            </a:pPr>
            <a:r>
              <a:rPr lang="en-US" altLang="zh-CN" sz="2400" b="1" dirty="0">
                <a:effectLst/>
                <a:latin typeface="宋体" panose="02010600030101010101" pitchFamily="2" charset="-122"/>
                <a:cs typeface="宋体" panose="02010600030101010101" pitchFamily="2" charset="-122"/>
              </a:rPr>
              <a:t>2.1 </a:t>
            </a:r>
            <a:r>
              <a:rPr lang="zh-CN" altLang="zh-CN" sz="2400" b="1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处理键盘按键事件</a:t>
            </a:r>
            <a:endParaRPr lang="en-US" altLang="zh-CN" sz="2400" b="1" dirty="0">
              <a:effectLst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algn="just">
              <a:lnSpc>
                <a:spcPct val="150000"/>
              </a:lnSpc>
              <a:buNone/>
            </a:pPr>
            <a:r>
              <a:rPr lang="en-US" altLang="zh-CN" dirty="0" err="1">
                <a:effectLst/>
                <a:latin typeface="宋体" panose="02010600030101010101" pitchFamily="2" charset="-122"/>
                <a:cs typeface="宋体" panose="02010600030101010101" pitchFamily="2" charset="-122"/>
              </a:rPr>
              <a:t>Pgzero</a:t>
            </a:r>
            <a:r>
              <a:rPr lang="zh-CN" altLang="zh-CN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提供了函数</a:t>
            </a:r>
            <a:r>
              <a:rPr lang="en-US" altLang="zh-CN" dirty="0" err="1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on_key_down</a:t>
            </a:r>
            <a:r>
              <a:rPr lang="en-US" altLang="zh-CN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()</a:t>
            </a:r>
            <a:r>
              <a:rPr lang="zh-CN" altLang="zh-CN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，用于处理键盘的按键事件。</a:t>
            </a:r>
            <a:endParaRPr lang="en-US" altLang="zh-CN" dirty="0">
              <a:effectLst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algn="just">
              <a:lnSpc>
                <a:spcPct val="150000"/>
              </a:lnSpc>
              <a:buNone/>
            </a:pPr>
            <a:r>
              <a:rPr lang="zh-CN" altLang="zh-CN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该函数定义了一个叫做</a:t>
            </a:r>
            <a:r>
              <a:rPr lang="en-US" altLang="zh-CN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key</a:t>
            </a:r>
            <a:r>
              <a:rPr lang="zh-CN" altLang="zh-CN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的参数，用来保存玩家所按下的键盘信息。</a:t>
            </a:r>
            <a:endParaRPr lang="en-US" altLang="zh-CN" dirty="0">
              <a:effectLst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algn="just">
              <a:lnSpc>
                <a:spcPct val="150000"/>
              </a:lnSpc>
              <a:buNone/>
            </a:pPr>
            <a:r>
              <a:rPr lang="en-US" altLang="zh-CN" kern="100" dirty="0" err="1">
                <a:effectLst/>
                <a:latin typeface="宋体" panose="02010600030101010101" pitchFamily="2" charset="-122"/>
                <a:cs typeface="Times New Roman" panose="02020603050405020304" pitchFamily="18" charset="0"/>
              </a:rPr>
              <a:t>Pgzero</a:t>
            </a:r>
            <a:r>
              <a:rPr lang="zh-CN" altLang="zh-CN" kern="100" dirty="0"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还提供了一个内置对象“</a:t>
            </a:r>
            <a:r>
              <a:rPr lang="en-US" altLang="zh-CN" kern="100" dirty="0"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keys</a:t>
            </a:r>
            <a:r>
              <a:rPr lang="zh-CN" altLang="zh-CN" kern="100" dirty="0"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”，用来表示不同的键盘按键</a:t>
            </a:r>
            <a:r>
              <a:rPr lang="zh-CN" altLang="en-US" kern="100" dirty="0"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  <a:endParaRPr lang="en-US" altLang="zh-CN" kern="100" dirty="0">
              <a:effectLst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0" algn="just">
              <a:lnSpc>
                <a:spcPct val="150000"/>
              </a:lnSpc>
              <a:buNone/>
            </a:pPr>
            <a:r>
              <a:rPr lang="zh-CN" altLang="en-US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可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以使用表达式“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key == </a:t>
            </a:r>
            <a:r>
              <a:rPr lang="en-US" altLang="zh-CN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keys.LEFT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”来判断玩家是否按下了键盘的左方向键</a:t>
            </a:r>
            <a:r>
              <a:rPr lang="zh-CN" altLang="en-US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。</a:t>
            </a:r>
            <a:endParaRPr lang="en-US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0" algn="just">
              <a:lnSpc>
                <a:spcPct val="150000"/>
              </a:lnSpc>
              <a:buNone/>
            </a:pP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对于其它方向键的判断也是类似的。</a:t>
            </a:r>
            <a:endParaRPr lang="en-US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0" algn="just">
              <a:lnSpc>
                <a:spcPct val="150000"/>
              </a:lnSpc>
              <a:buNone/>
            </a:pPr>
            <a:r>
              <a:rPr lang="zh-CN" altLang="zh-CN" sz="20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在</a:t>
            </a:r>
            <a:r>
              <a:rPr lang="en-US" altLang="zh-CN" sz="2000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on_key_down</a:t>
            </a:r>
            <a:r>
              <a:rPr lang="en-US" altLang="zh-CN" sz="20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()</a:t>
            </a:r>
            <a:r>
              <a:rPr lang="zh-CN" altLang="zh-CN" sz="2000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函数中编写如下代码：</a:t>
            </a:r>
            <a:endParaRPr lang="zh-CN" altLang="zh-CN" sz="20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0" algn="just">
              <a:lnSpc>
                <a:spcPct val="100000"/>
              </a:lnSpc>
              <a:buNone/>
            </a:pP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828117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64EE10F1-EF06-2248-B3DB-7B40CBDE1A96}"/>
              </a:ext>
            </a:extLst>
          </p:cNvPr>
          <p:cNvSpPr txBox="1">
            <a:spLocks/>
          </p:cNvSpPr>
          <p:nvPr/>
        </p:nvSpPr>
        <p:spPr>
          <a:xfrm>
            <a:off x="778779" y="700300"/>
            <a:ext cx="9228250" cy="5112671"/>
          </a:xfrm>
          <a:prstGeom prst="rect">
            <a:avLst/>
          </a:prstGeom>
        </p:spPr>
        <p:txBody>
          <a:bodyPr/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just">
              <a:lnSpc>
                <a:spcPct val="100000"/>
              </a:lnSpc>
              <a:buNone/>
            </a:pPr>
            <a:r>
              <a:rPr lang="en-US" altLang="zh-CN" sz="2400" b="1" dirty="0">
                <a:effectLst/>
                <a:latin typeface="宋体" panose="02010600030101010101" pitchFamily="2" charset="-122"/>
                <a:cs typeface="宋体" panose="02010600030101010101" pitchFamily="2" charset="-122"/>
              </a:rPr>
              <a:t>2.1 </a:t>
            </a:r>
            <a:r>
              <a:rPr lang="zh-CN" altLang="zh-CN" sz="2400" b="1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处理键盘按键事件</a:t>
            </a:r>
            <a:endParaRPr lang="en-US" altLang="zh-CN" sz="2400" b="1" dirty="0">
              <a:effectLst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def </a:t>
            </a:r>
            <a:r>
              <a:rPr lang="en-US" altLang="zh-CN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on_key_down</a:t>
            </a: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(key):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if key == </a:t>
            </a:r>
            <a:r>
              <a:rPr lang="en-US" altLang="zh-CN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keys.LEFT</a:t>
            </a: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: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    </a:t>
            </a:r>
            <a:r>
              <a:rPr lang="en-US" altLang="zh-CN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snake_head.x</a:t>
            </a: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-= SIZE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</a:t>
            </a:r>
            <a:r>
              <a:rPr lang="en-US" altLang="zh-CN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elif</a:t>
            </a: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key == </a:t>
            </a:r>
            <a:r>
              <a:rPr lang="en-US" altLang="zh-CN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keys.RIGHT</a:t>
            </a: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: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    </a:t>
            </a:r>
            <a:r>
              <a:rPr lang="en-US" altLang="zh-CN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snake_head.x</a:t>
            </a: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+= SIZE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</a:t>
            </a:r>
            <a:r>
              <a:rPr lang="en-US" altLang="zh-CN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elif</a:t>
            </a: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key == </a:t>
            </a:r>
            <a:r>
              <a:rPr lang="en-US" altLang="zh-CN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keys.UP</a:t>
            </a: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: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    </a:t>
            </a:r>
            <a:r>
              <a:rPr lang="en-US" altLang="zh-CN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snake_head.y</a:t>
            </a: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-= SIZE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</a:t>
            </a:r>
            <a:r>
              <a:rPr lang="en-US" altLang="zh-CN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elif</a:t>
            </a: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key == </a:t>
            </a:r>
            <a:r>
              <a:rPr lang="en-US" altLang="zh-CN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keys.DOWN</a:t>
            </a: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: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    </a:t>
            </a:r>
            <a:r>
              <a:rPr lang="en-US" altLang="zh-CN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snake_head.y</a:t>
            </a: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+= SIZE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0" algn="just">
              <a:lnSpc>
                <a:spcPct val="100000"/>
              </a:lnSpc>
              <a:buNone/>
            </a:pP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316848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64EE10F1-EF06-2248-B3DB-7B40CBDE1A96}"/>
              </a:ext>
            </a:extLst>
          </p:cNvPr>
          <p:cNvSpPr txBox="1">
            <a:spLocks/>
          </p:cNvSpPr>
          <p:nvPr/>
        </p:nvSpPr>
        <p:spPr>
          <a:xfrm>
            <a:off x="778779" y="700300"/>
            <a:ext cx="8344673" cy="5112671"/>
          </a:xfrm>
          <a:prstGeom prst="rect">
            <a:avLst/>
          </a:prstGeom>
        </p:spPr>
        <p:txBody>
          <a:bodyPr/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just">
              <a:lnSpc>
                <a:spcPct val="100000"/>
              </a:lnSpc>
              <a:buNone/>
            </a:pPr>
            <a:r>
              <a:rPr lang="en-US" altLang="zh-CN" sz="2400" b="1" dirty="0">
                <a:effectLst/>
                <a:latin typeface="宋体" panose="02010600030101010101" pitchFamily="2" charset="-122"/>
                <a:cs typeface="宋体" panose="02010600030101010101" pitchFamily="2" charset="-122"/>
              </a:rPr>
              <a:t>2.2 </a:t>
            </a:r>
            <a:r>
              <a:rPr lang="zh-CN" altLang="zh-CN" sz="2400" b="1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让蛇头持续移动</a:t>
            </a:r>
            <a:endParaRPr lang="en-US" altLang="zh-CN" sz="2400" b="1" dirty="0">
              <a:effectLst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algn="just">
              <a:lnSpc>
                <a:spcPct val="150000"/>
              </a:lnSpc>
              <a:buNone/>
            </a:pPr>
            <a:r>
              <a:rPr lang="zh-CN" altLang="zh-CN" sz="2400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定义全局变量</a:t>
            </a:r>
            <a:r>
              <a:rPr lang="en-US" altLang="zh-CN" sz="2400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direction</a:t>
            </a:r>
            <a:r>
              <a:rPr lang="zh-CN" altLang="zh-CN" sz="2400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，用来表示蛇头的移动方向：</a:t>
            </a:r>
            <a:endParaRPr lang="zh-CN" altLang="zh-CN" sz="24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66700" algn="just">
              <a:lnSpc>
                <a:spcPct val="150000"/>
              </a:lnSpc>
            </a:pPr>
            <a:r>
              <a:rPr lang="en-US" altLang="zh-CN" sz="24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direction = </a:t>
            </a:r>
            <a:r>
              <a:rPr lang="en-US" altLang="zh-CN" sz="2400" kern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"east"</a:t>
            </a:r>
            <a:endParaRPr lang="en-US" altLang="zh-CN" sz="2400" kern="0" dirty="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algn="just">
              <a:lnSpc>
                <a:spcPct val="150000"/>
              </a:lnSpc>
              <a:buNone/>
            </a:pPr>
            <a:r>
              <a:rPr lang="zh-CN" altLang="zh-CN" sz="2400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用字符串“</a:t>
            </a:r>
            <a:r>
              <a:rPr lang="en-US" altLang="zh-CN" sz="2400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north</a:t>
            </a:r>
            <a:r>
              <a:rPr lang="zh-CN" altLang="zh-CN" sz="2400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”、“</a:t>
            </a:r>
            <a:r>
              <a:rPr lang="en-US" altLang="zh-CN" sz="2400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south</a:t>
            </a:r>
            <a:r>
              <a:rPr lang="zh-CN" altLang="zh-CN" sz="2400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”、“</a:t>
            </a:r>
            <a:r>
              <a:rPr lang="en-US" altLang="zh-CN" sz="2400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west</a:t>
            </a:r>
            <a:r>
              <a:rPr lang="zh-CN" altLang="zh-CN" sz="2400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”和“</a:t>
            </a:r>
            <a:r>
              <a:rPr lang="en-US" altLang="zh-CN" sz="2400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east</a:t>
            </a:r>
            <a:r>
              <a:rPr lang="zh-CN" altLang="zh-CN" sz="2400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”来表示贪食蛇的上、下、左、右四个移动方向</a:t>
            </a:r>
            <a:r>
              <a:rPr lang="zh-CN" altLang="en-US" sz="2400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。</a:t>
            </a:r>
            <a:endParaRPr lang="en-US" altLang="zh-CN" sz="2400" dirty="0">
              <a:effectLst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algn="just">
              <a:lnSpc>
                <a:spcPct val="100000"/>
              </a:lnSpc>
              <a:buNone/>
            </a:pP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928808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64EE10F1-EF06-2248-B3DB-7B40CBDE1A96}"/>
              </a:ext>
            </a:extLst>
          </p:cNvPr>
          <p:cNvSpPr txBox="1">
            <a:spLocks/>
          </p:cNvSpPr>
          <p:nvPr/>
        </p:nvSpPr>
        <p:spPr>
          <a:xfrm>
            <a:off x="778779" y="700300"/>
            <a:ext cx="9228250" cy="5112671"/>
          </a:xfrm>
          <a:prstGeom prst="rect">
            <a:avLst/>
          </a:prstGeom>
        </p:spPr>
        <p:txBody>
          <a:bodyPr/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just">
              <a:lnSpc>
                <a:spcPct val="100000"/>
              </a:lnSpc>
              <a:buNone/>
            </a:pPr>
            <a:r>
              <a:rPr lang="en-US" altLang="zh-CN" sz="2400" b="1" dirty="0">
                <a:effectLst/>
                <a:latin typeface="宋体" panose="02010600030101010101" pitchFamily="2" charset="-122"/>
                <a:cs typeface="宋体" panose="02010600030101010101" pitchFamily="2" charset="-122"/>
              </a:rPr>
              <a:t>2.2 </a:t>
            </a:r>
            <a:r>
              <a:rPr lang="zh-CN" altLang="zh-CN" sz="2400" b="1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让蛇头持续移动</a:t>
            </a:r>
            <a:endParaRPr lang="en-US" altLang="zh-CN" sz="2400" b="1" dirty="0">
              <a:effectLst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algn="just">
              <a:lnSpc>
                <a:spcPct val="100000"/>
              </a:lnSpc>
              <a:buNone/>
            </a:pPr>
            <a:r>
              <a:rPr lang="zh-CN" altLang="zh-CN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为</a:t>
            </a:r>
            <a:r>
              <a:rPr lang="en-US" altLang="zh-CN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update()</a:t>
            </a:r>
            <a:r>
              <a:rPr lang="zh-CN" altLang="zh-CN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函数编写如下代码：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def update():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if direction == "east":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    </a:t>
            </a:r>
            <a:r>
              <a:rPr lang="en-US" altLang="zh-CN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snake_head.x</a:t>
            </a: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+= SIZE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</a:t>
            </a:r>
            <a:r>
              <a:rPr lang="en-US" altLang="zh-CN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elif</a:t>
            </a: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direction == "west":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    </a:t>
            </a:r>
            <a:r>
              <a:rPr lang="en-US" altLang="zh-CN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snake_head.x</a:t>
            </a: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-= SIZE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</a:t>
            </a:r>
            <a:r>
              <a:rPr lang="en-US" altLang="zh-CN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elif</a:t>
            </a: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direction == "north":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    </a:t>
            </a:r>
            <a:r>
              <a:rPr lang="en-US" altLang="zh-CN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snake_head.y</a:t>
            </a: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-= SIZE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</a:t>
            </a:r>
            <a:r>
              <a:rPr lang="en-US" altLang="zh-CN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elif</a:t>
            </a: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direction == "south":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    </a:t>
            </a:r>
            <a:r>
              <a:rPr lang="en-US" altLang="zh-CN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snake_head.y</a:t>
            </a: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+= SIZE  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66700" algn="just">
              <a:lnSpc>
                <a:spcPct val="150000"/>
              </a:lnSpc>
            </a:pP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0" algn="just">
              <a:lnSpc>
                <a:spcPct val="100000"/>
              </a:lnSpc>
              <a:buNone/>
            </a:pP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272720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64EE10F1-EF06-2248-B3DB-7B40CBDE1A96}"/>
              </a:ext>
            </a:extLst>
          </p:cNvPr>
          <p:cNvSpPr txBox="1">
            <a:spLocks/>
          </p:cNvSpPr>
          <p:nvPr/>
        </p:nvSpPr>
        <p:spPr>
          <a:xfrm>
            <a:off x="676037" y="350978"/>
            <a:ext cx="9228250" cy="5112671"/>
          </a:xfrm>
          <a:prstGeom prst="rect">
            <a:avLst/>
          </a:prstGeom>
        </p:spPr>
        <p:txBody>
          <a:bodyPr/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just">
              <a:lnSpc>
                <a:spcPct val="100000"/>
              </a:lnSpc>
              <a:buNone/>
            </a:pPr>
            <a:r>
              <a:rPr lang="en-US" altLang="zh-CN" sz="2400" b="1" dirty="0">
                <a:effectLst/>
                <a:latin typeface="宋体" panose="02010600030101010101" pitchFamily="2" charset="-122"/>
                <a:cs typeface="宋体" panose="02010600030101010101" pitchFamily="2" charset="-122"/>
              </a:rPr>
              <a:t>2.2 </a:t>
            </a:r>
            <a:r>
              <a:rPr lang="zh-CN" altLang="zh-CN" sz="2400" b="1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让蛇头持续移动</a:t>
            </a:r>
            <a:endParaRPr lang="en-US" altLang="zh-CN" sz="2400" b="1" dirty="0">
              <a:effectLst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algn="just">
              <a:lnSpc>
                <a:spcPct val="100000"/>
              </a:lnSpc>
              <a:buNone/>
            </a:pPr>
            <a:r>
              <a:rPr lang="zh-CN" altLang="zh-CN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对</a:t>
            </a:r>
            <a:r>
              <a:rPr lang="en-US" altLang="zh-CN" kern="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on_key_down</a:t>
            </a:r>
            <a:r>
              <a:rPr lang="en-US" altLang="zh-CN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()</a:t>
            </a:r>
            <a:r>
              <a:rPr lang="zh-CN" altLang="zh-CN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函数进行修改：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0" algn="just">
              <a:lnSpc>
                <a:spcPct val="100000"/>
              </a:lnSpc>
              <a:buNone/>
            </a:pPr>
            <a:r>
              <a:rPr lang="en-US" altLang="zh-CN" kern="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def </a:t>
            </a:r>
            <a:r>
              <a:rPr lang="en-US" altLang="zh-CN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on_key_down</a:t>
            </a: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(key):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266700" indent="266700" algn="just">
              <a:lnSpc>
                <a:spcPct val="100000"/>
              </a:lnSpc>
            </a:pP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global direction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if key == </a:t>
            </a:r>
            <a:r>
              <a:rPr lang="en-US" altLang="zh-CN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keys.LEFT</a:t>
            </a: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and direction != "east":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    direction = "west"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</a:t>
            </a:r>
            <a:r>
              <a:rPr lang="en-US" altLang="zh-CN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elif</a:t>
            </a: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key == </a:t>
            </a:r>
            <a:r>
              <a:rPr lang="en-US" altLang="zh-CN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keys.RIGHT</a:t>
            </a: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and direction != "west":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    direction = "east"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</a:t>
            </a:r>
            <a:r>
              <a:rPr lang="en-US" altLang="zh-CN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elif</a:t>
            </a: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key == </a:t>
            </a:r>
            <a:r>
              <a:rPr lang="en-US" altLang="zh-CN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keys.UP</a:t>
            </a: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and direction != "south":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    direction = "north"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</a:t>
            </a:r>
            <a:r>
              <a:rPr lang="en-US" altLang="zh-CN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elif</a:t>
            </a: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key == </a:t>
            </a:r>
            <a:r>
              <a:rPr lang="en-US" altLang="zh-CN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keys.DOWN</a:t>
            </a: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and direction != "north":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    direction = "south"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66700" algn="just">
              <a:lnSpc>
                <a:spcPct val="100000"/>
              </a:lnSpc>
            </a:pP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0" algn="just">
              <a:lnSpc>
                <a:spcPct val="100000"/>
              </a:lnSpc>
              <a:buNone/>
            </a:pP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615784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64EE10F1-EF06-2248-B3DB-7B40CBDE1A96}"/>
              </a:ext>
            </a:extLst>
          </p:cNvPr>
          <p:cNvSpPr txBox="1">
            <a:spLocks/>
          </p:cNvSpPr>
          <p:nvPr/>
        </p:nvSpPr>
        <p:spPr>
          <a:xfrm>
            <a:off x="665762" y="597557"/>
            <a:ext cx="10224844" cy="5112671"/>
          </a:xfrm>
          <a:prstGeom prst="rect">
            <a:avLst/>
          </a:prstGeom>
        </p:spPr>
        <p:txBody>
          <a:bodyPr/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just">
              <a:lnSpc>
                <a:spcPct val="100000"/>
              </a:lnSpc>
              <a:buNone/>
            </a:pPr>
            <a:r>
              <a:rPr lang="en-US" altLang="zh-CN" sz="2400" b="1" dirty="0">
                <a:effectLst/>
                <a:latin typeface="宋体" panose="02010600030101010101" pitchFamily="2" charset="-122"/>
                <a:cs typeface="宋体" panose="02010600030101010101" pitchFamily="2" charset="-122"/>
              </a:rPr>
              <a:t>2.3 </a:t>
            </a:r>
            <a:r>
              <a:rPr lang="zh-CN" altLang="zh-CN" sz="2400" b="1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另一种键盘控制方式</a:t>
            </a:r>
            <a:endParaRPr lang="en-US" altLang="zh-CN" sz="2400" b="1" dirty="0">
              <a:effectLst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algn="just">
              <a:lnSpc>
                <a:spcPct val="100000"/>
              </a:lnSpc>
              <a:buNone/>
            </a:pPr>
            <a:r>
              <a:rPr lang="en-US" altLang="zh-CN" dirty="0" err="1">
                <a:effectLst/>
                <a:latin typeface="宋体" panose="02010600030101010101" pitchFamily="2" charset="-122"/>
                <a:cs typeface="宋体" panose="02010600030101010101" pitchFamily="2" charset="-122"/>
              </a:rPr>
              <a:t>Pgzero</a:t>
            </a:r>
            <a:r>
              <a:rPr lang="zh-CN" altLang="en-US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提供了</a:t>
            </a:r>
            <a:r>
              <a:rPr lang="zh-CN" altLang="zh-CN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“</a:t>
            </a:r>
            <a:r>
              <a:rPr lang="en-US" altLang="zh-CN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keyboard</a:t>
            </a:r>
            <a:r>
              <a:rPr lang="zh-CN" altLang="zh-CN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”对象，为每个按键定义了一个布尔类型的属性。</a:t>
            </a:r>
            <a:endParaRPr lang="en-US" altLang="zh-CN" dirty="0">
              <a:effectLst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algn="just">
              <a:lnSpc>
                <a:spcPct val="100000"/>
              </a:lnSpc>
              <a:buNone/>
            </a:pPr>
            <a:r>
              <a:rPr lang="zh-CN" altLang="zh-CN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可以在</a:t>
            </a:r>
            <a:r>
              <a:rPr lang="en-US" altLang="zh-CN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update()</a:t>
            </a:r>
            <a:r>
              <a:rPr lang="zh-CN" altLang="zh-CN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函数中对</a:t>
            </a:r>
            <a:r>
              <a:rPr lang="en-US" altLang="zh-CN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keyboard</a:t>
            </a:r>
            <a:r>
              <a:rPr lang="zh-CN" altLang="zh-CN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的属性值进行判断，进而执行相应的操作：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00000"/>
              </a:lnSpc>
            </a:pP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if </a:t>
            </a:r>
            <a:r>
              <a:rPr lang="en-US" altLang="zh-CN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keyboard.right</a:t>
            </a: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and direction != "west":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00000"/>
              </a:lnSpc>
            </a:pP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    direction = "east"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00000"/>
              </a:lnSpc>
            </a:pP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</a:t>
            </a:r>
            <a:r>
              <a:rPr lang="en-US" altLang="zh-CN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elif</a:t>
            </a: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keyboard.left</a:t>
            </a: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and direction != "east":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00000"/>
              </a:lnSpc>
            </a:pP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    direction = "west"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00000"/>
              </a:lnSpc>
            </a:pP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</a:t>
            </a:r>
            <a:r>
              <a:rPr lang="en-US" altLang="zh-CN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elif</a:t>
            </a: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keyboard.up</a:t>
            </a: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and direction != "south":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00000"/>
              </a:lnSpc>
            </a:pP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    direction = "north"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00000"/>
              </a:lnSpc>
            </a:pP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</a:t>
            </a:r>
            <a:r>
              <a:rPr lang="en-US" altLang="zh-CN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elif</a:t>
            </a: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keyboard.down</a:t>
            </a: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and direction != "north":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00000"/>
              </a:lnSpc>
            </a:pP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    direction = "south"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0" algn="just">
              <a:lnSpc>
                <a:spcPct val="100000"/>
              </a:lnSpc>
              <a:buNone/>
            </a:pP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709609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64EE10F1-EF06-2248-B3DB-7B40CBDE1A96}"/>
              </a:ext>
            </a:extLst>
          </p:cNvPr>
          <p:cNvSpPr txBox="1">
            <a:spLocks/>
          </p:cNvSpPr>
          <p:nvPr/>
        </p:nvSpPr>
        <p:spPr>
          <a:xfrm>
            <a:off x="737682" y="761944"/>
            <a:ext cx="10224844" cy="5112671"/>
          </a:xfrm>
          <a:prstGeom prst="rect">
            <a:avLst/>
          </a:prstGeom>
        </p:spPr>
        <p:txBody>
          <a:bodyPr/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just">
              <a:lnSpc>
                <a:spcPct val="100000"/>
              </a:lnSpc>
              <a:buNone/>
            </a:pPr>
            <a:r>
              <a:rPr lang="en-US" altLang="zh-CN" sz="2400" b="1" dirty="0">
                <a:effectLst/>
                <a:latin typeface="宋体" panose="02010600030101010101" pitchFamily="2" charset="-122"/>
                <a:cs typeface="宋体" panose="02010600030101010101" pitchFamily="2" charset="-122"/>
              </a:rPr>
              <a:t>2.4 </a:t>
            </a:r>
            <a:r>
              <a:rPr lang="zh-CN" altLang="zh-CN" sz="2400" b="1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延缓贪食蛇的移动</a:t>
            </a:r>
            <a:endParaRPr lang="en-US" altLang="zh-CN" sz="2400" b="1" dirty="0">
              <a:effectLst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algn="just">
              <a:lnSpc>
                <a:spcPct val="100000"/>
              </a:lnSpc>
              <a:buNone/>
            </a:pPr>
            <a:r>
              <a:rPr lang="zh-CN" altLang="zh-CN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定义一个全局变量</a:t>
            </a:r>
            <a:r>
              <a:rPr lang="en-US" altLang="zh-CN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counter</a:t>
            </a:r>
            <a:r>
              <a:rPr lang="zh-CN" altLang="zh-CN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，用来统计游戏循环的执行次数。</a:t>
            </a:r>
            <a:endParaRPr lang="en-US" altLang="zh-CN" dirty="0">
              <a:effectLst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algn="just">
              <a:lnSpc>
                <a:spcPct val="100000"/>
              </a:lnSpc>
              <a:buNone/>
            </a:pPr>
            <a:r>
              <a:rPr lang="zh-CN" altLang="zh-CN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修改</a:t>
            </a:r>
            <a:r>
              <a:rPr lang="en-US" altLang="zh-CN" kern="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update_snake</a:t>
            </a:r>
            <a:r>
              <a:rPr lang="en-US" altLang="zh-CN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()</a:t>
            </a:r>
            <a:r>
              <a:rPr lang="zh-CN" altLang="zh-CN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函数，在函数体的开头加入延迟变量操作代码：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def </a:t>
            </a:r>
            <a:r>
              <a:rPr lang="en-US" altLang="zh-CN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update_snake</a:t>
            </a: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():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574040" algn="just">
              <a:lnSpc>
                <a:spcPct val="100000"/>
              </a:lnSpc>
            </a:pPr>
            <a:r>
              <a:rPr lang="en-US" altLang="zh-CN" b="1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global counter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b="1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counter += 1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b="1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if counter &lt; 10: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b="1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    return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b="1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else: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b="1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    counter = 0 </a:t>
            </a:r>
          </a:p>
          <a:p>
            <a:pPr indent="0" algn="just">
              <a:lnSpc>
                <a:spcPct val="100000"/>
              </a:lnSpc>
              <a:buNone/>
            </a:pPr>
            <a:r>
              <a:rPr lang="zh-CN" altLang="zh-CN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程序每隔十个游戏循环执行一次贪食蛇的移动操作，降低了贪食蛇的移动速度。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0" algn="just">
              <a:lnSpc>
                <a:spcPct val="100000"/>
              </a:lnSpc>
              <a:buNone/>
            </a:pPr>
            <a:endParaRPr lang="en-US" altLang="zh-CN" b="1" kern="0" dirty="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algn="just">
              <a:lnSpc>
                <a:spcPct val="100000"/>
              </a:lnSpc>
              <a:buNone/>
            </a:pP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792525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6C08CF-9878-9C84-348D-E802464B3F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练习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7862DB0-CA5C-4C75-2A78-1537583AE7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zh-CN" sz="2000" kern="0" dirty="0">
              <a:effectLst/>
              <a:latin typeface="Times New Roman" panose="02020603050405020304" pitchFamily="18" charset="0"/>
              <a:ea typeface="仿宋_GB2312"/>
              <a:cs typeface="宋体" panose="02010600030101010101" pitchFamily="2" charset="-122"/>
            </a:endParaRPr>
          </a:p>
          <a:p>
            <a:pPr indent="0" algn="just">
              <a:lnSpc>
                <a:spcPct val="150000"/>
              </a:lnSpc>
              <a:buNone/>
            </a:pPr>
            <a:r>
              <a:rPr lang="zh-CN" altLang="zh-CN" sz="3200" kern="0" dirty="0">
                <a:effectLst/>
                <a:latin typeface="Times New Roman" panose="02020603050405020304" pitchFamily="18" charset="0"/>
                <a:ea typeface="仿宋_GB2312"/>
                <a:cs typeface="宋体" panose="02010600030101010101" pitchFamily="2" charset="-122"/>
              </a:rPr>
              <a:t>试着将</a:t>
            </a:r>
            <a:r>
              <a:rPr lang="en-US" altLang="zh-CN" sz="3200" kern="0" dirty="0">
                <a:effectLst/>
                <a:latin typeface="Times New Roman" panose="02020603050405020304" pitchFamily="18" charset="0"/>
                <a:ea typeface="仿宋_GB2312"/>
                <a:cs typeface="宋体" panose="02010600030101010101" pitchFamily="2" charset="-122"/>
              </a:rPr>
              <a:t>counter</a:t>
            </a:r>
            <a:r>
              <a:rPr lang="zh-CN" altLang="zh-CN" sz="3200" kern="0" dirty="0">
                <a:effectLst/>
                <a:latin typeface="Times New Roman" panose="02020603050405020304" pitchFamily="18" charset="0"/>
                <a:ea typeface="仿宋_GB2312"/>
                <a:cs typeface="宋体" panose="02010600030101010101" pitchFamily="2" charset="-122"/>
              </a:rPr>
              <a:t>的判断条件修改一下，观察结果会出现什么变化。</a:t>
            </a:r>
            <a:endParaRPr lang="zh-CN" altLang="zh-CN" sz="32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390647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64EE10F1-EF06-2248-B3DB-7B40CBDE1A96}"/>
              </a:ext>
            </a:extLst>
          </p:cNvPr>
          <p:cNvSpPr txBox="1">
            <a:spLocks/>
          </p:cNvSpPr>
          <p:nvPr/>
        </p:nvSpPr>
        <p:spPr>
          <a:xfrm>
            <a:off x="737682" y="761944"/>
            <a:ext cx="10224844" cy="5112671"/>
          </a:xfrm>
          <a:prstGeom prst="rect">
            <a:avLst/>
          </a:prstGeom>
        </p:spPr>
        <p:txBody>
          <a:bodyPr/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just">
              <a:lnSpc>
                <a:spcPct val="100000"/>
              </a:lnSpc>
              <a:buNone/>
            </a:pPr>
            <a:r>
              <a:rPr lang="en-US" altLang="zh-CN" sz="2400" b="1" dirty="0">
                <a:effectLst/>
                <a:latin typeface="宋体" panose="02010600030101010101" pitchFamily="2" charset="-122"/>
                <a:cs typeface="宋体" panose="02010600030101010101" pitchFamily="2" charset="-122"/>
              </a:rPr>
              <a:t>2.5 </a:t>
            </a:r>
            <a:r>
              <a:rPr lang="zh-CN" altLang="zh-CN" sz="2400" b="1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旋转蛇头的图像</a:t>
            </a:r>
            <a:endParaRPr lang="en-US" altLang="zh-CN" sz="2400" b="1" dirty="0">
              <a:effectLst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algn="just">
              <a:lnSpc>
                <a:spcPct val="100000"/>
              </a:lnSpc>
              <a:buNone/>
            </a:pPr>
            <a:r>
              <a:rPr lang="zh-CN" altLang="zh-CN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在</a:t>
            </a:r>
            <a:r>
              <a:rPr lang="en-US" altLang="zh-CN" dirty="0" err="1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Pgzero</a:t>
            </a:r>
            <a:r>
              <a:rPr lang="zh-CN" altLang="zh-CN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中每个角色都有一个</a:t>
            </a:r>
            <a:r>
              <a:rPr lang="en-US" altLang="zh-CN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angle</a:t>
            </a:r>
            <a:r>
              <a:rPr lang="zh-CN" altLang="zh-CN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属性，用来表示该角色图像的角度值。</a:t>
            </a:r>
            <a:endParaRPr lang="en-US" altLang="zh-CN" dirty="0">
              <a:effectLst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algn="just">
              <a:lnSpc>
                <a:spcPct val="100000"/>
              </a:lnSpc>
              <a:buNone/>
            </a:pPr>
            <a:r>
              <a:rPr lang="zh-CN" altLang="zh-CN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若要旋转角色的图像，只需将角色的</a:t>
            </a:r>
            <a:r>
              <a:rPr lang="en-US" altLang="zh-CN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angle</a:t>
            </a:r>
            <a:r>
              <a:rPr lang="zh-CN" altLang="zh-CN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属性设置为某个角度值即可。</a:t>
            </a:r>
            <a:endParaRPr lang="en-US" altLang="zh-CN" b="1" kern="0" dirty="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algn="just">
              <a:lnSpc>
                <a:spcPct val="100000"/>
              </a:lnSpc>
              <a:buNone/>
            </a:pP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" name="Rectangle 9">
            <a:extLst>
              <a:ext uri="{FF2B5EF4-FFF2-40B4-BE49-F238E27FC236}">
                <a16:creationId xmlns:a16="http://schemas.microsoft.com/office/drawing/2014/main" id="{DFDEFCCC-70A8-0B31-7E7A-3CB3A5A5C8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pSp>
        <p:nvGrpSpPr>
          <p:cNvPr id="3" name="组合 13">
            <a:extLst>
              <a:ext uri="{FF2B5EF4-FFF2-40B4-BE49-F238E27FC236}">
                <a16:creationId xmlns:a16="http://schemas.microsoft.com/office/drawing/2014/main" id="{0228D031-B6C5-0466-589A-5A997A076421}"/>
              </a:ext>
            </a:extLst>
          </p:cNvPr>
          <p:cNvGrpSpPr>
            <a:grpSpLocks/>
          </p:cNvGrpSpPr>
          <p:nvPr/>
        </p:nvGrpSpPr>
        <p:grpSpPr bwMode="auto">
          <a:xfrm>
            <a:off x="3308279" y="2671281"/>
            <a:ext cx="3424945" cy="2794571"/>
            <a:chOff x="9714" y="138734"/>
            <a:chExt cx="3366" cy="2567"/>
          </a:xfrm>
        </p:grpSpPr>
        <p:pic>
          <p:nvPicPr>
            <p:cNvPr id="2056" name="图片 14" descr="snake_head">
              <a:extLst>
                <a:ext uri="{FF2B5EF4-FFF2-40B4-BE49-F238E27FC236}">
                  <a16:creationId xmlns:a16="http://schemas.microsoft.com/office/drawing/2014/main" id="{BB6E96B9-099A-31B0-CEB0-DEB19019767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714" y="140401"/>
              <a:ext cx="900" cy="9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" name="直线 15">
              <a:extLst>
                <a:ext uri="{FF2B5EF4-FFF2-40B4-BE49-F238E27FC236}">
                  <a16:creationId xmlns:a16="http://schemas.microsoft.com/office/drawing/2014/main" id="{B0BF68E1-CB9C-D9CE-041D-16C76505BF6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125" y="140851"/>
              <a:ext cx="2100" cy="15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" name="直线 16">
              <a:extLst>
                <a:ext uri="{FF2B5EF4-FFF2-40B4-BE49-F238E27FC236}">
                  <a16:creationId xmlns:a16="http://schemas.microsoft.com/office/drawing/2014/main" id="{1C114E8A-CE5F-56B7-B1D4-7ECFEE6B4EA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155" y="139126"/>
              <a:ext cx="30" cy="174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" name="弧形 17">
              <a:extLst>
                <a:ext uri="{FF2B5EF4-FFF2-40B4-BE49-F238E27FC236}">
                  <a16:creationId xmlns:a16="http://schemas.microsoft.com/office/drawing/2014/main" id="{237F0090-CBB7-2EFE-C939-049BFCD63722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65" y="139482"/>
              <a:ext cx="1262" cy="1097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" name="直线 18">
              <a:extLst>
                <a:ext uri="{FF2B5EF4-FFF2-40B4-BE49-F238E27FC236}">
                  <a16:creationId xmlns:a16="http://schemas.microsoft.com/office/drawing/2014/main" id="{7E58D66B-8ACE-EE3F-2D9E-4AE74BC355A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0545" y="139470"/>
              <a:ext cx="135" cy="14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" name="文本框 19">
              <a:extLst>
                <a:ext uri="{FF2B5EF4-FFF2-40B4-BE49-F238E27FC236}">
                  <a16:creationId xmlns:a16="http://schemas.microsoft.com/office/drawing/2014/main" id="{B9DE2AD3-AC9F-38DF-4E2D-39A4C95172A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780" y="138734"/>
              <a:ext cx="870" cy="5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2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90</a:t>
              </a:r>
              <a:r>
                <a:rPr kumimoji="0" lang="zh-CN" altLang="en-US" sz="12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度</a:t>
              </a: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0" name="文本框 20">
              <a:extLst>
                <a:ext uri="{FF2B5EF4-FFF2-40B4-BE49-F238E27FC236}">
                  <a16:creationId xmlns:a16="http://schemas.microsoft.com/office/drawing/2014/main" id="{CD1443D5-95AE-BF6A-F5F0-D78A6BCF001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210" y="140639"/>
              <a:ext cx="870" cy="5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2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0</a:t>
              </a:r>
              <a:r>
                <a:rPr kumimoji="0" lang="zh-CN" altLang="en-US" sz="12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度</a:t>
              </a: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934870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64EE10F1-EF06-2248-B3DB-7B40CBDE1A96}"/>
              </a:ext>
            </a:extLst>
          </p:cNvPr>
          <p:cNvSpPr txBox="1">
            <a:spLocks/>
          </p:cNvSpPr>
          <p:nvPr/>
        </p:nvSpPr>
        <p:spPr>
          <a:xfrm>
            <a:off x="686311" y="277402"/>
            <a:ext cx="10224844" cy="5112671"/>
          </a:xfrm>
          <a:prstGeom prst="rect">
            <a:avLst/>
          </a:prstGeom>
        </p:spPr>
        <p:txBody>
          <a:bodyPr/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just">
              <a:lnSpc>
                <a:spcPct val="100000"/>
              </a:lnSpc>
              <a:buNone/>
            </a:pPr>
            <a:r>
              <a:rPr lang="zh-CN" altLang="zh-CN" sz="1800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对</a:t>
            </a:r>
            <a:r>
              <a:rPr lang="en-US" altLang="zh-CN" sz="1800" kern="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check_keys</a:t>
            </a:r>
            <a:r>
              <a:rPr lang="en-US" altLang="zh-CN" sz="1800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()</a:t>
            </a:r>
            <a:r>
              <a:rPr lang="zh-CN" altLang="zh-CN" sz="1800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函数进行修改，加入旋转图像的操作：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00000"/>
              </a:lnSpc>
            </a:pPr>
            <a:r>
              <a:rPr lang="en-US" altLang="zh-CN" sz="18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if </a:t>
            </a:r>
            <a:r>
              <a:rPr lang="en-US" altLang="zh-CN" sz="1800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keyboard.right</a:t>
            </a:r>
            <a:r>
              <a:rPr lang="en-US" altLang="zh-CN" sz="18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and direction != "west":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00000"/>
              </a:lnSpc>
            </a:pPr>
            <a:r>
              <a:rPr lang="en-US" altLang="zh-CN" sz="18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    direction = "east"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00000"/>
              </a:lnSpc>
            </a:pPr>
            <a:r>
              <a:rPr lang="en-US" altLang="zh-CN" sz="18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    </a:t>
            </a:r>
            <a:r>
              <a:rPr lang="en-US" altLang="zh-CN" sz="1800" b="1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snake_head.angle</a:t>
            </a:r>
            <a:r>
              <a:rPr lang="en-US" altLang="zh-CN" sz="1800" b="1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= 0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00000"/>
              </a:lnSpc>
            </a:pPr>
            <a:r>
              <a:rPr lang="en-US" altLang="zh-CN" sz="18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</a:t>
            </a:r>
            <a:r>
              <a:rPr lang="en-US" altLang="zh-CN" sz="1800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elif</a:t>
            </a:r>
            <a:r>
              <a:rPr lang="en-US" altLang="zh-CN" sz="18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sz="1800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keyboard.left</a:t>
            </a:r>
            <a:r>
              <a:rPr lang="en-US" altLang="zh-CN" sz="18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and direction != "east":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00000"/>
              </a:lnSpc>
            </a:pPr>
            <a:r>
              <a:rPr lang="en-US" altLang="zh-CN" sz="18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    direction = "west"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00000"/>
              </a:lnSpc>
            </a:pPr>
            <a:r>
              <a:rPr lang="en-US" altLang="zh-CN" sz="18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   </a:t>
            </a:r>
            <a:r>
              <a:rPr lang="en-US" altLang="zh-CN" sz="1800" b="1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sz="1800" b="1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snake_head.angle</a:t>
            </a:r>
            <a:r>
              <a:rPr lang="en-US" altLang="zh-CN" sz="1800" b="1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= 180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00000"/>
              </a:lnSpc>
            </a:pPr>
            <a:r>
              <a:rPr lang="en-US" altLang="zh-CN" sz="18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</a:t>
            </a:r>
            <a:r>
              <a:rPr lang="en-US" altLang="zh-CN" sz="1800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elif</a:t>
            </a:r>
            <a:r>
              <a:rPr lang="en-US" altLang="zh-CN" sz="18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sz="1800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keyboard.up</a:t>
            </a:r>
            <a:r>
              <a:rPr lang="en-US" altLang="zh-CN" sz="18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and direction != "south":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00000"/>
              </a:lnSpc>
            </a:pPr>
            <a:r>
              <a:rPr lang="en-US" altLang="zh-CN" sz="18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    direction = "north"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00000"/>
              </a:lnSpc>
            </a:pPr>
            <a:r>
              <a:rPr lang="en-US" altLang="zh-CN" sz="18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   </a:t>
            </a:r>
            <a:r>
              <a:rPr lang="en-US" altLang="zh-CN" sz="1800" b="1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sz="1800" b="1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snake_head.angle</a:t>
            </a:r>
            <a:r>
              <a:rPr lang="en-US" altLang="zh-CN" sz="1800" b="1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= 90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00000"/>
              </a:lnSpc>
            </a:pPr>
            <a:r>
              <a:rPr lang="en-US" altLang="zh-CN" sz="18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</a:t>
            </a:r>
            <a:r>
              <a:rPr lang="en-US" altLang="zh-CN" sz="1800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elif</a:t>
            </a:r>
            <a:r>
              <a:rPr lang="en-US" altLang="zh-CN" sz="18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sz="1800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keyboard.down</a:t>
            </a:r>
            <a:r>
              <a:rPr lang="en-US" altLang="zh-CN" sz="18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and direction != "north":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00000"/>
              </a:lnSpc>
            </a:pPr>
            <a:r>
              <a:rPr lang="en-US" altLang="zh-CN" sz="18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    direction = "south"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00000"/>
              </a:lnSpc>
            </a:pPr>
            <a:r>
              <a:rPr lang="en-US" altLang="zh-CN" sz="18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  </a:t>
            </a:r>
            <a:r>
              <a:rPr lang="en-US" altLang="zh-CN" sz="1800" b="1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lang="en-US" altLang="zh-CN" sz="1800" b="1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snake_head.angle</a:t>
            </a:r>
            <a:r>
              <a:rPr lang="en-US" altLang="zh-CN" sz="1800" b="1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= -90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0" algn="just">
              <a:lnSpc>
                <a:spcPct val="100000"/>
              </a:lnSpc>
              <a:buNone/>
            </a:pP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" name="Rectangle 9">
            <a:extLst>
              <a:ext uri="{FF2B5EF4-FFF2-40B4-BE49-F238E27FC236}">
                <a16:creationId xmlns:a16="http://schemas.microsoft.com/office/drawing/2014/main" id="{DFDEFCCC-70A8-0B31-7E7A-3CB3A5A5C8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79134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64EE10F1-EF06-2248-B3DB-7B40CBDE1A96}"/>
              </a:ext>
            </a:extLst>
          </p:cNvPr>
          <p:cNvSpPr txBox="1">
            <a:spLocks/>
          </p:cNvSpPr>
          <p:nvPr/>
        </p:nvSpPr>
        <p:spPr>
          <a:xfrm>
            <a:off x="737682" y="761944"/>
            <a:ext cx="10224844" cy="5112671"/>
          </a:xfrm>
          <a:prstGeom prst="rect">
            <a:avLst/>
          </a:prstGeom>
        </p:spPr>
        <p:txBody>
          <a:bodyPr/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just">
              <a:lnSpc>
                <a:spcPct val="100000"/>
              </a:lnSpc>
              <a:buNone/>
            </a:pPr>
            <a:r>
              <a:rPr lang="en-US" altLang="zh-CN" sz="2400" b="1" dirty="0">
                <a:effectLst/>
                <a:latin typeface="宋体" panose="02010600030101010101" pitchFamily="2" charset="-122"/>
                <a:cs typeface="宋体" panose="02010600030101010101" pitchFamily="2" charset="-122"/>
              </a:rPr>
              <a:t>2.6 </a:t>
            </a:r>
            <a:r>
              <a:rPr lang="zh-CN" altLang="zh-CN" sz="2400" b="1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使用字典类型</a:t>
            </a:r>
            <a:endParaRPr lang="en-US" altLang="zh-CN" sz="2400" b="1" dirty="0">
              <a:effectLst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algn="just">
              <a:lnSpc>
                <a:spcPct val="100000"/>
              </a:lnSpc>
              <a:buNone/>
            </a:pPr>
            <a:r>
              <a:rPr lang="zh-CN" altLang="zh-CN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将方向和坐标的关联表示为“键值对”的形式，保存在字典类型中。</a:t>
            </a:r>
            <a:endParaRPr lang="en-US" altLang="zh-CN" kern="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algn="just">
              <a:lnSpc>
                <a:spcPct val="100000"/>
              </a:lnSpc>
              <a:buNone/>
            </a:pPr>
            <a:r>
              <a:rPr lang="zh-CN" altLang="zh-CN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定义字典类型的全局变量</a:t>
            </a:r>
            <a:r>
              <a:rPr lang="en-US" altLang="zh-CN" kern="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dirs</a:t>
            </a:r>
            <a:r>
              <a:rPr lang="zh-CN" altLang="zh-CN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，保存蛇头四个方向的键值对数据：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dirs</a:t>
            </a: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= {"east":(1, 0), "west":(-1, 0), 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    "north":(0, -1), "south":(0, 1)}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0" algn="just">
              <a:lnSpc>
                <a:spcPct val="100000"/>
              </a:lnSpc>
              <a:buNone/>
            </a:pPr>
            <a:r>
              <a:rPr lang="zh-CN" altLang="zh-CN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修改</a:t>
            </a:r>
            <a:r>
              <a:rPr lang="en-US" altLang="zh-CN" kern="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update_snake</a:t>
            </a:r>
            <a:r>
              <a:rPr lang="en-US" altLang="zh-CN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()</a:t>
            </a:r>
            <a:r>
              <a:rPr lang="zh-CN" altLang="zh-CN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函数，替换贪食蛇移动的程序语句：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00000"/>
              </a:lnSpc>
            </a:pP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dx, </a:t>
            </a:r>
            <a:r>
              <a:rPr lang="en-US" altLang="zh-CN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dy</a:t>
            </a: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= </a:t>
            </a:r>
            <a:r>
              <a:rPr lang="en-US" altLang="zh-CN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dirs</a:t>
            </a: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[direction]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00000"/>
              </a:lnSpc>
            </a:pP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lang="en-US" altLang="zh-CN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snake_head.x</a:t>
            </a: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+= dx * SIZE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00000"/>
              </a:lnSpc>
            </a:pP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lang="en-US" altLang="zh-CN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snake_head.y</a:t>
            </a: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+= </a:t>
            </a:r>
            <a:r>
              <a:rPr lang="en-US" altLang="zh-CN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dy</a:t>
            </a: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* SIZE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0" algn="just">
              <a:lnSpc>
                <a:spcPct val="100000"/>
              </a:lnSpc>
              <a:buNone/>
            </a:pPr>
            <a:endParaRPr lang="en-US" altLang="zh-CN" b="1" kern="0" dirty="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algn="just">
              <a:lnSpc>
                <a:spcPct val="100000"/>
              </a:lnSpc>
              <a:buNone/>
            </a:pP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53124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AAA9938F-FD66-BB38-EF2E-4BEA29A526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</a:t>
            </a:r>
            <a:r>
              <a:rPr lang="zh-CN" altLang="en-US" dirty="0"/>
              <a:t>添加食物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6D3FB9B-EFF6-8DBC-CABE-55530406BB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999846"/>
            <a:ext cx="10058400" cy="4023360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zh-CN" altLang="zh-CN" sz="2800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按照游戏规则，食物会随机地出现在游戏窗口中，玩家控制贪食蛇去“吃”食物，每当吃到一个食物，贪食蛇的身体便会增长一个单位。接下来，我们要在游戏场景中添加食物。</a:t>
            </a: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2230016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64EE10F1-EF06-2248-B3DB-7B40CBDE1A96}"/>
              </a:ext>
            </a:extLst>
          </p:cNvPr>
          <p:cNvSpPr txBox="1">
            <a:spLocks/>
          </p:cNvSpPr>
          <p:nvPr/>
        </p:nvSpPr>
        <p:spPr>
          <a:xfrm>
            <a:off x="737682" y="761944"/>
            <a:ext cx="10224844" cy="5112671"/>
          </a:xfrm>
          <a:prstGeom prst="rect">
            <a:avLst/>
          </a:prstGeom>
        </p:spPr>
        <p:txBody>
          <a:bodyPr/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just">
              <a:lnSpc>
                <a:spcPct val="100000"/>
              </a:lnSpc>
              <a:buNone/>
            </a:pPr>
            <a:r>
              <a:rPr lang="en-US" altLang="zh-CN" sz="2400" b="1" dirty="0">
                <a:effectLst/>
                <a:latin typeface="宋体" panose="02010600030101010101" pitchFamily="2" charset="-122"/>
                <a:cs typeface="宋体" panose="02010600030101010101" pitchFamily="2" charset="-122"/>
              </a:rPr>
              <a:t>3.1 </a:t>
            </a:r>
            <a:r>
              <a:rPr lang="zh-CN" altLang="zh-CN" sz="2400" b="1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让食物随机出现</a:t>
            </a:r>
            <a:endParaRPr lang="en-US" altLang="zh-CN" sz="2400" b="1" dirty="0">
              <a:effectLst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algn="just">
              <a:lnSpc>
                <a:spcPct val="100000"/>
              </a:lnSpc>
              <a:buNone/>
            </a:pPr>
            <a:r>
              <a:rPr lang="zh-CN" altLang="zh-CN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调用</a:t>
            </a:r>
            <a:r>
              <a:rPr lang="en-US" altLang="zh-CN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Actor</a:t>
            </a:r>
            <a:r>
              <a:rPr lang="zh-CN" altLang="zh-CN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类的构造方法来创建食物角色：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food = Actor("</a:t>
            </a:r>
            <a:r>
              <a:rPr lang="en-US" altLang="zh-CN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snake_food</a:t>
            </a: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")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0" algn="just">
              <a:lnSpc>
                <a:spcPct val="100000"/>
              </a:lnSpc>
              <a:buNone/>
            </a:pPr>
            <a:r>
              <a:rPr lang="zh-CN" altLang="zh-CN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在</a:t>
            </a:r>
            <a:r>
              <a:rPr lang="en-US" altLang="zh-CN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draw()</a:t>
            </a:r>
            <a:r>
              <a:rPr lang="zh-CN" altLang="zh-CN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函数中加入显示食物的代码：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food.draw</a:t>
            </a: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()</a:t>
            </a:r>
          </a:p>
          <a:p>
            <a:pPr indent="0" algn="just">
              <a:lnSpc>
                <a:spcPct val="100000"/>
              </a:lnSpc>
              <a:buNone/>
            </a:pPr>
            <a:r>
              <a:rPr lang="zh-CN" altLang="zh-CN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使用</a:t>
            </a:r>
            <a:r>
              <a:rPr lang="en-US" altLang="zh-CN" dirty="0">
                <a:effectLst/>
                <a:latin typeface="宋体" panose="02010600030101010101" pitchFamily="2" charset="-122"/>
                <a:cs typeface="宋体" panose="02010600030101010101" pitchFamily="2" charset="-122"/>
              </a:rPr>
              <a:t>random</a:t>
            </a:r>
            <a:r>
              <a:rPr lang="zh-CN" altLang="zh-CN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库的</a:t>
            </a:r>
            <a:r>
              <a:rPr lang="en-US" altLang="zh-CN" kern="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randint</a:t>
            </a:r>
            <a:r>
              <a:rPr lang="en-US" altLang="zh-CN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()</a:t>
            </a:r>
            <a:r>
              <a:rPr lang="zh-CN" altLang="zh-CN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函数为食物生成坐标：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gridx</a:t>
            </a: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= </a:t>
            </a:r>
            <a:r>
              <a:rPr lang="en-US" altLang="zh-CN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random.randint</a:t>
            </a: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(2, WIDTH // SIZE - 2) 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gridy</a:t>
            </a: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= </a:t>
            </a:r>
            <a:r>
              <a:rPr lang="en-US" altLang="zh-CN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random.randint</a:t>
            </a: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(2, HEIGHT // SIZE - 2)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food.x</a:t>
            </a: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= </a:t>
            </a:r>
            <a:r>
              <a:rPr lang="en-US" altLang="zh-CN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gridx</a:t>
            </a: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* SIZE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food.y</a:t>
            </a: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= </a:t>
            </a:r>
            <a:r>
              <a:rPr lang="en-US" altLang="zh-CN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gridy</a:t>
            </a: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* SIZE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66700" algn="just">
              <a:lnSpc>
                <a:spcPct val="150000"/>
              </a:lnSpc>
            </a:pPr>
            <a:endParaRPr lang="zh-CN" altLang="zh-CN" sz="24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0" algn="just">
              <a:lnSpc>
                <a:spcPct val="100000"/>
              </a:lnSpc>
              <a:buNone/>
            </a:pPr>
            <a:endParaRPr lang="en-US" altLang="zh-CN" b="1" kern="0" dirty="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algn="just">
              <a:lnSpc>
                <a:spcPct val="100000"/>
              </a:lnSpc>
              <a:buNone/>
            </a:pP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606794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64EE10F1-EF06-2248-B3DB-7B40CBDE1A96}"/>
              </a:ext>
            </a:extLst>
          </p:cNvPr>
          <p:cNvSpPr txBox="1">
            <a:spLocks/>
          </p:cNvSpPr>
          <p:nvPr/>
        </p:nvSpPr>
        <p:spPr>
          <a:xfrm>
            <a:off x="737682" y="761944"/>
            <a:ext cx="10224844" cy="5112671"/>
          </a:xfrm>
          <a:prstGeom prst="rect">
            <a:avLst/>
          </a:prstGeom>
        </p:spPr>
        <p:txBody>
          <a:bodyPr/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just">
              <a:lnSpc>
                <a:spcPct val="100000"/>
              </a:lnSpc>
              <a:buNone/>
            </a:pPr>
            <a:r>
              <a:rPr lang="en-US" altLang="zh-CN" sz="2400" b="1" dirty="0">
                <a:effectLst/>
                <a:latin typeface="宋体" panose="02010600030101010101" pitchFamily="2" charset="-122"/>
                <a:cs typeface="宋体" panose="02010600030101010101" pitchFamily="2" charset="-122"/>
              </a:rPr>
              <a:t>3.2 </a:t>
            </a:r>
            <a:r>
              <a:rPr lang="zh-CN" altLang="zh-CN" sz="2400" b="1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让贪食蛇“吃”食物</a:t>
            </a:r>
            <a:endParaRPr lang="en-US" altLang="zh-CN" sz="2400" b="1" dirty="0">
              <a:effectLst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just">
              <a:lnSpc>
                <a:spcPct val="100000"/>
              </a:lnSpc>
            </a:pPr>
            <a:r>
              <a:rPr lang="zh-CN" altLang="zh-CN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当蛇头的图像和食物的图像发生了重叠，则表示贪食蛇“吃”到了食物。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00000"/>
              </a:lnSpc>
            </a:pPr>
            <a:r>
              <a:rPr lang="zh-CN" altLang="zh-CN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关键在于判断蛇头和食物的位置关系，即判断蛇头的坐标是否与食物的坐标相等</a:t>
            </a:r>
            <a:r>
              <a:rPr lang="zh-CN" altLang="en-US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。</a:t>
            </a:r>
            <a:endParaRPr lang="en-US" altLang="zh-CN" dirty="0">
              <a:effectLst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algn="just">
              <a:lnSpc>
                <a:spcPct val="100000"/>
              </a:lnSpc>
              <a:buNone/>
            </a:pPr>
            <a:r>
              <a:rPr lang="zh-CN" altLang="zh-CN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定义</a:t>
            </a:r>
            <a:r>
              <a:rPr lang="en-US" altLang="zh-CN" kern="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eat_food</a:t>
            </a:r>
            <a:r>
              <a:rPr lang="en-US" altLang="zh-CN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()</a:t>
            </a:r>
            <a:r>
              <a:rPr lang="zh-CN" altLang="zh-CN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函数用于处理贪食蛇“吃”食物的操作：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def </a:t>
            </a:r>
            <a:r>
              <a:rPr lang="en-US" altLang="zh-CN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eat_food</a:t>
            </a: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():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if </a:t>
            </a:r>
            <a:r>
              <a:rPr lang="en-US" altLang="zh-CN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food.x</a:t>
            </a: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== </a:t>
            </a:r>
            <a:r>
              <a:rPr lang="en-US" altLang="zh-CN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snake_head.x</a:t>
            </a: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and </a:t>
            </a:r>
            <a:r>
              <a:rPr lang="en-US" altLang="zh-CN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food.y</a:t>
            </a: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== </a:t>
            </a:r>
            <a:r>
              <a:rPr lang="en-US" altLang="zh-CN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snake_head.y</a:t>
            </a: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: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    </a:t>
            </a:r>
            <a:r>
              <a:rPr lang="en-US" altLang="zh-CN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sounds.eat.play</a:t>
            </a: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() 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    </a:t>
            </a:r>
            <a:r>
              <a:rPr lang="en-US" altLang="zh-CN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food.x</a:t>
            </a: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= </a:t>
            </a:r>
            <a:r>
              <a:rPr lang="en-US" altLang="zh-CN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random.randint</a:t>
            </a: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(2, WIDTH // SIZE - 2) * SIZE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    </a:t>
            </a:r>
            <a:r>
              <a:rPr lang="en-US" altLang="zh-CN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food.y</a:t>
            </a: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= </a:t>
            </a:r>
            <a:r>
              <a:rPr lang="en-US" altLang="zh-CN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random.randint</a:t>
            </a: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(2, HEIGHT // SIZE - 2) * SIZE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endParaRPr lang="zh-CN" altLang="zh-CN" sz="24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0" algn="just">
              <a:lnSpc>
                <a:spcPct val="100000"/>
              </a:lnSpc>
              <a:buNone/>
            </a:pPr>
            <a:endParaRPr lang="en-US" altLang="zh-CN" b="1" kern="0" dirty="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algn="just">
              <a:lnSpc>
                <a:spcPct val="100000"/>
              </a:lnSpc>
              <a:buNone/>
            </a:pP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3090436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64EE10F1-EF06-2248-B3DB-7B40CBDE1A96}"/>
              </a:ext>
            </a:extLst>
          </p:cNvPr>
          <p:cNvSpPr txBox="1">
            <a:spLocks/>
          </p:cNvSpPr>
          <p:nvPr/>
        </p:nvSpPr>
        <p:spPr>
          <a:xfrm>
            <a:off x="737682" y="761944"/>
            <a:ext cx="10224844" cy="5112671"/>
          </a:xfrm>
          <a:prstGeom prst="rect">
            <a:avLst/>
          </a:prstGeom>
        </p:spPr>
        <p:txBody>
          <a:bodyPr/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just">
              <a:lnSpc>
                <a:spcPct val="100000"/>
              </a:lnSpc>
              <a:buNone/>
            </a:pPr>
            <a:r>
              <a:rPr lang="en-US" altLang="zh-CN" sz="2400" b="1" dirty="0">
                <a:effectLst/>
                <a:latin typeface="宋体" panose="02010600030101010101" pitchFamily="2" charset="-122"/>
                <a:cs typeface="宋体" panose="02010600030101010101" pitchFamily="2" charset="-122"/>
              </a:rPr>
              <a:t>3.3 </a:t>
            </a:r>
            <a:r>
              <a:rPr lang="zh-CN" altLang="zh-CN" sz="2400" b="1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增长贪食蛇的身体</a:t>
            </a:r>
            <a:endParaRPr lang="en-US" altLang="zh-CN" sz="2400" b="1" dirty="0">
              <a:effectLst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algn="just">
              <a:lnSpc>
                <a:spcPct val="100000"/>
              </a:lnSpc>
              <a:buNone/>
            </a:pPr>
            <a:r>
              <a:rPr lang="zh-CN" altLang="zh-CN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定义全局变量</a:t>
            </a:r>
            <a:r>
              <a:rPr lang="en-US" altLang="zh-CN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length</a:t>
            </a:r>
            <a:r>
              <a:rPr lang="zh-CN" altLang="zh-CN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用来表示贪食蛇的长度</a:t>
            </a:r>
            <a:r>
              <a:rPr lang="zh-CN" altLang="en-US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，</a:t>
            </a:r>
            <a:r>
              <a:rPr lang="zh-CN" altLang="zh-CN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定义全局变量</a:t>
            </a:r>
            <a:r>
              <a:rPr lang="en-US" altLang="zh-CN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body</a:t>
            </a:r>
            <a:r>
              <a:rPr lang="zh-CN" altLang="zh-CN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来表示贪食蛇的身体：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length = 1            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00000"/>
              </a:lnSpc>
            </a:pPr>
            <a:r>
              <a:rPr lang="en-US" altLang="zh-CN" dirty="0">
                <a:effectLst/>
                <a:latin typeface="宋体" panose="02010600030101010101" pitchFamily="2" charset="-122"/>
                <a:cs typeface="宋体" panose="02010600030101010101" pitchFamily="2" charset="-122"/>
              </a:rPr>
              <a:t>  body = [] 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0" algn="just">
              <a:lnSpc>
                <a:spcPct val="100000"/>
              </a:lnSpc>
              <a:buNone/>
            </a:pPr>
            <a:r>
              <a:rPr lang="zh-CN" altLang="zh-CN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修改</a:t>
            </a:r>
            <a:r>
              <a:rPr lang="en-US" altLang="zh-CN" kern="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eat_food</a:t>
            </a:r>
            <a:r>
              <a:rPr lang="en-US" altLang="zh-CN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()</a:t>
            </a:r>
            <a:r>
              <a:rPr lang="zh-CN" altLang="zh-CN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函数，当判断贪食蛇“吃”到食物时执行下面语句：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length += 1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0" algn="just">
              <a:lnSpc>
                <a:spcPct val="100000"/>
              </a:lnSpc>
              <a:buNone/>
            </a:pPr>
            <a:r>
              <a:rPr lang="zh-CN" altLang="zh-CN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修改</a:t>
            </a:r>
            <a:r>
              <a:rPr lang="en-US" altLang="zh-CN" dirty="0" err="1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update_snake</a:t>
            </a:r>
            <a:r>
              <a:rPr lang="en-US" altLang="zh-CN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()</a:t>
            </a:r>
            <a:r>
              <a:rPr lang="zh-CN" altLang="zh-CN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函数，加入更新贪食蛇身体的代码</a:t>
            </a:r>
            <a:r>
              <a:rPr lang="zh-CN" altLang="en-US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：</a:t>
            </a:r>
            <a:endParaRPr lang="en-US" altLang="zh-CN" dirty="0">
              <a:effectLst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266700" algn="just">
              <a:lnSpc>
                <a:spcPct val="100000"/>
              </a:lnSpc>
            </a:pPr>
            <a:r>
              <a:rPr lang="en-US" altLang="zh-CN" b="1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if </a:t>
            </a:r>
            <a:r>
              <a:rPr lang="en-US" altLang="zh-CN" b="1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len</a:t>
            </a:r>
            <a:r>
              <a:rPr lang="en-US" altLang="zh-CN" b="1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(body) == length: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266700" algn="just">
              <a:lnSpc>
                <a:spcPct val="100000"/>
              </a:lnSpc>
            </a:pPr>
            <a:r>
              <a:rPr lang="en-US" altLang="zh-CN" b="1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 </a:t>
            </a:r>
            <a:r>
              <a:rPr lang="en-US" altLang="zh-CN" b="1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body.remove</a:t>
            </a:r>
            <a:r>
              <a:rPr lang="en-US" altLang="zh-CN" b="1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(body[0])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266700" algn="just">
              <a:lnSpc>
                <a:spcPct val="100000"/>
              </a:lnSpc>
            </a:pPr>
            <a:r>
              <a:rPr lang="en-US" altLang="zh-CN" b="1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b="1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body.append</a:t>
            </a:r>
            <a:r>
              <a:rPr lang="en-US" altLang="zh-CN" b="1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(Actor("</a:t>
            </a:r>
            <a:r>
              <a:rPr lang="en-US" altLang="zh-CN" b="1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snake_body</a:t>
            </a:r>
            <a:r>
              <a:rPr lang="en-US" altLang="zh-CN" b="1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", (</a:t>
            </a:r>
            <a:r>
              <a:rPr lang="en-US" altLang="zh-CN" b="1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snake_head.x</a:t>
            </a:r>
            <a:r>
              <a:rPr lang="en-US" altLang="zh-CN" b="1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en-US" altLang="zh-CN" b="1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snake_head.y</a:t>
            </a:r>
            <a:r>
              <a:rPr lang="en-US" altLang="zh-CN" b="1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)))</a:t>
            </a:r>
          </a:p>
          <a:p>
            <a:pPr indent="0" algn="just">
              <a:lnSpc>
                <a:spcPct val="100000"/>
              </a:lnSpc>
              <a:buNone/>
            </a:pP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0538751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64EE10F1-EF06-2248-B3DB-7B40CBDE1A96}"/>
              </a:ext>
            </a:extLst>
          </p:cNvPr>
          <p:cNvSpPr txBox="1">
            <a:spLocks/>
          </p:cNvSpPr>
          <p:nvPr/>
        </p:nvSpPr>
        <p:spPr>
          <a:xfrm>
            <a:off x="737682" y="761944"/>
            <a:ext cx="8149464" cy="5112671"/>
          </a:xfrm>
          <a:prstGeom prst="rect">
            <a:avLst/>
          </a:prstGeom>
        </p:spPr>
        <p:txBody>
          <a:bodyPr/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just">
              <a:lnSpc>
                <a:spcPct val="100000"/>
              </a:lnSpc>
              <a:buNone/>
            </a:pPr>
            <a:r>
              <a:rPr lang="en-US" altLang="zh-CN" sz="2400" b="1" dirty="0">
                <a:effectLst/>
                <a:latin typeface="宋体" panose="02010600030101010101" pitchFamily="2" charset="-122"/>
                <a:cs typeface="宋体" panose="02010600030101010101" pitchFamily="2" charset="-122"/>
              </a:rPr>
              <a:t>3.3 </a:t>
            </a:r>
            <a:r>
              <a:rPr lang="zh-CN" altLang="zh-CN" sz="2400" b="1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增长贪食蛇的身体</a:t>
            </a:r>
            <a:endParaRPr lang="en-US" altLang="zh-CN" sz="2400" b="1" dirty="0">
              <a:effectLst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algn="just">
              <a:lnSpc>
                <a:spcPct val="150000"/>
              </a:lnSpc>
              <a:buNone/>
            </a:pPr>
            <a:r>
              <a:rPr lang="zh-CN" altLang="zh-CN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向列表</a:t>
            </a:r>
            <a:r>
              <a:rPr lang="en-US" altLang="zh-CN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body</a:t>
            </a:r>
            <a:r>
              <a:rPr lang="zh-CN" altLang="zh-CN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中加入角色时，调用的是</a:t>
            </a:r>
            <a:r>
              <a:rPr lang="en-US" altLang="zh-CN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append()</a:t>
            </a:r>
            <a:r>
              <a:rPr lang="zh-CN" altLang="zh-CN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方法，加入的角色会成为列表的最后一个元素；</a:t>
            </a:r>
            <a:endParaRPr lang="en-US" altLang="zh-CN" dirty="0">
              <a:effectLst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algn="just">
              <a:lnSpc>
                <a:spcPct val="150000"/>
              </a:lnSpc>
              <a:buNone/>
            </a:pPr>
            <a:r>
              <a:rPr lang="zh-CN" altLang="zh-CN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从列表中移除角色时，调用的是</a:t>
            </a:r>
            <a:r>
              <a:rPr lang="en-US" altLang="zh-CN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remove()</a:t>
            </a:r>
            <a:r>
              <a:rPr lang="zh-CN" altLang="zh-CN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方法，移除的是索引值为</a:t>
            </a:r>
            <a:r>
              <a:rPr lang="en-US" altLang="zh-CN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0</a:t>
            </a:r>
            <a:r>
              <a:rPr lang="zh-CN" altLang="zh-CN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的元素，即列表的第一个元素。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F0B339AD-F002-600B-05FA-928F01D858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3789" y="4078931"/>
            <a:ext cx="6829337" cy="945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993754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64EE10F1-EF06-2248-B3DB-7B40CBDE1A96}"/>
              </a:ext>
            </a:extLst>
          </p:cNvPr>
          <p:cNvSpPr txBox="1">
            <a:spLocks/>
          </p:cNvSpPr>
          <p:nvPr/>
        </p:nvSpPr>
        <p:spPr>
          <a:xfrm>
            <a:off x="737682" y="761944"/>
            <a:ext cx="10224844" cy="5112671"/>
          </a:xfrm>
          <a:prstGeom prst="rect">
            <a:avLst/>
          </a:prstGeom>
        </p:spPr>
        <p:txBody>
          <a:bodyPr/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just">
              <a:lnSpc>
                <a:spcPct val="100000"/>
              </a:lnSpc>
              <a:buNone/>
            </a:pPr>
            <a:r>
              <a:rPr lang="en-US" altLang="zh-CN" sz="2400" b="1" dirty="0">
                <a:effectLst/>
                <a:latin typeface="宋体" panose="02010600030101010101" pitchFamily="2" charset="-122"/>
                <a:cs typeface="宋体" panose="02010600030101010101" pitchFamily="2" charset="-122"/>
              </a:rPr>
              <a:t>3.3 </a:t>
            </a:r>
            <a:r>
              <a:rPr lang="zh-CN" altLang="zh-CN" sz="2400" b="1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增长贪食蛇的身体</a:t>
            </a:r>
            <a:endParaRPr lang="en-US" altLang="zh-CN" sz="2400" b="1" dirty="0">
              <a:effectLst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just">
              <a:lnSpc>
                <a:spcPct val="100000"/>
              </a:lnSpc>
            </a:pPr>
            <a:r>
              <a:rPr lang="zh-CN" altLang="zh-CN" sz="2400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修改</a:t>
            </a:r>
            <a:r>
              <a:rPr lang="en-US" altLang="zh-CN" sz="2400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draw()</a:t>
            </a:r>
            <a:r>
              <a:rPr lang="zh-CN" altLang="zh-CN" sz="2400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函数，加入显示蛇身的代码：</a:t>
            </a:r>
            <a:endParaRPr lang="zh-CN" altLang="zh-CN" sz="24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00000"/>
              </a:lnSpc>
            </a:pPr>
            <a:r>
              <a:rPr lang="en-US" altLang="zh-CN" sz="24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for b in body:</a:t>
            </a:r>
            <a:endParaRPr lang="zh-CN" altLang="zh-CN" sz="24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00000"/>
              </a:lnSpc>
            </a:pPr>
            <a:r>
              <a:rPr lang="en-US" altLang="zh-CN" sz="24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    </a:t>
            </a:r>
            <a:r>
              <a:rPr lang="en-US" altLang="zh-CN" sz="2400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b.draw</a:t>
            </a:r>
            <a:r>
              <a:rPr lang="en-US" altLang="zh-CN" sz="24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()</a:t>
            </a:r>
            <a:endParaRPr lang="zh-CN" altLang="zh-CN" sz="24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0" algn="just">
              <a:lnSpc>
                <a:spcPct val="100000"/>
              </a:lnSpc>
              <a:buNone/>
            </a:pP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10242" name="图片 5">
            <a:extLst>
              <a:ext uri="{FF2B5EF4-FFF2-40B4-BE49-F238E27FC236}">
                <a16:creationId xmlns:a16="http://schemas.microsoft.com/office/drawing/2014/main" id="{6EDCF5F2-BBB8-89D8-0C94-5C691EF0FA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3876" y="1104900"/>
            <a:ext cx="4438650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3909723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6C08CF-9878-9C84-348D-E802464B3F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练习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7862DB0-CA5C-4C75-2A78-1537583AE7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zh-CN" sz="2000" kern="0" dirty="0">
              <a:effectLst/>
              <a:latin typeface="Times New Roman" panose="02020603050405020304" pitchFamily="18" charset="0"/>
              <a:ea typeface="仿宋_GB2312"/>
              <a:cs typeface="宋体" panose="02010600030101010101" pitchFamily="2" charset="-122"/>
            </a:endParaRPr>
          </a:p>
          <a:p>
            <a:pPr indent="0" algn="just">
              <a:lnSpc>
                <a:spcPct val="150000"/>
              </a:lnSpc>
              <a:buNone/>
            </a:pPr>
            <a:r>
              <a:rPr lang="zh-CN" altLang="zh-CN" sz="3200" dirty="0">
                <a:effectLst/>
                <a:ea typeface="仿宋_GB2312"/>
                <a:cs typeface="宋体" panose="02010600030101010101" pitchFamily="2" charset="-122"/>
              </a:rPr>
              <a:t>为什么在移动贪食蛇的时候，我们要将它的坐标增加或减少</a:t>
            </a:r>
            <a:r>
              <a:rPr lang="en-US" altLang="zh-CN" sz="3200" dirty="0">
                <a:effectLst/>
                <a:ea typeface="仿宋_GB2312"/>
                <a:cs typeface="宋体" panose="02010600030101010101" pitchFamily="2" charset="-122"/>
              </a:rPr>
              <a:t>SIZE</a:t>
            </a:r>
            <a:r>
              <a:rPr lang="zh-CN" altLang="zh-CN" sz="3200" dirty="0">
                <a:effectLst/>
                <a:ea typeface="仿宋_GB2312"/>
                <a:cs typeface="宋体" panose="02010600030101010101" pitchFamily="2" charset="-122"/>
              </a:rPr>
              <a:t>长度的距离呢？试着将</a:t>
            </a:r>
            <a:r>
              <a:rPr lang="en-US" altLang="zh-CN" sz="3200" dirty="0">
                <a:effectLst/>
                <a:ea typeface="仿宋_GB2312"/>
                <a:cs typeface="宋体" panose="02010600030101010101" pitchFamily="2" charset="-122"/>
              </a:rPr>
              <a:t>SIZE</a:t>
            </a:r>
            <a:r>
              <a:rPr lang="zh-CN" altLang="zh-CN" sz="3200" dirty="0">
                <a:effectLst/>
                <a:ea typeface="仿宋_GB2312"/>
                <a:cs typeface="宋体" panose="02010600030101010101" pitchFamily="2" charset="-122"/>
              </a:rPr>
              <a:t>替换为其它的值（比如</a:t>
            </a:r>
            <a:r>
              <a:rPr lang="en-US" altLang="zh-CN" sz="3200" dirty="0">
                <a:effectLst/>
                <a:ea typeface="仿宋_GB2312"/>
                <a:cs typeface="宋体" panose="02010600030101010101" pitchFamily="2" charset="-122"/>
              </a:rPr>
              <a:t>20</a:t>
            </a:r>
            <a:r>
              <a:rPr lang="zh-CN" altLang="zh-CN" sz="3200" dirty="0">
                <a:effectLst/>
                <a:ea typeface="仿宋_GB2312"/>
                <a:cs typeface="宋体" panose="02010600030101010101" pitchFamily="2" charset="-122"/>
              </a:rPr>
              <a:t>），然后观察游戏的运行效果</a:t>
            </a:r>
            <a:r>
              <a:rPr lang="zh-CN" altLang="en-US" sz="3200" dirty="0">
                <a:effectLst/>
                <a:ea typeface="仿宋_GB2312"/>
                <a:cs typeface="宋体" panose="02010600030101010101" pitchFamily="2" charset="-122"/>
              </a:rPr>
              <a:t>。</a:t>
            </a:r>
            <a:endParaRPr lang="zh-CN" altLang="en-US" sz="3200" dirty="0"/>
          </a:p>
        </p:txBody>
      </p:sp>
    </p:spTree>
    <p:extLst>
      <p:ext uri="{BB962C8B-B14F-4D97-AF65-F5344CB8AC3E}">
        <p14:creationId xmlns:p14="http://schemas.microsoft.com/office/powerpoint/2010/main" val="322036979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AAA9938F-FD66-BB38-EF2E-4BEA29A526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4.</a:t>
            </a:r>
            <a:r>
              <a:rPr lang="zh-CN" altLang="en-US" dirty="0"/>
              <a:t>实现游戏结束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6D3FB9B-EFF6-8DBC-CABE-55530406BB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999846"/>
            <a:ext cx="10058400" cy="4023360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zh-CN" altLang="zh-CN" sz="2800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根据游戏规则，当贪食蛇移动时碰到窗口边界，或者当蛇头在移动中碰到自己的身体，游戏都要结束。</a:t>
            </a: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335970454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64EE10F1-EF06-2248-B3DB-7B40CBDE1A96}"/>
              </a:ext>
            </a:extLst>
          </p:cNvPr>
          <p:cNvSpPr txBox="1">
            <a:spLocks/>
          </p:cNvSpPr>
          <p:nvPr/>
        </p:nvSpPr>
        <p:spPr>
          <a:xfrm>
            <a:off x="737682" y="761944"/>
            <a:ext cx="10224844" cy="5112671"/>
          </a:xfrm>
          <a:prstGeom prst="rect">
            <a:avLst/>
          </a:prstGeom>
        </p:spPr>
        <p:txBody>
          <a:bodyPr/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just">
              <a:lnSpc>
                <a:spcPct val="100000"/>
              </a:lnSpc>
              <a:buNone/>
            </a:pPr>
            <a:r>
              <a:rPr lang="en-US" altLang="zh-CN" sz="2400" b="1" dirty="0">
                <a:effectLst/>
                <a:latin typeface="宋体" panose="02010600030101010101" pitchFamily="2" charset="-122"/>
                <a:cs typeface="宋体" panose="02010600030101010101" pitchFamily="2" charset="-122"/>
              </a:rPr>
              <a:t>4.1 </a:t>
            </a:r>
            <a:r>
              <a:rPr lang="zh-CN" altLang="zh-CN" sz="2400" b="1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判断贪食蛇碰到窗口边界</a:t>
            </a:r>
            <a:endParaRPr lang="en-US" altLang="zh-CN" sz="2400" b="1" dirty="0">
              <a:effectLst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algn="just">
              <a:lnSpc>
                <a:spcPct val="100000"/>
              </a:lnSpc>
              <a:buNone/>
            </a:pPr>
            <a:r>
              <a:rPr lang="zh-CN" altLang="zh-CN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对蛇头进行判断，若蛇头碰到窗口的某个边界则让游戏结束。</a:t>
            </a:r>
            <a:endParaRPr lang="en-US" altLang="zh-CN" dirty="0">
              <a:effectLst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algn="just">
              <a:lnSpc>
                <a:spcPct val="100000"/>
              </a:lnSpc>
              <a:buNone/>
            </a:pPr>
            <a:r>
              <a:rPr lang="zh-CN" altLang="zh-CN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定义一个布尔类型的全局变量</a:t>
            </a:r>
            <a:r>
              <a:rPr lang="en-US" altLang="zh-CN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finished</a:t>
            </a:r>
            <a:r>
              <a:rPr lang="zh-CN" altLang="zh-CN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，用来表示游戏是否结束：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finished = False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0" algn="just">
              <a:lnSpc>
                <a:spcPct val="100000"/>
              </a:lnSpc>
              <a:buNone/>
            </a:pPr>
            <a:r>
              <a:rPr lang="zh-CN" altLang="zh-CN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在</a:t>
            </a: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update()</a:t>
            </a:r>
            <a:r>
              <a:rPr lang="zh-CN" altLang="zh-CN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函数中加入如下代码：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00000"/>
              </a:lnSpc>
            </a:pP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if </a:t>
            </a:r>
            <a:r>
              <a:rPr lang="en-US" altLang="zh-CN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snake_head.left</a:t>
            </a: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&lt; 0 or </a:t>
            </a:r>
            <a:r>
              <a:rPr lang="en-US" altLang="zh-CN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snake_head.right</a:t>
            </a: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&gt; WIDTH or \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00000"/>
              </a:lnSpc>
            </a:pP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   </a:t>
            </a:r>
            <a:r>
              <a:rPr lang="en-US" altLang="zh-CN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snake_head.top</a:t>
            </a: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&lt; 0 or </a:t>
            </a:r>
            <a:r>
              <a:rPr lang="en-US" altLang="zh-CN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snake_head.bottom</a:t>
            </a: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&gt; HEIGHT: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00000"/>
              </a:lnSpc>
            </a:pP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    </a:t>
            </a:r>
            <a:r>
              <a:rPr lang="en-US" altLang="zh-CN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sounds.fail.play</a:t>
            </a: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()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00000"/>
              </a:lnSpc>
            </a:pP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    finished = True  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0" algn="just">
              <a:lnSpc>
                <a:spcPct val="100000"/>
              </a:lnSpc>
              <a:buNone/>
            </a:pP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8460250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64EE10F1-EF06-2248-B3DB-7B40CBDE1A96}"/>
              </a:ext>
            </a:extLst>
          </p:cNvPr>
          <p:cNvSpPr txBox="1">
            <a:spLocks/>
          </p:cNvSpPr>
          <p:nvPr/>
        </p:nvSpPr>
        <p:spPr>
          <a:xfrm>
            <a:off x="737682" y="761944"/>
            <a:ext cx="9361815" cy="5112671"/>
          </a:xfrm>
          <a:prstGeom prst="rect">
            <a:avLst/>
          </a:prstGeom>
        </p:spPr>
        <p:txBody>
          <a:bodyPr/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just">
              <a:lnSpc>
                <a:spcPct val="100000"/>
              </a:lnSpc>
              <a:buNone/>
            </a:pPr>
            <a:r>
              <a:rPr lang="en-US" altLang="zh-CN" sz="2400" b="1" dirty="0">
                <a:effectLst/>
                <a:latin typeface="宋体" panose="02010600030101010101" pitchFamily="2" charset="-122"/>
                <a:cs typeface="宋体" panose="02010600030101010101" pitchFamily="2" charset="-122"/>
              </a:rPr>
              <a:t>4.2 </a:t>
            </a:r>
            <a:r>
              <a:rPr lang="zh-CN" altLang="zh-CN" sz="2400" b="1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判断蛇头碰到自己身体</a:t>
            </a:r>
            <a:endParaRPr lang="en-US" altLang="zh-CN" sz="2400" b="1" dirty="0">
              <a:effectLst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algn="just">
              <a:lnSpc>
                <a:spcPct val="100000"/>
              </a:lnSpc>
              <a:buNone/>
            </a:pPr>
            <a:r>
              <a:rPr lang="zh-CN" altLang="zh-CN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遍历蛇身列表，如果某个蛇身角色的坐标与蛇头完全相等，则可判定蛇头碰到了</a:t>
            </a:r>
            <a:endParaRPr lang="en-US" altLang="zh-CN" dirty="0">
              <a:effectLst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algn="just">
              <a:lnSpc>
                <a:spcPct val="100000"/>
              </a:lnSpc>
              <a:buNone/>
            </a:pPr>
            <a:r>
              <a:rPr lang="zh-CN" altLang="zh-CN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自己的身体。</a:t>
            </a:r>
            <a:endParaRPr lang="en-US" altLang="zh-CN" dirty="0">
              <a:effectLst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algn="just">
              <a:lnSpc>
                <a:spcPct val="150000"/>
              </a:lnSpc>
              <a:buNone/>
            </a:pPr>
            <a:r>
              <a:rPr lang="zh-CN" altLang="zh-CN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在</a:t>
            </a:r>
            <a:r>
              <a:rPr lang="en-US" altLang="zh-CN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update()</a:t>
            </a:r>
            <a:r>
              <a:rPr lang="zh-CN" altLang="zh-CN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函数中加入如下代码：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50000"/>
              </a:lnSpc>
            </a:pP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for n in range(</a:t>
            </a:r>
            <a:r>
              <a:rPr lang="en-US" altLang="zh-CN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len</a:t>
            </a: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(body) - 1):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50000"/>
              </a:lnSpc>
            </a:pP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    if(body[n].x == </a:t>
            </a:r>
            <a:r>
              <a:rPr lang="en-US" altLang="zh-CN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snake_head.x</a:t>
            </a: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and body[n].y == </a:t>
            </a:r>
            <a:r>
              <a:rPr lang="en-US" altLang="zh-CN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snake_head.y</a:t>
            </a: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):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50000"/>
              </a:lnSpc>
            </a:pP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        </a:t>
            </a:r>
            <a:r>
              <a:rPr lang="en-US" altLang="zh-CN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sounds.fail.play</a:t>
            </a: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()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50000"/>
              </a:lnSpc>
            </a:pP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        finished = True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0" algn="just">
              <a:lnSpc>
                <a:spcPct val="100000"/>
              </a:lnSpc>
              <a:buNone/>
            </a:pP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3016341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64EE10F1-EF06-2248-B3DB-7B40CBDE1A96}"/>
              </a:ext>
            </a:extLst>
          </p:cNvPr>
          <p:cNvSpPr txBox="1">
            <a:spLocks/>
          </p:cNvSpPr>
          <p:nvPr/>
        </p:nvSpPr>
        <p:spPr>
          <a:xfrm>
            <a:off x="737682" y="761944"/>
            <a:ext cx="10224844" cy="5112671"/>
          </a:xfrm>
          <a:prstGeom prst="rect">
            <a:avLst/>
          </a:prstGeom>
        </p:spPr>
        <p:txBody>
          <a:bodyPr/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just">
              <a:lnSpc>
                <a:spcPct val="100000"/>
              </a:lnSpc>
              <a:buNone/>
            </a:pPr>
            <a:r>
              <a:rPr lang="en-US" altLang="zh-CN" sz="2400" b="1" dirty="0">
                <a:effectLst/>
                <a:latin typeface="宋体" panose="02010600030101010101" pitchFamily="2" charset="-122"/>
                <a:cs typeface="宋体" panose="02010600030101010101" pitchFamily="2" charset="-122"/>
              </a:rPr>
              <a:t>4.2 </a:t>
            </a:r>
            <a:r>
              <a:rPr lang="zh-CN" altLang="zh-CN" sz="2400" b="1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判断蛇头碰到自己身体</a:t>
            </a:r>
            <a:endParaRPr lang="en-US" altLang="zh-CN" sz="2400" b="1" dirty="0">
              <a:effectLst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just">
              <a:lnSpc>
                <a:spcPct val="100000"/>
              </a:lnSpc>
            </a:pPr>
            <a:r>
              <a:rPr lang="zh-CN" altLang="zh-CN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在</a:t>
            </a:r>
            <a:r>
              <a:rPr lang="en-US" altLang="zh-CN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draw()</a:t>
            </a:r>
            <a:r>
              <a:rPr lang="zh-CN" altLang="zh-CN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函数中加入代码，显示游戏结束的文字提示：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00000"/>
              </a:lnSpc>
            </a:pP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if finished: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00000"/>
              </a:lnSpc>
            </a:pP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</a:t>
            </a:r>
            <a:r>
              <a:rPr lang="en-US" altLang="zh-CN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screen.draw.text</a:t>
            </a: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("Game Over!", </a:t>
            </a:r>
          </a:p>
          <a:p>
            <a:pPr algn="just">
              <a:lnSpc>
                <a:spcPct val="100000"/>
              </a:lnSpc>
            </a:pPr>
            <a:r>
              <a:rPr lang="en-US" altLang="zh-CN" kern="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     </a:t>
            </a: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center=(WIDTH // 2, HEIGHT // 2),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00000"/>
              </a:lnSpc>
            </a:pP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     </a:t>
            </a:r>
            <a:r>
              <a:rPr lang="en-US" altLang="zh-CN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fontsize</a:t>
            </a: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=50, color="red")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0" algn="just">
              <a:lnSpc>
                <a:spcPct val="100000"/>
              </a:lnSpc>
              <a:buNone/>
            </a:pP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11266" name="图片 4">
            <a:extLst>
              <a:ext uri="{FF2B5EF4-FFF2-40B4-BE49-F238E27FC236}">
                <a16:creationId xmlns:a16="http://schemas.microsoft.com/office/drawing/2014/main" id="{DDE0D4DD-AFF3-61FF-35BB-66729EFD1E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6605" y="1366502"/>
            <a:ext cx="4441825" cy="4637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4916148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0E1FD12-3765-D577-424E-D275D83AD3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回顾与总结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D16F0AB-C2B5-60F3-2AD0-A592E9C3D1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zh-CN" altLang="zh-CN" sz="2800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在本章我们一起学习了贪食蛇游戏的编写。我们首先了解了如何处理键盘的按键事件，并通过键盘实现了对蛇头的移动控制。为了改善游戏效果，我们学习了如何旋转角色的图像，以及如何使用延迟变量来减缓游戏速度。我们还讨论了如何使用字典类型来表示移动方向和坐标的关系。接下来我们为游戏添加了食物角色，并让食物随机地出现在游戏窗口中。然后我们设法让贪食蛇“吃”掉食物，同时让贪食蛇的身体增长。最后我们对游戏结束的两种情况进行了处理，并对程序代码进行了重构。</a:t>
            </a:r>
            <a:endParaRPr lang="zh-CN" altLang="zh-CN" sz="2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61557301"/>
      </p:ext>
    </p:extLst>
  </p:cSld>
  <p:clrMapOvr>
    <a:masterClrMapping/>
  </p:clrMapOvr>
</p:sld>
</file>

<file path=ppt/theme/theme1.xml><?xml version="1.0" encoding="utf-8"?>
<a:theme xmlns:a="http://schemas.openxmlformats.org/drawingml/2006/main" name="回顾">
  <a:themeElements>
    <a:clrScheme name="回顾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回顾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回顾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430</TotalTime>
  <Words>2094</Words>
  <Application>Microsoft Office PowerPoint</Application>
  <PresentationFormat>宽屏</PresentationFormat>
  <Paragraphs>189</Paragraphs>
  <Slides>28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28</vt:i4>
      </vt:variant>
    </vt:vector>
  </HeadingPairs>
  <TitlesOfParts>
    <vt:vector size="37" baseType="lpstr">
      <vt:lpstr>等线</vt:lpstr>
      <vt:lpstr>宋体</vt:lpstr>
      <vt:lpstr>微软雅黑</vt:lpstr>
      <vt:lpstr>Arial</vt:lpstr>
      <vt:lpstr>Calibri</vt:lpstr>
      <vt:lpstr>Calibri Light</vt:lpstr>
      <vt:lpstr>Times New Roman</vt:lpstr>
      <vt:lpstr>Wingdings</vt:lpstr>
      <vt:lpstr>回顾</vt:lpstr>
      <vt:lpstr>贪食蛇游戏</vt:lpstr>
      <vt:lpstr>本章知识点</vt:lpstr>
      <vt:lpstr>1.创建场景和角色</vt:lpstr>
      <vt:lpstr>PowerPoint 演示文稿</vt:lpstr>
      <vt:lpstr>2.移动蛇头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练习</vt:lpstr>
      <vt:lpstr>PowerPoint 演示文稿</vt:lpstr>
      <vt:lpstr>PowerPoint 演示文稿</vt:lpstr>
      <vt:lpstr>PowerPoint 演示文稿</vt:lpstr>
      <vt:lpstr>3.添加食物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练习</vt:lpstr>
      <vt:lpstr>4.实现游戏结束</vt:lpstr>
      <vt:lpstr>PowerPoint 演示文稿</vt:lpstr>
      <vt:lpstr>PowerPoint 演示文稿</vt:lpstr>
      <vt:lpstr>PowerPoint 演示文稿</vt:lpstr>
      <vt:lpstr>回顾与总结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记忆翻牌游戏</dc:title>
  <dc:creator>叶得飞</dc:creator>
  <cp:lastModifiedBy>hawking329@sina.com</cp:lastModifiedBy>
  <cp:revision>71</cp:revision>
  <dcterms:created xsi:type="dcterms:W3CDTF">2022-06-28T01:57:29Z</dcterms:created>
  <dcterms:modified xsi:type="dcterms:W3CDTF">2024-01-08T08:48:03Z</dcterms:modified>
</cp:coreProperties>
</file>