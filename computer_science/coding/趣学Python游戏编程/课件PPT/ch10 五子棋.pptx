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3582" r:id="rId4"/>
    <p:sldId id="3583" r:id="rId5"/>
    <p:sldId id="3584" r:id="rId6"/>
    <p:sldId id="3586" r:id="rId7"/>
    <p:sldId id="3585" r:id="rId8"/>
    <p:sldId id="3587" r:id="rId9"/>
    <p:sldId id="3588" r:id="rId10"/>
    <p:sldId id="3589" r:id="rId11"/>
    <p:sldId id="3590" r:id="rId12"/>
    <p:sldId id="3591" r:id="rId13"/>
    <p:sldId id="3592" r:id="rId14"/>
    <p:sldId id="3593" r:id="rId15"/>
    <p:sldId id="3594" r:id="rId16"/>
    <p:sldId id="3595" r:id="rId17"/>
    <p:sldId id="3597" r:id="rId18"/>
    <p:sldId id="3598" r:id="rId19"/>
    <p:sldId id="3599" r:id="rId20"/>
    <p:sldId id="358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75420-F708-49F5-92F8-624229C141A5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64FB-F2DD-4573-A003-A51F1EB4C9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41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43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1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85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257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17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49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26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5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84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24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9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71" y="390528"/>
            <a:ext cx="520496" cy="274638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71" y="6524628"/>
            <a:ext cx="2909534" cy="276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2875"/>
            <a:ext cx="10633094" cy="8461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/>
          <p:cNvSpPr/>
          <p:nvPr userDrawn="1"/>
        </p:nvSpPr>
        <p:spPr>
          <a:xfrm>
            <a:off x="10705111" y="6792874"/>
            <a:ext cx="1486889" cy="846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678" y="294777"/>
            <a:ext cx="2595399" cy="40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4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11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EEB1E-5500-9EE0-4B2B-5962B59C5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五子棋游戏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5082F6-BB6D-0F1D-7471-1A20173E0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79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F6537-6A07-CFED-561B-2FCC989C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266700" algn="just">
              <a:lnSpc>
                <a:spcPct val="150000"/>
              </a:lnSpc>
            </a:pPr>
            <a:r>
              <a:rPr lang="zh-CN" altLang="zh-CN" sz="4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本章知识点</a:t>
            </a:r>
            <a:endParaRPr lang="zh-CN" altLang="zh-CN" sz="4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A13118-7275-031A-9151-78481A7B9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3410"/>
            <a:ext cx="10058400" cy="4023360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实现下棋操作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判定棋局胜负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实现悔棋操作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游戏人工智能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人机对弈算法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614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创建棋盘和棋子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绘制棋盘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创建五子棋的棋盘就是绘制棋盘上所有横线和竖线，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Pgzero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提供的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screen.draw.line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方法来绘制线段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在程序开头编写如下代码：</a:t>
            </a:r>
          </a:p>
          <a:p>
            <a:pPr indent="304800" algn="just">
              <a:lnSpc>
                <a:spcPct val="110000"/>
              </a:lnSpc>
            </a:pPr>
            <a:r>
              <a:rPr lang="en-US" altLang="zh-CN" kern="100" dirty="0">
                <a:effectLst/>
                <a:latin typeface="+mn-ea"/>
              </a:rPr>
              <a:t>SIZE = 40</a:t>
            </a:r>
            <a:endParaRPr lang="zh-CN" altLang="zh-CN" kern="100" dirty="0">
              <a:effectLst/>
              <a:latin typeface="+mn-ea"/>
            </a:endParaRPr>
          </a:p>
          <a:p>
            <a:pPr indent="304800" algn="just">
              <a:lnSpc>
                <a:spcPct val="110000"/>
              </a:lnSpc>
            </a:pPr>
            <a:r>
              <a:rPr lang="en-US" altLang="zh-CN" kern="100" dirty="0">
                <a:effectLst/>
                <a:latin typeface="+mn-ea"/>
              </a:rPr>
              <a:t>WIDTH = SIZE * 15                    </a:t>
            </a:r>
            <a:endParaRPr lang="zh-CN" altLang="zh-CN" kern="100" dirty="0">
              <a:effectLst/>
              <a:latin typeface="+mn-ea"/>
            </a:endParaRPr>
          </a:p>
          <a:p>
            <a:pPr indent="304800" algn="just">
              <a:lnSpc>
                <a:spcPct val="110000"/>
              </a:lnSpc>
            </a:pPr>
            <a:r>
              <a:rPr lang="en-US" altLang="zh-CN" kern="100" dirty="0">
                <a:effectLst/>
                <a:latin typeface="+mn-ea"/>
              </a:rPr>
              <a:t>HEIGHT = SIZE * 15</a:t>
            </a:r>
            <a:endParaRPr lang="zh-CN" altLang="zh-CN" kern="100" dirty="0">
              <a:effectLst/>
              <a:latin typeface="+mn-ea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zh-CN" altLang="en-US" sz="2800" dirty="0"/>
          </a:p>
        </p:txBody>
      </p:sp>
      <p:pic>
        <p:nvPicPr>
          <p:cNvPr id="1026" name="图片 5">
            <a:extLst>
              <a:ext uri="{FF2B5EF4-FFF2-40B4-BE49-F238E27FC236}">
                <a16:creationId xmlns:a16="http://schemas.microsoft.com/office/drawing/2014/main" id="{CF00D528-B3A4-EB20-BCB7-EA5CD7F0E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116" y="2036389"/>
            <a:ext cx="3808538" cy="3950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3855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10913212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绘制棋盘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定义函数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draw_board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，用来绘制棋盘的网格，也就是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条横线和竖线：</a:t>
            </a: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draw_board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for </a:t>
            </a:r>
            <a:r>
              <a:rPr lang="en-US" altLang="zh-CN" kern="100" dirty="0" err="1">
                <a:effectLst/>
                <a:latin typeface="+mn-ea"/>
              </a:rPr>
              <a:t>i</a:t>
            </a:r>
            <a:r>
              <a:rPr lang="en-US" altLang="zh-CN" kern="100" dirty="0">
                <a:effectLst/>
                <a:latin typeface="+mn-ea"/>
              </a:rPr>
              <a:t> in range(15):</a:t>
            </a:r>
            <a:endParaRPr lang="zh-CN" altLang="zh-CN" kern="100" dirty="0">
              <a:effectLst/>
              <a:latin typeface="+mn-ea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screen.draw.line</a:t>
            </a:r>
            <a:r>
              <a:rPr lang="en-US" altLang="zh-CN" kern="100" dirty="0">
                <a:effectLst/>
                <a:latin typeface="+mn-ea"/>
              </a:rPr>
              <a:t>((20, SIZE * </a:t>
            </a:r>
            <a:r>
              <a:rPr lang="en-US" altLang="zh-CN" kern="100" dirty="0" err="1">
                <a:effectLst/>
                <a:latin typeface="+mn-ea"/>
              </a:rPr>
              <a:t>i</a:t>
            </a:r>
            <a:r>
              <a:rPr lang="en-US" altLang="zh-CN" kern="100" dirty="0">
                <a:effectLst/>
                <a:latin typeface="+mn-ea"/>
              </a:rPr>
              <a:t> + 20), (580, SIZE * </a:t>
            </a:r>
            <a:r>
              <a:rPr lang="en-US" altLang="zh-CN" kern="100" dirty="0" err="1">
                <a:effectLst/>
                <a:latin typeface="+mn-ea"/>
              </a:rPr>
              <a:t>i</a:t>
            </a:r>
            <a:r>
              <a:rPr lang="en-US" altLang="zh-CN" kern="100" dirty="0">
                <a:effectLst/>
                <a:latin typeface="+mn-ea"/>
              </a:rPr>
              <a:t> + 20), (0, 0, 0))</a:t>
            </a:r>
            <a:endParaRPr lang="zh-CN" altLang="zh-CN" kern="100" dirty="0">
              <a:effectLst/>
              <a:latin typeface="+mn-ea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for </a:t>
            </a:r>
            <a:r>
              <a:rPr lang="en-US" altLang="zh-CN" kern="100" dirty="0" err="1">
                <a:effectLst/>
                <a:latin typeface="+mn-ea"/>
              </a:rPr>
              <a:t>i</a:t>
            </a:r>
            <a:r>
              <a:rPr lang="en-US" altLang="zh-CN" kern="100" dirty="0">
                <a:effectLst/>
                <a:latin typeface="+mn-ea"/>
              </a:rPr>
              <a:t> in range(15):</a:t>
            </a:r>
            <a:endParaRPr lang="zh-CN" altLang="zh-CN" kern="100" dirty="0">
              <a:effectLst/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</a:t>
            </a:r>
            <a:r>
              <a:rPr lang="en-US" altLang="zh-CN" kern="100" dirty="0" err="1">
                <a:effectLst/>
                <a:latin typeface="+mn-ea"/>
              </a:rPr>
              <a:t>screen.draw.line</a:t>
            </a:r>
            <a:r>
              <a:rPr lang="en-US" altLang="zh-CN" kern="100" dirty="0">
                <a:effectLst/>
                <a:latin typeface="+mn-ea"/>
              </a:rPr>
              <a:t>((SIZE * </a:t>
            </a:r>
            <a:r>
              <a:rPr lang="en-US" altLang="zh-CN" kern="100" dirty="0" err="1">
                <a:effectLst/>
                <a:latin typeface="+mn-ea"/>
              </a:rPr>
              <a:t>i</a:t>
            </a:r>
            <a:r>
              <a:rPr lang="en-US" altLang="zh-CN" kern="100" dirty="0">
                <a:effectLst/>
                <a:latin typeface="+mn-ea"/>
              </a:rPr>
              <a:t> + 20, 20), (SIZE * </a:t>
            </a:r>
            <a:r>
              <a:rPr lang="en-US" altLang="zh-CN" kern="100" dirty="0" err="1">
                <a:effectLst/>
                <a:latin typeface="+mn-ea"/>
              </a:rPr>
              <a:t>i</a:t>
            </a:r>
            <a:r>
              <a:rPr lang="en-US" altLang="zh-CN" kern="100" dirty="0">
                <a:effectLst/>
                <a:latin typeface="+mn-ea"/>
              </a:rPr>
              <a:t> + 20, 580), (0, 0, 0)) 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函数编写代码，将棋盘显示在游戏窗口中：</a:t>
            </a: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draw():</a:t>
            </a:r>
            <a:endParaRPr lang="zh-CN" altLang="zh-CN" kern="100" dirty="0">
              <a:effectLst/>
              <a:latin typeface="+mn-ea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screen.fill</a:t>
            </a:r>
            <a:r>
              <a:rPr lang="en-US" altLang="zh-CN" kern="100" dirty="0">
                <a:effectLst/>
                <a:latin typeface="+mn-ea"/>
              </a:rPr>
              <a:t>((210, 180, 140))</a:t>
            </a:r>
            <a:endParaRPr lang="zh-CN" altLang="zh-CN" kern="100" dirty="0">
              <a:effectLst/>
              <a:latin typeface="+mn-ea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draw_board</a:t>
            </a:r>
            <a:r>
              <a:rPr lang="en-US" altLang="zh-CN" kern="100" dirty="0">
                <a:effectLst/>
                <a:latin typeface="+mn-ea"/>
              </a:rPr>
              <a:t>()      </a:t>
            </a:r>
            <a:endParaRPr lang="zh-CN" altLang="zh-CN" kern="100" dirty="0">
              <a:effectLst/>
              <a:latin typeface="+mn-ea"/>
            </a:endParaRPr>
          </a:p>
          <a:p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2811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执行走棋操作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.1 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使用鼠标下棋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创建一个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大小的二维列表，用来作为棋盘的数据模型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kern="100" dirty="0">
                <a:latin typeface="+mn-ea"/>
              </a:rPr>
              <a:t>   </a:t>
            </a:r>
            <a:r>
              <a:rPr lang="en-US" altLang="zh-CN" kern="100" dirty="0">
                <a:effectLst/>
                <a:latin typeface="+mn-ea"/>
              </a:rPr>
              <a:t>board = [[" "for </a:t>
            </a:r>
            <a:r>
              <a:rPr lang="en-US" altLang="zh-CN" kern="100" dirty="0" err="1">
                <a:effectLst/>
                <a:latin typeface="+mn-ea"/>
              </a:rPr>
              <a:t>i</a:t>
            </a:r>
            <a:r>
              <a:rPr lang="en-US" altLang="zh-CN" kern="100" dirty="0">
                <a:effectLst/>
                <a:latin typeface="+mn-ea"/>
              </a:rPr>
              <a:t> in range(15)]for j in range(15)]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1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定义变量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chesses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保存下过的每一颗棋子对象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turn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last_turn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分别保存当前走棋的一方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1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以及上一步的走棋方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indent="266700" algn="just">
              <a:lnSpc>
                <a:spcPct val="110000"/>
              </a:lnSpc>
            </a:pPr>
            <a:r>
              <a:rPr lang="en-US" altLang="zh-CN" kern="100" dirty="0">
                <a:effectLst/>
                <a:latin typeface="+mn-ea"/>
              </a:rPr>
              <a:t>chesses = []               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10000"/>
              </a:lnSpc>
            </a:pPr>
            <a:r>
              <a:rPr lang="en-US" altLang="zh-CN" kern="100" dirty="0">
                <a:effectLst/>
                <a:latin typeface="+mn-ea"/>
              </a:rPr>
              <a:t>turn = "b"                 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10000"/>
              </a:lnSpc>
            </a:pPr>
            <a:r>
              <a:rPr lang="en-US" altLang="zh-CN" kern="100" dirty="0" err="1">
                <a:effectLst/>
                <a:latin typeface="+mn-ea"/>
              </a:rPr>
              <a:t>last_turn</a:t>
            </a:r>
            <a:r>
              <a:rPr lang="en-US" altLang="zh-CN" kern="100" dirty="0">
                <a:effectLst/>
                <a:latin typeface="+mn-ea"/>
              </a:rPr>
              <a:t> = "w"</a:t>
            </a:r>
            <a:endParaRPr lang="zh-CN" altLang="zh-CN" kern="100" dirty="0">
              <a:effectLst/>
              <a:latin typeface="+mn-ea"/>
            </a:endParaRP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02581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128100" y="392075"/>
            <a:ext cx="10368681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play()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函数用于处理棋盘的数据模型：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play(pos):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col = pos[0] // SIZE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row = pos[1] // SIZE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board[col][row] != " ":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return   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turn == "b":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chess = Actor("</a:t>
            </a:r>
            <a:r>
              <a:rPr lang="en-US" altLang="zh-CN" kern="100" dirty="0" err="1">
                <a:effectLst/>
                <a:latin typeface="+mn-ea"/>
              </a:rPr>
              <a:t>gobang_black</a:t>
            </a:r>
            <a:r>
              <a:rPr lang="en-US" altLang="zh-CN" kern="100" dirty="0">
                <a:effectLst/>
                <a:latin typeface="+mn-ea"/>
              </a:rPr>
              <a:t>", (col * SIZE + 20, row * SIZE + 20))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else: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chess = Actor("</a:t>
            </a:r>
            <a:r>
              <a:rPr lang="en-US" altLang="zh-CN" kern="100" dirty="0" err="1">
                <a:effectLst/>
                <a:latin typeface="+mn-ea"/>
              </a:rPr>
              <a:t>gobang_white</a:t>
            </a:r>
            <a:r>
              <a:rPr lang="en-US" altLang="zh-CN" kern="100" dirty="0">
                <a:effectLst/>
                <a:latin typeface="+mn-ea"/>
              </a:rPr>
              <a:t>", (col * SIZE + 20, row * SIZE + 20))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chesses.append</a:t>
            </a:r>
            <a:r>
              <a:rPr lang="en-US" altLang="zh-CN" kern="100" dirty="0">
                <a:effectLst/>
                <a:latin typeface="+mn-ea"/>
              </a:rPr>
              <a:t>(chess)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board[col][row] = turn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50000"/>
              </a:lnSpc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6595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20568" y="987976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.1 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使用鼠标下棋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规定当玩家点击鼠标左键时下棋，为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on_mouse_down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编写代码：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on_mouse_down</a:t>
            </a:r>
            <a:r>
              <a:rPr lang="en-US" altLang="zh-CN" kern="100" dirty="0">
                <a:effectLst/>
                <a:latin typeface="+mn-ea"/>
              </a:rPr>
              <a:t>(pos, button):                 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button == </a:t>
            </a:r>
            <a:r>
              <a:rPr lang="en-US" altLang="zh-CN" kern="100" dirty="0" err="1">
                <a:effectLst/>
                <a:latin typeface="+mn-ea"/>
              </a:rPr>
              <a:t>mouse.LEFT</a:t>
            </a:r>
            <a:r>
              <a:rPr lang="en-US" altLang="zh-CN" kern="100" dirty="0">
                <a:effectLst/>
                <a:latin typeface="+mn-ea"/>
              </a:rPr>
              <a:t>:       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play(pos)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定义函数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draw_chess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，用来绘制所有的棋子角色：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draw_chess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for chess in chesses: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chess.draw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50000"/>
              </a:lnSpc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4545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20568" y="987976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2.2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交换下棋双方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定义一个函数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change_side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，用来交换下棋的双方：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</a:t>
            </a: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change_side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global turn, </a:t>
            </a:r>
            <a:r>
              <a:rPr lang="en-US" altLang="zh-CN" kern="100" dirty="0" err="1">
                <a:effectLst/>
                <a:latin typeface="+mn-ea"/>
              </a:rPr>
              <a:t>last_turn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last_turn</a:t>
            </a:r>
            <a:r>
              <a:rPr lang="en-US" altLang="zh-CN" kern="100" dirty="0">
                <a:effectLst/>
                <a:latin typeface="+mn-ea"/>
              </a:rPr>
              <a:t> = turn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turn == "b":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turn = "w"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else: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turn = "b"  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50000"/>
              </a:lnSpc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50" name="图片 4">
            <a:extLst>
              <a:ext uri="{FF2B5EF4-FFF2-40B4-BE49-F238E27FC236}">
                <a16:creationId xmlns:a16="http://schemas.microsoft.com/office/drawing/2014/main" id="{DE53E1FC-48DD-BAB2-E7D0-1E9FDE585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638" y="2364376"/>
            <a:ext cx="3387297" cy="350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364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20568" y="987976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2.2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交换下棋双方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draw_chess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函数进行修改，加入绘制提示框的代码：</a:t>
            </a: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if </a:t>
            </a:r>
            <a:r>
              <a:rPr lang="en-US" altLang="zh-CN" kern="100" dirty="0" err="1">
                <a:effectLst/>
                <a:latin typeface="+mn-ea"/>
              </a:rPr>
              <a:t>len</a:t>
            </a:r>
            <a:r>
              <a:rPr lang="en-US" altLang="zh-CN" kern="100" dirty="0">
                <a:effectLst/>
                <a:latin typeface="+mn-ea"/>
              </a:rPr>
              <a:t>(chesses) &gt; 0:                       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chess = chesses[-1]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rect</a:t>
            </a:r>
            <a:r>
              <a:rPr lang="en-US" altLang="zh-CN" kern="100" dirty="0">
                <a:effectLst/>
                <a:latin typeface="+mn-ea"/>
              </a:rPr>
              <a:t> = </a:t>
            </a:r>
            <a:r>
              <a:rPr lang="en-US" altLang="zh-CN" kern="100" dirty="0" err="1">
                <a:effectLst/>
                <a:latin typeface="+mn-ea"/>
              </a:rPr>
              <a:t>Rect</a:t>
            </a:r>
            <a:r>
              <a:rPr lang="en-US" altLang="zh-CN" kern="100" dirty="0">
                <a:effectLst/>
                <a:latin typeface="+mn-ea"/>
              </a:rPr>
              <a:t>(</a:t>
            </a:r>
            <a:r>
              <a:rPr lang="en-US" altLang="zh-CN" kern="100" dirty="0" err="1">
                <a:effectLst/>
                <a:latin typeface="+mn-ea"/>
              </a:rPr>
              <a:t>chess.topleft</a:t>
            </a:r>
            <a:r>
              <a:rPr lang="en-US" altLang="zh-CN" kern="100" dirty="0">
                <a:effectLst/>
                <a:latin typeface="+mn-ea"/>
              </a:rPr>
              <a:t>, (36, 36))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screen.draw.rect</a:t>
            </a:r>
            <a:r>
              <a:rPr lang="en-US" altLang="zh-CN" kern="100" dirty="0">
                <a:effectLst/>
                <a:latin typeface="+mn-ea"/>
              </a:rPr>
              <a:t>(</a:t>
            </a:r>
            <a:r>
              <a:rPr lang="en-US" altLang="zh-CN" kern="100" dirty="0" err="1">
                <a:effectLst/>
                <a:latin typeface="+mn-ea"/>
              </a:rPr>
              <a:t>rect</a:t>
            </a:r>
            <a:r>
              <a:rPr lang="en-US" altLang="zh-CN" kern="100" dirty="0">
                <a:effectLst/>
                <a:latin typeface="+mn-ea"/>
              </a:rPr>
              <a:t>, (255, 255, 255))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screen.draw.rect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来绘制矩形，该方法接收两个参数：第一个是要绘制的矩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形对象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rect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，第二个则是绘制矩形的颜色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423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完善游戏规则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3.1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判定棋局胜负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check_win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 )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函数对五子棋获胜的局面进行判定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，参见书上第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200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页代码。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定义全局变量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gameover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，用来标识游戏是否结束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nb-NO" altLang="zh-CN" sz="2400" kern="100" dirty="0">
                <a:effectLst/>
                <a:latin typeface="+mn-ea"/>
              </a:rPr>
              <a:t>  gameover = False</a:t>
            </a:r>
            <a:endParaRPr lang="en-US" altLang="zh-CN" sz="2400" kern="100" dirty="0">
              <a:effectLst/>
              <a:latin typeface="+mn-ea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update()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函数中编写程序来对棋局获胜的局面检测和处理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62565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354132" y="320156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3.1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判定棋局胜负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nb-NO" altLang="zh-CN" kern="100" dirty="0">
                <a:effectLst/>
                <a:latin typeface="+mn-ea"/>
              </a:rPr>
              <a:t>def update():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nb-NO" altLang="zh-CN" kern="100" dirty="0">
                <a:effectLst/>
                <a:latin typeface="+mn-ea"/>
              </a:rPr>
              <a:t>    global gameover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nb-NO" altLang="zh-CN" kern="100" dirty="0">
                <a:effectLst/>
                <a:latin typeface="+mn-ea"/>
              </a:rPr>
              <a:t>    </a:t>
            </a:r>
            <a:r>
              <a:rPr lang="en-US" altLang="zh-CN" kern="100" dirty="0">
                <a:effectLst/>
                <a:latin typeface="+mn-ea"/>
              </a:rPr>
              <a:t>if </a:t>
            </a:r>
            <a:r>
              <a:rPr lang="en-US" altLang="zh-CN" kern="100" dirty="0" err="1">
                <a:effectLst/>
                <a:latin typeface="+mn-ea"/>
              </a:rPr>
              <a:t>gameover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return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check_win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</a:t>
            </a:r>
            <a:r>
              <a:rPr lang="en-US" altLang="zh-CN" kern="100" dirty="0" err="1">
                <a:effectLst/>
                <a:latin typeface="+mn-ea"/>
              </a:rPr>
              <a:t>gameover</a:t>
            </a:r>
            <a:r>
              <a:rPr lang="en-US" altLang="zh-CN" kern="100" dirty="0">
                <a:effectLst/>
                <a:latin typeface="+mn-ea"/>
              </a:rPr>
              <a:t> = True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if </a:t>
            </a:r>
            <a:r>
              <a:rPr lang="en-US" altLang="zh-CN" kern="100" dirty="0" err="1">
                <a:effectLst/>
                <a:latin typeface="+mn-ea"/>
              </a:rPr>
              <a:t>last_turn</a:t>
            </a:r>
            <a:r>
              <a:rPr lang="en-US" altLang="zh-CN" kern="100" dirty="0">
                <a:effectLst/>
                <a:latin typeface="+mn-ea"/>
              </a:rPr>
              <a:t> == "b":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 </a:t>
            </a:r>
            <a:r>
              <a:rPr lang="en-US" altLang="zh-CN" kern="100" dirty="0" err="1">
                <a:effectLst/>
                <a:latin typeface="+mn-ea"/>
              </a:rPr>
              <a:t>sounds.win.play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else: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 </a:t>
            </a:r>
            <a:r>
              <a:rPr lang="en-US" altLang="zh-CN" kern="100" dirty="0" err="1">
                <a:effectLst/>
                <a:latin typeface="+mn-ea"/>
              </a:rPr>
              <a:t>sounds.fail.play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return</a:t>
            </a:r>
            <a:endParaRPr lang="zh-CN" altLang="zh-CN" kern="100" dirty="0">
              <a:effectLst/>
              <a:latin typeface="+mn-ea"/>
            </a:endParaRPr>
          </a:p>
          <a:p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6580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99327" y="361253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3.1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判定棋局胜负</a:t>
            </a:r>
            <a:endParaRPr lang="en-US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draw_text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函数，显示游戏结束信息：</a:t>
            </a: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draw_text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not </a:t>
            </a:r>
            <a:r>
              <a:rPr lang="en-US" altLang="zh-CN" kern="100" dirty="0" err="1">
                <a:effectLst/>
                <a:latin typeface="+mn-ea"/>
              </a:rPr>
              <a:t>gameover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return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last_turn</a:t>
            </a:r>
            <a:r>
              <a:rPr lang="en-US" altLang="zh-CN" kern="100" dirty="0">
                <a:effectLst/>
                <a:latin typeface="+mn-ea"/>
              </a:rPr>
              <a:t> == "b":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text = "You Win"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else: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text = "You Lost"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screen.draw.text</a:t>
            </a:r>
            <a:r>
              <a:rPr lang="en-US" altLang="zh-CN" kern="100" dirty="0">
                <a:effectLst/>
                <a:latin typeface="+mn-ea"/>
              </a:rPr>
              <a:t>(text, center=(WIDTH // 2, HEIGHT // 2), </a:t>
            </a: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                              </a:t>
            </a:r>
            <a:r>
              <a:rPr lang="en-US" altLang="zh-CN" kern="100" dirty="0" err="1">
                <a:effectLst/>
                <a:latin typeface="+mn-ea"/>
              </a:rPr>
              <a:t>fontsize</a:t>
            </a:r>
            <a:r>
              <a:rPr lang="en-US" altLang="zh-CN" kern="100" dirty="0">
                <a:effectLst/>
                <a:latin typeface="+mn-ea"/>
              </a:rPr>
              <a:t>=100, color="red")</a:t>
            </a:r>
            <a:endParaRPr lang="zh-CN" altLang="zh-CN" kern="100" dirty="0">
              <a:effectLst/>
              <a:latin typeface="+mn-ea"/>
            </a:endParaRPr>
          </a:p>
          <a:p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074" name="图片 7">
            <a:extLst>
              <a:ext uri="{FF2B5EF4-FFF2-40B4-BE49-F238E27FC236}">
                <a16:creationId xmlns:a16="http://schemas.microsoft.com/office/drawing/2014/main" id="{A8D56BB2-B7FD-96D7-CD44-20423D198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505" y="652035"/>
            <a:ext cx="3551683" cy="3683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8382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395228" y="566736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添加悔棋功能</a:t>
            </a:r>
            <a:endParaRPr lang="en-US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悔棋操作是将列表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chesses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最后一个单元的棋子角色删除，被删除的棋子不再显示。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retract()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函数来实现悔棋功能：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retract():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len</a:t>
            </a:r>
            <a:r>
              <a:rPr lang="en-US" altLang="zh-CN" kern="100" dirty="0">
                <a:effectLst/>
                <a:latin typeface="+mn-ea"/>
              </a:rPr>
              <a:t>(chesses) &lt; 2: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return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for </a:t>
            </a:r>
            <a:r>
              <a:rPr lang="en-US" altLang="zh-CN" kern="100" dirty="0" err="1">
                <a:effectLst/>
                <a:latin typeface="+mn-ea"/>
              </a:rPr>
              <a:t>i</a:t>
            </a:r>
            <a:r>
              <a:rPr lang="en-US" altLang="zh-CN" kern="100" dirty="0">
                <a:effectLst/>
                <a:latin typeface="+mn-ea"/>
              </a:rPr>
              <a:t> in range(2):                  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chess = </a:t>
            </a:r>
            <a:r>
              <a:rPr lang="en-US" altLang="zh-CN" kern="100" dirty="0" err="1">
                <a:effectLst/>
                <a:latin typeface="+mn-ea"/>
              </a:rPr>
              <a:t>chesses.pop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col = int(</a:t>
            </a:r>
            <a:r>
              <a:rPr lang="en-US" altLang="zh-CN" kern="100" dirty="0" err="1">
                <a:effectLst/>
                <a:latin typeface="+mn-ea"/>
              </a:rPr>
              <a:t>chess.x</a:t>
            </a:r>
            <a:r>
              <a:rPr lang="en-US" altLang="zh-CN" kern="100" dirty="0">
                <a:effectLst/>
                <a:latin typeface="+mn-ea"/>
              </a:rPr>
              <a:t> - 20) // SIZE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row = int(</a:t>
            </a:r>
            <a:r>
              <a:rPr lang="en-US" altLang="zh-CN" kern="100" dirty="0" err="1">
                <a:effectLst/>
                <a:latin typeface="+mn-ea"/>
              </a:rPr>
              <a:t>chess.y</a:t>
            </a:r>
            <a:r>
              <a:rPr lang="en-US" altLang="zh-CN" kern="100" dirty="0">
                <a:effectLst/>
                <a:latin typeface="+mn-ea"/>
              </a:rPr>
              <a:t> - 20) // SIZE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board[col][row] = " "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3048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4487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395228" y="566736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添加悔棋功能</a:t>
            </a:r>
            <a:endParaRPr lang="en-US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on_mouse_down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函数，添加鼠标右键的点击事件处理：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on_mouse_down</a:t>
            </a:r>
            <a:r>
              <a:rPr lang="en-US" altLang="zh-CN" kern="100" dirty="0">
                <a:effectLst/>
                <a:latin typeface="+mn-ea"/>
              </a:rPr>
              <a:t>(pos, button):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gameover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return                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button == </a:t>
            </a:r>
            <a:r>
              <a:rPr lang="en-US" altLang="zh-CN" kern="100" dirty="0" err="1">
                <a:effectLst/>
                <a:latin typeface="+mn-ea"/>
              </a:rPr>
              <a:t>mouse.LEFT</a:t>
            </a:r>
            <a:r>
              <a:rPr lang="en-US" altLang="zh-CN" kern="100" dirty="0">
                <a:effectLst/>
                <a:latin typeface="+mn-ea"/>
              </a:rPr>
              <a:t>:       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play(pos)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elif</a:t>
            </a:r>
            <a:r>
              <a:rPr lang="en-US" altLang="zh-CN" kern="100" dirty="0">
                <a:effectLst/>
                <a:latin typeface="+mn-ea"/>
              </a:rPr>
              <a:t> button == </a:t>
            </a:r>
            <a:r>
              <a:rPr lang="en-US" altLang="zh-CN" kern="100" dirty="0" err="1">
                <a:effectLst/>
                <a:latin typeface="+mn-ea"/>
              </a:rPr>
              <a:t>mouse.RIGHT</a:t>
            </a:r>
            <a:r>
              <a:rPr lang="en-US" altLang="zh-CN" kern="100" dirty="0">
                <a:effectLst/>
                <a:latin typeface="+mn-ea"/>
              </a:rPr>
              <a:t>: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retract()</a:t>
            </a:r>
            <a:endParaRPr lang="zh-CN" altLang="zh-CN" kern="100" dirty="0">
              <a:effectLst/>
              <a:latin typeface="+mn-ea"/>
            </a:endParaRPr>
          </a:p>
          <a:p>
            <a:pPr marL="266700" indent="304800" algn="just">
              <a:lnSpc>
                <a:spcPct val="100000"/>
              </a:lnSpc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3048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1668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实现人机对弈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4.1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游戏中的人工智能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游戏人工智能分为两大类，一类叫做确定性人工智能，另一类叫做非确定性人工智能。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动作类游戏侧重使用确定性人工智能，比如基于规则的算法，有限状态机等。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棋类游戏既可以使用确定性人工智能，也可以使用非确定性人工智能，其中比较经典的方法是状态空间搜索算法。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状态空间搜索就是根据某种规则，在所有局面中寻找对电脑一方最有利的局面，并以此来决定下一步棋所走的位置。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99436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395228" y="566736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4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让计算机学会下棋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采用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基于模式匹配的智能算法，让计算机比较准确地判断出下棋的位置。</a:t>
            </a:r>
            <a:endParaRPr lang="en-US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定义几个全局常量来描述棋盘各位置的状态：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pt-BR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 = 0      #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空位置</a:t>
            </a:r>
          </a:p>
          <a:p>
            <a:pPr indent="228600" algn="just">
              <a:lnSpc>
                <a:spcPct val="100000"/>
              </a:lnSpc>
            </a:pPr>
            <a:r>
              <a:rPr lang="pt-BR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W = 1      #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白色棋子</a:t>
            </a:r>
            <a:r>
              <a:rPr lang="pt-BR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pt-BR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B = 2      #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黑色棋子</a:t>
            </a:r>
            <a:r>
              <a:rPr lang="pt-BR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pt-BR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S = 3      #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下子位置</a:t>
            </a:r>
            <a:r>
              <a:rPr lang="pt-BR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  <a:p>
            <a:pPr marL="17526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其中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表示某位置上没有棋子，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分别表示该位置上有白棋和黑棋，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表示该位置可以下棋。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7526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定义二维列表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cdate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保存所有的走棋模式，其中的每一个子列表都对应着一个特定的模式。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代码参见书上第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205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3048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9525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037272" y="872664"/>
            <a:ext cx="4776606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4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让计算机学会下棋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定义三个全局变量，用来辅助模式匹配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算法的执行：</a:t>
            </a:r>
          </a:p>
          <a:p>
            <a:pPr marL="133350" indent="3048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AI_col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-1                     </a:t>
            </a:r>
          </a:p>
          <a:p>
            <a:pPr marL="133350" indent="3048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AI_row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-1                    </a:t>
            </a:r>
          </a:p>
          <a:p>
            <a:pPr marL="133350" indent="3048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max_level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-1                </a:t>
            </a:r>
          </a:p>
          <a:p>
            <a:pPr marL="13335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变量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AI_col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AI_row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用来记录电脑下棋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位置的列号和行号，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max_level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用来记录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335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走棋模式的级别。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AE396CFC-A9D6-1C25-6504-00B3C8108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25" y="353431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E7E95289-41C1-A255-78C8-2D7978D9BB7E}"/>
              </a:ext>
            </a:extLst>
          </p:cNvPr>
          <p:cNvGrpSpPr>
            <a:grpSpLocks/>
          </p:cNvGrpSpPr>
          <p:nvPr/>
        </p:nvGrpSpPr>
        <p:grpSpPr bwMode="auto">
          <a:xfrm>
            <a:off x="5918086" y="1808254"/>
            <a:ext cx="5257800" cy="2435225"/>
            <a:chOff x="1980" y="12048"/>
            <a:chExt cx="8280" cy="3835"/>
          </a:xfrm>
        </p:grpSpPr>
        <p:pic>
          <p:nvPicPr>
            <p:cNvPr id="4102" name="图片 16">
              <a:extLst>
                <a:ext uri="{FF2B5EF4-FFF2-40B4-BE49-F238E27FC236}">
                  <a16:creationId xmlns:a16="http://schemas.microsoft.com/office/drawing/2014/main" id="{C7563172-9F2C-2831-E7F3-2E32792CAE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0" y="12048"/>
              <a:ext cx="5040" cy="3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1" name="图片 17">
              <a:extLst>
                <a:ext uri="{FF2B5EF4-FFF2-40B4-BE49-F238E27FC236}">
                  <a16:creationId xmlns:a16="http://schemas.microsoft.com/office/drawing/2014/main" id="{B79AF6E5-6E6E-2E7B-CDAA-3D1FED43C5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0" y="12651"/>
              <a:ext cx="3600" cy="2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直线 18">
              <a:extLst>
                <a:ext uri="{FF2B5EF4-FFF2-40B4-BE49-F238E27FC236}">
                  <a16:creationId xmlns:a16="http://schemas.microsoft.com/office/drawing/2014/main" id="{2554CCFF-7726-BA5D-10CB-5003B3AABA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0" y="14388"/>
              <a:ext cx="3600" cy="78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arrow" w="sm" len="lg"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矩形 19">
              <a:extLst>
                <a:ext uri="{FF2B5EF4-FFF2-40B4-BE49-F238E27FC236}">
                  <a16:creationId xmlns:a16="http://schemas.microsoft.com/office/drawing/2014/main" id="{D8A79A4B-7BE0-3994-E9DC-B272364B3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7" y="14133"/>
              <a:ext cx="2340" cy="567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矩形 20">
              <a:extLst>
                <a:ext uri="{FF2B5EF4-FFF2-40B4-BE49-F238E27FC236}">
                  <a16:creationId xmlns:a16="http://schemas.microsoft.com/office/drawing/2014/main" id="{A04919FD-4408-D471-6453-A06FF3A05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0" y="15015"/>
              <a:ext cx="2160" cy="3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968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71255" y="977975"/>
            <a:ext cx="9464556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让计算机学会下棋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auto_match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函数执行模式匹配算法，代码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参见书上第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206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页。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auto_match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函数仅仅是针对某一颗棋子在某一个方向执行的模式匹配，需要对棋盘上所有的棋子在各个方向来执行模式匹配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AI_play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函数来实现计算机的走棋操作，代码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参见书上第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207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页。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AE396CFC-A9D6-1C25-6504-00B3C8108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25" y="353431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256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363722" y="767353"/>
            <a:ext cx="10112512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让计算机学会下棋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update()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加入计算机自动下棋的操作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if turn == "w":</a:t>
            </a:r>
            <a:endParaRPr lang="zh-CN" altLang="zh-CN" sz="2400" kern="100" dirty="0">
              <a:effectLst/>
              <a:latin typeface="+mn-ea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  if </a:t>
            </a:r>
            <a:r>
              <a:rPr lang="en-US" altLang="zh-CN" sz="2400" kern="100" dirty="0" err="1">
                <a:effectLst/>
                <a:latin typeface="+mn-ea"/>
              </a:rPr>
              <a:t>AI_play</a:t>
            </a:r>
            <a:r>
              <a:rPr lang="en-US" altLang="zh-CN" sz="2400" kern="100" dirty="0">
                <a:effectLst/>
                <a:latin typeface="+mn-ea"/>
              </a:rPr>
              <a:t>():</a:t>
            </a:r>
            <a:endParaRPr lang="zh-CN" altLang="zh-CN" sz="2400" kern="100" dirty="0">
              <a:effectLst/>
              <a:latin typeface="+mn-ea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      chess = Actor("</a:t>
            </a:r>
            <a:r>
              <a:rPr lang="en-US" altLang="zh-CN" sz="2400" kern="100" dirty="0" err="1">
                <a:effectLst/>
                <a:latin typeface="+mn-ea"/>
              </a:rPr>
              <a:t>gobang_white</a:t>
            </a:r>
            <a:r>
              <a:rPr lang="en-US" altLang="zh-CN" sz="2400" kern="100" dirty="0">
                <a:effectLst/>
                <a:latin typeface="+mn-ea"/>
              </a:rPr>
              <a:t>", </a:t>
            </a:r>
          </a:p>
          <a:p>
            <a:pPr indent="304800" algn="just">
              <a:lnSpc>
                <a:spcPct val="100000"/>
              </a:lnSpc>
            </a:pPr>
            <a:r>
              <a:rPr lang="en-US" altLang="zh-CN" sz="2400" kern="100" dirty="0">
                <a:latin typeface="+mn-ea"/>
              </a:rPr>
              <a:t>                     </a:t>
            </a:r>
            <a:r>
              <a:rPr lang="en-US" altLang="zh-CN" sz="2400" kern="100" dirty="0">
                <a:effectLst/>
                <a:latin typeface="+mn-ea"/>
              </a:rPr>
              <a:t>(</a:t>
            </a:r>
            <a:r>
              <a:rPr lang="en-US" altLang="zh-CN" sz="2400" kern="100" dirty="0" err="1">
                <a:effectLst/>
                <a:latin typeface="+mn-ea"/>
              </a:rPr>
              <a:t>AI_col</a:t>
            </a:r>
            <a:r>
              <a:rPr lang="en-US" altLang="zh-CN" sz="2400" kern="100" dirty="0">
                <a:effectLst/>
                <a:latin typeface="+mn-ea"/>
              </a:rPr>
              <a:t> * SIZE+20, </a:t>
            </a:r>
            <a:r>
              <a:rPr lang="en-US" altLang="zh-CN" sz="2400" kern="100" dirty="0" err="1">
                <a:effectLst/>
                <a:latin typeface="+mn-ea"/>
              </a:rPr>
              <a:t>AI_row</a:t>
            </a:r>
            <a:r>
              <a:rPr lang="en-US" altLang="zh-CN" sz="2400" kern="100" dirty="0">
                <a:effectLst/>
                <a:latin typeface="+mn-ea"/>
              </a:rPr>
              <a:t> * SIZE+20))</a:t>
            </a:r>
            <a:endParaRPr lang="zh-CN" altLang="zh-CN" sz="2400" kern="100" dirty="0">
              <a:effectLst/>
              <a:latin typeface="+mn-ea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      </a:t>
            </a:r>
            <a:r>
              <a:rPr lang="en-US" altLang="zh-CN" sz="2400" kern="100" dirty="0" err="1">
                <a:effectLst/>
                <a:latin typeface="+mn-ea"/>
              </a:rPr>
              <a:t>chesses.append</a:t>
            </a:r>
            <a:r>
              <a:rPr lang="en-US" altLang="zh-CN" sz="2400" kern="100" dirty="0">
                <a:effectLst/>
                <a:latin typeface="+mn-ea"/>
              </a:rPr>
              <a:t>(chess)</a:t>
            </a:r>
            <a:endParaRPr lang="zh-CN" altLang="zh-CN" sz="2400" kern="100" dirty="0">
              <a:effectLst/>
              <a:latin typeface="+mn-ea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      </a:t>
            </a:r>
            <a:r>
              <a:rPr lang="en-US" altLang="zh-CN" sz="2400" kern="100" dirty="0" err="1">
                <a:effectLst/>
                <a:latin typeface="+mn-ea"/>
              </a:rPr>
              <a:t>change_side</a:t>
            </a:r>
            <a:r>
              <a:rPr lang="en-US" altLang="zh-CN" sz="2400" kern="100" dirty="0">
                <a:effectLst/>
                <a:latin typeface="+mn-ea"/>
              </a:rPr>
              <a:t>()</a:t>
            </a:r>
            <a:endParaRPr lang="zh-CN" altLang="zh-CN" sz="2400" kern="100" dirty="0">
              <a:effectLst/>
              <a:latin typeface="+mn-ea"/>
            </a:endParaRPr>
          </a:p>
          <a:p>
            <a:pPr>
              <a:lnSpc>
                <a:spcPct val="100000"/>
              </a:lnSpc>
            </a:pP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AE396CFC-A9D6-1C25-6504-00B3C8108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25" y="353431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835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1FD12-3765-D577-424E-D275D83A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回顾与总结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6F0AB-C2B5-60F3-2AD0-A592E9C3D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本章我们学习制作了五子棋游戏。我们首先为游戏创建了棋盘和棋子，然后介绍了如何实现走棋的操作，包括如何使用鼠标来下棋，以及如何实现游戏双方轮流下棋。接着我们对游戏规则进行了完善，实现了游戏获胜的判定，并且添加了悔棋的功能。最后我们对游戏人工智能进行了探讨，并着重介绍了一种基于模式匹配的智能算法，使得计算机能够像人一样思考和决策，从而实现了人机对弈的功能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1557301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</TotalTime>
  <Words>1580</Words>
  <Application>Microsoft Office PowerPoint</Application>
  <PresentationFormat>宽屏</PresentationFormat>
  <Paragraphs>160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宋体</vt:lpstr>
      <vt:lpstr>微软雅黑</vt:lpstr>
      <vt:lpstr>Calibri</vt:lpstr>
      <vt:lpstr>Calibri Light</vt:lpstr>
      <vt:lpstr>Times New Roman</vt:lpstr>
      <vt:lpstr>Wingdings</vt:lpstr>
      <vt:lpstr>回顾</vt:lpstr>
      <vt:lpstr>五子棋游戏</vt:lpstr>
      <vt:lpstr>本章知识点</vt:lpstr>
      <vt:lpstr>1.创建棋盘和棋子</vt:lpstr>
      <vt:lpstr>PowerPoint 演示文稿</vt:lpstr>
      <vt:lpstr>2.执行走棋操作</vt:lpstr>
      <vt:lpstr>PowerPoint 演示文稿</vt:lpstr>
      <vt:lpstr>PowerPoint 演示文稿</vt:lpstr>
      <vt:lpstr>PowerPoint 演示文稿</vt:lpstr>
      <vt:lpstr>PowerPoint 演示文稿</vt:lpstr>
      <vt:lpstr>3.完善游戏规则</vt:lpstr>
      <vt:lpstr>PowerPoint 演示文稿</vt:lpstr>
      <vt:lpstr>PowerPoint 演示文稿</vt:lpstr>
      <vt:lpstr>PowerPoint 演示文稿</vt:lpstr>
      <vt:lpstr>PowerPoint 演示文稿</vt:lpstr>
      <vt:lpstr>4.实现人机对弈</vt:lpstr>
      <vt:lpstr>PowerPoint 演示文稿</vt:lpstr>
      <vt:lpstr>PowerPoint 演示文稿</vt:lpstr>
      <vt:lpstr>PowerPoint 演示文稿</vt:lpstr>
      <vt:lpstr>PowerPoint 演示文稿</vt:lpstr>
      <vt:lpstr>回顾与总结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记忆翻牌游戏</dc:title>
  <dc:creator>叶得飞</dc:creator>
  <cp:lastModifiedBy>hawking329@sina.com</cp:lastModifiedBy>
  <cp:revision>84</cp:revision>
  <dcterms:created xsi:type="dcterms:W3CDTF">2022-06-28T01:57:29Z</dcterms:created>
  <dcterms:modified xsi:type="dcterms:W3CDTF">2024-01-08T09:34:58Z</dcterms:modified>
</cp:coreProperties>
</file>