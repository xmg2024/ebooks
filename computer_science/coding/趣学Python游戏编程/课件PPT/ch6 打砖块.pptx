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3582" r:id="rId4"/>
    <p:sldId id="3583" r:id="rId5"/>
    <p:sldId id="3584" r:id="rId6"/>
    <p:sldId id="3585" r:id="rId7"/>
    <p:sldId id="3586" r:id="rId8"/>
    <p:sldId id="3588" r:id="rId9"/>
    <p:sldId id="3589" r:id="rId10"/>
    <p:sldId id="3590" r:id="rId11"/>
    <p:sldId id="3591" r:id="rId12"/>
    <p:sldId id="3592" r:id="rId13"/>
    <p:sldId id="3593" r:id="rId14"/>
    <p:sldId id="3594" r:id="rId15"/>
    <p:sldId id="3595" r:id="rId16"/>
    <p:sldId id="3596" r:id="rId17"/>
    <p:sldId id="3577" r:id="rId18"/>
    <p:sldId id="3597" r:id="rId19"/>
    <p:sldId id="3598" r:id="rId20"/>
    <p:sldId id="3599" r:id="rId21"/>
    <p:sldId id="3600" r:id="rId22"/>
    <p:sldId id="3601" r:id="rId23"/>
    <p:sldId id="3602" r:id="rId24"/>
    <p:sldId id="3603" r:id="rId25"/>
    <p:sldId id="3604" r:id="rId26"/>
    <p:sldId id="35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75420-F708-49F5-92F8-624229C141A5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64FB-F2DD-4573-A003-A51F1EB4C9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412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43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51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85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257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17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49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26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65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844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24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39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71" y="390528"/>
            <a:ext cx="520496" cy="274638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71" y="6524628"/>
            <a:ext cx="2909534" cy="276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2875"/>
            <a:ext cx="10633094" cy="8461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/>
          <p:cNvSpPr/>
          <p:nvPr userDrawn="1"/>
        </p:nvSpPr>
        <p:spPr>
          <a:xfrm>
            <a:off x="10705111" y="6792874"/>
            <a:ext cx="1486889" cy="846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678" y="294777"/>
            <a:ext cx="2595399" cy="40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4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11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EEB1E-5500-9EE0-4B2B-5962B59C57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打砖块游戏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5082F6-BB6D-0F1D-7471-1A20173E0A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792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F6537-6A07-CFED-561B-2FCC989C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266700" algn="just">
              <a:lnSpc>
                <a:spcPct val="150000"/>
              </a:lnSpc>
            </a:pPr>
            <a:r>
              <a:rPr lang="zh-CN" altLang="zh-CN" sz="4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本章知识点</a:t>
            </a:r>
            <a:endParaRPr lang="zh-CN" altLang="zh-CN" sz="4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A13118-7275-031A-9151-78481A7B9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33410"/>
            <a:ext cx="10058400" cy="4023360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碰撞检测的原理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与一个角色的碰撞检测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与一组角色的碰撞检测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添加生命值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614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创建场景及角色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创建游戏场景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1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沿用前几个游戏中的做法，生成指定大小的游戏窗口，然后设置背景颜色：</a:t>
            </a:r>
          </a:p>
          <a:p>
            <a:pPr indent="266700" algn="just">
              <a:lnSpc>
                <a:spcPct val="110000"/>
              </a:lnSpc>
            </a:pPr>
            <a:r>
              <a:rPr lang="en-US" altLang="zh-CN" kern="100" dirty="0">
                <a:effectLst/>
                <a:latin typeface="+mn-ea"/>
              </a:rPr>
              <a:t>WIDTH = 640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10000"/>
              </a:lnSpc>
            </a:pPr>
            <a:r>
              <a:rPr lang="en-US" altLang="zh-CN" kern="100" dirty="0">
                <a:effectLst/>
                <a:latin typeface="+mn-ea"/>
              </a:rPr>
              <a:t>HEIGHT = 400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10000"/>
              </a:lnSpc>
            </a:pPr>
            <a:r>
              <a:rPr lang="en-US" altLang="zh-CN" kern="100" dirty="0">
                <a:effectLst/>
                <a:latin typeface="+mn-ea"/>
              </a:rPr>
              <a:t>def draw():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1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screen.fill</a:t>
            </a:r>
            <a:r>
              <a:rPr lang="en-US" altLang="zh-CN" kern="100" dirty="0">
                <a:effectLst/>
                <a:latin typeface="+mn-ea"/>
              </a:rPr>
              <a:t>((255, 255, 255))</a:t>
            </a:r>
            <a:endParaRPr lang="zh-CN" altLang="zh-CN" kern="100" dirty="0">
              <a:effectLst/>
              <a:latin typeface="+mn-ea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53855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179472" y="872664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创建游戏角色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打砖块游戏总共有三种不同的角色：小球、挡板和砖块。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首先创建小球角色：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ball = Actor("</a:t>
            </a:r>
            <a:r>
              <a:rPr lang="en-US" altLang="zh-CN" sz="2400" kern="100" dirty="0" err="1">
                <a:effectLst/>
                <a:latin typeface="+mn-ea"/>
              </a:rPr>
              <a:t>breakout_ball</a:t>
            </a:r>
            <a:r>
              <a:rPr lang="en-US" altLang="zh-CN" sz="2400" kern="100" dirty="0">
                <a:effectLst/>
                <a:latin typeface="+mn-ea"/>
              </a:rPr>
              <a:t>", (WIDTH // 2, HEIGHT - 47))</a:t>
            </a:r>
            <a:endParaRPr lang="zh-CN" altLang="zh-CN" sz="2400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+mn-ea"/>
              </a:rPr>
              <a:t>然后创建挡板角色：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pad = Actor("</a:t>
            </a:r>
            <a:r>
              <a:rPr lang="en-US" altLang="zh-CN" sz="2400" kern="100" dirty="0" err="1">
                <a:effectLst/>
                <a:latin typeface="+mn-ea"/>
              </a:rPr>
              <a:t>breakout_paddle</a:t>
            </a:r>
            <a:r>
              <a:rPr lang="en-US" altLang="zh-CN" sz="2400" kern="100" dirty="0">
                <a:effectLst/>
                <a:latin typeface="+mn-ea"/>
              </a:rPr>
              <a:t>", (WIDTH // 2, HEIGHT - 30))</a:t>
            </a:r>
            <a:endParaRPr lang="zh-CN" altLang="zh-CN" sz="24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2811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99327" y="320156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创建游戏角色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最后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使用双重循环语句，逐行逐列地创建各个砖块角色。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还要定义一个列表，统一管理所有的砖块角色：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BRICK_W = 80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BRICK_H = 20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bricks = []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for </a:t>
            </a:r>
            <a:r>
              <a:rPr lang="en-US" altLang="zh-CN" kern="100" dirty="0" err="1">
                <a:effectLst/>
                <a:latin typeface="+mn-ea"/>
              </a:rPr>
              <a:t>i</a:t>
            </a:r>
            <a:r>
              <a:rPr lang="en-US" altLang="zh-CN" kern="100" dirty="0">
                <a:effectLst/>
                <a:latin typeface="+mn-ea"/>
              </a:rPr>
              <a:t> in range(5):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for j in range(WIDTH // BRICK_W):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brick = Actor("</a:t>
            </a:r>
            <a:r>
              <a:rPr lang="en-US" altLang="zh-CN" kern="100" dirty="0" err="1">
                <a:effectLst/>
                <a:latin typeface="+mn-ea"/>
              </a:rPr>
              <a:t>breakout_brick</a:t>
            </a:r>
            <a:r>
              <a:rPr lang="en-US" altLang="zh-CN" kern="100" dirty="0">
                <a:effectLst/>
                <a:latin typeface="+mn-ea"/>
              </a:rPr>
              <a:t>")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brick.left</a:t>
            </a:r>
            <a:r>
              <a:rPr lang="en-US" altLang="zh-CN" kern="100" dirty="0">
                <a:effectLst/>
                <a:latin typeface="+mn-ea"/>
              </a:rPr>
              <a:t> = j * BRICK_W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brick.top</a:t>
            </a:r>
            <a:r>
              <a:rPr lang="en-US" altLang="zh-CN" kern="100" dirty="0">
                <a:effectLst/>
                <a:latin typeface="+mn-ea"/>
              </a:rPr>
              <a:t> = 30 + </a:t>
            </a:r>
            <a:r>
              <a:rPr lang="en-US" altLang="zh-CN" kern="100" dirty="0" err="1">
                <a:effectLst/>
                <a:latin typeface="+mn-ea"/>
              </a:rPr>
              <a:t>i</a:t>
            </a:r>
            <a:r>
              <a:rPr lang="en-US" altLang="zh-CN" kern="100" dirty="0">
                <a:effectLst/>
                <a:latin typeface="+mn-ea"/>
              </a:rPr>
              <a:t> * BRICK_H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bricks.append</a:t>
            </a:r>
            <a:r>
              <a:rPr lang="en-US" altLang="zh-CN" kern="100" dirty="0">
                <a:effectLst/>
                <a:latin typeface="+mn-ea"/>
              </a:rPr>
              <a:t>(brick)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7770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902070" y="698792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创建游戏角色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函数，在其中加入显示游戏角色的代码：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draw():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screen.fill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((255, 255, 255))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ball.draw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pad.draw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for brick in bricks: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brick.draw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图片 3">
            <a:extLst>
              <a:ext uri="{FF2B5EF4-FFF2-40B4-BE49-F238E27FC236}">
                <a16:creationId xmlns:a16="http://schemas.microsoft.com/office/drawing/2014/main" id="{2EE40F16-9E1B-EE12-4DBE-9A5FAE036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960" y="2284038"/>
            <a:ext cx="5289550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92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让角色动起来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根据游戏规则，砖块是不需要移动的，挡板和小球则需要移动。</a:t>
            </a:r>
            <a:endParaRPr lang="en-US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但挡板和小球的移动方式却有所区别：前者接受玩家的操控，但</a:t>
            </a:r>
            <a:endParaRPr lang="en-US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只能水平移动；后者可以向各个方向移动，但不受玩家的控制。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17087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225021" y="36923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移动挡板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speed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属性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，表示挡板移动速度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</a:t>
            </a:r>
            <a:r>
              <a:rPr lang="en-US" altLang="zh-CN" kern="100" dirty="0" err="1">
                <a:effectLst/>
                <a:latin typeface="+mn-ea"/>
              </a:rPr>
              <a:t>pad.speed</a:t>
            </a:r>
            <a:r>
              <a:rPr lang="en-US" altLang="zh-CN" kern="100" dirty="0">
                <a:effectLst/>
                <a:latin typeface="+mn-ea"/>
              </a:rPr>
              <a:t> = 5</a:t>
            </a:r>
            <a:endParaRPr lang="zh-CN" altLang="zh-CN" kern="100" dirty="0">
              <a:effectLst/>
              <a:latin typeface="+mn-ea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pad_move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函数，用来实现挡板的移动：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def </a:t>
            </a:r>
            <a:r>
              <a:rPr lang="en-US" altLang="zh-CN" kern="100" dirty="0" err="1">
                <a:effectLst/>
                <a:latin typeface="+mn-ea"/>
              </a:rPr>
              <a:t>pad_move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keyboard.right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pad.x</a:t>
            </a:r>
            <a:r>
              <a:rPr lang="en-US" altLang="zh-CN" kern="100" dirty="0">
                <a:effectLst/>
                <a:latin typeface="+mn-ea"/>
              </a:rPr>
              <a:t> += </a:t>
            </a:r>
            <a:r>
              <a:rPr lang="en-US" altLang="zh-CN" kern="100" dirty="0" err="1">
                <a:effectLst/>
                <a:latin typeface="+mn-ea"/>
              </a:rPr>
              <a:t>pad.speed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elif</a:t>
            </a:r>
            <a:r>
              <a:rPr lang="en-US" altLang="zh-CN" kern="100" dirty="0">
                <a:effectLst/>
                <a:latin typeface="+mn-ea"/>
              </a:rPr>
              <a:t> </a:t>
            </a:r>
            <a:r>
              <a:rPr lang="en-US" altLang="zh-CN" kern="100" dirty="0" err="1">
                <a:effectLst/>
                <a:latin typeface="+mn-ea"/>
              </a:rPr>
              <a:t>keyboard.left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pad.x</a:t>
            </a:r>
            <a:r>
              <a:rPr lang="en-US" altLang="zh-CN" kern="100" dirty="0">
                <a:effectLst/>
                <a:latin typeface="+mn-ea"/>
              </a:rPr>
              <a:t> -= </a:t>
            </a:r>
            <a:r>
              <a:rPr lang="en-US" altLang="zh-CN" kern="100" dirty="0" err="1">
                <a:effectLst/>
                <a:latin typeface="+mn-ea"/>
              </a:rPr>
              <a:t>pad.speed</a:t>
            </a:r>
            <a:endParaRPr lang="en-US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函数中对其进行调用：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update():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pad_move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9428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235295" y="646632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移动挡板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问题：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假如持续地按下左键或右键，挡板会移到窗口边界的外面去。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原因：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目前只实现了挡板的移动，没有对挡板的移动范围加以限制。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解决：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判断挡板是否移出了窗口边界，若是则阻止挡板进一步移动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pad_move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函数中添加如下代码：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pad.left</a:t>
            </a:r>
            <a:r>
              <a:rPr lang="en-US" altLang="zh-CN" kern="100" dirty="0">
                <a:effectLst/>
                <a:latin typeface="+mn-ea"/>
              </a:rPr>
              <a:t> &lt; 0: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pad.left</a:t>
            </a:r>
            <a:r>
              <a:rPr lang="en-US" altLang="zh-CN" kern="100" dirty="0">
                <a:effectLst/>
                <a:latin typeface="+mn-ea"/>
              </a:rPr>
              <a:t> = 0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elif</a:t>
            </a:r>
            <a:r>
              <a:rPr lang="en-US" altLang="zh-CN" kern="100" dirty="0">
                <a:effectLst/>
                <a:latin typeface="+mn-ea"/>
              </a:rPr>
              <a:t> </a:t>
            </a:r>
            <a:r>
              <a:rPr lang="en-US" altLang="zh-CN" kern="100" dirty="0" err="1">
                <a:effectLst/>
                <a:latin typeface="+mn-ea"/>
              </a:rPr>
              <a:t>pad.right</a:t>
            </a:r>
            <a:r>
              <a:rPr lang="en-US" altLang="zh-CN" kern="100" dirty="0">
                <a:effectLst/>
                <a:latin typeface="+mn-ea"/>
              </a:rPr>
              <a:t> &gt; WIDTH 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pad.right</a:t>
            </a:r>
            <a:r>
              <a:rPr lang="en-US" altLang="zh-CN" kern="100" dirty="0">
                <a:effectLst/>
                <a:latin typeface="+mn-ea"/>
              </a:rPr>
              <a:t> = WIDTH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2092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235295" y="646632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移动小球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让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小球跟随着挡板一起移动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函数中加入两行代码：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Ball.x</a:t>
            </a:r>
            <a:r>
              <a:rPr lang="en-US" altLang="zh-CN" kern="100" dirty="0">
                <a:effectLst/>
                <a:latin typeface="+mn-ea"/>
              </a:rPr>
              <a:t> = </a:t>
            </a:r>
            <a:r>
              <a:rPr lang="en-US" altLang="zh-CN" kern="100" dirty="0" err="1">
                <a:effectLst/>
                <a:latin typeface="+mn-ea"/>
              </a:rPr>
              <a:t>pad.x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Ball.bottom</a:t>
            </a:r>
            <a:r>
              <a:rPr lang="en-US" altLang="zh-CN" kern="100" dirty="0">
                <a:effectLst/>
                <a:latin typeface="+mn-ea"/>
              </a:rPr>
              <a:t> = </a:t>
            </a:r>
            <a:r>
              <a:rPr lang="en-US" altLang="zh-CN" kern="100" dirty="0" err="1">
                <a:effectLst/>
                <a:latin typeface="+mn-ea"/>
              </a:rPr>
              <a:t>pad.top</a:t>
            </a:r>
            <a:endParaRPr lang="en-US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指定键盘的一个按键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当玩家按下该键时将小球发射出去。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定义全局的布尔变量，用来表示小球是否发射的状态：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Started = False </a:t>
            </a:r>
            <a:endParaRPr lang="zh-CN" altLang="zh-CN" kern="100" dirty="0">
              <a:effectLst/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ball_move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函数，用来统一处理小球在两种状态下的移动操作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6107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255843" y="82194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def </a:t>
            </a:r>
            <a:r>
              <a:rPr lang="en-US" altLang="zh-CN" sz="1800" kern="100" dirty="0" err="1">
                <a:effectLst/>
                <a:latin typeface="+mn-ea"/>
              </a:rPr>
              <a:t>ball_move</a:t>
            </a:r>
            <a:r>
              <a:rPr lang="en-US" altLang="zh-CN" sz="1800" kern="100" dirty="0">
                <a:effectLst/>
                <a:latin typeface="+mn-ea"/>
              </a:rPr>
              <a:t>():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global started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if not started: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if </a:t>
            </a:r>
            <a:r>
              <a:rPr lang="en-US" altLang="zh-CN" sz="1800" kern="100" dirty="0" err="1">
                <a:effectLst/>
                <a:latin typeface="+mn-ea"/>
              </a:rPr>
              <a:t>keyboard.space</a:t>
            </a:r>
            <a:r>
              <a:rPr lang="en-US" altLang="zh-CN" sz="1800" kern="100" dirty="0">
                <a:effectLst/>
                <a:latin typeface="+mn-ea"/>
              </a:rPr>
              <a:t>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    </a:t>
            </a:r>
            <a:r>
              <a:rPr lang="en-US" altLang="zh-CN" sz="1800" kern="100" dirty="0" err="1">
                <a:effectLst/>
                <a:latin typeface="+mn-ea"/>
              </a:rPr>
              <a:t>dir</a:t>
            </a:r>
            <a:r>
              <a:rPr lang="en-US" altLang="zh-CN" sz="1800" kern="100" dirty="0">
                <a:effectLst/>
                <a:latin typeface="+mn-ea"/>
              </a:rPr>
              <a:t> = 1 if </a:t>
            </a:r>
            <a:r>
              <a:rPr lang="en-US" altLang="zh-CN" sz="1800" kern="100" dirty="0" err="1">
                <a:effectLst/>
                <a:latin typeface="+mn-ea"/>
              </a:rPr>
              <a:t>random.randint</a:t>
            </a:r>
            <a:r>
              <a:rPr lang="en-US" altLang="zh-CN" sz="1800" kern="100" dirty="0">
                <a:effectLst/>
                <a:latin typeface="+mn-ea"/>
              </a:rPr>
              <a:t>(0, 1) else -1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    </a:t>
            </a:r>
            <a:r>
              <a:rPr lang="nb-NO" altLang="zh-CN" sz="1800" kern="100" dirty="0">
                <a:effectLst/>
                <a:latin typeface="+mn-ea"/>
              </a:rPr>
              <a:t>ball.vx = 3 * dir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nb-NO" altLang="zh-CN" sz="1800" kern="100" dirty="0">
                <a:effectLst/>
                <a:latin typeface="+mn-ea"/>
              </a:rPr>
              <a:t>            ball.vy = -3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nb-NO" altLang="zh-CN" sz="1800" kern="100" dirty="0">
                <a:effectLst/>
                <a:latin typeface="+mn-ea"/>
              </a:rPr>
              <a:t>            </a:t>
            </a:r>
            <a:r>
              <a:rPr lang="en-US" altLang="zh-CN" sz="1800" kern="100" dirty="0">
                <a:effectLst/>
                <a:latin typeface="+mn-ea"/>
              </a:rPr>
              <a:t>started = True  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else: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    </a:t>
            </a:r>
            <a:r>
              <a:rPr lang="en-US" altLang="zh-CN" sz="1800" kern="100" dirty="0" err="1">
                <a:effectLst/>
                <a:latin typeface="+mn-ea"/>
              </a:rPr>
              <a:t>ball.x</a:t>
            </a:r>
            <a:r>
              <a:rPr lang="en-US" altLang="zh-CN" sz="1800" kern="100" dirty="0">
                <a:effectLst/>
                <a:latin typeface="+mn-ea"/>
              </a:rPr>
              <a:t> = </a:t>
            </a:r>
            <a:r>
              <a:rPr lang="en-US" altLang="zh-CN" sz="1800" kern="100" dirty="0" err="1">
                <a:effectLst/>
                <a:latin typeface="+mn-ea"/>
              </a:rPr>
              <a:t>pad.x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    </a:t>
            </a:r>
            <a:r>
              <a:rPr lang="en-US" altLang="zh-CN" sz="1800" kern="100" dirty="0" err="1">
                <a:effectLst/>
                <a:latin typeface="+mn-ea"/>
              </a:rPr>
              <a:t>ball.bottom</a:t>
            </a:r>
            <a:r>
              <a:rPr lang="en-US" altLang="zh-CN" sz="1800" kern="100" dirty="0">
                <a:effectLst/>
                <a:latin typeface="+mn-ea"/>
              </a:rPr>
              <a:t> = </a:t>
            </a:r>
            <a:r>
              <a:rPr lang="en-US" altLang="zh-CN" sz="1800" kern="100" dirty="0" err="1">
                <a:effectLst/>
                <a:latin typeface="+mn-ea"/>
              </a:rPr>
              <a:t>pad.top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    return      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</a:t>
            </a:r>
            <a:r>
              <a:rPr lang="en-US" altLang="zh-CN" sz="1800" kern="100" dirty="0" err="1">
                <a:effectLst/>
                <a:latin typeface="+mn-ea"/>
              </a:rPr>
              <a:t>ball.x</a:t>
            </a:r>
            <a:r>
              <a:rPr lang="en-US" altLang="zh-CN" sz="1800" kern="100" dirty="0">
                <a:effectLst/>
                <a:latin typeface="+mn-ea"/>
              </a:rPr>
              <a:t> += </a:t>
            </a:r>
            <a:r>
              <a:rPr lang="en-US" altLang="zh-CN" sz="1800" kern="100" dirty="0" err="1">
                <a:effectLst/>
                <a:latin typeface="+mn-ea"/>
              </a:rPr>
              <a:t>ball.vx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</a:t>
            </a:r>
            <a:r>
              <a:rPr lang="en-US" altLang="zh-CN" sz="1800" kern="100" dirty="0" err="1">
                <a:effectLst/>
                <a:latin typeface="+mn-ea"/>
              </a:rPr>
              <a:t>ball.y</a:t>
            </a:r>
            <a:r>
              <a:rPr lang="en-US" altLang="zh-CN" sz="1800" kern="100" dirty="0">
                <a:effectLst/>
                <a:latin typeface="+mn-ea"/>
              </a:rPr>
              <a:t> += </a:t>
            </a:r>
            <a:r>
              <a:rPr lang="en-US" altLang="zh-CN" sz="1800" kern="100" dirty="0" err="1">
                <a:effectLst/>
                <a:latin typeface="+mn-ea"/>
              </a:rPr>
              <a:t>ball.vy</a:t>
            </a:r>
            <a:endParaRPr lang="zh-CN" altLang="zh-CN" sz="1800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1969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235295" y="646632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移动小球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ball_move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函数中加入代码，实现小球在窗口内的四处移动：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ball.left</a:t>
            </a:r>
            <a:r>
              <a:rPr lang="en-US" altLang="zh-CN" kern="100" dirty="0">
                <a:effectLst/>
                <a:latin typeface="+mn-ea"/>
              </a:rPr>
              <a:t> &lt; 0: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ball.vx</a:t>
            </a:r>
            <a:r>
              <a:rPr lang="en-US" altLang="zh-CN" kern="100" dirty="0">
                <a:effectLst/>
                <a:latin typeface="+mn-ea"/>
              </a:rPr>
              <a:t> = abs(</a:t>
            </a:r>
            <a:r>
              <a:rPr lang="en-US" altLang="zh-CN" kern="100" dirty="0" err="1">
                <a:effectLst/>
                <a:latin typeface="+mn-ea"/>
              </a:rPr>
              <a:t>ball.vx</a:t>
            </a:r>
            <a:r>
              <a:rPr lang="en-US" altLang="zh-CN" kern="100" dirty="0">
                <a:effectLst/>
                <a:latin typeface="+mn-ea"/>
              </a:rPr>
              <a:t>)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elif</a:t>
            </a:r>
            <a:r>
              <a:rPr lang="en-US" altLang="zh-CN" kern="100" dirty="0">
                <a:effectLst/>
                <a:latin typeface="+mn-ea"/>
              </a:rPr>
              <a:t> </a:t>
            </a:r>
            <a:r>
              <a:rPr lang="en-US" altLang="zh-CN" kern="100" dirty="0" err="1">
                <a:effectLst/>
                <a:latin typeface="+mn-ea"/>
              </a:rPr>
              <a:t>ball.right</a:t>
            </a:r>
            <a:r>
              <a:rPr lang="en-US" altLang="zh-CN" kern="100" dirty="0">
                <a:effectLst/>
                <a:latin typeface="+mn-ea"/>
              </a:rPr>
              <a:t> &gt; WIDTH: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ball.vx</a:t>
            </a:r>
            <a:r>
              <a:rPr lang="en-US" altLang="zh-CN" kern="100" dirty="0">
                <a:effectLst/>
                <a:latin typeface="+mn-ea"/>
              </a:rPr>
              <a:t> = -abs(</a:t>
            </a:r>
            <a:r>
              <a:rPr lang="en-US" altLang="zh-CN" kern="100" dirty="0" err="1">
                <a:effectLst/>
                <a:latin typeface="+mn-ea"/>
              </a:rPr>
              <a:t>ball.vx</a:t>
            </a:r>
            <a:r>
              <a:rPr lang="en-US" altLang="zh-CN" kern="100" dirty="0">
                <a:effectLst/>
                <a:latin typeface="+mn-ea"/>
              </a:rPr>
              <a:t>)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ball.top</a:t>
            </a:r>
            <a:r>
              <a:rPr lang="en-US" altLang="zh-CN" kern="100" dirty="0">
                <a:effectLst/>
                <a:latin typeface="+mn-ea"/>
              </a:rPr>
              <a:t> &lt; 0: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ball.vy</a:t>
            </a:r>
            <a:r>
              <a:rPr lang="en-US" altLang="zh-CN" kern="100" dirty="0">
                <a:effectLst/>
                <a:latin typeface="+mn-ea"/>
              </a:rPr>
              <a:t> = abs(</a:t>
            </a:r>
            <a:r>
              <a:rPr lang="en-US" altLang="zh-CN" kern="100" dirty="0" err="1">
                <a:effectLst/>
                <a:latin typeface="+mn-ea"/>
              </a:rPr>
              <a:t>ball.vy</a:t>
            </a:r>
            <a:r>
              <a:rPr lang="en-US" altLang="zh-CN" kern="100" dirty="0">
                <a:effectLst/>
                <a:latin typeface="+mn-ea"/>
              </a:rPr>
              <a:t>)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elif</a:t>
            </a:r>
            <a:r>
              <a:rPr lang="en-US" altLang="zh-CN" kern="100" dirty="0">
                <a:effectLst/>
                <a:latin typeface="+mn-ea"/>
              </a:rPr>
              <a:t> </a:t>
            </a:r>
            <a:r>
              <a:rPr lang="en-US" altLang="zh-CN" kern="100" dirty="0" err="1">
                <a:effectLst/>
                <a:latin typeface="+mn-ea"/>
              </a:rPr>
              <a:t>ball.top</a:t>
            </a:r>
            <a:r>
              <a:rPr lang="en-US" altLang="zh-CN" kern="100" dirty="0">
                <a:effectLst/>
                <a:latin typeface="+mn-ea"/>
              </a:rPr>
              <a:t> &gt; HEIGHT: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started = False</a:t>
            </a:r>
            <a:endParaRPr lang="zh-CN" altLang="zh-CN" kern="100" dirty="0">
              <a:effectLst/>
              <a:latin typeface="+mn-ea"/>
            </a:endParaRPr>
          </a:p>
          <a:p>
            <a:pPr marL="266700"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</a:t>
            </a:r>
            <a:r>
              <a:rPr lang="en-US" altLang="zh-CN" kern="100" dirty="0" err="1">
                <a:effectLst/>
                <a:latin typeface="+mn-ea"/>
              </a:rPr>
              <a:t>sounds.miss.play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3567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处理角色间的碰撞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接下来便要实现小球与砖块及挡板的交互行为，让小球碰到砖块</a:t>
            </a:r>
            <a:endParaRPr lang="en-US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后将其敲打掉，让小球接触到挡板后发生反弹。而要实现游戏角</a:t>
            </a:r>
            <a:endParaRPr lang="en-US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色间的交互，我们需要使用游戏设计中的一个重要机制，即碰撞</a:t>
            </a:r>
            <a:endParaRPr lang="en-US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检测。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80812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121160" y="580488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碰撞检测的原理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碰撞检测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对游戏中角色之间相互接触的情形进行判定，进而采取相应的措施进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行处理。本质上就是检查两个角色的图像彼此间是否发生了重叠，若是则判定角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色发生了碰撞。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碰撞检测有两种方法，一是基于边界的检测方法，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是基于中心距离的检测方法。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59D92B3-5689-0DDC-2BE6-BE4BFCD0E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147" y="3429000"/>
            <a:ext cx="4728260" cy="262247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C7E17EA-B9D1-CB20-39A3-6615C5D55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772" y="3305710"/>
            <a:ext cx="3449760" cy="262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699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968167" y="102102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小球与挡板的碰撞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Pgzero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边界检测代码，被编写在角色的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colliderect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方法中。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collision_ball_pad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函数，用来处理小球与挡板的碰撞：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collision_ball_pad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not </a:t>
            </a:r>
            <a:r>
              <a:rPr lang="en-US" altLang="zh-CN" kern="100" dirty="0" err="1">
                <a:effectLst/>
                <a:latin typeface="+mn-ea"/>
              </a:rPr>
              <a:t>ball.colliderect</a:t>
            </a:r>
            <a:r>
              <a:rPr lang="en-US" altLang="zh-CN" kern="100" dirty="0">
                <a:effectLst/>
                <a:latin typeface="+mn-ea"/>
              </a:rPr>
              <a:t>(pad):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return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ball.y</a:t>
            </a:r>
            <a:r>
              <a:rPr lang="en-US" altLang="zh-CN" kern="100" dirty="0">
                <a:effectLst/>
                <a:latin typeface="+mn-ea"/>
              </a:rPr>
              <a:t> &lt; </a:t>
            </a:r>
            <a:r>
              <a:rPr lang="en-US" altLang="zh-CN" kern="100" dirty="0" err="1">
                <a:effectLst/>
                <a:latin typeface="+mn-ea"/>
              </a:rPr>
              <a:t>pad.y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ball.vy</a:t>
            </a:r>
            <a:r>
              <a:rPr lang="en-US" altLang="zh-CN" kern="100" dirty="0">
                <a:effectLst/>
                <a:latin typeface="+mn-ea"/>
              </a:rPr>
              <a:t> = -abs(</a:t>
            </a:r>
            <a:r>
              <a:rPr lang="en-US" altLang="zh-CN" kern="100" dirty="0" err="1">
                <a:effectLst/>
                <a:latin typeface="+mn-ea"/>
              </a:rPr>
              <a:t>ball.vy</a:t>
            </a:r>
            <a:r>
              <a:rPr lang="en-US" altLang="zh-CN" kern="100" dirty="0">
                <a:effectLst/>
                <a:latin typeface="+mn-ea"/>
              </a:rPr>
              <a:t>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sounds.bounce.play</a:t>
            </a:r>
            <a:r>
              <a:rPr lang="en-US" altLang="zh-CN" kern="100" dirty="0">
                <a:effectLst/>
                <a:latin typeface="+mn-ea"/>
              </a:rPr>
              <a:t>()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ball.x</a:t>
            </a:r>
            <a:r>
              <a:rPr lang="en-US" altLang="zh-CN" kern="100" dirty="0">
                <a:effectLst/>
                <a:latin typeface="+mn-ea"/>
              </a:rPr>
              <a:t> &lt; </a:t>
            </a:r>
            <a:r>
              <a:rPr lang="en-US" altLang="zh-CN" kern="100" dirty="0" err="1">
                <a:effectLst/>
                <a:latin typeface="+mn-ea"/>
              </a:rPr>
              <a:t>pad.x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ball.vx</a:t>
            </a:r>
            <a:r>
              <a:rPr lang="en-US" altLang="zh-CN" kern="100" dirty="0">
                <a:effectLst/>
                <a:latin typeface="+mn-ea"/>
              </a:rPr>
              <a:t> = -abs(</a:t>
            </a:r>
            <a:r>
              <a:rPr lang="en-US" altLang="zh-CN" kern="100" dirty="0" err="1">
                <a:effectLst/>
                <a:latin typeface="+mn-ea"/>
              </a:rPr>
              <a:t>ball.vx</a:t>
            </a:r>
            <a:r>
              <a:rPr lang="en-US" altLang="zh-CN" kern="100" dirty="0">
                <a:effectLst/>
                <a:latin typeface="+mn-ea"/>
              </a:rPr>
              <a:t>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else: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ball.vx</a:t>
            </a:r>
            <a:r>
              <a:rPr lang="en-US" altLang="zh-CN" kern="100" dirty="0">
                <a:effectLst/>
                <a:latin typeface="+mn-ea"/>
              </a:rPr>
              <a:t> = abs(</a:t>
            </a:r>
            <a:r>
              <a:rPr lang="en-US" altLang="zh-CN" kern="100" dirty="0" err="1">
                <a:effectLst/>
                <a:latin typeface="+mn-ea"/>
              </a:rPr>
              <a:t>ball.vx</a:t>
            </a:r>
            <a:r>
              <a:rPr lang="en-US" altLang="zh-CN" kern="100" dirty="0">
                <a:effectLst/>
                <a:latin typeface="+mn-ea"/>
              </a:rPr>
              <a:t>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6348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236947" y="872664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小球与挡板的碰撞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在垂直反弹之前要确保小球在挡板的上方，所以加入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了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ball.y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&lt; 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pad.y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”的判断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条件，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否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则可能出现如图所示的游戏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Bug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050" name="图片 4">
            <a:extLst>
              <a:ext uri="{FF2B5EF4-FFF2-40B4-BE49-F238E27FC236}">
                <a16:creationId xmlns:a16="http://schemas.microsoft.com/office/drawing/2014/main" id="{394FC114-A7E0-FE44-885A-50F0BBA46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393" y="2771452"/>
            <a:ext cx="7257358" cy="2920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9976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C08CF-9878-9C84-348D-E802464B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862DB0-CA5C-4C75-2A78-1537583AE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000" kern="0" dirty="0">
              <a:effectLst/>
              <a:latin typeface="Times New Roman" panose="02020603050405020304" pitchFamily="18" charset="0"/>
              <a:ea typeface="仿宋_GB231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尝试一下去掉上面这个判断条件，看看游戏中会不会真的出现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Bug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。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9064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163376" y="760288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小球与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砖块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的碰撞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Pgzero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提供了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collidelist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方法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可以将某个角色与另一组角色进行碰撞检测。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collision_ball_bricks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函数，用来处理小球与砖块的碰撞：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collision_ball_bricks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n = </a:t>
            </a:r>
            <a:r>
              <a:rPr lang="en-US" altLang="zh-CN" kern="100" dirty="0" err="1">
                <a:effectLst/>
                <a:latin typeface="+mn-ea"/>
              </a:rPr>
              <a:t>ball.collidelist</a:t>
            </a:r>
            <a:r>
              <a:rPr lang="en-US" altLang="zh-CN" kern="100" dirty="0">
                <a:effectLst/>
                <a:latin typeface="+mn-ea"/>
              </a:rPr>
              <a:t>(bricks)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n == -1: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return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brick = bricks[n]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bricks.remove</a:t>
            </a:r>
            <a:r>
              <a:rPr lang="en-US" altLang="zh-CN" kern="100" dirty="0">
                <a:effectLst/>
                <a:latin typeface="+mn-ea"/>
              </a:rPr>
              <a:t>(brick)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sounds.collide.play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5386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163376" y="760288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小球与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砖块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的碰撞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我们希望小球碰到砖块的上、下两个侧面时发生垂直方向的反弹，而碰到左、右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两个侧面时发生水平方向的反弹。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可以将砖块划分几个不同的区域分别进行处理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176524-17E8-41CE-44AA-441688B81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539" y="3316623"/>
            <a:ext cx="5887670" cy="255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47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019538" y="12329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collision_ball_bricks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函数中加入了如下代码：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 </a:t>
            </a:r>
            <a:r>
              <a:rPr lang="en-US" altLang="zh-CN" kern="100" dirty="0" err="1">
                <a:effectLst/>
                <a:latin typeface="+mn-ea"/>
              </a:rPr>
              <a:t>brick.left</a:t>
            </a:r>
            <a:r>
              <a:rPr lang="en-US" altLang="zh-CN" kern="100" dirty="0">
                <a:effectLst/>
                <a:latin typeface="+mn-ea"/>
              </a:rPr>
              <a:t> &lt; </a:t>
            </a:r>
            <a:r>
              <a:rPr lang="en-US" altLang="zh-CN" kern="100" dirty="0" err="1">
                <a:effectLst/>
                <a:latin typeface="+mn-ea"/>
              </a:rPr>
              <a:t>ball.x</a:t>
            </a:r>
            <a:r>
              <a:rPr lang="en-US" altLang="zh-CN" kern="100" dirty="0">
                <a:effectLst/>
                <a:latin typeface="+mn-ea"/>
              </a:rPr>
              <a:t> &lt; </a:t>
            </a:r>
            <a:r>
              <a:rPr lang="en-US" altLang="zh-CN" kern="100" dirty="0" err="1">
                <a:effectLst/>
                <a:latin typeface="+mn-ea"/>
              </a:rPr>
              <a:t>brick.right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ball.vy</a:t>
            </a:r>
            <a:r>
              <a:rPr lang="en-US" altLang="zh-CN" kern="100" dirty="0">
                <a:effectLst/>
                <a:latin typeface="+mn-ea"/>
              </a:rPr>
              <a:t> *= -1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elif</a:t>
            </a:r>
            <a:r>
              <a:rPr lang="en-US" altLang="zh-CN" kern="100" dirty="0">
                <a:effectLst/>
                <a:latin typeface="+mn-ea"/>
              </a:rPr>
              <a:t> </a:t>
            </a:r>
            <a:r>
              <a:rPr lang="en-US" altLang="zh-CN" kern="100" dirty="0" err="1">
                <a:effectLst/>
                <a:latin typeface="+mn-ea"/>
              </a:rPr>
              <a:t>ball.x</a:t>
            </a:r>
            <a:r>
              <a:rPr lang="en-US" altLang="zh-CN" kern="100" dirty="0">
                <a:effectLst/>
                <a:latin typeface="+mn-ea"/>
              </a:rPr>
              <a:t> &lt;= </a:t>
            </a:r>
            <a:r>
              <a:rPr lang="en-US" altLang="zh-CN" kern="100" dirty="0" err="1">
                <a:effectLst/>
                <a:latin typeface="+mn-ea"/>
              </a:rPr>
              <a:t>brick.left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if </a:t>
            </a:r>
            <a:r>
              <a:rPr lang="en-US" altLang="zh-CN" kern="100" dirty="0" err="1">
                <a:effectLst/>
                <a:latin typeface="+mn-ea"/>
              </a:rPr>
              <a:t>ball.vx</a:t>
            </a:r>
            <a:r>
              <a:rPr lang="en-US" altLang="zh-CN" kern="100" dirty="0">
                <a:effectLst/>
                <a:latin typeface="+mn-ea"/>
              </a:rPr>
              <a:t> &gt; 0: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ball.vx</a:t>
            </a:r>
            <a:r>
              <a:rPr lang="en-US" altLang="zh-CN" kern="100" dirty="0">
                <a:effectLst/>
                <a:latin typeface="+mn-ea"/>
              </a:rPr>
              <a:t> *= -1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else: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ball.vy</a:t>
            </a:r>
            <a:r>
              <a:rPr lang="en-US" altLang="zh-CN" kern="100" dirty="0">
                <a:effectLst/>
                <a:latin typeface="+mn-ea"/>
              </a:rPr>
              <a:t> *= -1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elif</a:t>
            </a:r>
            <a:r>
              <a:rPr lang="en-US" altLang="zh-CN" kern="100" dirty="0">
                <a:effectLst/>
                <a:latin typeface="+mn-ea"/>
              </a:rPr>
              <a:t> </a:t>
            </a:r>
            <a:r>
              <a:rPr lang="en-US" altLang="zh-CN" kern="100" dirty="0" err="1">
                <a:effectLst/>
                <a:latin typeface="+mn-ea"/>
              </a:rPr>
              <a:t>ball.x</a:t>
            </a:r>
            <a:r>
              <a:rPr lang="en-US" altLang="zh-CN" kern="100" dirty="0">
                <a:effectLst/>
                <a:latin typeface="+mn-ea"/>
              </a:rPr>
              <a:t> &gt;= </a:t>
            </a:r>
            <a:r>
              <a:rPr lang="en-US" altLang="zh-CN" kern="100" dirty="0" err="1">
                <a:effectLst/>
                <a:latin typeface="+mn-ea"/>
              </a:rPr>
              <a:t>brick.right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if </a:t>
            </a:r>
            <a:r>
              <a:rPr lang="en-US" altLang="zh-CN" kern="100" dirty="0" err="1">
                <a:effectLst/>
                <a:latin typeface="+mn-ea"/>
              </a:rPr>
              <a:t>ball.vx</a:t>
            </a:r>
            <a:r>
              <a:rPr lang="en-US" altLang="zh-CN" kern="100" dirty="0">
                <a:effectLst/>
                <a:latin typeface="+mn-ea"/>
              </a:rPr>
              <a:t> &lt; 0: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ball.vx</a:t>
            </a:r>
            <a:r>
              <a:rPr lang="en-US" altLang="zh-CN" kern="100" dirty="0">
                <a:effectLst/>
                <a:latin typeface="+mn-ea"/>
              </a:rPr>
              <a:t> *= -1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else: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ball.vy</a:t>
            </a:r>
            <a:r>
              <a:rPr lang="en-US" altLang="zh-CN" kern="100" dirty="0">
                <a:effectLst/>
                <a:latin typeface="+mn-ea"/>
              </a:rPr>
              <a:t> *= -1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098" name="图片 6">
            <a:extLst>
              <a:ext uri="{FF2B5EF4-FFF2-40B4-BE49-F238E27FC236}">
                <a16:creationId xmlns:a16="http://schemas.microsoft.com/office/drawing/2014/main" id="{53197126-972F-4D25-E50B-28D62FA8E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663" y="1865824"/>
            <a:ext cx="5270500" cy="352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6601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完善游戏规则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4.1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设置游戏积分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定义全局变量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score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，用来表示游戏积分：</a:t>
            </a:r>
          </a:p>
          <a:p>
            <a:pPr indent="266700" algn="just">
              <a:lnSpc>
                <a:spcPct val="150000"/>
              </a:lnSpc>
            </a:pPr>
            <a:r>
              <a:rPr lang="en-US" altLang="zh-CN" kern="100" dirty="0">
                <a:effectLst/>
                <a:latin typeface="+mn-ea"/>
              </a:rPr>
              <a:t>score = 0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collision_ball_bricks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函数修改，在小球与砖块的碰撞处理中加入一行代码：</a:t>
            </a:r>
          </a:p>
          <a:p>
            <a:pPr indent="266700" algn="just">
              <a:lnSpc>
                <a:spcPct val="150000"/>
              </a:lnSpc>
            </a:pPr>
            <a:r>
              <a:rPr lang="en-US" altLang="zh-CN" kern="100" dirty="0">
                <a:effectLst/>
                <a:latin typeface="+mn-ea"/>
              </a:rPr>
              <a:t>score += 100</a:t>
            </a:r>
            <a:endParaRPr lang="zh-CN" altLang="zh-CN" kern="100" dirty="0">
              <a:effectLst/>
              <a:latin typeface="+mn-ea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62615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163375" y="760288"/>
            <a:ext cx="1024093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添加生命值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定义全局变量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lives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用来表示生命值：</a:t>
            </a: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lives = 5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ball_move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函数，在判定小球超出窗口下边界后加入一行代码：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lives -= 1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函数进行修改，将生命值及游戏积分一并显示出来：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</a:t>
            </a:r>
            <a:r>
              <a:rPr lang="en-US" altLang="zh-CN" kern="100" dirty="0" err="1">
                <a:effectLst/>
                <a:latin typeface="+mn-ea"/>
              </a:rPr>
              <a:t>screen.draw.text</a:t>
            </a:r>
            <a:r>
              <a:rPr lang="en-US" altLang="zh-CN" kern="100" dirty="0">
                <a:effectLst/>
                <a:latin typeface="+mn-ea"/>
              </a:rPr>
              <a:t>("Live: " + str(lives) + "   Score: " + str(score),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      </a:t>
            </a:r>
            <a:r>
              <a:rPr lang="en-US" altLang="zh-CN" kern="100" dirty="0" err="1">
                <a:effectLst/>
                <a:latin typeface="+mn-ea"/>
              </a:rPr>
              <a:t>bottomleft</a:t>
            </a:r>
            <a:r>
              <a:rPr lang="en-US" altLang="zh-CN" kern="100" dirty="0">
                <a:effectLst/>
                <a:latin typeface="+mn-ea"/>
              </a:rPr>
              <a:t>=(5, HEIGHT - 5), color="black")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4397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060635" y="133564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实现游戏结束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定义全局变量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lost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，表示游戏获胜及失败的状态：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win = False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lost = False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定义函数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check_gameover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，对游戏结束的情况进行判定及处理：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check_gameover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global win, lost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len</a:t>
            </a:r>
            <a:r>
              <a:rPr lang="en-US" altLang="zh-CN" kern="100" dirty="0">
                <a:effectLst/>
                <a:latin typeface="+mn-ea"/>
              </a:rPr>
              <a:t>(bricks) == 0: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sounds.win.play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win = True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lives &lt;= 0: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sounds.fail.play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lost = True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391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649918" y="369870"/>
            <a:ext cx="7815988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实现游戏结束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函数，显示游戏胜利及失败的文字：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win: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screen.draw.text</a:t>
            </a:r>
            <a:r>
              <a:rPr lang="en-US" altLang="zh-CN" kern="100" dirty="0">
                <a:effectLst/>
                <a:latin typeface="+mn-ea"/>
              </a:rPr>
              <a:t>("You Win!",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         </a:t>
            </a:r>
            <a:r>
              <a:rPr lang="en-US" altLang="zh-CN" kern="100" dirty="0">
                <a:effectLst/>
                <a:latin typeface="+mn-ea"/>
              </a:rPr>
              <a:t>center=(WIDTH // 2, HEIGHT // 2),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</a:t>
            </a:r>
            <a:r>
              <a:rPr lang="en-US" altLang="zh-CN" kern="100" dirty="0" err="1">
                <a:effectLst/>
                <a:latin typeface="+mn-ea"/>
              </a:rPr>
              <a:t>fontsize</a:t>
            </a:r>
            <a:r>
              <a:rPr lang="en-US" altLang="zh-CN" kern="100" dirty="0">
                <a:effectLst/>
                <a:latin typeface="+mn-ea"/>
              </a:rPr>
              <a:t>=50, color="red")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elif</a:t>
            </a:r>
            <a:r>
              <a:rPr lang="en-US" altLang="zh-CN" kern="100" dirty="0">
                <a:effectLst/>
                <a:latin typeface="+mn-ea"/>
              </a:rPr>
              <a:t> lost: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screen.draw.text</a:t>
            </a:r>
            <a:r>
              <a:rPr lang="en-US" altLang="zh-CN" kern="100" dirty="0">
                <a:effectLst/>
                <a:latin typeface="+mn-ea"/>
              </a:rPr>
              <a:t>("You Lost!",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         </a:t>
            </a:r>
            <a:r>
              <a:rPr lang="en-US" altLang="zh-CN" kern="100" dirty="0">
                <a:effectLst/>
                <a:latin typeface="+mn-ea"/>
              </a:rPr>
              <a:t>center=(WIDTH // 2, HEIGHT // 2),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</a:t>
            </a:r>
            <a:r>
              <a:rPr lang="en-US" altLang="zh-CN" kern="100" dirty="0" err="1">
                <a:effectLst/>
                <a:latin typeface="+mn-ea"/>
              </a:rPr>
              <a:t>fontsize</a:t>
            </a:r>
            <a:r>
              <a:rPr lang="en-US" altLang="zh-CN" kern="100" dirty="0">
                <a:effectLst/>
                <a:latin typeface="+mn-ea"/>
              </a:rPr>
              <a:t>=50, color="red")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122" name="图片 8">
            <a:extLst>
              <a:ext uri="{FF2B5EF4-FFF2-40B4-BE49-F238E27FC236}">
                <a16:creationId xmlns:a16="http://schemas.microsoft.com/office/drawing/2014/main" id="{D2EAEF2C-BB4C-3B9F-144C-280FBF29D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652" y="1665287"/>
            <a:ext cx="5289550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53994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C08CF-9878-9C84-348D-E802464B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862DB0-CA5C-4C75-2A78-1537583AE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000" kern="0" dirty="0">
              <a:effectLst/>
              <a:latin typeface="Times New Roman" panose="02020603050405020304" pitchFamily="18" charset="0"/>
              <a:ea typeface="仿宋_GB231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可以试着改变一下游戏中的各个参数，比如小球的速度、砖块的数量、挡板的长短等等，看看这些改变会对游戏的难度造成怎样的影响。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7308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1FD12-3765-D577-424E-D275D83A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回顾与总结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6F0AB-C2B5-60F3-2AD0-A592E9C3D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本章我们一起学习制作了打砖块游戏。我们首先了解了如何实现挡板及小球的移动控制，然后详细讨论了如何实现游戏角色之间的交互行为。我们重点介绍了碰撞检测原理，并通过</a:t>
            </a:r>
            <a:r>
              <a:rPr lang="en-US" altLang="zh-CN" sz="2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Pgzero</a:t>
            </a: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提供的相关方法处理了小球与挡板的碰撞，以及小球与砖块的碰撞。最后我们还为游戏设置了积分和生命值，并在此基础上完善了游戏的结束规则。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1557301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540</TotalTime>
  <Words>1834</Words>
  <Application>Microsoft Office PowerPoint</Application>
  <PresentationFormat>宽屏</PresentationFormat>
  <Paragraphs>195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等线</vt:lpstr>
      <vt:lpstr>宋体</vt:lpstr>
      <vt:lpstr>微软雅黑</vt:lpstr>
      <vt:lpstr>Calibri</vt:lpstr>
      <vt:lpstr>Calibri Light</vt:lpstr>
      <vt:lpstr>Times New Roman</vt:lpstr>
      <vt:lpstr>Wingdings</vt:lpstr>
      <vt:lpstr>回顾</vt:lpstr>
      <vt:lpstr>打砖块游戏</vt:lpstr>
      <vt:lpstr>本章知识点</vt:lpstr>
      <vt:lpstr>1.创建场景及角色</vt:lpstr>
      <vt:lpstr>PowerPoint 演示文稿</vt:lpstr>
      <vt:lpstr>PowerPoint 演示文稿</vt:lpstr>
      <vt:lpstr>PowerPoint 演示文稿</vt:lpstr>
      <vt:lpstr>2.让角色动起来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3.处理角色间的碰撞</vt:lpstr>
      <vt:lpstr>PowerPoint 演示文稿</vt:lpstr>
      <vt:lpstr>PowerPoint 演示文稿</vt:lpstr>
      <vt:lpstr>PowerPoint 演示文稿</vt:lpstr>
      <vt:lpstr>练习</vt:lpstr>
      <vt:lpstr>PowerPoint 演示文稿</vt:lpstr>
      <vt:lpstr>PowerPoint 演示文稿</vt:lpstr>
      <vt:lpstr>PowerPoint 演示文稿</vt:lpstr>
      <vt:lpstr>4.完善游戏规则</vt:lpstr>
      <vt:lpstr>PowerPoint 演示文稿</vt:lpstr>
      <vt:lpstr>PowerPoint 演示文稿</vt:lpstr>
      <vt:lpstr>PowerPoint 演示文稿</vt:lpstr>
      <vt:lpstr>练习</vt:lpstr>
      <vt:lpstr>回顾与总结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记忆翻牌游戏</dc:title>
  <dc:creator>叶得飞</dc:creator>
  <cp:lastModifiedBy>hawking329@sina.com</cp:lastModifiedBy>
  <cp:revision>84</cp:revision>
  <dcterms:created xsi:type="dcterms:W3CDTF">2022-06-28T01:57:29Z</dcterms:created>
  <dcterms:modified xsi:type="dcterms:W3CDTF">2024-01-08T09:01:55Z</dcterms:modified>
</cp:coreProperties>
</file>