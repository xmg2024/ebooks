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57" r:id="rId3"/>
    <p:sldId id="3550" r:id="rId4"/>
    <p:sldId id="3549" r:id="rId5"/>
    <p:sldId id="3553" r:id="rId6"/>
    <p:sldId id="3554" r:id="rId7"/>
    <p:sldId id="3557" r:id="rId8"/>
    <p:sldId id="3558" r:id="rId9"/>
    <p:sldId id="3556" r:id="rId10"/>
    <p:sldId id="3560" r:id="rId11"/>
    <p:sldId id="3561" r:id="rId12"/>
    <p:sldId id="3559" r:id="rId13"/>
    <p:sldId id="3563" r:id="rId14"/>
    <p:sldId id="3564" r:id="rId15"/>
    <p:sldId id="3565" r:id="rId16"/>
    <p:sldId id="3567" r:id="rId17"/>
    <p:sldId id="3568" r:id="rId18"/>
    <p:sldId id="3569" r:id="rId19"/>
    <p:sldId id="3566" r:id="rId20"/>
    <p:sldId id="3570" r:id="rId21"/>
    <p:sldId id="3562" r:id="rId22"/>
    <p:sldId id="3571" r:id="rId23"/>
    <p:sldId id="3572" r:id="rId24"/>
    <p:sldId id="3573" r:id="rId25"/>
    <p:sldId id="3574" r:id="rId26"/>
    <p:sldId id="3555" r:id="rId27"/>
    <p:sldId id="3576" r:id="rId28"/>
    <p:sldId id="3577" r:id="rId29"/>
    <p:sldId id="3578" r:id="rId30"/>
    <p:sldId id="3579" r:id="rId31"/>
    <p:sldId id="3580" r:id="rId32"/>
    <p:sldId id="3581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A75420-F708-49F5-92F8-624229C141A5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964FB-F2DD-4573-A003-A51F1EB4C9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412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437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51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853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257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173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492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269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654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844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247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39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71" y="390528"/>
            <a:ext cx="520496" cy="274638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71" y="6524628"/>
            <a:ext cx="2909534" cy="276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2875"/>
            <a:ext cx="10633094" cy="8461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4" name="矩形 23"/>
          <p:cNvSpPr/>
          <p:nvPr userDrawn="1"/>
        </p:nvSpPr>
        <p:spPr>
          <a:xfrm>
            <a:off x="10705111" y="6792874"/>
            <a:ext cx="1486889" cy="846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678" y="294777"/>
            <a:ext cx="2595399" cy="40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4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117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ygame-zero.readthedocs.io/zh_CN/latest/introduction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1EEB1E-5500-9EE0-4B2B-5962B59C57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弹跳小球游戏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5082F6-BB6D-0F1D-7471-1A20173E0A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792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7F6537-6A07-CFED-561B-2FCC989CD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266700" algn="just">
              <a:lnSpc>
                <a:spcPct val="150000"/>
              </a:lnSpc>
            </a:pPr>
            <a:r>
              <a:rPr lang="zh-CN" altLang="zh-CN" sz="4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本章知识点</a:t>
            </a:r>
            <a:endParaRPr lang="zh-CN" altLang="zh-CN" sz="4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A13118-7275-031A-9151-78481A7B9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33410"/>
            <a:ext cx="10058400" cy="4023360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"/>
            </a:pPr>
            <a:r>
              <a:rPr lang="zh-CN" altLang="zh-CN" sz="32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设置游戏开发环境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"/>
            </a:pPr>
            <a:r>
              <a:rPr lang="zh-CN" altLang="zh-CN" sz="32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创建游戏场景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"/>
            </a:pPr>
            <a:r>
              <a:rPr lang="zh-CN" altLang="zh-CN" sz="32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创建游戏角色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"/>
            </a:pPr>
            <a:r>
              <a:rPr lang="zh-CN" altLang="zh-CN" sz="32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实现角色的移动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"/>
            </a:pPr>
            <a:r>
              <a:rPr lang="zh-CN" altLang="zh-CN" sz="32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游戏循环的原理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"/>
            </a:pPr>
            <a:r>
              <a:rPr lang="zh-CN" altLang="zh-CN" sz="32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管理多个角色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6144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DB2176-DE81-4EB8-9286-3EFEFE1F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kern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lang="zh-CN" altLang="zh-CN" sz="48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准备工作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14B45D-A2DD-151F-05CA-0DDBE6CF0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092313"/>
            <a:ext cx="10058400" cy="4023360"/>
          </a:xfrm>
        </p:spPr>
        <p:txBody>
          <a:bodyPr>
            <a:normAutofit/>
          </a:bodyPr>
          <a:lstStyle/>
          <a:p>
            <a:r>
              <a:rPr lang="en-US" altLang="zh-CN" sz="32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1.1 </a:t>
            </a:r>
            <a:r>
              <a:rPr lang="zh-CN" altLang="zh-CN" sz="32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选择合适的开发工具</a:t>
            </a:r>
            <a:endParaRPr lang="en-US" altLang="zh-CN" sz="32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本书采用</a:t>
            </a:r>
            <a:r>
              <a:rPr lang="en-US" altLang="zh-CN" sz="2800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Pgzero</a:t>
            </a: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库来编写游戏。</a:t>
            </a:r>
            <a:endParaRPr lang="en-US" altLang="zh-CN" sz="28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800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Pgzero</a:t>
            </a: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的完整名称是</a:t>
            </a:r>
            <a:r>
              <a:rPr lang="en-US" altLang="zh-CN" sz="2800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Pygame</a:t>
            </a:r>
            <a:r>
              <a:rPr lang="en-US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Zero</a:t>
            </a: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，它是从</a:t>
            </a:r>
            <a:r>
              <a:rPr lang="en-US" altLang="zh-CN" sz="2800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Pygame</a:t>
            </a: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库衍生而来的。</a:t>
            </a:r>
            <a:endParaRPr lang="en-US" altLang="zh-CN" sz="28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能够实现</a:t>
            </a:r>
            <a:r>
              <a:rPr lang="en-US" altLang="zh-CN" sz="2800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Pygame</a:t>
            </a: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库的主要功能，但是屏蔽了一些复杂的细节，</a:t>
            </a:r>
            <a:endParaRPr lang="en-US" altLang="zh-CN" sz="28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使得初学者能够快速上手。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b="1" dirty="0">
                <a:ea typeface="宋体" panose="02010600030101010101" pitchFamily="2" charset="-122"/>
              </a:rPr>
              <a:t>官方文档：</a:t>
            </a:r>
            <a:r>
              <a:rPr lang="en-US" altLang="zh-CN" sz="2800" dirty="0" err="1">
                <a:hlinkClick r:id="rId2"/>
              </a:rPr>
              <a:t>Pygame</a:t>
            </a:r>
            <a:r>
              <a:rPr lang="en-US" altLang="zh-CN" sz="2800" dirty="0">
                <a:hlinkClick r:id="rId2"/>
              </a:rPr>
              <a:t> Zero</a:t>
            </a:r>
            <a:r>
              <a:rPr lang="zh-CN" altLang="en-US" sz="2800" dirty="0">
                <a:hlinkClick r:id="rId2"/>
              </a:rPr>
              <a:t>教程 </a:t>
            </a:r>
            <a:r>
              <a:rPr lang="en-US" altLang="zh-CN" sz="2800" dirty="0">
                <a:hlinkClick r:id="rId2"/>
              </a:rPr>
              <a:t>— </a:t>
            </a:r>
            <a:r>
              <a:rPr lang="en-US" altLang="zh-CN" sz="2800" dirty="0" err="1">
                <a:hlinkClick r:id="rId2"/>
              </a:rPr>
              <a:t>Pygame</a:t>
            </a:r>
            <a:r>
              <a:rPr lang="en-US" altLang="zh-CN" sz="2800" dirty="0">
                <a:hlinkClick r:id="rId2"/>
              </a:rPr>
              <a:t> Zero 1.2 </a:t>
            </a:r>
            <a:r>
              <a:rPr lang="zh-CN" altLang="en-US" sz="2800" dirty="0">
                <a:hlinkClick r:id="rId2"/>
              </a:rPr>
              <a:t>文档 </a:t>
            </a:r>
            <a:r>
              <a:rPr lang="en-US" altLang="zh-CN" sz="2800" dirty="0">
                <a:hlinkClick r:id="rId2"/>
              </a:rPr>
              <a:t>(pygame-zero.readthedocs.io)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783214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A397655-E373-3DF9-46E5-3AB69BBC52C8}"/>
              </a:ext>
            </a:extLst>
          </p:cNvPr>
          <p:cNvSpPr txBox="1"/>
          <p:nvPr/>
        </p:nvSpPr>
        <p:spPr>
          <a:xfrm>
            <a:off x="857519" y="457420"/>
            <a:ext cx="10680360" cy="1978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1.2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设置开发环境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Mu</a:t>
            </a:r>
            <a:r>
              <a:rPr lang="zh-CN" altLang="en-US" sz="20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编辑器</a:t>
            </a:r>
            <a:r>
              <a:rPr lang="zh-CN" altLang="zh-CN" sz="20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是专门为</a:t>
            </a:r>
            <a:r>
              <a:rPr lang="en-US" altLang="zh-CN" sz="20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Python</a:t>
            </a:r>
            <a:r>
              <a:rPr lang="zh-CN" altLang="zh-CN" sz="20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学习者设计的开发工具，它的编辑器非常友好，提供了很多便捷操作，比如代码自动提示、代码缩进标示、语法检查等等功能。</a:t>
            </a:r>
            <a:endParaRPr lang="en-US" altLang="zh-CN" sz="20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启动</a:t>
            </a:r>
            <a:r>
              <a:rPr lang="en-US" altLang="zh-CN" sz="20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Mu</a:t>
            </a:r>
            <a:r>
              <a:rPr lang="zh-CN" altLang="en-US" sz="20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编辑器，</a:t>
            </a:r>
            <a:r>
              <a:rPr lang="zh-CN" altLang="zh-CN" sz="20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点击鼠标来选择“</a:t>
            </a:r>
            <a:r>
              <a:rPr lang="en-US" altLang="zh-CN" sz="2000" dirty="0" err="1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Pygame</a:t>
            </a:r>
            <a:r>
              <a:rPr lang="en-US" altLang="zh-CN" sz="20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 Zero</a:t>
            </a:r>
            <a:r>
              <a:rPr lang="zh-CN" altLang="zh-CN" sz="20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模式”</a:t>
            </a:r>
            <a:r>
              <a:rPr lang="zh-CN" altLang="en-US" sz="20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000" dirty="0"/>
          </a:p>
        </p:txBody>
      </p:sp>
      <p:pic>
        <p:nvPicPr>
          <p:cNvPr id="2050" name="图片 1">
            <a:extLst>
              <a:ext uri="{FF2B5EF4-FFF2-40B4-BE49-F238E27FC236}">
                <a16:creationId xmlns:a16="http://schemas.microsoft.com/office/drawing/2014/main" id="{5612705C-69C8-8689-3A31-8B08ABC3A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519" y="2650312"/>
            <a:ext cx="4975698" cy="354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51" name="图片 2">
            <a:extLst>
              <a:ext uri="{FF2B5EF4-FFF2-40B4-BE49-F238E27FC236}">
                <a16:creationId xmlns:a16="http://schemas.microsoft.com/office/drawing/2014/main" id="{2DEE0BE6-4F0B-8515-74A0-098C55731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8785" y="2650312"/>
            <a:ext cx="548005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1886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DB2176-DE81-4EB8-9286-3EFEFE1F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kern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lang="zh-CN" altLang="en-US" sz="4800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从何处开始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14B45D-A2DD-151F-05CA-0DDBE6CF0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zh-CN" sz="2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游戏运行得有一个图形界面。为了显示图形界面，我们的程序应该能够生成一个“窗口”，在其中可以显示各种图形或图像，而游戏的内容正是由各种不同的图形或图像来表示的。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452544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89054" y="710575"/>
            <a:ext cx="10058400" cy="402336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>
                <a:latin typeface="宋体" panose="02010600030101010101" pitchFamily="2" charset="-122"/>
                <a:cs typeface="宋体" panose="02010600030101010101" pitchFamily="2" charset="-122"/>
              </a:rPr>
              <a:t>2.1 </a:t>
            </a:r>
            <a:r>
              <a:rPr lang="zh-CN" altLang="zh-CN" sz="2400" b="1" dirty="0">
                <a:ea typeface="宋体" panose="02010600030101010101" pitchFamily="2" charset="-122"/>
                <a:cs typeface="宋体" panose="02010600030101010101" pitchFamily="2" charset="-122"/>
              </a:rPr>
              <a:t>创建程序窗口</a:t>
            </a:r>
            <a:endParaRPr lang="en-US" altLang="zh-CN" sz="2400" b="1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zh-CN" dirty="0"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dirty="0">
                <a:ea typeface="宋体" panose="02010600030101010101" pitchFamily="2" charset="-122"/>
                <a:cs typeface="宋体" panose="02010600030101010101" pitchFamily="2" charset="-122"/>
              </a:rPr>
              <a:t>Mu</a:t>
            </a:r>
            <a:r>
              <a:rPr lang="zh-CN" altLang="zh-CN" dirty="0">
                <a:ea typeface="宋体" panose="02010600030101010101" pitchFamily="2" charset="-122"/>
                <a:cs typeface="宋体" panose="02010600030101010101" pitchFamily="2" charset="-122"/>
              </a:rPr>
              <a:t>编辑器上方的工具栏中点击“新建”按钮，接着点击“保存”按钮将该源程序文</a:t>
            </a:r>
            <a:endParaRPr lang="en-US" altLang="zh-CN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zh-CN" dirty="0">
                <a:ea typeface="宋体" panose="02010600030101010101" pitchFamily="2" charset="-122"/>
                <a:cs typeface="宋体" panose="02010600030101010101" pitchFamily="2" charset="-122"/>
              </a:rPr>
              <a:t>件保存在磁盘上</a:t>
            </a:r>
            <a:r>
              <a:rPr lang="zh-CN" altLang="en-US" dirty="0"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zh-CN" dirty="0">
                <a:ea typeface="宋体" panose="02010600030101010101" pitchFamily="2" charset="-122"/>
                <a:cs typeface="宋体" panose="02010600030101010101" pitchFamily="2" charset="-122"/>
              </a:rPr>
              <a:t>然后点击“运行”按钮，屏幕上出现了一个窗口</a:t>
            </a:r>
            <a:r>
              <a:rPr lang="zh-CN" altLang="en-US" dirty="0"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dirty="0"/>
          </a:p>
        </p:txBody>
      </p:sp>
      <p:pic>
        <p:nvPicPr>
          <p:cNvPr id="5" name="图片 24">
            <a:extLst>
              <a:ext uri="{FF2B5EF4-FFF2-40B4-BE49-F238E27FC236}">
                <a16:creationId xmlns:a16="http://schemas.microsoft.com/office/drawing/2014/main" id="{9C110D3A-DD3F-F97B-A878-A06B83DDF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2855" y="2360868"/>
            <a:ext cx="4841183" cy="3786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811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89054" y="710575"/>
            <a:ext cx="10058400" cy="402336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2.2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改变窗口大小和颜色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4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sz="2400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Pgzero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中，通过定义两个常量值来确定程序窗口的大小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WIDTH = 500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HEIGHT = 300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    WIDTH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HEGIHT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是</a:t>
            </a:r>
            <a:r>
              <a:rPr lang="en-US" altLang="zh-CN" sz="2400" dirty="0" err="1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Pgzero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预设的两个常量，分别用来表示程序窗口的宽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</a:p>
          <a:p>
            <a:pPr>
              <a:lnSpc>
                <a:spcPct val="100000"/>
              </a:lnSpc>
            </a:pPr>
            <a:r>
              <a:rPr lang="en-US" altLang="zh-CN" sz="2400" dirty="0"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度和高度值（单位为像素）。</a:t>
            </a:r>
            <a:endParaRPr lang="en-US" altLang="zh-CN" sz="24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2075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89054" y="710575"/>
            <a:ext cx="10058400" cy="543685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2.2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改变窗口大小和颜色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sz="2400" dirty="0" err="1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Pgzero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中若要改变背景颜色，需要在程序中定义一个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draw()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函数。</a:t>
            </a:r>
            <a:endParaRPr lang="en-US" altLang="zh-CN" sz="24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同时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需要借助</a:t>
            </a:r>
            <a:r>
              <a:rPr lang="en-US" altLang="zh-CN" sz="2400" dirty="0" err="1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Pgzero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提供的内置对象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screen</a:t>
            </a:r>
            <a:r>
              <a:rPr lang="zh-CN" altLang="en-US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使用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screen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对象的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fill()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方法，</a:t>
            </a:r>
            <a:endParaRPr lang="en-US" altLang="zh-CN" sz="24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它表示用某种颜色来填满整个窗口。</a:t>
            </a:r>
            <a:endParaRPr lang="en-US" altLang="zh-CN" sz="24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在源代码中加入以下两行代码：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draw():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screen.fill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((255, 255, 255))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098" name="图片 23">
            <a:extLst>
              <a:ext uri="{FF2B5EF4-FFF2-40B4-BE49-F238E27FC236}">
                <a16:creationId xmlns:a16="http://schemas.microsoft.com/office/drawing/2014/main" id="{D282DD7F-58CC-2E38-C717-A9937FA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965" y="2927975"/>
            <a:ext cx="4914900" cy="321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2993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915C4DC-B49F-0EE4-1B60-983B0ED0F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D9D5188-3E26-CCB0-1850-D07793BFE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CN" sz="3600" dirty="0">
              <a:effectLst/>
              <a:ea typeface="仿宋_GB2312"/>
              <a:cs typeface="宋体" panose="02010600030101010101" pitchFamily="2" charset="-122"/>
            </a:endParaRPr>
          </a:p>
          <a:p>
            <a:r>
              <a:rPr lang="zh-CN" altLang="zh-CN" sz="3600" dirty="0">
                <a:effectLst/>
                <a:ea typeface="仿宋_GB2312"/>
                <a:cs typeface="宋体" panose="02010600030101010101" pitchFamily="2" charset="-122"/>
              </a:rPr>
              <a:t>试试改动</a:t>
            </a:r>
            <a:r>
              <a:rPr lang="en-US" altLang="zh-CN" sz="3600" dirty="0">
                <a:effectLst/>
                <a:ea typeface="仿宋_GB2312"/>
                <a:cs typeface="宋体" panose="02010600030101010101" pitchFamily="2" charset="-122"/>
              </a:rPr>
              <a:t>fill()</a:t>
            </a:r>
            <a:r>
              <a:rPr lang="zh-CN" altLang="zh-CN" sz="3600" dirty="0">
                <a:effectLst/>
                <a:ea typeface="仿宋_GB2312"/>
                <a:cs typeface="宋体" panose="02010600030101010101" pitchFamily="2" charset="-122"/>
              </a:rPr>
              <a:t>方法中传入的</a:t>
            </a:r>
            <a:r>
              <a:rPr lang="en-US" altLang="zh-CN" sz="3600" dirty="0">
                <a:effectLst/>
                <a:ea typeface="仿宋_GB2312"/>
                <a:cs typeface="宋体" panose="02010600030101010101" pitchFamily="2" charset="-122"/>
              </a:rPr>
              <a:t>RGB</a:t>
            </a:r>
            <a:r>
              <a:rPr lang="zh-CN" altLang="zh-CN" sz="3600" dirty="0">
                <a:effectLst/>
                <a:ea typeface="仿宋_GB2312"/>
                <a:cs typeface="宋体" panose="02010600030101010101" pitchFamily="2" charset="-122"/>
              </a:rPr>
              <a:t>数值，看看会显</a:t>
            </a:r>
            <a:endParaRPr lang="en-US" altLang="zh-CN" sz="3600" dirty="0">
              <a:effectLst/>
              <a:ea typeface="仿宋_GB2312"/>
              <a:cs typeface="宋体" panose="02010600030101010101" pitchFamily="2" charset="-122"/>
            </a:endParaRPr>
          </a:p>
          <a:p>
            <a:r>
              <a:rPr lang="zh-CN" altLang="zh-CN" sz="3600" dirty="0">
                <a:effectLst/>
                <a:ea typeface="仿宋_GB2312"/>
                <a:cs typeface="宋体" panose="02010600030101010101" pitchFamily="2" charset="-122"/>
              </a:rPr>
              <a:t>示什么不一样的背景颜色。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312792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89054" y="710575"/>
            <a:ext cx="10058400" cy="5340904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2.3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显示图像</a:t>
            </a:r>
            <a:endParaRPr lang="en-US" altLang="zh-CN" sz="2400" b="1" kern="0" dirty="0"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将图片文件准备好并放入“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images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”文件夹</a:t>
            </a:r>
            <a:r>
              <a:rPr lang="zh-CN" altLang="en-US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，然后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调用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screen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对象的</a:t>
            </a:r>
            <a:r>
              <a:rPr lang="en-US" altLang="zh-CN" dirty="0" err="1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blit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方法。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screen.blit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("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breakout_ball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", (200, 100))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dirty="0" err="1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blit</a:t>
            </a:r>
            <a:r>
              <a:rPr lang="en-US" altLang="zh-CN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方法的第一个参数是要显示的图片文件名，以字符串来表示（不要带后缀），第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二个参数为图像显示的坐标。</a:t>
            </a:r>
            <a:endParaRPr lang="en-US" altLang="zh-CN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目前已经编写了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行代码：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WIDTH = 500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HEIGHT = 300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draw():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kern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screen.fill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((255, 255, 255))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kern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screen.blit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("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breakout_ball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", (200, 100))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1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3367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89054" y="710575"/>
            <a:ext cx="10058400" cy="5340904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2.3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显示图像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1800" b="1" kern="0" dirty="0"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1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Rectangle 54">
            <a:extLst>
              <a:ext uri="{FF2B5EF4-FFF2-40B4-BE49-F238E27FC236}">
                <a16:creationId xmlns:a16="http://schemas.microsoft.com/office/drawing/2014/main" id="{494AF68B-D1A5-0E99-FADE-96B7776D6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6337" y="149831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6" name="组合 112">
            <a:extLst>
              <a:ext uri="{FF2B5EF4-FFF2-40B4-BE49-F238E27FC236}">
                <a16:creationId xmlns:a16="http://schemas.microsoft.com/office/drawing/2014/main" id="{AB71D4BD-DA72-762D-780E-C79B6F1B8C0C}"/>
              </a:ext>
            </a:extLst>
          </p:cNvPr>
          <p:cNvGrpSpPr>
            <a:grpSpLocks/>
          </p:cNvGrpSpPr>
          <p:nvPr/>
        </p:nvGrpSpPr>
        <p:grpSpPr bwMode="auto">
          <a:xfrm>
            <a:off x="2450332" y="1445230"/>
            <a:ext cx="6539555" cy="4758647"/>
            <a:chOff x="6048" y="154300"/>
            <a:chExt cx="7747" cy="5070"/>
          </a:xfrm>
        </p:grpSpPr>
        <p:pic>
          <p:nvPicPr>
            <p:cNvPr id="5173" name="图片 87">
              <a:extLst>
                <a:ext uri="{FF2B5EF4-FFF2-40B4-BE49-F238E27FC236}">
                  <a16:creationId xmlns:a16="http://schemas.microsoft.com/office/drawing/2014/main" id="{30692E5A-AFA3-0447-5DB1-8847D27D1B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5" y="154300"/>
              <a:ext cx="7740" cy="5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自选图形 88">
              <a:extLst>
                <a:ext uri="{FF2B5EF4-FFF2-40B4-BE49-F238E27FC236}">
                  <a16:creationId xmlns:a16="http://schemas.microsoft.com/office/drawing/2014/main" id="{04C0A9A1-CE78-35FB-8CA5-5AD3EBB691A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839" y="155426"/>
              <a:ext cx="165" cy="7455"/>
            </a:xfrm>
            <a:prstGeom prst="leftBrace">
              <a:avLst>
                <a:gd name="adj1" fmla="val 376515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自选图形 89">
              <a:extLst>
                <a:ext uri="{FF2B5EF4-FFF2-40B4-BE49-F238E27FC236}">
                  <a16:creationId xmlns:a16="http://schemas.microsoft.com/office/drawing/2014/main" id="{A3D591E0-F47B-FB30-EDE6-868B34F4C0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19" y="154771"/>
              <a:ext cx="120" cy="4455"/>
            </a:xfrm>
            <a:prstGeom prst="leftBrace">
              <a:avLst>
                <a:gd name="adj1" fmla="val 309375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文本框 90">
              <a:extLst>
                <a:ext uri="{FF2B5EF4-FFF2-40B4-BE49-F238E27FC236}">
                  <a16:creationId xmlns:a16="http://schemas.microsoft.com/office/drawing/2014/main" id="{B315FB30-567D-3EC3-F375-35585052CF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48" y="158716"/>
              <a:ext cx="660" cy="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500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文本框 91">
              <a:extLst>
                <a:ext uri="{FF2B5EF4-FFF2-40B4-BE49-F238E27FC236}">
                  <a16:creationId xmlns:a16="http://schemas.microsoft.com/office/drawing/2014/main" id="{E5F42482-9610-C5EE-C5D5-084776FB23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48" y="156840"/>
              <a:ext cx="660" cy="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300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自选图形 92">
              <a:extLst>
                <a:ext uri="{FF2B5EF4-FFF2-40B4-BE49-F238E27FC236}">
                  <a16:creationId xmlns:a16="http://schemas.microsoft.com/office/drawing/2014/main" id="{2D270427-67EC-2C82-52E7-B28F68A08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8" y="155070"/>
              <a:ext cx="1335" cy="120"/>
            </a:xfrm>
            <a:prstGeom prst="rightArrow">
              <a:avLst>
                <a:gd name="adj1" fmla="val 50000"/>
                <a:gd name="adj2" fmla="val 278125"/>
              </a:avLst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自选图形 93">
              <a:extLst>
                <a:ext uri="{FF2B5EF4-FFF2-40B4-BE49-F238E27FC236}">
                  <a16:creationId xmlns:a16="http://schemas.microsoft.com/office/drawing/2014/main" id="{6CE01084-29D6-7AAD-B311-5CDFA04E549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902" y="157562"/>
              <a:ext cx="1260" cy="135"/>
            </a:xfrm>
            <a:prstGeom prst="rightArrow">
              <a:avLst>
                <a:gd name="adj1" fmla="val 50000"/>
                <a:gd name="adj2" fmla="val 233333"/>
              </a:avLst>
            </a:prstGeom>
            <a:solidFill>
              <a:srgbClr val="92D05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文本框 94">
              <a:extLst>
                <a:ext uri="{FF2B5EF4-FFF2-40B4-BE49-F238E27FC236}">
                  <a16:creationId xmlns:a16="http://schemas.microsoft.com/office/drawing/2014/main" id="{01A361B1-97E8-B169-F2A2-9AC55EA054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8" y="158206"/>
              <a:ext cx="66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" name="文本框 95">
              <a:extLst>
                <a:ext uri="{FF2B5EF4-FFF2-40B4-BE49-F238E27FC236}">
                  <a16:creationId xmlns:a16="http://schemas.microsoft.com/office/drawing/2014/main" id="{DBDB0900-17FD-100A-9833-C742C6977C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43" y="154846"/>
              <a:ext cx="66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35" name="组合 111">
              <a:extLst>
                <a:ext uri="{FF2B5EF4-FFF2-40B4-BE49-F238E27FC236}">
                  <a16:creationId xmlns:a16="http://schemas.microsoft.com/office/drawing/2014/main" id="{5ED804AD-B31D-BF47-8FF4-588CC8BADB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48" y="154741"/>
              <a:ext cx="4391" cy="2067"/>
              <a:chOff x="6048" y="154741"/>
              <a:chExt cx="4391" cy="2067"/>
            </a:xfrm>
          </p:grpSpPr>
          <p:sp>
            <p:nvSpPr>
              <p:cNvPr id="36" name="文本框 97">
                <a:extLst>
                  <a:ext uri="{FF2B5EF4-FFF2-40B4-BE49-F238E27FC236}">
                    <a16:creationId xmlns:a16="http://schemas.microsoft.com/office/drawing/2014/main" id="{0CCB78E0-3BEC-9ED0-A89A-BC4D5DBEE6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03" y="155326"/>
                <a:ext cx="660" cy="3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100</a:t>
                </a:r>
                <a:endParaRPr kumimoji="0" lang="en-US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7" name="文本框 98">
                <a:extLst>
                  <a:ext uri="{FF2B5EF4-FFF2-40B4-BE49-F238E27FC236}">
                    <a16:creationId xmlns:a16="http://schemas.microsoft.com/office/drawing/2014/main" id="{E43989CA-DE6E-6508-4AFE-7FBFE4AAB6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48" y="154741"/>
                <a:ext cx="929" cy="3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kumimoji="0" lang="en-US" altLang="zh-CN" sz="1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0, 0</a:t>
                </a:r>
                <a:r>
                  <a:rPr kumimoji="0" lang="zh-CN" altLang="en-US" sz="1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8" name="文本框 99">
                <a:extLst>
                  <a:ext uri="{FF2B5EF4-FFF2-40B4-BE49-F238E27FC236}">
                    <a16:creationId xmlns:a16="http://schemas.microsoft.com/office/drawing/2014/main" id="{F1190A9F-DBD9-35FC-0E79-6312966832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03" y="156257"/>
                <a:ext cx="1437" cy="3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sz="1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kumimoji="0" lang="en-US" altLang="zh-CN" sz="1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200, 100</a:t>
                </a:r>
                <a:r>
                  <a:rPr kumimoji="0" lang="zh-CN" altLang="en-US" sz="1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grpSp>
            <p:nvGrpSpPr>
              <p:cNvPr id="39" name="组合 110">
                <a:extLst>
                  <a:ext uri="{FF2B5EF4-FFF2-40B4-BE49-F238E27FC236}">
                    <a16:creationId xmlns:a16="http://schemas.microsoft.com/office/drawing/2014/main" id="{C7A2B10C-5BAD-DDC4-03C4-4E5CDECFA2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138" y="154741"/>
                <a:ext cx="3226" cy="1710"/>
                <a:chOff x="6138" y="154741"/>
                <a:chExt cx="3226" cy="1710"/>
              </a:xfrm>
            </p:grpSpPr>
            <p:sp>
              <p:nvSpPr>
                <p:cNvPr id="41" name="自选图形 102">
                  <a:extLst>
                    <a:ext uri="{FF2B5EF4-FFF2-40B4-BE49-F238E27FC236}">
                      <a16:creationId xmlns:a16="http://schemas.microsoft.com/office/drawing/2014/main" id="{6E79F0BB-993D-9FC2-2464-D8E1095FC8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-5400000">
                  <a:off x="7604" y="154902"/>
                  <a:ext cx="135" cy="2956"/>
                </a:xfrm>
                <a:prstGeom prst="leftBrace">
                  <a:avLst>
                    <a:gd name="adj1" fmla="val 182469"/>
                    <a:gd name="adj2" fmla="val 50000"/>
                  </a:avLst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" name="自选图形 103">
                  <a:extLst>
                    <a:ext uri="{FF2B5EF4-FFF2-40B4-BE49-F238E27FC236}">
                      <a16:creationId xmlns:a16="http://schemas.microsoft.com/office/drawing/2014/main" id="{CCE6B571-0DCA-6738-3317-E00D8F683C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9184" y="154742"/>
                  <a:ext cx="180" cy="1530"/>
                </a:xfrm>
                <a:prstGeom prst="leftBrace">
                  <a:avLst>
                    <a:gd name="adj1" fmla="val 70833"/>
                    <a:gd name="adj2" fmla="val 50000"/>
                  </a:avLst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椭圆 105">
                  <a:extLst>
                    <a:ext uri="{FF2B5EF4-FFF2-40B4-BE49-F238E27FC236}">
                      <a16:creationId xmlns:a16="http://schemas.microsoft.com/office/drawing/2014/main" id="{4999B01A-7488-C8BF-D952-0075B38E23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8" y="154741"/>
                  <a:ext cx="119" cy="119"/>
                </a:xfrm>
                <a:prstGeom prst="ellipse">
                  <a:avLst/>
                </a:prstGeom>
                <a:solidFill>
                  <a:srgbClr val="FF00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直线 107">
                  <a:extLst>
                    <a:ext uri="{FF2B5EF4-FFF2-40B4-BE49-F238E27FC236}">
                      <a16:creationId xmlns:a16="http://schemas.microsoft.com/office/drawing/2014/main" id="{58F5AE2C-48CA-2244-5418-B1913E8D1E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180" y="156285"/>
                  <a:ext cx="2940" cy="1"/>
                </a:xfrm>
                <a:prstGeom prst="line">
                  <a:avLst/>
                </a:prstGeom>
                <a:noFill/>
                <a:ln w="9525" cap="rnd">
                  <a:solidFill>
                    <a:srgbClr val="00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5" name="直线 109">
                  <a:extLst>
                    <a:ext uri="{FF2B5EF4-FFF2-40B4-BE49-F238E27FC236}">
                      <a16:creationId xmlns:a16="http://schemas.microsoft.com/office/drawing/2014/main" id="{B38C5263-80F1-1344-8A35-C9E7B68538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180" y="154755"/>
                  <a:ext cx="15" cy="1515"/>
                </a:xfrm>
                <a:prstGeom prst="line">
                  <a:avLst/>
                </a:prstGeom>
                <a:noFill/>
                <a:ln w="9525" cap="rnd">
                  <a:solidFill>
                    <a:srgbClr val="00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椭圆 104">
                  <a:extLst>
                    <a:ext uri="{FF2B5EF4-FFF2-40B4-BE49-F238E27FC236}">
                      <a16:creationId xmlns:a16="http://schemas.microsoft.com/office/drawing/2014/main" id="{1ED284CE-FF22-BF93-93CB-B20FE09AF6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23" y="156211"/>
                  <a:ext cx="119" cy="119"/>
                </a:xfrm>
                <a:prstGeom prst="ellipse">
                  <a:avLst/>
                </a:prstGeom>
                <a:solidFill>
                  <a:srgbClr val="FF00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40" name="文本框 106">
                <a:extLst>
                  <a:ext uri="{FF2B5EF4-FFF2-40B4-BE49-F238E27FC236}">
                    <a16:creationId xmlns:a16="http://schemas.microsoft.com/office/drawing/2014/main" id="{3C5A6879-9D74-A59B-5891-6F18BF3AF9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68" y="156420"/>
                <a:ext cx="660" cy="3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200</a:t>
                </a:r>
                <a:endParaRPr kumimoji="0" lang="en-US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22400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B5BCE-7896-3D49-F60A-E12D12FFC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建立游戏世界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11ECA3-97D4-EB8B-8BCF-22F248B60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10058400" cy="40233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在游戏的世界中有两个基本要素：场景和角色。游戏场景是指游戏发生的场所，或者说游戏的一个特定情景。通常我们会为游戏制作一些尺寸比较大的图片，以此作为游戏场景的背景图像；游戏角色是指游戏场景中的各种物体，它们不仅有特定的图像，更重要的是它们能够活动（通常是在场景范围内活动），而且彼此之间还能发生相互作用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798179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89054" y="710575"/>
            <a:ext cx="10058400" cy="5340904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3.1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创建游戏场景</a:t>
            </a:r>
            <a:endParaRPr lang="en-US" altLang="zh-CN" sz="2400" b="1" kern="0" dirty="0"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游戏场景可以很复杂，也可以很简单，</a:t>
            </a:r>
            <a:r>
              <a:rPr lang="zh-CN" altLang="en-US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即使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用单一色彩来填充窗口，也可以作为游戏的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场景。因场景的主要作用是为各个游戏角色提供一个活动的场所，只要能够保证角色能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够正确地显示其中就可以了。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图片 23">
            <a:extLst>
              <a:ext uri="{FF2B5EF4-FFF2-40B4-BE49-F238E27FC236}">
                <a16:creationId xmlns:a16="http://schemas.microsoft.com/office/drawing/2014/main" id="{70AF7956-7E17-0883-F354-8D99CBF16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999" y="2832029"/>
            <a:ext cx="4914900" cy="321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2924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47957" y="402350"/>
            <a:ext cx="10574164" cy="5854612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 3.2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创建游戏角色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98450" algn="just">
              <a:lnSpc>
                <a:spcPct val="10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可以使用</a:t>
            </a:r>
            <a:r>
              <a:rPr lang="en-US" altLang="zh-CN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Pgzero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提供的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Actor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类来创建需要的角色对象。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9845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ball = Actor("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breakout_ball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", (200, 100))</a:t>
            </a:r>
          </a:p>
          <a:p>
            <a:pPr indent="298450" algn="just">
              <a:lnSpc>
                <a:spcPct val="100000"/>
              </a:lnSpc>
            </a:pPr>
            <a:r>
              <a:rPr lang="en-US" altLang="zh-CN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Actor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类的构造方法有两个参数，第一个是角色的图片文件名，第二个是角色的初始位置。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98450" algn="just">
              <a:lnSpc>
                <a:spcPct val="10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角色对象拥有很多属性和方法</a:t>
            </a:r>
            <a:r>
              <a:rPr lang="zh-CN" altLang="en-US" kern="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，其中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有一个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draw()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的方法，用来将自身显示在窗口中。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98450" algn="just">
              <a:lnSpc>
                <a:spcPct val="10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将之前的代码改写如下：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9845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WIDTH = 500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9845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HEIGHT = 300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9845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ball = Actor("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breakout_ball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", (200, 100))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9845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def draw():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9845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screen.fill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((255, 255, 255))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9845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ball.draw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98450" algn="just">
              <a:lnSpc>
                <a:spcPct val="15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2270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B5BCE-7896-3D49-F60A-E12D12FFC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移动小球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11ECA3-97D4-EB8B-8BCF-22F248B60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想要移动小球，必须改变它在窗口中的位置，即小球显示的坐标。在</a:t>
            </a:r>
            <a:r>
              <a:rPr lang="en-US" altLang="zh-CN" sz="2800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Pgzero</a:t>
            </a: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中，角色对象拥有两个属性：</a:t>
            </a:r>
            <a:r>
              <a:rPr lang="en-US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y</a:t>
            </a: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，前者表示角色在窗口中的横坐标，后者表示角色在窗口中的纵坐标。由于小球目前已经被定义为角色对象，我们就可以直接修改它的</a:t>
            </a:r>
            <a:r>
              <a:rPr lang="en-US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y</a:t>
            </a: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属性来改变其坐标值。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8807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9228250" cy="439568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 4.1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改变小球坐标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Pgzero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规定所有对角色操作的代码都要放置在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update()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函数中。</a:t>
            </a:r>
            <a:endParaRPr lang="en-US" altLang="zh-CN" sz="24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定义一个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update()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函数，将改变小球坐标的代码放入其中：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def update():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	  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ball.x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+= 1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98450" algn="just">
              <a:lnSpc>
                <a:spcPct val="15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7562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9228250" cy="5080014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4.2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游戏循环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作为一个游戏，它要执行两个最基本的操作：一个是更新游戏逻辑，包括改变角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色位置或图像，处理角色之间的相互作用，切换游戏场景，等等；另一个是绘制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游戏图像，包括绘制游戏的背景，绘制角色的图像，绘制文字信息，等等。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Pgzero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已经在内部预先设定好了一个游戏循环，</a:t>
            </a:r>
            <a:endParaRPr lang="en-US" altLang="zh-CN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我们只负责定义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update()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draw()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函数，并将更新</a:t>
            </a:r>
            <a:endParaRPr lang="en-US" altLang="zh-CN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游戏逻辑和显示游戏图像的代码分别写入其中即可，</a:t>
            </a:r>
            <a:endParaRPr lang="en-US" altLang="zh-CN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Pgzero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内部的游戏循环会自动调用这两个函数。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6E9EC74A-64B9-6F2D-CDC7-E2C751AE0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1029" y="390797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43F2182C-5EC0-DCC3-4CBD-A4DBC9C24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3" name="组合 79">
            <a:extLst>
              <a:ext uri="{FF2B5EF4-FFF2-40B4-BE49-F238E27FC236}">
                <a16:creationId xmlns:a16="http://schemas.microsoft.com/office/drawing/2014/main" id="{BBCE47F0-700E-63E7-1DB7-18E5178BD70B}"/>
              </a:ext>
            </a:extLst>
          </p:cNvPr>
          <p:cNvGrpSpPr>
            <a:grpSpLocks/>
          </p:cNvGrpSpPr>
          <p:nvPr/>
        </p:nvGrpSpPr>
        <p:grpSpPr bwMode="auto">
          <a:xfrm>
            <a:off x="7361800" y="2743080"/>
            <a:ext cx="2645229" cy="3222169"/>
            <a:chOff x="6675" y="210859"/>
            <a:chExt cx="3241" cy="2967"/>
          </a:xfrm>
        </p:grpSpPr>
        <p:sp>
          <p:nvSpPr>
            <p:cNvPr id="14" name="自选图形 52">
              <a:extLst>
                <a:ext uri="{FF2B5EF4-FFF2-40B4-BE49-F238E27FC236}">
                  <a16:creationId xmlns:a16="http://schemas.microsoft.com/office/drawing/2014/main" id="{FB7543B0-B340-81DE-A636-B773D8FEEA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5" y="211125"/>
              <a:ext cx="1228" cy="2467"/>
            </a:xfrm>
            <a:prstGeom prst="curvedRightArrow">
              <a:avLst>
                <a:gd name="adj1" fmla="val 40179"/>
                <a:gd name="adj2" fmla="val 80358"/>
                <a:gd name="adj3" fmla="val 33333"/>
              </a:avLst>
            </a:prstGeom>
            <a:solidFill>
              <a:srgbClr val="00B0F0"/>
            </a:solidFill>
            <a:ln w="9525">
              <a:solidFill>
                <a:srgbClr val="00B05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自选图形 53">
              <a:extLst>
                <a:ext uri="{FF2B5EF4-FFF2-40B4-BE49-F238E27FC236}">
                  <a16:creationId xmlns:a16="http://schemas.microsoft.com/office/drawing/2014/main" id="{27813001-A2FB-F3C6-EF46-DA5A560D380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560000">
              <a:off x="8610" y="210935"/>
              <a:ext cx="1306" cy="2382"/>
            </a:xfrm>
            <a:prstGeom prst="curvedRightArrow">
              <a:avLst>
                <a:gd name="adj1" fmla="val 36478"/>
                <a:gd name="adj2" fmla="val 72956"/>
                <a:gd name="adj3" fmla="val 33333"/>
              </a:avLst>
            </a:prstGeom>
            <a:solidFill>
              <a:srgbClr val="00B0F0"/>
            </a:solidFill>
            <a:ln w="9525">
              <a:solidFill>
                <a:srgbClr val="00B05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文本框 54">
              <a:extLst>
                <a:ext uri="{FF2B5EF4-FFF2-40B4-BE49-F238E27FC236}">
                  <a16:creationId xmlns:a16="http://schemas.microsoft.com/office/drawing/2014/main" id="{99EAEAF9-0DD2-971E-F58B-19444612FD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5" y="212704"/>
              <a:ext cx="825" cy="11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黑体" panose="02010609060101010101" pitchFamily="49" charset="-122"/>
                </a:rPr>
                <a:t>绘制</a:t>
              </a:r>
              <a:endPara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黑体" panose="02010609060101010101" pitchFamily="49" charset="-122"/>
                </a:rPr>
                <a:t>游戏</a:t>
              </a:r>
              <a:endPara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黑体" panose="02010609060101010101" pitchFamily="49" charset="-122"/>
                </a:rPr>
                <a:t>图像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文本框 55">
              <a:extLst>
                <a:ext uri="{FF2B5EF4-FFF2-40B4-BE49-F238E27FC236}">
                  <a16:creationId xmlns:a16="http://schemas.microsoft.com/office/drawing/2014/main" id="{B09AF0BC-BA94-A9FF-C8D1-F2ECED647A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60" y="210859"/>
              <a:ext cx="825" cy="1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黑体" panose="02010609060101010101" pitchFamily="49" charset="-122"/>
                </a:rPr>
                <a:t>更新</a:t>
              </a:r>
              <a:endPara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黑体" panose="02010609060101010101" pitchFamily="49" charset="-122"/>
                </a:rPr>
                <a:t>游戏</a:t>
              </a:r>
              <a:endPara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黑体" panose="02010609060101010101" pitchFamily="49" charset="-122"/>
                </a:rPr>
                <a:t>逻辑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8158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266700" algn="just">
              <a:lnSpc>
                <a:spcPct val="150000"/>
              </a:lnSpc>
            </a:pPr>
            <a:r>
              <a:rPr lang="en-US" altLang="zh-CN" sz="2400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4.3 </a:t>
            </a:r>
            <a:r>
              <a:rPr lang="zh-CN" altLang="zh-CN" sz="24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朝其他方向移动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若想让小球向左移动，只需不断减少小球的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坐标值：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-= 1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让小球向下移动，则增加小球的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y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坐标值：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+= 1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让小球向上移动，则减少小球的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y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坐标值：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-= 1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如果想小球从左上朝右下移动</a:t>
            </a:r>
            <a:r>
              <a:rPr lang="zh-CN" altLang="en-US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可以同时改变小球的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y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坐标值</a:t>
            </a:r>
            <a:r>
              <a:rPr lang="zh-CN" altLang="en-US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+= 1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+= 1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98450" algn="just">
              <a:lnSpc>
                <a:spcPct val="15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3117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DBB054-279A-6291-BA33-511CE9B31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18B090-FB99-E728-BA14-999ACC11D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sz="3600" kern="0" dirty="0">
              <a:effectLst/>
              <a:latin typeface="Times New Roman" panose="02020603050405020304" pitchFamily="18" charset="0"/>
              <a:ea typeface="仿宋_GB2312"/>
              <a:cs typeface="宋体" panose="02010600030101010101" pitchFamily="2" charset="-122"/>
            </a:endParaRPr>
          </a:p>
          <a:p>
            <a:r>
              <a:rPr lang="zh-CN" altLang="zh-CN" sz="3600" kern="0" dirty="0">
                <a:effectLst/>
                <a:latin typeface="Times New Roman" panose="02020603050405020304" pitchFamily="18" charset="0"/>
                <a:ea typeface="仿宋_GB2312"/>
                <a:cs typeface="宋体" panose="02010600030101010101" pitchFamily="2" charset="-122"/>
              </a:rPr>
              <a:t>动手试一下，若要小球从右上朝左下移动，应该</a:t>
            </a:r>
            <a:endParaRPr lang="en-US" altLang="zh-CN" sz="3600" kern="0" dirty="0">
              <a:effectLst/>
              <a:latin typeface="Times New Roman" panose="02020603050405020304" pitchFamily="18" charset="0"/>
              <a:ea typeface="仿宋_GB2312"/>
              <a:cs typeface="宋体" panose="02010600030101010101" pitchFamily="2" charset="-122"/>
            </a:endParaRPr>
          </a:p>
          <a:p>
            <a:r>
              <a:rPr lang="zh-CN" altLang="zh-CN" sz="3600" kern="0" dirty="0">
                <a:effectLst/>
                <a:latin typeface="Times New Roman" panose="02020603050405020304" pitchFamily="18" charset="0"/>
                <a:ea typeface="仿宋_GB2312"/>
                <a:cs typeface="宋体" panose="02010600030101010101" pitchFamily="2" charset="-122"/>
              </a:rPr>
              <a:t>如何修改代码呢？</a:t>
            </a:r>
            <a:endParaRPr lang="zh-CN" altLang="zh-CN" sz="3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2406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4.4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移动得快一些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en-US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小球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之所以</a:t>
            </a:r>
            <a:r>
              <a:rPr lang="zh-CN" altLang="en-US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移动慢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，是因为我们每次对小球的坐标值只增加或减少了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个单位。若想加快小球的移动速度，那么可以试着将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替换成更大的数值。但如果坐标值改变得太大，小球可能一下子就跑到窗口外面去了。因此需要根据游戏的效果来反复修改数值，直到获得满意的效果为止。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299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</a:t>
            </a:r>
            <a:r>
              <a:rPr lang="zh-CN" altLang="en-US" dirty="0"/>
              <a:t>实现小球反弹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CN" sz="2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zh-CN" sz="2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目前还存在一个问题，那就是当小球移动到窗口之外后，它便消</a:t>
            </a:r>
            <a:endParaRPr lang="en-US" altLang="zh-CN" sz="2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zh-CN" sz="2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失得无影无踪了。</a:t>
            </a:r>
            <a:endParaRPr lang="en-US" altLang="zh-CN" sz="2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zh-CN" sz="2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需要做两件事情：一是检查小球是否跑到了场景外面；二是让小</a:t>
            </a:r>
            <a:endParaRPr lang="en-US" altLang="zh-CN" sz="2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zh-CN" sz="2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球重新回到场景之中。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182765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5.1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检测小球的位置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sz="2400" dirty="0" err="1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Pgzero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为角色对象提供了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个属性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left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right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top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bottom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，分别表</a:t>
            </a:r>
            <a:endParaRPr lang="en-US" altLang="zh-CN" sz="24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示角色的左、右、上、下各个边界的位置。</a:t>
            </a:r>
            <a:endParaRPr lang="en-US" altLang="zh-CN" sz="24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要想知道小球的右边界是否超过了窗口右边界，则需要判断小球的</a:t>
            </a:r>
            <a:endParaRPr lang="en-US" altLang="zh-CN" sz="24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right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属性是否大于窗口的宽度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WIDTH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，这可以借助条件语句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来实</a:t>
            </a:r>
            <a:endParaRPr lang="en-US" altLang="zh-CN" sz="24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现，代码类似如下形式：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if 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ball.right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&gt; WIDTH: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571500" algn="just">
              <a:lnSpc>
                <a:spcPct val="100000"/>
              </a:lnSpc>
            </a:pP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让小球重新回到窗口内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58813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266700" algn="just">
              <a:lnSpc>
                <a:spcPct val="150000"/>
              </a:lnSpc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5.2 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将小球反弹回来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定义两个速度变量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dx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dirty="0" err="1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dy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，分别表示小球水平和垂直方向的速度。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dx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dirty="0" err="1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dy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的大小表示移动距离，正负表示不同的方向</a:t>
            </a:r>
            <a:r>
              <a:rPr lang="zh-CN" altLang="en-US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采用如下代码为小球添加速度属性：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ball.dx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5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ball.dy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5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zh-CN" altLang="en-US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若要让小球在窗口右边界反弹，可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将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update()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函数修改如下：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def update():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+=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ball.dx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if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ball.right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&gt; WIDTH: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ball.dx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-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ball.dx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26760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5.2 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将小球反弹回来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如果要让小球在窗口左边界也能反弹，则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语句中还要增加额外的判断条件，即判断小球的左边界是否超出了窗口的左边界。用“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or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”关键字来连接两个不同的判断条件，则不论是超出右边界还是超出左边界，小球都将发生反弹。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update():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+=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ball.dx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if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ball.right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&gt; WIDTH or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ball.left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&lt; 0: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ball.dx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-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ball.dx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80472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326873" y="431014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266700" algn="just">
              <a:lnSpc>
                <a:spcPct val="150000"/>
              </a:lnSpc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5.2 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将小球反弹回来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让小球的垂直速度也同时发生改变，并添加垂直方向的反弹规则</a:t>
            </a:r>
            <a:r>
              <a:rPr lang="zh-CN" altLang="en-US" kern="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update():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+=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ball.dx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+=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ball.dy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if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ball.right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&gt; WIDTH or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ball.left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&lt; 0: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ball.dx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-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ball.dx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if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ball.bottom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&gt; HEIGHT or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ball.top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&lt; 0: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ball.dy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-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ball.dy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11">
            <a:extLst>
              <a:ext uri="{FF2B5EF4-FFF2-40B4-BE49-F238E27FC236}">
                <a16:creationId xmlns:a16="http://schemas.microsoft.com/office/drawing/2014/main" id="{86639A5A-E22B-15FB-7536-619E18B4D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" name="组合 11">
            <a:extLst>
              <a:ext uri="{FF2B5EF4-FFF2-40B4-BE49-F238E27FC236}">
                <a16:creationId xmlns:a16="http://schemas.microsoft.com/office/drawing/2014/main" id="{2BB92A85-A916-E621-38C8-0E1236677905}"/>
              </a:ext>
            </a:extLst>
          </p:cNvPr>
          <p:cNvGrpSpPr>
            <a:grpSpLocks/>
          </p:cNvGrpSpPr>
          <p:nvPr/>
        </p:nvGrpSpPr>
        <p:grpSpPr bwMode="auto">
          <a:xfrm>
            <a:off x="6645667" y="2083942"/>
            <a:ext cx="4914900" cy="3219450"/>
            <a:chOff x="5977" y="248562"/>
            <a:chExt cx="7740" cy="5070"/>
          </a:xfrm>
        </p:grpSpPr>
        <p:pic>
          <p:nvPicPr>
            <p:cNvPr id="13322" name="图片 2">
              <a:extLst>
                <a:ext uri="{FF2B5EF4-FFF2-40B4-BE49-F238E27FC236}">
                  <a16:creationId xmlns:a16="http://schemas.microsoft.com/office/drawing/2014/main" id="{4E6B9656-FD57-B77F-1391-D3BB524C0C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7" y="248562"/>
              <a:ext cx="7740" cy="5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自选图形 3">
              <a:extLst>
                <a:ext uri="{FF2B5EF4-FFF2-40B4-BE49-F238E27FC236}">
                  <a16:creationId xmlns:a16="http://schemas.microsoft.com/office/drawing/2014/main" id="{375D3DAD-22DC-BD1A-B9FA-08E03BD5E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0" y="251202"/>
              <a:ext cx="571" cy="120"/>
            </a:xfrm>
            <a:prstGeom prst="rightArrow">
              <a:avLst>
                <a:gd name="adj1" fmla="val 50000"/>
                <a:gd name="adj2" fmla="val 118958"/>
              </a:avLst>
            </a:prstGeom>
            <a:solidFill>
              <a:srgbClr val="00B05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文本框 4">
              <a:extLst>
                <a:ext uri="{FF2B5EF4-FFF2-40B4-BE49-F238E27FC236}">
                  <a16:creationId xmlns:a16="http://schemas.microsoft.com/office/drawing/2014/main" id="{7ED8858B-5ECE-60A1-36F2-96E5B28B3C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5" y="251066"/>
              <a:ext cx="1275" cy="3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1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向右反弹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" name="自选图形 5">
              <a:extLst>
                <a:ext uri="{FF2B5EF4-FFF2-40B4-BE49-F238E27FC236}">
                  <a16:creationId xmlns:a16="http://schemas.microsoft.com/office/drawing/2014/main" id="{E44E58CF-5A38-41C3-1D01-C018A72A20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2615" y="251217"/>
              <a:ext cx="571" cy="120"/>
            </a:xfrm>
            <a:prstGeom prst="rightArrow">
              <a:avLst>
                <a:gd name="adj1" fmla="val 50000"/>
                <a:gd name="adj2" fmla="val 118958"/>
              </a:avLst>
            </a:prstGeom>
            <a:solidFill>
              <a:srgbClr val="00B05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自选图形 6">
              <a:extLst>
                <a:ext uri="{FF2B5EF4-FFF2-40B4-BE49-F238E27FC236}">
                  <a16:creationId xmlns:a16="http://schemas.microsoft.com/office/drawing/2014/main" id="{D2129504-6EF0-8DF9-66B6-8ACE10A8C3E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9565" y="249563"/>
              <a:ext cx="571" cy="120"/>
            </a:xfrm>
            <a:prstGeom prst="rightArrow">
              <a:avLst>
                <a:gd name="adj1" fmla="val 50000"/>
                <a:gd name="adj2" fmla="val 118958"/>
              </a:avLst>
            </a:prstGeom>
            <a:solidFill>
              <a:srgbClr val="00B05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自选图形 7">
              <a:extLst>
                <a:ext uri="{FF2B5EF4-FFF2-40B4-BE49-F238E27FC236}">
                  <a16:creationId xmlns:a16="http://schemas.microsoft.com/office/drawing/2014/main" id="{EFA7CEB4-71BF-311C-A601-2EA28C15434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9535" y="252788"/>
              <a:ext cx="571" cy="120"/>
            </a:xfrm>
            <a:prstGeom prst="rightArrow">
              <a:avLst>
                <a:gd name="adj1" fmla="val 50000"/>
                <a:gd name="adj2" fmla="val 118958"/>
              </a:avLst>
            </a:prstGeom>
            <a:solidFill>
              <a:srgbClr val="00B05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文本框 8">
              <a:extLst>
                <a:ext uri="{FF2B5EF4-FFF2-40B4-BE49-F238E27FC236}">
                  <a16:creationId xmlns:a16="http://schemas.microsoft.com/office/drawing/2014/main" id="{5B1EF7C4-88B4-C70D-B578-AFBDA81449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85" y="251066"/>
              <a:ext cx="1170" cy="3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1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向左反弹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文本框 9">
              <a:extLst>
                <a:ext uri="{FF2B5EF4-FFF2-40B4-BE49-F238E27FC236}">
                  <a16:creationId xmlns:a16="http://schemas.microsoft.com/office/drawing/2014/main" id="{529DE389-E804-DB29-4EC4-8E60EE0650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00" y="249926"/>
              <a:ext cx="1275" cy="3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1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向下反弹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" name="文本框 10">
              <a:extLst>
                <a:ext uri="{FF2B5EF4-FFF2-40B4-BE49-F238E27FC236}">
                  <a16:creationId xmlns:a16="http://schemas.microsoft.com/office/drawing/2014/main" id="{6E674CBB-4E39-0699-7DC5-31F23FA208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40" y="252161"/>
              <a:ext cx="1275" cy="3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1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向上反弹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83956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DD4B9-6B88-FD0A-B009-CECCCB417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</a:t>
            </a:r>
            <a:r>
              <a:rPr lang="zh-CN" altLang="en-US" dirty="0"/>
              <a:t>加入更多小球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195055-33F3-8D81-5B60-CA9783583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现在窗口中只有一个小球，为了让游戏看起来更好玩，我们不</a:t>
            </a:r>
            <a:endParaRPr lang="en-US" altLang="zh-CN" sz="28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妨再多添加几个小球。比如要在窗口中加入两个小球，该怎么</a:t>
            </a:r>
            <a:endParaRPr lang="en-US" altLang="zh-CN" sz="28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编写代码呢？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21875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9711136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6.1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添加两个小球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再定义一个小球角色，分别在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update()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draw()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函数中编写逻辑更新和显示图像的代码。</a:t>
            </a:r>
            <a:endParaRPr lang="en-US" altLang="zh-CN" sz="24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（代码参见书上第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18</a:t>
            </a: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页）</a:t>
            </a:r>
            <a:endParaRPr lang="en-US" altLang="zh-CN" sz="2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9458" name="图片 9">
            <a:extLst>
              <a:ext uri="{FF2B5EF4-FFF2-40B4-BE49-F238E27FC236}">
                <a16:creationId xmlns:a16="http://schemas.microsoft.com/office/drawing/2014/main" id="{621721D8-CAFA-FA59-857C-92CED095E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745" y="2429134"/>
            <a:ext cx="4914900" cy="321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3158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C08CF-9878-9C84-348D-E802464B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862DB0-CA5C-4C75-2A78-1537583AE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sz="2000" kern="0" dirty="0">
              <a:effectLst/>
              <a:latin typeface="Times New Roman" panose="02020603050405020304" pitchFamily="18" charset="0"/>
              <a:ea typeface="仿宋_GB2312"/>
              <a:cs typeface="宋体" panose="02010600030101010101" pitchFamily="2" charset="-122"/>
            </a:endParaRPr>
          </a:p>
          <a:p>
            <a:r>
              <a:rPr lang="zh-CN" altLang="zh-CN" sz="3200" kern="0" dirty="0">
                <a:effectLst/>
                <a:latin typeface="Times New Roman" panose="02020603050405020304" pitchFamily="18" charset="0"/>
                <a:ea typeface="仿宋_GB2312"/>
                <a:cs typeface="宋体" panose="02010600030101010101" pitchFamily="2" charset="-122"/>
              </a:rPr>
              <a:t>不妨按照相同的思路再添加一个或更多小球试试看。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90647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08915" y="289333"/>
            <a:ext cx="9719353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266700" algn="just">
              <a:lnSpc>
                <a:spcPct val="150000"/>
              </a:lnSpc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6.2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使用列表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zh-CN" altLang="en-US" kern="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定义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列表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balls</a:t>
            </a:r>
            <a:r>
              <a:rPr lang="zh-CN" altLang="en-US" kern="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保存小球角色，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定义常量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NUM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表示小球数量</a:t>
            </a:r>
            <a:r>
              <a:rPr lang="zh-CN" altLang="en-US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NUM = 10                           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balls = []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通过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for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循环语句自动地创建每个小球角色，</a:t>
            </a:r>
            <a:r>
              <a:rPr lang="zh-CN" altLang="en-US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并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加入列表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balls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中</a:t>
            </a:r>
            <a:r>
              <a:rPr lang="zh-CN" altLang="en-US" kern="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en-US" altLang="zh-CN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for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in range(NUM):                                       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ball = Actor("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breakout_ball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")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50 *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+ 100             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100              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ball.dx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5 +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   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ball.dy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5 +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</a:t>
            </a:r>
            <a:endParaRPr lang="en-US" altLang="zh-CN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dirty="0" err="1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balls.append</a:t>
            </a:r>
            <a:r>
              <a:rPr lang="en-US" altLang="zh-CN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(ball)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07986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976044" y="700300"/>
            <a:ext cx="9719353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266700" algn="just">
              <a:lnSpc>
                <a:spcPct val="150000"/>
              </a:lnSpc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6.2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使用列表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update()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函数中对所有小球统一进行逻辑更新操作：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update():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for ball in balls: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ball.x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+= 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ball.dx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ball.y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+= 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ball.dy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if 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ball.right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&gt; WIDTH or 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ball.left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&lt; 0: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ball.dx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-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ball.dx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if 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ball.bottom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&gt; HEIGHT or 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ball.top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&lt; 0: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4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            </a:t>
            </a:r>
            <a:r>
              <a:rPr lang="en-US" altLang="zh-CN" sz="2400" dirty="0" err="1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ball.dy</a:t>
            </a:r>
            <a:r>
              <a:rPr lang="en-US" altLang="zh-CN" sz="24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 = -</a:t>
            </a:r>
            <a:r>
              <a:rPr lang="en-US" altLang="zh-CN" sz="2400" dirty="0" err="1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ball.dy</a:t>
            </a:r>
            <a:r>
              <a:rPr lang="en-US" altLang="zh-CN" sz="24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61995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421240" y="392075"/>
            <a:ext cx="9719353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266700" algn="just">
              <a:lnSpc>
                <a:spcPct val="150000"/>
              </a:lnSpc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6.2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使用列表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draw()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函数中对所有小球统一进行图像绘制操作：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draw():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screen.fill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((255, 255, 255))   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for ball in balls:              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sz="2400" dirty="0" err="1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ball.draw</a:t>
            </a:r>
            <a:r>
              <a:rPr lang="en-US" altLang="zh-CN" sz="24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() 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0482" name="图片 8">
            <a:extLst>
              <a:ext uri="{FF2B5EF4-FFF2-40B4-BE49-F238E27FC236}">
                <a16:creationId xmlns:a16="http://schemas.microsoft.com/office/drawing/2014/main" id="{85041490-4605-2EFC-A419-F1D8518A8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718" y="1968714"/>
            <a:ext cx="5486400" cy="431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68748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E1FD12-3765-D577-424E-D275D83AD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回顾与总结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6F0AB-C2B5-60F3-2AD0-A592E9C3D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236568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在本章中，我们从无到有编写了一个弹跳小球的游戏。我们首先学习了</a:t>
            </a:r>
            <a:r>
              <a:rPr lang="en-US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Mu</a:t>
            </a: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编辑器的基本操作，以及如何借助</a:t>
            </a:r>
            <a:r>
              <a:rPr lang="en-US" altLang="zh-CN" sz="2800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Pgzero</a:t>
            </a: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库来创建游戏窗口。然后了解了如何在窗口中绘制背景及图像。接下来，我们学习了如何创建游戏角色，并在窗口中生成了一个小球角色。我们设法让小球移动起来，并借此理解了游戏循环的概念，正是依靠游戏循环，我们的游戏才会不断地运行起来。此后我们还实现了小球的反弹效果，让小球围绕窗口的四条边界来回弹跳。最后，我们添加了很多个弹跳的小球，并通过列表对它们进行统一的管理和操作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1557301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</TotalTime>
  <Words>2247</Words>
  <Application>Microsoft Office PowerPoint</Application>
  <PresentationFormat>宽屏</PresentationFormat>
  <Paragraphs>201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1" baseType="lpstr">
      <vt:lpstr>等线</vt:lpstr>
      <vt:lpstr>宋体</vt:lpstr>
      <vt:lpstr>微软雅黑</vt:lpstr>
      <vt:lpstr>Arial</vt:lpstr>
      <vt:lpstr>Calibri</vt:lpstr>
      <vt:lpstr>Calibri Light</vt:lpstr>
      <vt:lpstr>Times New Roman</vt:lpstr>
      <vt:lpstr>Wingdings</vt:lpstr>
      <vt:lpstr>回顾</vt:lpstr>
      <vt:lpstr>弹跳小球游戏</vt:lpstr>
      <vt:lpstr>本章知识点</vt:lpstr>
      <vt:lpstr>1.准备工作</vt:lpstr>
      <vt:lpstr>PowerPoint 演示文稿</vt:lpstr>
      <vt:lpstr>2.从何处开始</vt:lpstr>
      <vt:lpstr>PowerPoint 演示文稿</vt:lpstr>
      <vt:lpstr>PowerPoint 演示文稿</vt:lpstr>
      <vt:lpstr>PowerPoint 演示文稿</vt:lpstr>
      <vt:lpstr>练习</vt:lpstr>
      <vt:lpstr>PowerPoint 演示文稿</vt:lpstr>
      <vt:lpstr>PowerPoint 演示文稿</vt:lpstr>
      <vt:lpstr>3.建立游戏世界</vt:lpstr>
      <vt:lpstr>PowerPoint 演示文稿</vt:lpstr>
      <vt:lpstr>PowerPoint 演示文稿</vt:lpstr>
      <vt:lpstr>4.移动小球</vt:lpstr>
      <vt:lpstr>PowerPoint 演示文稿</vt:lpstr>
      <vt:lpstr>PowerPoint 演示文稿</vt:lpstr>
      <vt:lpstr>PowerPoint 演示文稿</vt:lpstr>
      <vt:lpstr>练习</vt:lpstr>
      <vt:lpstr>PowerPoint 演示文稿</vt:lpstr>
      <vt:lpstr>5.实现小球反弹</vt:lpstr>
      <vt:lpstr>PowerPoint 演示文稿</vt:lpstr>
      <vt:lpstr>PowerPoint 演示文稿</vt:lpstr>
      <vt:lpstr>PowerPoint 演示文稿</vt:lpstr>
      <vt:lpstr>PowerPoint 演示文稿</vt:lpstr>
      <vt:lpstr>6.加入更多小球</vt:lpstr>
      <vt:lpstr>PowerPoint 演示文稿</vt:lpstr>
      <vt:lpstr>练习</vt:lpstr>
      <vt:lpstr>PowerPoint 演示文稿</vt:lpstr>
      <vt:lpstr>PowerPoint 演示文稿</vt:lpstr>
      <vt:lpstr>PowerPoint 演示文稿</vt:lpstr>
      <vt:lpstr>回顾与总结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记忆翻牌游戏</dc:title>
  <dc:creator>叶得飞</dc:creator>
  <cp:lastModifiedBy>hawking329@sina.com</cp:lastModifiedBy>
  <cp:revision>52</cp:revision>
  <dcterms:created xsi:type="dcterms:W3CDTF">2022-06-28T01:57:29Z</dcterms:created>
  <dcterms:modified xsi:type="dcterms:W3CDTF">2024-01-08T08:41:02Z</dcterms:modified>
</cp:coreProperties>
</file>