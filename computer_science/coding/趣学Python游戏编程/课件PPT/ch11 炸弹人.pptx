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3582" r:id="rId3"/>
    <p:sldId id="3583" r:id="rId4"/>
    <p:sldId id="3584" r:id="rId5"/>
    <p:sldId id="3585" r:id="rId6"/>
    <p:sldId id="3586" r:id="rId7"/>
    <p:sldId id="3587" r:id="rId8"/>
    <p:sldId id="3588" r:id="rId9"/>
    <p:sldId id="3591" r:id="rId10"/>
    <p:sldId id="3589" r:id="rId11"/>
    <p:sldId id="3590" r:id="rId12"/>
    <p:sldId id="3592" r:id="rId13"/>
    <p:sldId id="3593" r:id="rId14"/>
    <p:sldId id="3594" r:id="rId15"/>
    <p:sldId id="3595" r:id="rId16"/>
    <p:sldId id="3596" r:id="rId17"/>
    <p:sldId id="3598" r:id="rId18"/>
    <p:sldId id="3599" r:id="rId19"/>
    <p:sldId id="3600" r:id="rId20"/>
    <p:sldId id="3601" r:id="rId21"/>
    <p:sldId id="3602" r:id="rId22"/>
    <p:sldId id="35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炸弹人游戏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创建游戏场景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5"/>
            <a:ext cx="10058400" cy="435985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定义自己的类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定义自己的类，进而创建相应的对象，同时通过一个列表统一管理。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class Brick(Actor):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pass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class Block(Actor):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pass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这里使用了类的继承语法，将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Brick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Block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类作为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Actor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类的子类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这两个类现在拥有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Actor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类的所有属性和方法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可以创建自己的角色对象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15385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10286488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1.1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定义自己的类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现在可使用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Brick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类来创建场景的边界砖墙：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= []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for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in range(17):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objs.append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(Brick("brick.png",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=(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* 50, 0)))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objs.append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(Brick("brick.png",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=(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* 50, HEIGHT - 50)))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for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in range(15):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objs.append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(Brick("brick.png",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=(0,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* 50 + 50)))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objs.append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(Brick("brick.png",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=(WIDTH – 50,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* 50 + 50)))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2811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947442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1.1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定义自己的类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接着用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类来创建场景内的障碍砖块。需要借助一个地图文件来记录砖块的位置，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通过读取并解析地图文件来创建场景角色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with open('maps/map1.txt') as file: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= 1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for line in file: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  for j in range(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(line)):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      if line[j] == "#":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 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objs.append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(Block("block.png",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=( j*50+50,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*50)))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+ 1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84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绘制场景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首先创建游戏窗口，将游戏窗口尺寸设为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850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850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HEIGHT = 850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WIDTH = 850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然后定义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函数将游戏场景绘制出来：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def draw():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screen.fill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((148, 146, 255))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for obj in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obj.draw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1C0825-EAB0-DAC0-4785-6DDF0E7DC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769" y="2050332"/>
            <a:ext cx="3477260" cy="359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创建玩家角色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76555"/>
            <a:ext cx="10058400" cy="449342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.1 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玩家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r>
              <a:rPr lang="zh-CN" altLang="zh-CN" sz="28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通过定义自己的类来创建玩家角色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 class Player(Actor):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20000"/>
              </a:lnSpc>
            </a:pP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    </a:t>
            </a: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def __</a:t>
            </a:r>
            <a:r>
              <a:rPr lang="en-US" altLang="zh-CN" sz="2400" kern="100" dirty="0" err="1">
                <a:effectLst/>
                <a:latin typeface="+mn-ea"/>
                <a:cs typeface="Times New Roman" panose="02020603050405020304" pitchFamily="18" charset="0"/>
              </a:rPr>
              <a:t>init</a:t>
            </a: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__(self, </a:t>
            </a:r>
            <a:r>
              <a:rPr lang="en-US" altLang="zh-CN" sz="2400" kern="100" dirty="0" err="1">
                <a:effectLst/>
                <a:latin typeface="+mn-ea"/>
                <a:cs typeface="Times New Roman" panose="02020603050405020304" pitchFamily="18" charset="0"/>
              </a:rPr>
              <a:t>img</a:t>
            </a: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, pos):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       super().__</a:t>
            </a:r>
            <a:r>
              <a:rPr lang="en-US" altLang="zh-CN" sz="2400" kern="100" dirty="0" err="1">
                <a:effectLst/>
                <a:latin typeface="+mn-ea"/>
                <a:cs typeface="Times New Roman" panose="02020603050405020304" pitchFamily="18" charset="0"/>
              </a:rPr>
              <a:t>init</a:t>
            </a: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__(</a:t>
            </a:r>
            <a:r>
              <a:rPr lang="en-US" altLang="zh-CN" sz="2400" kern="100" dirty="0" err="1">
                <a:effectLst/>
                <a:latin typeface="+mn-ea"/>
                <a:cs typeface="Times New Roman" panose="02020603050405020304" pitchFamily="18" charset="0"/>
              </a:rPr>
              <a:t>img</a:t>
            </a: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, pos)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sz="2400" kern="100" dirty="0" err="1">
                <a:effectLst/>
                <a:latin typeface="+mn-ea"/>
                <a:cs typeface="Times New Roman" panose="02020603050405020304" pitchFamily="18" charset="0"/>
              </a:rPr>
              <a:t>self.clock</a:t>
            </a: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= 0       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sz="2400" kern="100" dirty="0" err="1">
                <a:effectLst/>
                <a:latin typeface="+mn-ea"/>
                <a:cs typeface="Times New Roman" panose="02020603050405020304" pitchFamily="18" charset="0"/>
              </a:rPr>
              <a:t>self.speed</a:t>
            </a: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= 2.5       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   def update(self):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20000"/>
              </a:lnSpc>
            </a:pP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sz="2400" kern="100" dirty="0" err="1">
                <a:effectLst/>
                <a:latin typeface="+mn-ea"/>
                <a:cs typeface="Times New Roman" panose="02020603050405020304" pitchFamily="18" charset="0"/>
              </a:rPr>
              <a:t>self.clock</a:t>
            </a: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= (</a:t>
            </a:r>
            <a:r>
              <a:rPr lang="en-US" altLang="zh-CN" sz="2400" kern="100" dirty="0" err="1">
                <a:effectLst/>
                <a:latin typeface="+mn-ea"/>
                <a:cs typeface="Times New Roman" panose="02020603050405020304" pitchFamily="18" charset="0"/>
              </a:rPr>
              <a:t>self.clock</a:t>
            </a:r>
            <a:r>
              <a:rPr lang="en-US" altLang="zh-CN" sz="2400" kern="100" dirty="0">
                <a:effectLst/>
                <a:latin typeface="+mn-ea"/>
                <a:cs typeface="Times New Roman" panose="02020603050405020304" pitchFamily="18" charset="0"/>
              </a:rPr>
              <a:t> + 1) % 60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57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44344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玩家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玩家类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Player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也继承自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Actor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类，除了拥有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Actor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类的所有属性和方法，还添加了额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外的属性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clock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speed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，用来表示玩家角色的动画计时和移动速度。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我们还在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Playler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类中添加了一个方法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，用来更新玩家的动画计时。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最后使用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类来创建玩家角色对象，并将其显示出来：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p1 = Player("1player1down.png", (75, 75))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def draw():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screen.fill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((148, 146, 255))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for obj in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obj.draw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p1.draw()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828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891794" y="669478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实现角色移动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Player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类中再定义一个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move()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方法来实现移动操作。代码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参见书上第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219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move()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执行三个任务：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首先根据传入的参数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dy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来分别更新角色的水平及垂直坐标；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然后根据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clock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属性值来更新行走方向上的角色图片，从而实现行走动画的效果；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最后检测角色与场景边界及障碍砖块的碰撞，防止角色穿越障碍物。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579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3" y="433172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实现角色移动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定义函数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check_keys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来处理玩家的按键事件：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def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check_keys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keyboard.w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p1.move(0, -p1.speed)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keyboard.s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p1.move(0, p1.speed)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keyboard.a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p1.move(-p1.speed, 0)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keyboard.d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        p1.move(p1.speed, 0)</a:t>
            </a:r>
            <a:endParaRPr lang="zh-CN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9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27408" y="186592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实现角色移动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要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调用角色的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方法，以便更新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clock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属性值来实现角色的行走动画。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Pgzero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函数中来调用：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def update():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	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check_keys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	p1.update()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080811D-4403-D603-3799-A8562EFFF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575" y="1814027"/>
            <a:ext cx="3477260" cy="359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61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添加炸弹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76555"/>
            <a:ext cx="9533997" cy="449342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炸弹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和火焰类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首先为炸弹角色定义一个类，然后根据该类来创建炸弹对象。炸弹类的代码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221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炸弹类的构造方法中定义了两个属性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clock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，前者作为记录爆炸倒计时的变量，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后者用来保存玩家的引用。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然后定义了两个方法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detonate()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，前者用来更新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clock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属性值，后者用来执行引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爆炸弹的操作。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29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44344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炸弹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和火焰类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还需要定义一个火焰类，用来创建火焰角色。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火焰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类的代码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参见书上第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222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我们为火焰类定义一个属性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clock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，用来记录燃烧的倒计时。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另外定义了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方法，将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clock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属性每次减少一定数值，然后对其值进行判定，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若不小于零则切换火焰图像以显示燃烧的动画效果，否则当火焰燃尽后还要进一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步判定是否伤害玩家及摧毁障碍物：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若火焰碰到玩家则重置玩家的坐标，并减少其生命值；若火焰碰到障碍砖块，则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将其从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objs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列表中移除。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最后还要将火焰角色本身从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objs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列表中移除。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533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443446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让玩家放置炸弹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我们对玩家类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进行修改，添加一些额外的属性及放置炸弹的方法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plantbomb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。更新后的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类代码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参见书上第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222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构造方法中添加了三个属性：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health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用来记录玩家的生命值，当炸弹的火焰伤害玩家时生命值减一；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nbomb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用来规定能够放置的炸弹数量，最多不能超过一个；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bombs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列表用来保存玩家放置的炸弹对象。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plantbomb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方法则用来在玩家所处的坐标位置安放一枚炸弹。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最后还要修改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Player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类的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方法，以便对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bombs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列表中的炸弹对象进行更新操作。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365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443446"/>
            <a:ext cx="657751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让玩家放置炸弹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我们希望玩家按下用空格键时在场景中放置一枚炸弹，于是对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check_keys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函数进行修改，在其中加入如下语句：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keyboard.space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p1.plantbomb()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为了让正确执行角色的逻辑更新及图像显示，还需要修改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函数。修改后的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参见书上第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223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D5F3406-C157-1940-D409-4A19EACA0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213" y="1300319"/>
            <a:ext cx="3477260" cy="359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38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设置道具功能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76555"/>
            <a:ext cx="10058400" cy="449342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道具类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我们打算增添三种道具，分别用来增加炸弹威力、增加玩家生命值及增加炸弹数量。为此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首先定义三个道具类，代码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参见书上第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225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我们为每种道具类定义了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方法，用来检测玩家是否拾取该道具。如果玩家碰到了某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个道具，则增加玩家对应的属性值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若玩家碰到道具一则增加其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radius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属性，将炸弹爆炸的火焰范围扩大一个方格；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若碰到道具二则增加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health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属性值，将其生命值加一；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若碰到道具三则增加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nbomb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属性，将可放置炸弹的数量加一。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4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872664"/>
            <a:ext cx="937877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道具类</a:t>
            </a:r>
            <a:r>
              <a:rPr lang="zh-CN" altLang="zh-CN" sz="2400" b="1" kern="100" dirty="0"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修改玩家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，以正确发挥道具功能。修改后的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类代码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225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Player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类中首先添加了一个属性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lastbombtime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，作为放置炸弹的计时器，以便控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制放置炸弹的频率。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Player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类中还添加了另一个属性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radius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，用来表示炸弹的爆炸半径，即爆炸后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生成的火焰范围。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加入该属性后需要对炸弹类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Bomb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的代码进行修改，使其能根据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radius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的值来生成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相应数量的火焰对象。修改后的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Bomb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类代码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226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784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68505" y="410327"/>
            <a:ext cx="1026594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随机生成道具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定义好道具类后还需要将其加入到游戏场景中。为此我们对火焰类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Fire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进行修改，在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方法中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加入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代码如下：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for obj in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           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self.colliderect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(obj) and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obj.image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== "block.png":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random.random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() &lt; 0.03 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objs.append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(Bonus1("powerup.png",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=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obj.topleft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elif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random.random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() &lt; 0.03 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	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objs.append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(Bonus2("p1hearth.png",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=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obj.topleft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elif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random.random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() &lt; 0.03 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	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objs.append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(Bonus3("addone.png",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=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obj.topleft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))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   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objs.remove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(obj)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940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68506" y="410327"/>
            <a:ext cx="5426812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随机生成道具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上述代码将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objs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列表中的每一个对象与火焰进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行碰撞检测，若判定火焰碰到是障碍砖块，则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随机在三种道具中产生一个。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这里调用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random()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方法随机产生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之间的实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数，然后判定若其小于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0.03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则产生一个道具，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相当于设定了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3%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的概率来创建道具对象。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endParaRPr lang="en-US" altLang="zh-CN" sz="18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990F385-69D0-8E4E-E6BA-D4BFB6163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006" y="930449"/>
            <a:ext cx="3477260" cy="359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67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加入另一个玩家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76555"/>
            <a:ext cx="10058400" cy="4493422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我们已经定义好了玩家类，要加入新玩家只需再创建一个玩家类的对象即可</a:t>
            </a:r>
            <a:r>
              <a:rPr lang="zh-CN" altLang="en-US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需要对玩家</a:t>
            </a:r>
            <a:endParaRPr lang="en-US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进行修改，以便对不同的玩家角色进行区分。修改后的</a:t>
            </a: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r>
              <a:rPr lang="zh-CN" altLang="en-US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代码参见第</a:t>
            </a: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228</a:t>
            </a:r>
            <a:r>
              <a:rPr lang="zh-CN" altLang="en-US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类中新添加了一个属性</a:t>
            </a: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side</a:t>
            </a: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，用来区分是哪个玩家，并通过构造方法的参数对</a:t>
            </a: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side</a:t>
            </a: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</a:t>
            </a:r>
            <a:endParaRPr lang="en-US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性进行赋值。同时对</a:t>
            </a: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move()</a:t>
            </a: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方法也进行修改，在切换图片的语句中加入了</a:t>
            </a: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side</a:t>
            </a: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属性值，以便</a:t>
            </a:r>
            <a:endParaRPr lang="en-US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两个玩家都能正确地显示图像。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下面使用更新后的</a:t>
            </a:r>
            <a:r>
              <a:rPr lang="en-US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Player</a:t>
            </a:r>
            <a:r>
              <a:rPr lang="zh-CN" altLang="zh-CN" sz="2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类来创建玩家对象：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200" kern="100" dirty="0">
                <a:effectLst/>
                <a:latin typeface="+mn-ea"/>
                <a:cs typeface="Times New Roman" panose="02020603050405020304" pitchFamily="18" charset="0"/>
              </a:rPr>
              <a:t>  p1 = Player("1player1down.png", (75, 75), "player1")</a:t>
            </a:r>
            <a:endParaRPr lang="zh-CN" altLang="zh-CN" sz="22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200" kern="100" dirty="0">
                <a:latin typeface="+mn-ea"/>
                <a:cs typeface="Times New Roman" panose="02020603050405020304" pitchFamily="18" charset="0"/>
              </a:rPr>
              <a:t>  </a:t>
            </a:r>
            <a:r>
              <a:rPr lang="en-US" altLang="zh-CN" sz="2200" kern="100" dirty="0">
                <a:effectLst/>
                <a:latin typeface="+mn-ea"/>
                <a:cs typeface="Times New Roman" panose="02020603050405020304" pitchFamily="18" charset="0"/>
              </a:rPr>
              <a:t>p2 = Player("1player2up.png", (WIDTH-75, HEIGHT-75), "player2")</a:t>
            </a:r>
            <a:endParaRPr lang="zh-CN" altLang="zh-CN" sz="22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228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3" y="91828"/>
            <a:ext cx="937877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check_keys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函数，为玩家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加入按键处理：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def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check_keys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():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	</a:t>
            </a: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……</a:t>
            </a: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keyboard.up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p2.move(0, -p2.speed)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keyboard.down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p2.move(0, p2.speed)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keyboard.left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p2.move(-p2.speed,0)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keyboard.right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p2.move(p2.speed,0)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if </a:t>
            </a:r>
            <a:r>
              <a:rPr lang="en-US" altLang="zh-CN" kern="100" dirty="0" err="1">
                <a:effectLst/>
                <a:latin typeface="+mn-ea"/>
                <a:cs typeface="Times New Roman" panose="02020603050405020304" pitchFamily="18" charset="0"/>
              </a:rPr>
              <a:t>keyboard.rshift</a:t>
            </a: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: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  <a:cs typeface="Times New Roman" panose="02020603050405020304" pitchFamily="18" charset="0"/>
              </a:rPr>
              <a:t>        p2.plantbomb()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46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809601" y="1191163"/>
            <a:ext cx="6104907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最后对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函数及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函数进行修改，加入玩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家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p2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的逻辑更新及图像显示代码。修改后的代码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见书上第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229</a:t>
            </a:r>
            <a:r>
              <a:rPr lang="zh-CN" altLang="en-US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函数的后面加入了显示胜负的文字。通过对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health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属性值进行比较，将双方胜负关系分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为三种情况：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获胜、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获胜及双方打平。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B1736EA-97AE-B254-E744-E7B95C5C3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424" y="1191163"/>
            <a:ext cx="3477260" cy="359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60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章学习制作了一款双人游戏。我们采用了面向对象编程方法，不论是创建场景还是角色，都首先从定义类开始，然后通过自定义的类来创建对象。我们依次定义了砖块类、玩家类、炸弹类、火焰类及道具类，并根据需要为它们创建了各自的对象。经过本章学习可以知道，双人游戏并不是难事，只要先定义好玩家的类，然后创建两个不同的玩家对象，再为其设置不同的操作方式即可。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</TotalTime>
  <Words>2224</Words>
  <Application>Microsoft Office PowerPoint</Application>
  <PresentationFormat>宽屏</PresentationFormat>
  <Paragraphs>174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等线</vt:lpstr>
      <vt:lpstr>宋体</vt:lpstr>
      <vt:lpstr>微软雅黑</vt:lpstr>
      <vt:lpstr>Calibri</vt:lpstr>
      <vt:lpstr>Calibri Light</vt:lpstr>
      <vt:lpstr>Times New Roman</vt:lpstr>
      <vt:lpstr>Wingdings</vt:lpstr>
      <vt:lpstr>回顾</vt:lpstr>
      <vt:lpstr>炸弹人游戏</vt:lpstr>
      <vt:lpstr>1.创建游戏场景</vt:lpstr>
      <vt:lpstr>PowerPoint 演示文稿</vt:lpstr>
      <vt:lpstr>PowerPoint 演示文稿</vt:lpstr>
      <vt:lpstr>PowerPoint 演示文稿</vt:lpstr>
      <vt:lpstr>2.创建玩家角色</vt:lpstr>
      <vt:lpstr>PowerPoint 演示文稿</vt:lpstr>
      <vt:lpstr>PowerPoint 演示文稿</vt:lpstr>
      <vt:lpstr>PowerPoint 演示文稿</vt:lpstr>
      <vt:lpstr>PowerPoint 演示文稿</vt:lpstr>
      <vt:lpstr>3.添加炸弹</vt:lpstr>
      <vt:lpstr>PowerPoint 演示文稿</vt:lpstr>
      <vt:lpstr>PowerPoint 演示文稿</vt:lpstr>
      <vt:lpstr>PowerPoint 演示文稿</vt:lpstr>
      <vt:lpstr>4.设置道具功能</vt:lpstr>
      <vt:lpstr>PowerPoint 演示文稿</vt:lpstr>
      <vt:lpstr>PowerPoint 演示文稿</vt:lpstr>
      <vt:lpstr>PowerPoint 演示文稿</vt:lpstr>
      <vt:lpstr>5.加入另一个玩家</vt:lpstr>
      <vt:lpstr>PowerPoint 演示文稿</vt:lpstr>
      <vt:lpstr>PowerPoint 演示文稿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88</cp:revision>
  <dcterms:created xsi:type="dcterms:W3CDTF">2022-06-28T01:57:29Z</dcterms:created>
  <dcterms:modified xsi:type="dcterms:W3CDTF">2024-01-08T09:39:42Z</dcterms:modified>
</cp:coreProperties>
</file>