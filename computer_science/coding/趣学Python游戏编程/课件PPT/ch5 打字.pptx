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sldIdLst>
    <p:sldId id="256" r:id="rId2"/>
    <p:sldId id="257" r:id="rId3"/>
    <p:sldId id="3582" r:id="rId4"/>
    <p:sldId id="3583" r:id="rId5"/>
    <p:sldId id="3584" r:id="rId6"/>
    <p:sldId id="3585" r:id="rId7"/>
    <p:sldId id="3586" r:id="rId8"/>
    <p:sldId id="3587" r:id="rId9"/>
    <p:sldId id="3588" r:id="rId10"/>
    <p:sldId id="3589" r:id="rId11"/>
    <p:sldId id="3590" r:id="rId12"/>
    <p:sldId id="3591" r:id="rId13"/>
    <p:sldId id="3592" r:id="rId14"/>
    <p:sldId id="3577" r:id="rId15"/>
    <p:sldId id="3593" r:id="rId16"/>
    <p:sldId id="3594" r:id="rId17"/>
    <p:sldId id="3595" r:id="rId18"/>
    <p:sldId id="3596" r:id="rId19"/>
    <p:sldId id="3597" r:id="rId20"/>
    <p:sldId id="3598" r:id="rId21"/>
    <p:sldId id="3600" r:id="rId22"/>
    <p:sldId id="3599" r:id="rId23"/>
    <p:sldId id="3601" r:id="rId24"/>
    <p:sldId id="3602" r:id="rId25"/>
    <p:sldId id="3603" r:id="rId26"/>
    <p:sldId id="3604" r:id="rId27"/>
    <p:sldId id="3605" r:id="rId28"/>
    <p:sldId id="3606" r:id="rId29"/>
    <p:sldId id="3607" r:id="rId30"/>
    <p:sldId id="3608" r:id="rId31"/>
    <p:sldId id="3581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A75420-F708-49F5-92F8-624229C141A5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3964FB-F2DD-4573-A003-A51F1EB4C9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8412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1437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0512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0853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1257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0173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0492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3269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654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5844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5247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1397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435" y="833864"/>
            <a:ext cx="1046516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71" y="390528"/>
            <a:ext cx="520496" cy="274638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5" name="TextBox 4"/>
          <p:cNvSpPr txBox="1"/>
          <p:nvPr userDrawn="1"/>
        </p:nvSpPr>
        <p:spPr>
          <a:xfrm>
            <a:off x="305771" y="6524628"/>
            <a:ext cx="2909534" cy="276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yx.ityxb.com</a:t>
            </a:r>
            <a:endParaRPr lang="zh-CN" altLang="en-US" sz="12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92875"/>
            <a:ext cx="10633094" cy="8461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24" name="矩形 23"/>
          <p:cNvSpPr/>
          <p:nvPr userDrawn="1"/>
        </p:nvSpPr>
        <p:spPr>
          <a:xfrm>
            <a:off x="10705111" y="6792874"/>
            <a:ext cx="1486889" cy="846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4678" y="294777"/>
            <a:ext cx="2595399" cy="404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74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3117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1EEB1E-5500-9EE0-4B2B-5962B59C57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打字游戏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15082F6-BB6D-0F1D-7471-1A20173E0A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0792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7F6537-6A07-CFED-561B-2FCC989CD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266700" algn="just">
              <a:lnSpc>
                <a:spcPct val="150000"/>
              </a:lnSpc>
            </a:pPr>
            <a:r>
              <a:rPr lang="zh-CN" altLang="zh-CN" sz="4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本章知识点</a:t>
            </a:r>
            <a:endParaRPr lang="zh-CN" altLang="zh-CN" sz="4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A13118-7275-031A-9151-78481A7B9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0844" y="1938201"/>
            <a:ext cx="10058400" cy="4023360"/>
          </a:xfrm>
        </p:spPr>
        <p:txBody>
          <a:bodyPr>
            <a:noAutofit/>
          </a:bodyPr>
          <a:lstStyle/>
          <a:p>
            <a:pPr marL="342900" lvl="0" indent="-342900" algn="just">
              <a:lnSpc>
                <a:spcPct val="100000"/>
              </a:lnSpc>
              <a:buFont typeface="Wingdings" panose="05000000000000000000" pitchFamily="2" charset="2"/>
              <a:buChar char=""/>
              <a:tabLst>
                <a:tab pos="266700" algn="l"/>
              </a:tabLst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随机生成速度</a:t>
            </a:r>
          </a:p>
          <a:p>
            <a:pPr marL="342900" lvl="0" indent="-342900" algn="just">
              <a:lnSpc>
                <a:spcPct val="100000"/>
              </a:lnSpc>
              <a:buFont typeface="Wingdings" panose="05000000000000000000" pitchFamily="2" charset="2"/>
              <a:buChar char=""/>
              <a:tabLst>
                <a:tab pos="266700" algn="l"/>
              </a:tabLst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随机生成位置</a:t>
            </a:r>
          </a:p>
          <a:p>
            <a:pPr marL="342900" lvl="0" indent="-342900" algn="just">
              <a:lnSpc>
                <a:spcPct val="100000"/>
              </a:lnSpc>
              <a:buFont typeface="Wingdings" panose="05000000000000000000" pitchFamily="2" charset="2"/>
              <a:buChar char=""/>
              <a:tabLst>
                <a:tab pos="266700" algn="l"/>
              </a:tabLst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随机生成字母</a:t>
            </a:r>
          </a:p>
          <a:p>
            <a:pPr marL="342900" lvl="0" indent="-342900" algn="just">
              <a:lnSpc>
                <a:spcPct val="100000"/>
              </a:lnSpc>
              <a:buFont typeface="Wingdings" panose="05000000000000000000" pitchFamily="2" charset="2"/>
              <a:buChar char=""/>
              <a:tabLst>
                <a:tab pos="266700" algn="l"/>
              </a:tabLst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使用集合类型</a:t>
            </a:r>
          </a:p>
          <a:p>
            <a:pPr marL="342900" lvl="0" indent="-342900" algn="just">
              <a:lnSpc>
                <a:spcPct val="100000"/>
              </a:lnSpc>
              <a:buFont typeface="Wingdings" panose="05000000000000000000" pitchFamily="2" charset="2"/>
              <a:buChar char=""/>
              <a:tabLst>
                <a:tab pos="266700" algn="l"/>
              </a:tabLst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匹配字母按键</a:t>
            </a:r>
          </a:p>
          <a:p>
            <a:pPr marL="342900" lvl="0" indent="-342900" algn="just">
              <a:lnSpc>
                <a:spcPct val="100000"/>
              </a:lnSpc>
              <a:buFont typeface="Wingdings" panose="05000000000000000000" pitchFamily="2" charset="2"/>
              <a:buChar char=""/>
              <a:tabLst>
                <a:tab pos="266700" algn="l"/>
              </a:tabLst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使用定时器</a:t>
            </a:r>
          </a:p>
          <a:p>
            <a:pPr marL="342900" lvl="0" indent="-342900" algn="just">
              <a:lnSpc>
                <a:spcPct val="100000"/>
              </a:lnSpc>
              <a:buFont typeface="Wingdings" panose="05000000000000000000" pitchFamily="2" charset="2"/>
              <a:buChar char=""/>
              <a:tabLst>
                <a:tab pos="266700" algn="l"/>
              </a:tabLst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统计游戏积分</a:t>
            </a:r>
          </a:p>
          <a:p>
            <a:pPr marL="342900" lvl="0" indent="-342900" algn="just">
              <a:lnSpc>
                <a:spcPct val="100000"/>
              </a:lnSpc>
              <a:buFont typeface="Wingdings" panose="05000000000000000000" pitchFamily="2" charset="2"/>
              <a:buChar char=""/>
              <a:tabLst>
                <a:tab pos="266700" algn="l"/>
              </a:tabLst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实现倒计时效果</a:t>
            </a:r>
          </a:p>
          <a:p>
            <a:pPr>
              <a:lnSpc>
                <a:spcPct val="100000"/>
              </a:lnSpc>
            </a:pP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756144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AA9938F-FD66-BB38-EF2E-4BEA29A5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创建一个字母气球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D3FB9B-EFF6-8DBC-CABE-55530406B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99846"/>
            <a:ext cx="10058400" cy="402336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1.1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创建游戏场景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2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在程序开头编写如下代码：</a:t>
            </a:r>
          </a:p>
          <a:p>
            <a:pPr indent="266700" algn="just">
              <a:lnSpc>
                <a:spcPct val="120000"/>
              </a:lnSpc>
            </a:pPr>
            <a:r>
              <a:rPr lang="en-US" altLang="zh-CN" kern="100" dirty="0">
                <a:effectLst/>
                <a:latin typeface="+mn-ea"/>
              </a:rPr>
              <a:t>WIDTH = 640                      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20000"/>
              </a:lnSpc>
            </a:pPr>
            <a:r>
              <a:rPr lang="en-US" altLang="zh-CN" kern="100" dirty="0">
                <a:effectLst/>
                <a:latin typeface="+mn-ea"/>
              </a:rPr>
              <a:t>HEIGHT = 400</a:t>
            </a:r>
            <a:endParaRPr lang="zh-CN" altLang="zh-CN" kern="100" dirty="0">
              <a:effectLst/>
              <a:latin typeface="+mn-ea"/>
            </a:endParaRPr>
          </a:p>
          <a:p>
            <a:pPr indent="0" algn="just">
              <a:lnSpc>
                <a:spcPct val="12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draw()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函数中设置窗口的背景颜色：</a:t>
            </a:r>
          </a:p>
          <a:p>
            <a:pPr indent="266700" algn="just">
              <a:lnSpc>
                <a:spcPct val="120000"/>
              </a:lnSpc>
            </a:pPr>
            <a:r>
              <a:rPr lang="en-US" altLang="zh-CN" kern="100" dirty="0">
                <a:effectLst/>
                <a:latin typeface="+mn-ea"/>
              </a:rPr>
              <a:t>def draw():</a:t>
            </a:r>
            <a:endParaRPr lang="zh-CN" altLang="zh-CN" kern="100" dirty="0">
              <a:effectLst/>
              <a:latin typeface="+mn-ea"/>
            </a:endParaRPr>
          </a:p>
          <a:p>
            <a:pPr marL="266700" indent="0" algn="just">
              <a:lnSpc>
                <a:spcPct val="120000"/>
              </a:lnSpc>
              <a:buNone/>
            </a:pPr>
            <a:r>
              <a:rPr lang="en-US" altLang="zh-CN" kern="100" dirty="0">
                <a:latin typeface="+mn-ea"/>
              </a:rPr>
              <a:t>     </a:t>
            </a:r>
            <a:r>
              <a:rPr lang="en-US" altLang="zh-CN" kern="100" dirty="0" err="1">
                <a:effectLst/>
                <a:latin typeface="+mn-ea"/>
              </a:rPr>
              <a:t>screen.fill</a:t>
            </a:r>
            <a:r>
              <a:rPr lang="en-US" altLang="zh-CN" kern="100" dirty="0">
                <a:effectLst/>
                <a:latin typeface="+mn-ea"/>
              </a:rPr>
              <a:t>((255, 255, 255))</a:t>
            </a:r>
            <a:endParaRPr lang="zh-CN" altLang="zh-CN" kern="100" dirty="0">
              <a:effectLst/>
              <a:latin typeface="+mn-ea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153855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9" y="700300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1.2 </a:t>
            </a:r>
            <a:r>
              <a:rPr lang="zh-CN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创建气球角色</a:t>
            </a:r>
            <a:endParaRPr lang="en-US" altLang="zh-CN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在程序中编写如下代码：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balloon = Actor("</a:t>
            </a:r>
            <a:r>
              <a:rPr lang="en-US" altLang="zh-CN" kern="100" dirty="0" err="1">
                <a:effectLst/>
                <a:latin typeface="+mn-ea"/>
              </a:rPr>
              <a:t>typing_balloon</a:t>
            </a:r>
            <a:r>
              <a:rPr lang="en-US" altLang="zh-CN" kern="100" dirty="0">
                <a:effectLst/>
                <a:latin typeface="+mn-ea"/>
              </a:rPr>
              <a:t>", (WIDTH // 2, HEIGHT))</a:t>
            </a:r>
            <a:endParaRPr lang="zh-CN" altLang="zh-CN" kern="100" dirty="0">
              <a:effectLst/>
              <a:latin typeface="+mn-ea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修改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draw()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函数来显示气球：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def draw():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screen.fill</a:t>
            </a:r>
            <a:r>
              <a:rPr lang="en-US" altLang="zh-CN" kern="100" dirty="0">
                <a:effectLst/>
                <a:latin typeface="+mn-ea"/>
              </a:rPr>
              <a:t>((255, 255, 255))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balloon.draw</a:t>
            </a:r>
            <a:r>
              <a:rPr lang="en-US" altLang="zh-CN" kern="100" dirty="0">
                <a:effectLst/>
                <a:latin typeface="+mn-ea"/>
              </a:rPr>
              <a:t>()</a:t>
            </a:r>
            <a:endParaRPr lang="zh-CN" altLang="zh-CN" kern="100" dirty="0">
              <a:effectLst/>
              <a:latin typeface="+mn-ea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给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气球定义一个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char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属性，用来表示气球上的字母：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 err="1">
                <a:effectLst/>
                <a:latin typeface="+mn-ea"/>
              </a:rPr>
              <a:t>balloon.char</a:t>
            </a:r>
            <a:r>
              <a:rPr lang="en-US" altLang="zh-CN" kern="100" dirty="0">
                <a:effectLst/>
                <a:latin typeface="+mn-ea"/>
              </a:rPr>
              <a:t> = "A"</a:t>
            </a:r>
            <a:endParaRPr lang="zh-CN" altLang="zh-CN" kern="100" dirty="0">
              <a:effectLst/>
              <a:latin typeface="+mn-ea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draw()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函数中添加显示字母的代码：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 err="1">
                <a:effectLst/>
                <a:latin typeface="+mn-ea"/>
              </a:rPr>
              <a:t>screen.draw.text</a:t>
            </a:r>
            <a:r>
              <a:rPr lang="en-US" altLang="zh-CN" kern="100" dirty="0">
                <a:effectLst/>
                <a:latin typeface="+mn-ea"/>
              </a:rPr>
              <a:t>(</a:t>
            </a:r>
            <a:r>
              <a:rPr lang="en-US" altLang="zh-CN" kern="100" dirty="0" err="1">
                <a:effectLst/>
                <a:latin typeface="+mn-ea"/>
              </a:rPr>
              <a:t>balloon.char</a:t>
            </a:r>
            <a:r>
              <a:rPr lang="en-US" altLang="zh-CN" kern="100" dirty="0">
                <a:effectLst/>
                <a:latin typeface="+mn-ea"/>
              </a:rPr>
              <a:t>, center=</a:t>
            </a:r>
            <a:r>
              <a:rPr lang="en-US" altLang="zh-CN" kern="100" dirty="0" err="1">
                <a:effectLst/>
                <a:latin typeface="+mn-ea"/>
              </a:rPr>
              <a:t>balloon.center,color</a:t>
            </a:r>
            <a:r>
              <a:rPr lang="en-US" altLang="zh-CN" kern="100" dirty="0">
                <a:effectLst/>
                <a:latin typeface="+mn-ea"/>
              </a:rPr>
              <a:t>="black")</a:t>
            </a:r>
            <a:endParaRPr lang="zh-CN" altLang="zh-CN" kern="100" dirty="0">
              <a:effectLst/>
              <a:latin typeface="+mn-ea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26" name="图片 1">
            <a:extLst>
              <a:ext uri="{FF2B5EF4-FFF2-40B4-BE49-F238E27FC236}">
                <a16:creationId xmlns:a16="http://schemas.microsoft.com/office/drawing/2014/main" id="{72EE933C-D045-BAF0-A407-2940E9C545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3142" y="2304588"/>
            <a:ext cx="4412548" cy="2996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2811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AA9938F-FD66-BB38-EF2E-4BEA29A5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添加多个气球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D3FB9B-EFF6-8DBC-CABE-55530406B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99846"/>
            <a:ext cx="10058400" cy="4023360"/>
          </a:xfrm>
        </p:spPr>
        <p:txBody>
          <a:bodyPr>
            <a:normAutofit/>
          </a:bodyPr>
          <a:lstStyle/>
          <a:p>
            <a:pPr indent="0" algn="just">
              <a:lnSpc>
                <a:spcPct val="150000"/>
              </a:lnSpc>
              <a:buNone/>
            </a:pPr>
            <a:r>
              <a:rPr lang="zh-CN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为了呈现出气球的多样性，我们需要借助随机数来实现气球间的差异。针对气球间存在的三方面差异，我们将分别采取不同的方法来实现。首先创建多个气球角色，然后分别为它们随机生成坐标、速度及字母。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587700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8" y="700300"/>
            <a:ext cx="9783055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2.1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创建多个气球角色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MAX_NUM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常量表示窗口中的气球数量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定义列表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balloons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管理所有气球角色：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MAX_NUM = 5 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balloons = [] </a:t>
            </a: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add_balloon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函数，用来生成一个气球角色：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def </a:t>
            </a:r>
            <a:r>
              <a:rPr lang="en-US" altLang="zh-CN" kern="100" dirty="0" err="1">
                <a:effectLst/>
                <a:latin typeface="+mn-ea"/>
              </a:rPr>
              <a:t>add_balloon</a:t>
            </a:r>
            <a:r>
              <a:rPr lang="en-US" altLang="zh-CN" kern="100" dirty="0">
                <a:effectLst/>
                <a:latin typeface="+mn-ea"/>
              </a:rPr>
              <a:t>():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balloon = Actor("</a:t>
            </a:r>
            <a:r>
              <a:rPr lang="en-US" altLang="zh-CN" kern="100" dirty="0" err="1">
                <a:effectLst/>
                <a:latin typeface="+mn-ea"/>
              </a:rPr>
              <a:t>typing_balloon</a:t>
            </a:r>
            <a:r>
              <a:rPr lang="en-US" altLang="zh-CN" kern="100" dirty="0">
                <a:effectLst/>
                <a:latin typeface="+mn-ea"/>
              </a:rPr>
              <a:t>", (WIDTH // 2, HEIGHT))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balloon.char</a:t>
            </a:r>
            <a:r>
              <a:rPr lang="en-US" altLang="zh-CN" kern="100" dirty="0">
                <a:effectLst/>
                <a:latin typeface="+mn-ea"/>
              </a:rPr>
              <a:t> = "A"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balloons.append</a:t>
            </a:r>
            <a:r>
              <a:rPr lang="en-US" altLang="zh-CN" kern="100" dirty="0">
                <a:effectLst/>
                <a:latin typeface="+mn-ea"/>
              </a:rPr>
              <a:t>(balloon)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50000"/>
              </a:lnSpc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54896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8" y="700300"/>
            <a:ext cx="9783055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2.1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创建多个气球角色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update_balloon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函数对所有气球的移动进行统一控制：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sz="1800" kern="100" dirty="0">
                <a:effectLst/>
                <a:latin typeface="+mn-ea"/>
              </a:rPr>
              <a:t>def </a:t>
            </a:r>
            <a:r>
              <a:rPr lang="en-US" altLang="zh-CN" sz="1800" kern="100" dirty="0" err="1">
                <a:effectLst/>
                <a:latin typeface="+mn-ea"/>
              </a:rPr>
              <a:t>update_balloon</a:t>
            </a:r>
            <a:r>
              <a:rPr lang="en-US" altLang="zh-CN" sz="1800" kern="100" dirty="0">
                <a:effectLst/>
                <a:latin typeface="+mn-ea"/>
              </a:rPr>
              <a:t>():</a:t>
            </a:r>
            <a:endParaRPr lang="zh-CN" altLang="zh-CN" sz="18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800" kern="100" dirty="0">
                <a:effectLst/>
                <a:latin typeface="+mn-ea"/>
              </a:rPr>
              <a:t>    for balloon in balloons:</a:t>
            </a:r>
            <a:endParaRPr lang="zh-CN" altLang="zh-CN" sz="18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800" kern="100" dirty="0">
                <a:effectLst/>
                <a:latin typeface="+mn-ea"/>
              </a:rPr>
              <a:t>        </a:t>
            </a:r>
            <a:r>
              <a:rPr lang="en-US" altLang="zh-CN" sz="1800" kern="100" dirty="0" err="1">
                <a:effectLst/>
                <a:latin typeface="+mn-ea"/>
              </a:rPr>
              <a:t>balloon.y</a:t>
            </a:r>
            <a:r>
              <a:rPr lang="en-US" altLang="zh-CN" sz="1800" kern="100" dirty="0">
                <a:effectLst/>
                <a:latin typeface="+mn-ea"/>
              </a:rPr>
              <a:t> += -1</a:t>
            </a:r>
            <a:endParaRPr lang="zh-CN" altLang="zh-CN" sz="18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800" kern="100" dirty="0">
                <a:effectLst/>
                <a:latin typeface="+mn-ea"/>
              </a:rPr>
              <a:t>        if </a:t>
            </a:r>
            <a:r>
              <a:rPr lang="en-US" altLang="zh-CN" sz="1800" kern="100" dirty="0" err="1">
                <a:effectLst/>
                <a:latin typeface="+mn-ea"/>
              </a:rPr>
              <a:t>balloon.bottom</a:t>
            </a:r>
            <a:r>
              <a:rPr lang="en-US" altLang="zh-CN" sz="1800" kern="100" dirty="0">
                <a:effectLst/>
                <a:latin typeface="+mn-ea"/>
              </a:rPr>
              <a:t> &lt; 0:</a:t>
            </a:r>
            <a:endParaRPr lang="zh-CN" altLang="zh-CN" sz="18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800" kern="100" dirty="0">
                <a:effectLst/>
                <a:latin typeface="+mn-ea"/>
              </a:rPr>
              <a:t>            </a:t>
            </a:r>
            <a:r>
              <a:rPr lang="en-US" altLang="zh-CN" sz="1800" kern="100" dirty="0" err="1">
                <a:effectLst/>
                <a:latin typeface="+mn-ea"/>
              </a:rPr>
              <a:t>balloons.remove</a:t>
            </a:r>
            <a:r>
              <a:rPr lang="en-US" altLang="zh-CN" sz="1800" kern="100" dirty="0">
                <a:effectLst/>
                <a:latin typeface="+mn-ea"/>
              </a:rPr>
              <a:t>(balloon)</a:t>
            </a: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修改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update()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函数，</a:t>
            </a:r>
            <a:r>
              <a:rPr lang="zh-CN" altLang="en-US" sz="18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在其中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调用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add_balloon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update_balloon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sz="1800" kern="100" dirty="0">
                <a:effectLst/>
                <a:latin typeface="+mn-ea"/>
              </a:rPr>
              <a:t>def update():    </a:t>
            </a:r>
            <a:endParaRPr lang="zh-CN" altLang="zh-CN" sz="18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800" kern="100" dirty="0">
                <a:effectLst/>
                <a:latin typeface="+mn-ea"/>
              </a:rPr>
              <a:t>    if </a:t>
            </a:r>
            <a:r>
              <a:rPr lang="en-US" altLang="zh-CN" sz="1800" kern="100" dirty="0" err="1">
                <a:effectLst/>
                <a:latin typeface="+mn-ea"/>
              </a:rPr>
              <a:t>len</a:t>
            </a:r>
            <a:r>
              <a:rPr lang="en-US" altLang="zh-CN" sz="1800" kern="100" dirty="0">
                <a:effectLst/>
                <a:latin typeface="+mn-ea"/>
              </a:rPr>
              <a:t>(balloons) &lt; MAX_NUM:</a:t>
            </a:r>
            <a:endParaRPr lang="zh-CN" altLang="zh-CN" sz="18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800" kern="100" dirty="0">
                <a:effectLst/>
                <a:latin typeface="+mn-ea"/>
              </a:rPr>
              <a:t>        </a:t>
            </a:r>
            <a:r>
              <a:rPr lang="en-US" altLang="zh-CN" sz="1800" kern="100" dirty="0" err="1">
                <a:effectLst/>
                <a:latin typeface="+mn-ea"/>
              </a:rPr>
              <a:t>add_balloon</a:t>
            </a:r>
            <a:r>
              <a:rPr lang="en-US" altLang="zh-CN" sz="1800" kern="100" dirty="0">
                <a:effectLst/>
                <a:latin typeface="+mn-ea"/>
              </a:rPr>
              <a:t>()</a:t>
            </a:r>
            <a:endParaRPr lang="zh-CN" altLang="zh-CN" sz="1800" kern="100" dirty="0">
              <a:effectLst/>
              <a:latin typeface="+mn-ea"/>
            </a:endParaRPr>
          </a:p>
          <a:p>
            <a:pPr marL="266700" indent="266700" algn="just">
              <a:lnSpc>
                <a:spcPct val="100000"/>
              </a:lnSpc>
            </a:pPr>
            <a:r>
              <a:rPr lang="en-US" altLang="zh-CN" sz="1800" kern="100" dirty="0">
                <a:effectLst/>
                <a:latin typeface="+mn-ea"/>
              </a:rPr>
              <a:t>   </a:t>
            </a:r>
            <a:r>
              <a:rPr lang="en-US" altLang="zh-CN" sz="1800" kern="100" dirty="0" err="1">
                <a:effectLst/>
                <a:latin typeface="+mn-ea"/>
              </a:rPr>
              <a:t>update_balloon</a:t>
            </a:r>
            <a:r>
              <a:rPr lang="en-US" altLang="zh-CN" sz="1800" kern="100" dirty="0">
                <a:effectLst/>
                <a:latin typeface="+mn-ea"/>
              </a:rPr>
              <a:t>()</a:t>
            </a:r>
            <a:endParaRPr lang="zh-CN" altLang="zh-CN" sz="1800" kern="100" dirty="0">
              <a:effectLst/>
              <a:latin typeface="+mn-ea"/>
            </a:endParaRPr>
          </a:p>
          <a:p>
            <a:pPr indent="266700" algn="just">
              <a:lnSpc>
                <a:spcPct val="150000"/>
              </a:lnSpc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50000"/>
              </a:lnSpc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86759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8" y="700300"/>
            <a:ext cx="10142651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2.1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创建多个气球角色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修改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draw()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函数将所有的气球及其字母都显示出来：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def draw():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screen.fill</a:t>
            </a:r>
            <a:r>
              <a:rPr lang="en-US" altLang="zh-CN" kern="100" dirty="0">
                <a:effectLst/>
                <a:latin typeface="+mn-ea"/>
              </a:rPr>
              <a:t>((255, 255, 255))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for balloon in balloons: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</a:t>
            </a:r>
            <a:r>
              <a:rPr lang="en-US" altLang="zh-CN" kern="100" dirty="0" err="1">
                <a:effectLst/>
                <a:latin typeface="+mn-ea"/>
              </a:rPr>
              <a:t>balloon.draw</a:t>
            </a:r>
            <a:r>
              <a:rPr lang="en-US" altLang="zh-CN" kern="100" dirty="0">
                <a:effectLst/>
                <a:latin typeface="+mn-ea"/>
              </a:rPr>
              <a:t>()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</a:t>
            </a:r>
            <a:r>
              <a:rPr lang="en-US" altLang="zh-CN" kern="100" dirty="0" err="1">
                <a:effectLst/>
                <a:latin typeface="+mn-ea"/>
              </a:rPr>
              <a:t>screen.draw.text</a:t>
            </a:r>
            <a:r>
              <a:rPr lang="en-US" altLang="zh-CN" kern="100" dirty="0">
                <a:effectLst/>
                <a:latin typeface="+mn-ea"/>
              </a:rPr>
              <a:t>(</a:t>
            </a:r>
            <a:r>
              <a:rPr lang="en-US" altLang="zh-CN" kern="100" dirty="0" err="1">
                <a:effectLst/>
                <a:latin typeface="+mn-ea"/>
              </a:rPr>
              <a:t>balloon.char</a:t>
            </a:r>
            <a:r>
              <a:rPr lang="en-US" altLang="zh-CN" kern="100" dirty="0">
                <a:effectLst/>
                <a:latin typeface="+mn-ea"/>
              </a:rPr>
              <a:t>, center=</a:t>
            </a:r>
            <a:r>
              <a:rPr lang="en-US" altLang="zh-CN" kern="100" dirty="0" err="1">
                <a:effectLst/>
                <a:latin typeface="+mn-ea"/>
              </a:rPr>
              <a:t>balloon.center,color</a:t>
            </a:r>
            <a:r>
              <a:rPr lang="en-US" altLang="zh-CN" kern="100" dirty="0">
                <a:effectLst/>
                <a:latin typeface="+mn-ea"/>
              </a:rPr>
              <a:t>="black")</a:t>
            </a:r>
          </a:p>
          <a:p>
            <a:pPr indent="0" algn="just">
              <a:lnSpc>
                <a:spcPct val="100000"/>
              </a:lnSpc>
              <a:buNone/>
            </a:pP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问题：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运行程序发现全部气球重叠在一起，分不清窗口中有几个气球。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en-US" sz="1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原因：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所有气球的初始位置一样，且都以相同的速度升起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en-US" sz="1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解决：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要为各个气球设置不同的坐标，以便将它们区分开来。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603600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8" y="700300"/>
            <a:ext cx="9783055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2.2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随机生成气球的坐标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random_location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函数中编写如下代码：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def </a:t>
            </a:r>
            <a:r>
              <a:rPr lang="en-US" altLang="zh-CN" kern="100" dirty="0" err="1">
                <a:effectLst/>
                <a:latin typeface="+mn-ea"/>
              </a:rPr>
              <a:t>random_location</a:t>
            </a:r>
            <a:r>
              <a:rPr lang="en-US" altLang="zh-CN" kern="100" dirty="0">
                <a:effectLst/>
                <a:latin typeface="+mn-ea"/>
              </a:rPr>
              <a:t>():    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x = </a:t>
            </a:r>
            <a:r>
              <a:rPr lang="en-US" altLang="zh-CN" kern="100" dirty="0" err="1">
                <a:effectLst/>
                <a:latin typeface="+mn-ea"/>
              </a:rPr>
              <a:t>random.randint</a:t>
            </a:r>
            <a:r>
              <a:rPr lang="en-US" altLang="zh-CN" kern="100" dirty="0">
                <a:effectLst/>
                <a:latin typeface="+mn-ea"/>
              </a:rPr>
              <a:t>(20, WIDTH - 20)            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return x</a:t>
            </a:r>
            <a:endParaRPr lang="zh-CN" altLang="zh-CN" kern="100" dirty="0">
              <a:effectLst/>
              <a:latin typeface="+mn-ea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add_balloon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函数中加入这样一行代码：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 err="1">
                <a:effectLst/>
                <a:latin typeface="+mn-ea"/>
              </a:rPr>
              <a:t>balloon.x</a:t>
            </a:r>
            <a:r>
              <a:rPr lang="en-US" altLang="zh-CN" kern="100" dirty="0">
                <a:effectLst/>
                <a:latin typeface="+mn-ea"/>
              </a:rPr>
              <a:t> = </a:t>
            </a:r>
            <a:r>
              <a:rPr lang="en-US" altLang="zh-CN" kern="100" dirty="0" err="1">
                <a:effectLst/>
                <a:latin typeface="+mn-ea"/>
              </a:rPr>
              <a:t>random_location</a:t>
            </a:r>
            <a:r>
              <a:rPr lang="en-US" altLang="zh-CN" kern="100" dirty="0">
                <a:effectLst/>
                <a:latin typeface="+mn-ea"/>
              </a:rPr>
              <a:t>()</a:t>
            </a:r>
          </a:p>
          <a:p>
            <a:pPr indent="0" algn="just">
              <a:lnSpc>
                <a:spcPct val="100000"/>
              </a:lnSpc>
              <a:buNone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问题：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两个气球相距太近，前面气球遮挡后面气球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原因：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程序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仅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为气球随机生成坐标，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并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没考虑气球间的位置关系。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解决：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为气球生成坐标后，检查该气球与其它气球之间的距离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050" name="图片 3">
            <a:extLst>
              <a:ext uri="{FF2B5EF4-FFF2-40B4-BE49-F238E27FC236}">
                <a16:creationId xmlns:a16="http://schemas.microsoft.com/office/drawing/2014/main" id="{81D83DE5-C377-F0EF-CB12-ABD10E1BCC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6286" y="384907"/>
            <a:ext cx="5270500" cy="352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27914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8" y="700300"/>
            <a:ext cx="9783055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2.2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随机生成气球的坐标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修改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random_location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def </a:t>
            </a:r>
            <a:r>
              <a:rPr lang="en-US" altLang="zh-CN" kern="100" dirty="0" err="1">
                <a:effectLst/>
                <a:latin typeface="+mn-ea"/>
              </a:rPr>
              <a:t>random_location</a:t>
            </a:r>
            <a:r>
              <a:rPr lang="en-US" altLang="zh-CN" kern="100" dirty="0">
                <a:effectLst/>
                <a:latin typeface="+mn-ea"/>
              </a:rPr>
              <a:t>():    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min_dx</a:t>
            </a:r>
            <a:r>
              <a:rPr lang="en-US" altLang="zh-CN" kern="100" dirty="0">
                <a:effectLst/>
                <a:latin typeface="+mn-ea"/>
              </a:rPr>
              <a:t> = 0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while </a:t>
            </a:r>
            <a:r>
              <a:rPr lang="en-US" altLang="zh-CN" kern="100" dirty="0" err="1">
                <a:effectLst/>
                <a:latin typeface="+mn-ea"/>
              </a:rPr>
              <a:t>min_dx</a:t>
            </a:r>
            <a:r>
              <a:rPr lang="en-US" altLang="zh-CN" kern="100" dirty="0">
                <a:effectLst/>
                <a:latin typeface="+mn-ea"/>
              </a:rPr>
              <a:t> &lt; 50: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</a:t>
            </a:r>
            <a:r>
              <a:rPr lang="en-US" altLang="zh-CN" kern="100" dirty="0" err="1">
                <a:effectLst/>
                <a:latin typeface="+mn-ea"/>
              </a:rPr>
              <a:t>min_dx</a:t>
            </a:r>
            <a:r>
              <a:rPr lang="en-US" altLang="zh-CN" kern="100" dirty="0">
                <a:effectLst/>
                <a:latin typeface="+mn-ea"/>
              </a:rPr>
              <a:t> = WIDTH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x = </a:t>
            </a:r>
            <a:r>
              <a:rPr lang="en-US" altLang="zh-CN" kern="100" dirty="0" err="1">
                <a:effectLst/>
                <a:latin typeface="+mn-ea"/>
              </a:rPr>
              <a:t>random.randint</a:t>
            </a:r>
            <a:r>
              <a:rPr lang="en-US" altLang="zh-CN" kern="100" dirty="0">
                <a:effectLst/>
                <a:latin typeface="+mn-ea"/>
              </a:rPr>
              <a:t>(20, WIDTH - 20)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for balloon in balloons: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    dx = abs(</a:t>
            </a:r>
            <a:r>
              <a:rPr lang="en-US" altLang="zh-CN" kern="100" dirty="0" err="1">
                <a:effectLst/>
                <a:latin typeface="+mn-ea"/>
              </a:rPr>
              <a:t>balloon.x</a:t>
            </a:r>
            <a:r>
              <a:rPr lang="en-US" altLang="zh-CN" kern="100" dirty="0">
                <a:effectLst/>
                <a:latin typeface="+mn-ea"/>
              </a:rPr>
              <a:t> - x)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    </a:t>
            </a:r>
            <a:r>
              <a:rPr lang="nb-NO" altLang="zh-CN" kern="100" dirty="0">
                <a:effectLst/>
                <a:latin typeface="+mn-ea"/>
              </a:rPr>
              <a:t>min_dx = min(min_dx, dx)   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nb-NO" altLang="zh-CN" kern="100" dirty="0">
                <a:effectLst/>
                <a:latin typeface="+mn-ea"/>
              </a:rPr>
              <a:t>    </a:t>
            </a:r>
            <a:r>
              <a:rPr lang="en-US" altLang="zh-CN" kern="100" dirty="0">
                <a:effectLst/>
                <a:latin typeface="+mn-ea"/>
              </a:rPr>
              <a:t>return x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74841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8" y="700300"/>
            <a:ext cx="9783055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2.3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随机生成气球的速度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考虑在气球速度上引入随机性，借助随机函数及条件语句来产生所需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概率分布。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将速度分为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个等级，通过随机数的范围来确定概率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random_velocity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函数来实现随机生成气球速度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Rectangle 20">
            <a:extLst>
              <a:ext uri="{FF2B5EF4-FFF2-40B4-BE49-F238E27FC236}">
                <a16:creationId xmlns:a16="http://schemas.microsoft.com/office/drawing/2014/main" id="{FCD5CFA4-2224-0B9E-B0AB-25CF7B264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0939" y="323464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5B1D9AA1-8D89-E348-429E-FC06D9357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286" y="2706305"/>
            <a:ext cx="7004301" cy="1056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733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1157554" y="111304"/>
            <a:ext cx="4328846" cy="6246686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def </a:t>
            </a:r>
            <a:r>
              <a:rPr lang="en-US" altLang="zh-CN" kern="100" dirty="0" err="1">
                <a:effectLst/>
                <a:latin typeface="+mn-ea"/>
              </a:rPr>
              <a:t>random_velocity</a:t>
            </a:r>
            <a:r>
              <a:rPr lang="en-US" altLang="zh-CN" kern="100" dirty="0">
                <a:effectLst/>
                <a:latin typeface="+mn-ea"/>
              </a:rPr>
              <a:t>():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n = </a:t>
            </a:r>
            <a:r>
              <a:rPr lang="en-US" altLang="zh-CN" kern="100" dirty="0" err="1">
                <a:effectLst/>
                <a:latin typeface="+mn-ea"/>
              </a:rPr>
              <a:t>random.randint</a:t>
            </a:r>
            <a:r>
              <a:rPr lang="en-US" altLang="zh-CN" kern="100" dirty="0">
                <a:effectLst/>
                <a:latin typeface="+mn-ea"/>
              </a:rPr>
              <a:t>(1, 100)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if n &lt;= 5: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velocity = -5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elif</a:t>
            </a:r>
            <a:r>
              <a:rPr lang="en-US" altLang="zh-CN" kern="100" dirty="0">
                <a:effectLst/>
                <a:latin typeface="+mn-ea"/>
              </a:rPr>
              <a:t> n &lt;= 25: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velocity = -4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elif</a:t>
            </a:r>
            <a:r>
              <a:rPr lang="en-US" altLang="zh-CN" kern="100" dirty="0">
                <a:effectLst/>
                <a:latin typeface="+mn-ea"/>
              </a:rPr>
              <a:t> n &lt;= 75: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velocity = -3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elif</a:t>
            </a:r>
            <a:r>
              <a:rPr lang="en-US" altLang="zh-CN" kern="100" dirty="0">
                <a:effectLst/>
                <a:latin typeface="+mn-ea"/>
              </a:rPr>
              <a:t> n &lt;= 95: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velocity = -2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else: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velocity = -1     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return velocity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Rectangle 20">
            <a:extLst>
              <a:ext uri="{FF2B5EF4-FFF2-40B4-BE49-F238E27FC236}">
                <a16:creationId xmlns:a16="http://schemas.microsoft.com/office/drawing/2014/main" id="{FCD5CFA4-2224-0B9E-B0AB-25CF7B264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0939" y="323464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EA6C8F64-C795-7795-783E-B8622BBE5D30}"/>
              </a:ext>
            </a:extLst>
          </p:cNvPr>
          <p:cNvSpPr txBox="1">
            <a:spLocks/>
          </p:cNvSpPr>
          <p:nvPr/>
        </p:nvSpPr>
        <p:spPr>
          <a:xfrm>
            <a:off x="5328518" y="111304"/>
            <a:ext cx="5438800" cy="6246686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266700" algn="just">
              <a:lnSpc>
                <a:spcPct val="100000"/>
              </a:lnSpc>
            </a:pP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伪代码：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随机生成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到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100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间的整数保存到变量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if  n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的值小于等于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</a:p>
          <a:p>
            <a:pPr marL="266700" indent="266700" algn="just">
              <a:lnSpc>
                <a:spcPct val="100000"/>
              </a:lnSpc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速度值设为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-5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if  n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的值大于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且小于等于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25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</a:p>
          <a:p>
            <a:pPr marL="266700" indent="266700" algn="just">
              <a:lnSpc>
                <a:spcPct val="100000"/>
              </a:lnSpc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速度值设为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-4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if  n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的值大于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25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且小于等于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75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</a:p>
          <a:p>
            <a:pPr marL="266700" indent="266700" algn="just">
              <a:lnSpc>
                <a:spcPct val="100000"/>
              </a:lnSpc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速度值设为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-3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if  n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的值大于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75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且小于等于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95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</a:p>
          <a:p>
            <a:pPr marL="266700" indent="266700" algn="just">
              <a:lnSpc>
                <a:spcPct val="100000"/>
              </a:lnSpc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速度值设为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-2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if  n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的值大于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95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且小于等于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100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</a:p>
          <a:p>
            <a:pPr marL="266700" indent="266700" algn="just">
              <a:lnSpc>
                <a:spcPct val="100000"/>
              </a:lnSpc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速度值设为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-1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15207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8" y="700300"/>
            <a:ext cx="9783055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2.3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随机生成气球的速度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add_balloon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函数中加入一行代码：</a:t>
            </a:r>
          </a:p>
          <a:p>
            <a:pPr indent="266700" algn="just">
              <a:lnSpc>
                <a:spcPct val="150000"/>
              </a:lnSpc>
            </a:pPr>
            <a:r>
              <a:rPr lang="en-US" altLang="zh-CN" kern="100" dirty="0" err="1">
                <a:effectLst/>
                <a:latin typeface="+mn-ea"/>
              </a:rPr>
              <a:t>balloon.vy</a:t>
            </a:r>
            <a:r>
              <a:rPr lang="en-US" altLang="zh-CN" kern="100" dirty="0">
                <a:effectLst/>
                <a:latin typeface="+mn-ea"/>
              </a:rPr>
              <a:t> = </a:t>
            </a:r>
            <a:r>
              <a:rPr lang="en-US" altLang="zh-CN" kern="100" dirty="0" err="1">
                <a:effectLst/>
                <a:latin typeface="+mn-ea"/>
              </a:rPr>
              <a:t>random_velocity</a:t>
            </a:r>
            <a:r>
              <a:rPr lang="en-US" altLang="zh-CN" kern="100" dirty="0">
                <a:effectLst/>
                <a:latin typeface="+mn-ea"/>
              </a:rPr>
              <a:t>()</a:t>
            </a:r>
            <a:endParaRPr lang="zh-CN" altLang="zh-CN" kern="100" dirty="0">
              <a:effectLst/>
              <a:latin typeface="+mn-ea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这里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为气球新定义了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vy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属性，用来表示气球垂直上升的随度。</a:t>
            </a:r>
          </a:p>
          <a:p>
            <a:pPr indent="0" algn="just">
              <a:lnSpc>
                <a:spcPct val="15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对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update_balloon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函数进行修改，将更新气球纵坐标的语句修改为如下形式：</a:t>
            </a:r>
          </a:p>
          <a:p>
            <a:pPr indent="266700" algn="just">
              <a:lnSpc>
                <a:spcPct val="150000"/>
              </a:lnSpc>
            </a:pPr>
            <a:r>
              <a:rPr lang="en-US" altLang="zh-CN" kern="100" dirty="0" err="1">
                <a:effectLst/>
                <a:latin typeface="+mn-ea"/>
              </a:rPr>
              <a:t>balloon.y</a:t>
            </a:r>
            <a:r>
              <a:rPr lang="en-US" altLang="zh-CN" kern="100" dirty="0">
                <a:effectLst/>
                <a:latin typeface="+mn-ea"/>
              </a:rPr>
              <a:t> += </a:t>
            </a:r>
            <a:r>
              <a:rPr lang="en-US" altLang="zh-CN" kern="100" dirty="0" err="1">
                <a:effectLst/>
                <a:latin typeface="+mn-ea"/>
              </a:rPr>
              <a:t>balloon.vy</a:t>
            </a:r>
            <a:endParaRPr lang="zh-CN" altLang="zh-CN" kern="100" dirty="0">
              <a:effectLst/>
              <a:latin typeface="+mn-ea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Rectangle 20">
            <a:extLst>
              <a:ext uri="{FF2B5EF4-FFF2-40B4-BE49-F238E27FC236}">
                <a16:creationId xmlns:a16="http://schemas.microsoft.com/office/drawing/2014/main" id="{FCD5CFA4-2224-0B9E-B0AB-25CF7B264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0939" y="323464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33796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6C08CF-9878-9C84-348D-E802464B3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862DB0-CA5C-4C75-2A78-1537583AE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sz="2000" kern="0" dirty="0">
              <a:effectLst/>
              <a:latin typeface="Times New Roman" panose="02020603050405020304" pitchFamily="18" charset="0"/>
              <a:ea typeface="仿宋_GB2312"/>
              <a:cs typeface="宋体" panose="02010600030101010101" pitchFamily="2" charset="-122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zh-CN" altLang="zh-CN" sz="3200" kern="100" dirty="0">
                <a:effectLst/>
                <a:latin typeface="Times New Roman" panose="02020603050405020304" pitchFamily="18" charset="0"/>
                <a:ea typeface="仿宋_GB2312"/>
              </a:rPr>
              <a:t>试着改变一下</a:t>
            </a:r>
            <a:r>
              <a:rPr lang="en-US" altLang="zh-CN" sz="3200" kern="100" dirty="0" err="1">
                <a:effectLst/>
                <a:latin typeface="Times New Roman" panose="02020603050405020304" pitchFamily="18" charset="0"/>
                <a:ea typeface="仿宋_GB2312"/>
              </a:rPr>
              <a:t>random_velocity</a:t>
            </a:r>
            <a:r>
              <a:rPr lang="en-US" altLang="zh-CN" sz="3200" kern="100" dirty="0">
                <a:effectLst/>
                <a:latin typeface="Times New Roman" panose="02020603050405020304" pitchFamily="18" charset="0"/>
                <a:ea typeface="仿宋_GB2312"/>
              </a:rPr>
              <a:t>()</a:t>
            </a:r>
            <a:r>
              <a:rPr lang="zh-CN" altLang="zh-CN" sz="3200" kern="100" dirty="0">
                <a:effectLst/>
                <a:latin typeface="Times New Roman" panose="02020603050405020304" pitchFamily="18" charset="0"/>
                <a:ea typeface="仿宋_GB2312"/>
              </a:rPr>
              <a:t>函数中的判断条件，看看气球的移动会发生什么变化</a:t>
            </a:r>
            <a:r>
              <a:rPr lang="en-US" altLang="zh-CN" sz="3200" kern="100" dirty="0">
                <a:effectLst/>
                <a:latin typeface="Times New Roman" panose="02020603050405020304" pitchFamily="18" charset="0"/>
                <a:ea typeface="仿宋_GB2312"/>
              </a:rPr>
              <a:t>?</a:t>
            </a:r>
            <a:endParaRPr lang="zh-CN" altLang="zh-CN" sz="3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90647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89052" y="330430"/>
            <a:ext cx="9783055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2.4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随机生成气球的字母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将窗口中所有气球的字母加入集合，然后随机生成新字母，判断生成的字母是否已存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在于集合中，若是则重新生成字母。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random_char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函数随机生成气球的字母：</a:t>
            </a: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def </a:t>
            </a:r>
            <a:r>
              <a:rPr lang="en-US" altLang="zh-CN" kern="100" dirty="0" err="1">
                <a:effectLst/>
                <a:latin typeface="+mn-ea"/>
              </a:rPr>
              <a:t>random_char</a:t>
            </a:r>
            <a:r>
              <a:rPr lang="en-US" altLang="zh-CN" kern="100" dirty="0">
                <a:effectLst/>
                <a:latin typeface="+mn-ea"/>
              </a:rPr>
              <a:t>():</a:t>
            </a:r>
            <a:endParaRPr lang="zh-CN" altLang="zh-CN" kern="100" dirty="0">
              <a:effectLst/>
              <a:latin typeface="+mn-ea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charset = set()</a:t>
            </a:r>
            <a:endParaRPr lang="zh-CN" altLang="zh-CN" kern="100" dirty="0">
              <a:effectLst/>
              <a:latin typeface="+mn-ea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for balloon in balloons:</a:t>
            </a:r>
            <a:endParaRPr lang="zh-CN" altLang="zh-CN" kern="100" dirty="0">
              <a:effectLst/>
              <a:latin typeface="+mn-ea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</a:t>
            </a:r>
            <a:r>
              <a:rPr lang="en-US" altLang="zh-CN" kern="100" dirty="0" err="1">
                <a:effectLst/>
                <a:latin typeface="+mn-ea"/>
              </a:rPr>
              <a:t>charset.add</a:t>
            </a:r>
            <a:r>
              <a:rPr lang="en-US" altLang="zh-CN" kern="100" dirty="0">
                <a:effectLst/>
                <a:latin typeface="+mn-ea"/>
              </a:rPr>
              <a:t>(</a:t>
            </a:r>
            <a:r>
              <a:rPr lang="en-US" altLang="zh-CN" kern="100" dirty="0" err="1">
                <a:effectLst/>
                <a:latin typeface="+mn-ea"/>
              </a:rPr>
              <a:t>balloon.char</a:t>
            </a:r>
            <a:r>
              <a:rPr lang="en-US" altLang="zh-CN" kern="100" dirty="0">
                <a:effectLst/>
                <a:latin typeface="+mn-ea"/>
              </a:rPr>
              <a:t>)    </a:t>
            </a:r>
            <a:endParaRPr lang="zh-CN" altLang="zh-CN" kern="100" dirty="0">
              <a:effectLst/>
              <a:latin typeface="+mn-ea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ch</a:t>
            </a:r>
            <a:r>
              <a:rPr lang="en-US" altLang="zh-CN" kern="100" dirty="0">
                <a:effectLst/>
                <a:latin typeface="+mn-ea"/>
              </a:rPr>
              <a:t> = chr(</a:t>
            </a:r>
            <a:r>
              <a:rPr lang="en-US" altLang="zh-CN" kern="100" dirty="0" err="1">
                <a:effectLst/>
                <a:latin typeface="+mn-ea"/>
              </a:rPr>
              <a:t>random.randint</a:t>
            </a:r>
            <a:r>
              <a:rPr lang="en-US" altLang="zh-CN" kern="100" dirty="0">
                <a:effectLst/>
                <a:latin typeface="+mn-ea"/>
              </a:rPr>
              <a:t>(65, 90))</a:t>
            </a:r>
            <a:endParaRPr lang="zh-CN" altLang="zh-CN" kern="100" dirty="0">
              <a:effectLst/>
              <a:latin typeface="+mn-ea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while </a:t>
            </a:r>
            <a:r>
              <a:rPr lang="en-US" altLang="zh-CN" kern="100" dirty="0" err="1">
                <a:effectLst/>
                <a:latin typeface="+mn-ea"/>
              </a:rPr>
              <a:t>ch</a:t>
            </a:r>
            <a:r>
              <a:rPr lang="en-US" altLang="zh-CN" kern="100" dirty="0">
                <a:effectLst/>
                <a:latin typeface="+mn-ea"/>
              </a:rPr>
              <a:t> in charset:</a:t>
            </a:r>
            <a:endParaRPr lang="zh-CN" altLang="zh-CN" kern="100" dirty="0">
              <a:effectLst/>
              <a:latin typeface="+mn-ea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</a:t>
            </a:r>
            <a:r>
              <a:rPr lang="en-US" altLang="zh-CN" kern="100" dirty="0" err="1">
                <a:effectLst/>
                <a:latin typeface="+mn-ea"/>
              </a:rPr>
              <a:t>ch</a:t>
            </a:r>
            <a:r>
              <a:rPr lang="en-US" altLang="zh-CN" kern="100" dirty="0">
                <a:effectLst/>
                <a:latin typeface="+mn-ea"/>
              </a:rPr>
              <a:t> = chr(</a:t>
            </a:r>
            <a:r>
              <a:rPr lang="en-US" altLang="zh-CN" kern="100" dirty="0" err="1">
                <a:effectLst/>
                <a:latin typeface="+mn-ea"/>
              </a:rPr>
              <a:t>random.randint</a:t>
            </a:r>
            <a:r>
              <a:rPr lang="en-US" altLang="zh-CN" kern="100" dirty="0">
                <a:effectLst/>
                <a:latin typeface="+mn-ea"/>
              </a:rPr>
              <a:t>(65, 90))</a:t>
            </a:r>
            <a:endParaRPr lang="zh-CN" altLang="zh-CN" kern="100" dirty="0">
              <a:effectLst/>
              <a:latin typeface="+mn-ea"/>
            </a:endParaRPr>
          </a:p>
          <a:p>
            <a:pPr marL="266700" indent="304800" algn="just">
              <a:lnSpc>
                <a:spcPct val="150000"/>
              </a:lnSpc>
            </a:pPr>
            <a:r>
              <a:rPr lang="en-US" altLang="zh-CN" kern="100" dirty="0">
                <a:effectLst/>
                <a:latin typeface="+mn-ea"/>
              </a:rPr>
              <a:t>  return </a:t>
            </a:r>
            <a:r>
              <a:rPr lang="en-US" altLang="zh-CN" kern="100" dirty="0" err="1">
                <a:effectLst/>
                <a:latin typeface="+mn-ea"/>
              </a:rPr>
              <a:t>ch</a:t>
            </a:r>
            <a:endParaRPr lang="zh-CN" altLang="zh-CN" kern="100" dirty="0">
              <a:effectLst/>
              <a:latin typeface="+mn-ea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Rectangle 20">
            <a:extLst>
              <a:ext uri="{FF2B5EF4-FFF2-40B4-BE49-F238E27FC236}">
                <a16:creationId xmlns:a16="http://schemas.microsoft.com/office/drawing/2014/main" id="{FCD5CFA4-2224-0B9E-B0AB-25CF7B264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0939" y="323464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13351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89052" y="330430"/>
            <a:ext cx="9783055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2.4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随机生成气球的字母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修改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add_balloon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函数，将气球的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char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属性赋值操作修改为如下代码：</a:t>
            </a:r>
          </a:p>
          <a:p>
            <a:pPr algn="just">
              <a:lnSpc>
                <a:spcPct val="150000"/>
              </a:lnSpc>
            </a:pPr>
            <a:r>
              <a:rPr lang="en-US" altLang="zh-CN" kern="100" dirty="0">
                <a:latin typeface="+mn-ea"/>
              </a:rPr>
              <a:t>  </a:t>
            </a:r>
            <a:r>
              <a:rPr lang="en-US" altLang="zh-CN" kern="100" dirty="0" err="1">
                <a:effectLst/>
                <a:latin typeface="+mn-ea"/>
              </a:rPr>
              <a:t>balloon.char</a:t>
            </a:r>
            <a:r>
              <a:rPr lang="en-US" altLang="zh-CN" kern="100" dirty="0">
                <a:effectLst/>
                <a:latin typeface="+mn-ea"/>
              </a:rPr>
              <a:t> = </a:t>
            </a:r>
            <a:r>
              <a:rPr lang="en-US" altLang="zh-CN" kern="100" dirty="0" err="1">
                <a:effectLst/>
                <a:latin typeface="+mn-ea"/>
              </a:rPr>
              <a:t>random_char</a:t>
            </a:r>
            <a:r>
              <a:rPr lang="en-US" altLang="zh-CN" kern="100" dirty="0">
                <a:effectLst/>
                <a:latin typeface="+mn-ea"/>
              </a:rPr>
              <a:t>()</a:t>
            </a:r>
            <a:endParaRPr lang="zh-CN" altLang="zh-CN" kern="100" dirty="0">
              <a:effectLst/>
              <a:latin typeface="+mn-ea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Rectangle 20">
            <a:extLst>
              <a:ext uri="{FF2B5EF4-FFF2-40B4-BE49-F238E27FC236}">
                <a16:creationId xmlns:a16="http://schemas.microsoft.com/office/drawing/2014/main" id="{FCD5CFA4-2224-0B9E-B0AB-25CF7B264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0939" y="323464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8194" name="图片 4">
            <a:extLst>
              <a:ext uri="{FF2B5EF4-FFF2-40B4-BE49-F238E27FC236}">
                <a16:creationId xmlns:a16="http://schemas.microsoft.com/office/drawing/2014/main" id="{817F92C0-1A3D-9906-3C0A-1BC1375625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4990" y="2355957"/>
            <a:ext cx="5289550" cy="352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497813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AA9938F-FD66-BB38-EF2E-4BEA29A5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</a:t>
            </a:r>
            <a:r>
              <a:rPr lang="zh-CN" altLang="en-US" dirty="0"/>
              <a:t>实现打字功能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D3FB9B-EFF6-8DBC-CABE-55530406B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99846"/>
            <a:ext cx="10058400" cy="4023360"/>
          </a:xfrm>
        </p:spPr>
        <p:txBody>
          <a:bodyPr>
            <a:normAutofit/>
          </a:bodyPr>
          <a:lstStyle/>
          <a:p>
            <a:pPr indent="0" algn="just">
              <a:lnSpc>
                <a:spcPct val="150000"/>
              </a:lnSpc>
              <a:buNone/>
            </a:pPr>
            <a:r>
              <a:rPr lang="zh-CN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对于打字游戏来说，玩家要根据气球上的字母来敲击键盘，如果玩家按下了字母对应的按键，则该字母所在的气球要从窗口消除。由此可见，实现打字游戏的互动关键在于匹配字母的按键。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4399194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8" y="700300"/>
            <a:ext cx="9783055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3.1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匹配字母的按键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逐个检查窗口中的气球，看看是否气球上的字母和玩家按键的字母相同。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若相同则将该气球从气球列表中移除，它将不会显示在窗口中。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on_key_down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函数编写如下代码：</a:t>
            </a: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latin typeface="+mn-ea"/>
              </a:rPr>
              <a:t>   </a:t>
            </a:r>
            <a:r>
              <a:rPr lang="en-US" altLang="zh-CN" kern="100" dirty="0">
                <a:effectLst/>
                <a:latin typeface="+mn-ea"/>
              </a:rPr>
              <a:t>def </a:t>
            </a:r>
            <a:r>
              <a:rPr lang="en-US" altLang="zh-CN" kern="100" dirty="0" err="1">
                <a:effectLst/>
                <a:latin typeface="+mn-ea"/>
              </a:rPr>
              <a:t>on_key_down</a:t>
            </a:r>
            <a:r>
              <a:rPr lang="en-US" altLang="zh-CN" kern="100" dirty="0">
                <a:effectLst/>
                <a:latin typeface="+mn-ea"/>
              </a:rPr>
              <a:t>(key):    </a:t>
            </a:r>
            <a:endParaRPr lang="zh-CN" altLang="zh-CN" kern="100" dirty="0">
              <a:effectLst/>
              <a:latin typeface="+mn-ea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for balloon in balloons:            </a:t>
            </a:r>
            <a:endParaRPr lang="zh-CN" altLang="zh-CN" kern="100" dirty="0">
              <a:effectLst/>
              <a:latin typeface="+mn-ea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if str(key) == "keys." + </a:t>
            </a:r>
            <a:r>
              <a:rPr lang="en-US" altLang="zh-CN" kern="100" dirty="0" err="1">
                <a:effectLst/>
                <a:latin typeface="+mn-ea"/>
              </a:rPr>
              <a:t>balloon.char</a:t>
            </a:r>
            <a:r>
              <a:rPr lang="en-US" altLang="zh-CN" kern="100" dirty="0">
                <a:effectLst/>
                <a:latin typeface="+mn-ea"/>
              </a:rPr>
              <a:t>:</a:t>
            </a:r>
            <a:endParaRPr lang="zh-CN" altLang="zh-CN" kern="100" dirty="0">
              <a:effectLst/>
              <a:latin typeface="+mn-ea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    </a:t>
            </a:r>
            <a:r>
              <a:rPr lang="en-US" altLang="zh-CN" kern="100" dirty="0" err="1">
                <a:effectLst/>
                <a:latin typeface="+mn-ea"/>
              </a:rPr>
              <a:t>balloons.remove</a:t>
            </a:r>
            <a:r>
              <a:rPr lang="en-US" altLang="zh-CN" kern="100" dirty="0">
                <a:effectLst/>
                <a:latin typeface="+mn-ea"/>
              </a:rPr>
              <a:t>(balloon)</a:t>
            </a:r>
            <a:endParaRPr lang="zh-CN" altLang="zh-CN" kern="100" dirty="0">
              <a:effectLst/>
              <a:latin typeface="+mn-ea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    break</a:t>
            </a:r>
            <a:endParaRPr lang="zh-CN" altLang="zh-CN" kern="100" dirty="0">
              <a:effectLst/>
              <a:latin typeface="+mn-ea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Rectangle 20">
            <a:extLst>
              <a:ext uri="{FF2B5EF4-FFF2-40B4-BE49-F238E27FC236}">
                <a16:creationId xmlns:a16="http://schemas.microsoft.com/office/drawing/2014/main" id="{FCD5CFA4-2224-0B9E-B0AB-25CF7B264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0939" y="323464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00405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676037" y="268785"/>
            <a:ext cx="9783055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+mn-ea"/>
              </a:rPr>
              <a:t>3.2 </a:t>
            </a:r>
            <a:r>
              <a:rPr lang="zh-CN" altLang="zh-CN" sz="2400" b="1" kern="100" dirty="0">
                <a:effectLst/>
                <a:latin typeface="+mn-ea"/>
                <a:cs typeface="Times New Roman" panose="02020603050405020304" pitchFamily="18" charset="0"/>
              </a:rPr>
              <a:t>消除气球</a:t>
            </a:r>
            <a:endParaRPr lang="en-US" altLang="zh-CN" sz="2400" b="1" kern="100" dirty="0">
              <a:latin typeface="+mn-ea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当判断气球被命中时，设法对消除气球的操作进行一点延迟。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Pgzero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提供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clock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对象来实现延迟操作，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schedule()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方法用来延缓操作的执行时间。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在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add_balloon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函数中加入一行代码：</a:t>
            </a: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kern="100" dirty="0" err="1">
                <a:latin typeface="+mn-ea"/>
              </a:rPr>
              <a:t>balloon.typed</a:t>
            </a:r>
            <a:r>
              <a:rPr lang="en-US" altLang="zh-CN" kern="100" dirty="0">
                <a:latin typeface="+mn-ea"/>
              </a:rPr>
              <a:t> = False</a:t>
            </a:r>
            <a:endParaRPr lang="zh-CN" altLang="zh-CN" kern="100" dirty="0">
              <a:latin typeface="+mn-ea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定义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remove_balloon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函数执行消除气球操作：</a:t>
            </a: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latin typeface="+mn-ea"/>
              </a:rPr>
              <a:t>  def </a:t>
            </a:r>
            <a:r>
              <a:rPr lang="en-US" altLang="zh-CN" kern="100" dirty="0" err="1">
                <a:latin typeface="+mn-ea"/>
              </a:rPr>
              <a:t>remove_balloon</a:t>
            </a:r>
            <a:r>
              <a:rPr lang="en-US" altLang="zh-CN" kern="100" dirty="0">
                <a:latin typeface="+mn-ea"/>
              </a:rPr>
              <a:t>():</a:t>
            </a:r>
            <a:endParaRPr lang="zh-CN" altLang="zh-CN" kern="100" dirty="0">
              <a:latin typeface="+mn-ea"/>
            </a:endParaRPr>
          </a:p>
          <a:p>
            <a:pPr marL="133350" algn="just">
              <a:lnSpc>
                <a:spcPct val="100000"/>
              </a:lnSpc>
            </a:pPr>
            <a:r>
              <a:rPr lang="en-US" altLang="zh-CN" kern="100" dirty="0">
                <a:latin typeface="+mn-ea"/>
              </a:rPr>
              <a:t>      </a:t>
            </a:r>
            <a:r>
              <a:rPr lang="en-US" altLang="zh-CN" kern="100" dirty="0" err="1">
                <a:latin typeface="+mn-ea"/>
              </a:rPr>
              <a:t>sounds.eat.play</a:t>
            </a:r>
            <a:r>
              <a:rPr lang="en-US" altLang="zh-CN" kern="100" dirty="0">
                <a:latin typeface="+mn-ea"/>
              </a:rPr>
              <a:t>()</a:t>
            </a:r>
            <a:endParaRPr lang="zh-CN" altLang="zh-CN" kern="100" dirty="0">
              <a:latin typeface="+mn-ea"/>
            </a:endParaRPr>
          </a:p>
          <a:p>
            <a:pPr marL="133350" algn="just">
              <a:lnSpc>
                <a:spcPct val="100000"/>
              </a:lnSpc>
            </a:pPr>
            <a:r>
              <a:rPr lang="en-US" altLang="zh-CN" kern="100" dirty="0">
                <a:latin typeface="+mn-ea"/>
              </a:rPr>
              <a:t>      for balloon in balloons:</a:t>
            </a:r>
            <a:endParaRPr lang="zh-CN" altLang="zh-CN" kern="100" dirty="0">
              <a:latin typeface="+mn-ea"/>
            </a:endParaRPr>
          </a:p>
          <a:p>
            <a:pPr marL="133350" algn="just">
              <a:lnSpc>
                <a:spcPct val="100000"/>
              </a:lnSpc>
            </a:pPr>
            <a:r>
              <a:rPr lang="en-US" altLang="zh-CN" kern="100" dirty="0">
                <a:latin typeface="+mn-ea"/>
              </a:rPr>
              <a:t>          if </a:t>
            </a:r>
            <a:r>
              <a:rPr lang="en-US" altLang="zh-CN" kern="100" dirty="0" err="1">
                <a:latin typeface="+mn-ea"/>
              </a:rPr>
              <a:t>balloon.typed</a:t>
            </a:r>
            <a:r>
              <a:rPr lang="en-US" altLang="zh-CN" kern="100" dirty="0">
                <a:latin typeface="+mn-ea"/>
              </a:rPr>
              <a:t>:</a:t>
            </a:r>
            <a:endParaRPr lang="zh-CN" altLang="zh-CN" kern="100" dirty="0">
              <a:latin typeface="+mn-ea"/>
            </a:endParaRPr>
          </a:p>
          <a:p>
            <a:pPr marL="133350" algn="just">
              <a:lnSpc>
                <a:spcPct val="100000"/>
              </a:lnSpc>
            </a:pPr>
            <a:r>
              <a:rPr lang="en-US" altLang="zh-CN" kern="100" dirty="0">
                <a:latin typeface="+mn-ea"/>
              </a:rPr>
              <a:t>              </a:t>
            </a:r>
            <a:r>
              <a:rPr lang="en-US" altLang="zh-CN" kern="100" dirty="0" err="1">
                <a:latin typeface="+mn-ea"/>
              </a:rPr>
              <a:t>balloons.remove</a:t>
            </a:r>
            <a:r>
              <a:rPr lang="en-US" altLang="zh-CN" kern="100" dirty="0">
                <a:latin typeface="+mn-ea"/>
              </a:rPr>
              <a:t>(balloon)</a:t>
            </a:r>
            <a:endParaRPr lang="zh-CN" altLang="zh-CN" kern="100" dirty="0">
              <a:latin typeface="+mn-ea"/>
            </a:endParaRPr>
          </a:p>
          <a:p>
            <a:pPr marL="800100" indent="266700" algn="just">
              <a:lnSpc>
                <a:spcPct val="100000"/>
              </a:lnSpc>
            </a:pPr>
            <a:r>
              <a:rPr lang="en-US" altLang="zh-CN" kern="100" dirty="0">
                <a:latin typeface="+mn-ea"/>
              </a:rPr>
              <a:t>       break</a:t>
            </a:r>
            <a:endParaRPr lang="zh-CN" altLang="zh-CN" kern="100" dirty="0">
              <a:latin typeface="+mn-ea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Rectangle 20">
            <a:extLst>
              <a:ext uri="{FF2B5EF4-FFF2-40B4-BE49-F238E27FC236}">
                <a16:creationId xmlns:a16="http://schemas.microsoft.com/office/drawing/2014/main" id="{FCD5CFA4-2224-0B9E-B0AB-25CF7B264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0939" y="323464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59336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47956" y="83850"/>
            <a:ext cx="10009087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+mn-ea"/>
              </a:rPr>
              <a:t>3.2 </a:t>
            </a:r>
            <a:r>
              <a:rPr lang="zh-CN" altLang="zh-CN" sz="2400" b="1" kern="100" dirty="0">
                <a:effectLst/>
                <a:latin typeface="+mn-ea"/>
                <a:cs typeface="Times New Roman" panose="02020603050405020304" pitchFamily="18" charset="0"/>
              </a:rPr>
              <a:t>消除气球</a:t>
            </a:r>
            <a:endParaRPr lang="en-US" altLang="zh-CN" sz="2400" b="1" kern="100" dirty="0">
              <a:latin typeface="+mn-ea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修改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draw()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函数，让气球被命中时显示不同的字母颜色：</a:t>
            </a: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if </a:t>
            </a:r>
            <a:r>
              <a:rPr lang="en-US" altLang="zh-CN" kern="100" dirty="0" err="1">
                <a:effectLst/>
                <a:latin typeface="+mn-ea"/>
              </a:rPr>
              <a:t>balloon.typed</a:t>
            </a:r>
            <a:r>
              <a:rPr lang="en-US" altLang="zh-CN" kern="100" dirty="0">
                <a:effectLst/>
                <a:latin typeface="+mn-ea"/>
              </a:rPr>
              <a:t>: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</a:t>
            </a:r>
            <a:r>
              <a:rPr lang="en-US" altLang="zh-CN" kern="100" dirty="0" err="1">
                <a:effectLst/>
                <a:latin typeface="+mn-ea"/>
              </a:rPr>
              <a:t>screen.draw.text</a:t>
            </a:r>
            <a:r>
              <a:rPr lang="en-US" altLang="zh-CN" kern="100" dirty="0">
                <a:effectLst/>
                <a:latin typeface="+mn-ea"/>
              </a:rPr>
              <a:t>(</a:t>
            </a:r>
            <a:r>
              <a:rPr lang="en-US" altLang="zh-CN" kern="100" dirty="0" err="1">
                <a:effectLst/>
                <a:latin typeface="+mn-ea"/>
              </a:rPr>
              <a:t>balloon.char</a:t>
            </a:r>
            <a:r>
              <a:rPr lang="en-US" altLang="zh-CN" kern="100" dirty="0">
                <a:effectLst/>
                <a:latin typeface="+mn-ea"/>
              </a:rPr>
              <a:t>, center=</a:t>
            </a:r>
            <a:r>
              <a:rPr lang="en-US" altLang="zh-CN" kern="100" dirty="0" err="1">
                <a:effectLst/>
                <a:latin typeface="+mn-ea"/>
              </a:rPr>
              <a:t>balloon.center</a:t>
            </a:r>
            <a:r>
              <a:rPr lang="en-US" altLang="zh-CN" kern="100" dirty="0">
                <a:effectLst/>
                <a:latin typeface="+mn-ea"/>
              </a:rPr>
              <a:t>, color="white")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else: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</a:t>
            </a:r>
            <a:r>
              <a:rPr lang="en-US" altLang="zh-CN" kern="100" dirty="0" err="1">
                <a:effectLst/>
                <a:latin typeface="+mn-ea"/>
              </a:rPr>
              <a:t>screen.draw.text</a:t>
            </a:r>
            <a:r>
              <a:rPr lang="en-US" altLang="zh-CN" kern="100" dirty="0">
                <a:effectLst/>
                <a:latin typeface="+mn-ea"/>
              </a:rPr>
              <a:t>(</a:t>
            </a:r>
            <a:r>
              <a:rPr lang="en-US" altLang="zh-CN" kern="100" dirty="0" err="1">
                <a:effectLst/>
                <a:latin typeface="+mn-ea"/>
              </a:rPr>
              <a:t>balloon.char</a:t>
            </a:r>
            <a:r>
              <a:rPr lang="en-US" altLang="zh-CN" kern="100" dirty="0">
                <a:effectLst/>
                <a:latin typeface="+mn-ea"/>
              </a:rPr>
              <a:t>, center=</a:t>
            </a:r>
            <a:r>
              <a:rPr lang="en-US" altLang="zh-CN" kern="100" dirty="0" err="1">
                <a:effectLst/>
                <a:latin typeface="+mn-ea"/>
              </a:rPr>
              <a:t>balloon.center</a:t>
            </a:r>
            <a:r>
              <a:rPr lang="en-US" altLang="zh-CN" kern="100" dirty="0">
                <a:effectLst/>
                <a:latin typeface="+mn-ea"/>
              </a:rPr>
              <a:t>, color="black")</a:t>
            </a: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修改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on_key_down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函数，在其中加入对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schedule()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方法的调用语句：</a:t>
            </a:r>
          </a:p>
          <a:p>
            <a:pPr indent="3048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def </a:t>
            </a:r>
            <a:r>
              <a:rPr lang="en-US" altLang="zh-CN" kern="100" dirty="0" err="1">
                <a:effectLst/>
                <a:latin typeface="+mn-ea"/>
              </a:rPr>
              <a:t>on_key_down</a:t>
            </a:r>
            <a:r>
              <a:rPr lang="en-US" altLang="zh-CN" kern="100" dirty="0">
                <a:effectLst/>
                <a:latin typeface="+mn-ea"/>
              </a:rPr>
              <a:t>(key):      </a:t>
            </a:r>
            <a:endParaRPr lang="zh-CN" altLang="zh-CN" kern="100" dirty="0">
              <a:effectLst/>
              <a:latin typeface="+mn-ea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for balloon in balloons:            </a:t>
            </a:r>
            <a:endParaRPr lang="zh-CN" altLang="zh-CN" kern="100" dirty="0">
              <a:effectLst/>
              <a:latin typeface="+mn-ea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if str(key) == "keys." + </a:t>
            </a:r>
            <a:r>
              <a:rPr lang="en-US" altLang="zh-CN" kern="100" dirty="0" err="1">
                <a:effectLst/>
                <a:latin typeface="+mn-ea"/>
              </a:rPr>
              <a:t>balloon.char</a:t>
            </a:r>
            <a:r>
              <a:rPr lang="en-US" altLang="zh-CN" kern="100" dirty="0">
                <a:effectLst/>
                <a:latin typeface="+mn-ea"/>
              </a:rPr>
              <a:t>:</a:t>
            </a:r>
            <a:endParaRPr lang="zh-CN" altLang="zh-CN" kern="100" dirty="0">
              <a:effectLst/>
              <a:latin typeface="+mn-ea"/>
            </a:endParaRPr>
          </a:p>
          <a:p>
            <a:pPr indent="306070" algn="just">
              <a:lnSpc>
                <a:spcPct val="100000"/>
              </a:lnSpc>
            </a:pPr>
            <a:r>
              <a:rPr lang="en-US" altLang="zh-CN" b="1" kern="100" dirty="0">
                <a:effectLst/>
                <a:latin typeface="+mn-ea"/>
              </a:rPr>
              <a:t>            </a:t>
            </a:r>
            <a:r>
              <a:rPr lang="en-US" altLang="zh-CN" b="1" kern="100" dirty="0" err="1">
                <a:effectLst/>
                <a:latin typeface="+mn-ea"/>
              </a:rPr>
              <a:t>balloon.typed</a:t>
            </a:r>
            <a:r>
              <a:rPr lang="en-US" altLang="zh-CN" b="1" kern="100" dirty="0">
                <a:effectLst/>
                <a:latin typeface="+mn-ea"/>
              </a:rPr>
              <a:t> = True</a:t>
            </a:r>
            <a:endParaRPr lang="zh-CN" altLang="zh-CN" kern="100" dirty="0">
              <a:effectLst/>
              <a:latin typeface="+mn-ea"/>
            </a:endParaRPr>
          </a:p>
          <a:p>
            <a:pPr indent="306070" algn="just">
              <a:lnSpc>
                <a:spcPct val="100000"/>
              </a:lnSpc>
            </a:pPr>
            <a:r>
              <a:rPr lang="en-US" altLang="zh-CN" b="1" kern="100" dirty="0">
                <a:effectLst/>
                <a:latin typeface="+mn-ea"/>
              </a:rPr>
              <a:t>            </a:t>
            </a:r>
            <a:r>
              <a:rPr lang="en-US" altLang="zh-CN" b="1" kern="100" dirty="0" err="1">
                <a:effectLst/>
                <a:latin typeface="+mn-ea"/>
              </a:rPr>
              <a:t>clock.schedule</a:t>
            </a:r>
            <a:r>
              <a:rPr lang="en-US" altLang="zh-CN" b="1" kern="100" dirty="0">
                <a:effectLst/>
                <a:latin typeface="+mn-ea"/>
              </a:rPr>
              <a:t>(</a:t>
            </a:r>
            <a:r>
              <a:rPr lang="en-US" altLang="zh-CN" b="1" kern="100" dirty="0" err="1">
                <a:effectLst/>
                <a:latin typeface="+mn-ea"/>
              </a:rPr>
              <a:t>remove_balloon</a:t>
            </a:r>
            <a:r>
              <a:rPr lang="en-US" altLang="zh-CN" b="1" kern="100" dirty="0">
                <a:effectLst/>
                <a:latin typeface="+mn-ea"/>
              </a:rPr>
              <a:t>, 0.3)</a:t>
            </a:r>
            <a:endParaRPr lang="zh-CN" altLang="zh-CN" kern="100" dirty="0">
              <a:effectLst/>
              <a:latin typeface="+mn-ea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    break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50000"/>
              </a:lnSpc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Rectangle 20">
            <a:extLst>
              <a:ext uri="{FF2B5EF4-FFF2-40B4-BE49-F238E27FC236}">
                <a16:creationId xmlns:a16="http://schemas.microsoft.com/office/drawing/2014/main" id="{FCD5CFA4-2224-0B9E-B0AB-25CF7B264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0939" y="323464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68033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1045908" y="872664"/>
            <a:ext cx="879827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+mn-ea"/>
              </a:rPr>
              <a:t>3.2 </a:t>
            </a:r>
            <a:r>
              <a:rPr lang="zh-CN" altLang="zh-CN" sz="2400" b="1" kern="100" dirty="0">
                <a:effectLst/>
                <a:latin typeface="+mn-ea"/>
                <a:cs typeface="Times New Roman" panose="02020603050405020304" pitchFamily="18" charset="0"/>
              </a:rPr>
              <a:t>消除气球</a:t>
            </a:r>
            <a:endParaRPr lang="en-US" altLang="zh-CN" sz="2400" b="1" kern="100" dirty="0">
              <a:latin typeface="+mn-ea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消除气球的操作会等待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0.3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秒后执行，虽然时间短暂，但足够将命中气球时的字母颜色显示出来。</a:t>
            </a:r>
          </a:p>
          <a:p>
            <a:pPr algn="just">
              <a:lnSpc>
                <a:spcPct val="150000"/>
              </a:lnSpc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Rectangle 20">
            <a:extLst>
              <a:ext uri="{FF2B5EF4-FFF2-40B4-BE49-F238E27FC236}">
                <a16:creationId xmlns:a16="http://schemas.microsoft.com/office/drawing/2014/main" id="{FCD5CFA4-2224-0B9E-B0AB-25CF7B264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0939" y="323464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3" name="图片 8">
            <a:extLst>
              <a:ext uri="{FF2B5EF4-FFF2-40B4-BE49-F238E27FC236}">
                <a16:creationId xmlns:a16="http://schemas.microsoft.com/office/drawing/2014/main" id="{9E49C275-871B-2055-AD0C-53B5F96AB1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0919" y="2355169"/>
            <a:ext cx="5289550" cy="352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789717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6C08CF-9878-9C84-348D-E802464B3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862DB0-CA5C-4C75-2A78-1537583AE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zh-CN" sz="3200" kern="0" dirty="0">
              <a:effectLst/>
              <a:latin typeface="Times New Roman" panose="02020603050405020304" pitchFamily="18" charset="0"/>
              <a:ea typeface="仿宋_GB2312"/>
              <a:cs typeface="宋体" panose="02010600030101010101" pitchFamily="2" charset="-122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zh-CN" altLang="zh-CN" sz="3200" kern="100" dirty="0">
                <a:effectLst/>
                <a:latin typeface="Times New Roman" panose="02020603050405020304" pitchFamily="18" charset="0"/>
                <a:ea typeface="仿宋_GB2312"/>
              </a:rPr>
              <a:t>试着改变一下</a:t>
            </a:r>
            <a:r>
              <a:rPr lang="en-US" altLang="zh-CN" sz="3200" kern="100" dirty="0">
                <a:effectLst/>
                <a:latin typeface="Times New Roman" panose="02020603050405020304" pitchFamily="18" charset="0"/>
                <a:ea typeface="仿宋_GB2312"/>
              </a:rPr>
              <a:t>schedule()</a:t>
            </a:r>
            <a:r>
              <a:rPr lang="zh-CN" altLang="zh-CN" sz="3200" kern="100" dirty="0">
                <a:effectLst/>
                <a:latin typeface="Times New Roman" panose="02020603050405020304" pitchFamily="18" charset="0"/>
                <a:ea typeface="仿宋_GB2312"/>
              </a:rPr>
              <a:t>方法的第二个参数，看看不同的延迟时间会给游戏感受造成什么影响。</a:t>
            </a:r>
            <a:endParaRPr lang="zh-CN" altLang="zh-CN" sz="3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1395447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8" y="700300"/>
            <a:ext cx="9783055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5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3.3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修补游戏的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Bug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如果快速按键连续命中气球，那么后命中的气球可能在先命中的气球之前消失。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希望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气球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按照命中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顺序来消除，要对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程序进行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修改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定义列表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balloon_queue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，用来表示命中气球的队列：</a:t>
            </a:r>
          </a:p>
          <a:p>
            <a:pPr indent="304800" algn="just">
              <a:lnSpc>
                <a:spcPct val="100000"/>
              </a:lnSpc>
            </a:pPr>
            <a:r>
              <a:rPr lang="en-US" altLang="zh-CN" kern="100" dirty="0" err="1">
                <a:effectLst/>
                <a:latin typeface="+mn-ea"/>
              </a:rPr>
              <a:t>balloon_queue</a:t>
            </a:r>
            <a:r>
              <a:rPr lang="en-US" altLang="zh-CN" kern="100" dirty="0">
                <a:effectLst/>
                <a:latin typeface="+mn-ea"/>
              </a:rPr>
              <a:t> = []</a:t>
            </a:r>
            <a:endParaRPr lang="zh-CN" altLang="zh-CN" kern="100" dirty="0">
              <a:effectLst/>
              <a:latin typeface="+mn-ea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修改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on_key_down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函数，在调用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schedule()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方法之前加入一行代码：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 err="1">
                <a:effectLst/>
                <a:latin typeface="+mn-ea"/>
              </a:rPr>
              <a:t>balloon_queue.append</a:t>
            </a:r>
            <a:r>
              <a:rPr lang="en-US" altLang="zh-CN" kern="100" dirty="0">
                <a:effectLst/>
                <a:latin typeface="+mn-ea"/>
              </a:rPr>
              <a:t>(balloon)</a:t>
            </a:r>
            <a:endParaRPr lang="zh-CN" altLang="zh-CN" kern="100" dirty="0">
              <a:effectLst/>
              <a:latin typeface="+mn-ea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Rectangle 20">
            <a:extLst>
              <a:ext uri="{FF2B5EF4-FFF2-40B4-BE49-F238E27FC236}">
                <a16:creationId xmlns:a16="http://schemas.microsoft.com/office/drawing/2014/main" id="{FCD5CFA4-2224-0B9E-B0AB-25CF7B264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0939" y="323464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17782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8" y="700300"/>
            <a:ext cx="9783055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5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3.3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修补游戏的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Bug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修改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remove_balloon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函数，按照气球在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balloon_queue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中的次序执行消除操作：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def </a:t>
            </a:r>
            <a:r>
              <a:rPr lang="en-US" altLang="zh-CN" kern="100" dirty="0" err="1">
                <a:effectLst/>
                <a:latin typeface="+mn-ea"/>
              </a:rPr>
              <a:t>remove_balloon</a:t>
            </a:r>
            <a:r>
              <a:rPr lang="en-US" altLang="zh-CN" kern="100" dirty="0">
                <a:effectLst/>
                <a:latin typeface="+mn-ea"/>
              </a:rPr>
              <a:t>():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sounds.eat.play</a:t>
            </a:r>
            <a:r>
              <a:rPr lang="en-US" altLang="zh-CN" kern="100" dirty="0">
                <a:effectLst/>
                <a:latin typeface="+mn-ea"/>
              </a:rPr>
              <a:t>()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balloon = </a:t>
            </a:r>
            <a:r>
              <a:rPr lang="en-US" altLang="zh-CN" kern="100" dirty="0" err="1">
                <a:effectLst/>
                <a:latin typeface="+mn-ea"/>
              </a:rPr>
              <a:t>balloon_queue.pop</a:t>
            </a:r>
            <a:r>
              <a:rPr lang="en-US" altLang="zh-CN" kern="100" dirty="0">
                <a:effectLst/>
                <a:latin typeface="+mn-ea"/>
              </a:rPr>
              <a:t>(0)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if balloon in balloons: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</a:t>
            </a:r>
            <a:r>
              <a:rPr lang="en-US" altLang="zh-CN" kern="100" dirty="0" err="1">
                <a:effectLst/>
                <a:latin typeface="+mn-ea"/>
              </a:rPr>
              <a:t>balloons.remove</a:t>
            </a:r>
            <a:r>
              <a:rPr lang="en-US" altLang="zh-CN" kern="100" dirty="0">
                <a:effectLst/>
                <a:latin typeface="+mn-ea"/>
              </a:rPr>
              <a:t>(balloon)</a:t>
            </a:r>
            <a:endParaRPr lang="zh-CN" altLang="zh-CN" kern="100" dirty="0">
              <a:effectLst/>
              <a:latin typeface="+mn-ea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Rectangle 20">
            <a:extLst>
              <a:ext uri="{FF2B5EF4-FFF2-40B4-BE49-F238E27FC236}">
                <a16:creationId xmlns:a16="http://schemas.microsoft.com/office/drawing/2014/main" id="{FCD5CFA4-2224-0B9E-B0AB-25CF7B264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0939" y="323464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4366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AA9938F-FD66-BB38-EF2E-4BEA29A5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</a:t>
            </a:r>
            <a:r>
              <a:rPr lang="zh-CN" altLang="en-US" dirty="0"/>
              <a:t>完善游戏规则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D3FB9B-EFF6-8DBC-CABE-55530406B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99846"/>
            <a:ext cx="10058400" cy="4023360"/>
          </a:xfrm>
        </p:spPr>
        <p:txBody>
          <a:bodyPr>
            <a:normAutofit/>
          </a:bodyPr>
          <a:lstStyle/>
          <a:p>
            <a:pPr indent="0" algn="just">
              <a:lnSpc>
                <a:spcPct val="150000"/>
              </a:lnSpc>
              <a:buNone/>
            </a:pPr>
            <a:r>
              <a:rPr lang="zh-CN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我们可以根据玩家的操作表现来结束游戏。具体来说有两种做法，一种是基于奖励的，比如当玩家命中指定数量的气球后宣布游戏胜利；另一种是基于惩罚的，比如当玩家漏掉若干个气球后宣布游戏失败。</a:t>
            </a:r>
          </a:p>
        </p:txBody>
      </p:sp>
    </p:spTree>
    <p:extLst>
      <p:ext uri="{BB962C8B-B14F-4D97-AF65-F5344CB8AC3E}">
        <p14:creationId xmlns:p14="http://schemas.microsoft.com/office/powerpoint/2010/main" val="28777020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8" y="700300"/>
            <a:ext cx="9783055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4.1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添加游戏积分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定义全局变量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score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，用来表示游戏积分：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score = 0</a:t>
            </a:r>
            <a:endParaRPr lang="zh-CN" altLang="zh-CN" kern="100" dirty="0">
              <a:effectLst/>
              <a:latin typeface="+mn-ea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修改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on_key_down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函数，加入一行代码：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score += 1</a:t>
            </a:r>
            <a:endParaRPr lang="zh-CN" altLang="zh-CN" kern="100" dirty="0">
              <a:effectLst/>
              <a:latin typeface="+mn-ea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修改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draw()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函数，加入显示分数的代码：</a:t>
            </a: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screen.draw.text</a:t>
            </a:r>
            <a:r>
              <a:rPr lang="en-US" altLang="zh-CN" kern="100" dirty="0">
                <a:effectLst/>
                <a:latin typeface="+mn-ea"/>
              </a:rPr>
              <a:t>("Score: " + str(score),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          </a:t>
            </a:r>
            <a:r>
              <a:rPr lang="en-US" altLang="zh-CN" kern="100" dirty="0" err="1">
                <a:effectLst/>
                <a:latin typeface="+mn-ea"/>
              </a:rPr>
              <a:t>bottomleft</a:t>
            </a:r>
            <a:r>
              <a:rPr lang="en-US" altLang="zh-CN" kern="100" dirty="0">
                <a:effectLst/>
                <a:latin typeface="+mn-ea"/>
              </a:rPr>
              <a:t>=(10, HEIGHT - 10), color="black")</a:t>
            </a:r>
            <a:endParaRPr lang="zh-CN" altLang="zh-CN" kern="100" dirty="0">
              <a:effectLst/>
              <a:latin typeface="+mn-ea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Rectangle 20">
            <a:extLst>
              <a:ext uri="{FF2B5EF4-FFF2-40B4-BE49-F238E27FC236}">
                <a16:creationId xmlns:a16="http://schemas.microsoft.com/office/drawing/2014/main" id="{FCD5CFA4-2224-0B9E-B0AB-25CF7B264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0939" y="323464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65957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17133" y="392075"/>
            <a:ext cx="9783055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4.2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实现游戏倒计时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定义全局变量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start_time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left_time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，用来记录游戏开始的时间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游戏剩余的时间：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 err="1">
                <a:effectLst/>
                <a:latin typeface="+mn-ea"/>
              </a:rPr>
              <a:t>start_time</a:t>
            </a:r>
            <a:r>
              <a:rPr lang="en-US" altLang="zh-CN" kern="100" dirty="0">
                <a:effectLst/>
                <a:latin typeface="+mn-ea"/>
              </a:rPr>
              <a:t> = </a:t>
            </a:r>
            <a:r>
              <a:rPr lang="en-US" altLang="zh-CN" kern="100" dirty="0" err="1">
                <a:effectLst/>
                <a:latin typeface="+mn-ea"/>
              </a:rPr>
              <a:t>time.perf_counter</a:t>
            </a:r>
            <a:r>
              <a:rPr lang="en-US" altLang="zh-CN" kern="100" dirty="0">
                <a:effectLst/>
                <a:latin typeface="+mn-ea"/>
              </a:rPr>
              <a:t>()  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 err="1">
                <a:effectLst/>
                <a:latin typeface="+mn-ea"/>
              </a:rPr>
              <a:t>left_time</a:t>
            </a:r>
            <a:r>
              <a:rPr lang="en-US" altLang="zh-CN" kern="100" dirty="0">
                <a:effectLst/>
                <a:latin typeface="+mn-ea"/>
              </a:rPr>
              <a:t> = 60</a:t>
            </a:r>
            <a:endParaRPr lang="zh-CN" altLang="zh-CN" kern="100" dirty="0">
              <a:effectLst/>
              <a:latin typeface="+mn-ea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count_time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函数，用来计算游戏当前的运行时间：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def </a:t>
            </a:r>
            <a:r>
              <a:rPr lang="en-US" altLang="zh-CN" kern="100" dirty="0" err="1">
                <a:effectLst/>
                <a:latin typeface="+mn-ea"/>
              </a:rPr>
              <a:t>count_time</a:t>
            </a:r>
            <a:r>
              <a:rPr lang="en-US" altLang="zh-CN" kern="100" dirty="0">
                <a:effectLst/>
                <a:latin typeface="+mn-ea"/>
              </a:rPr>
              <a:t>():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global </a:t>
            </a:r>
            <a:r>
              <a:rPr lang="en-US" altLang="zh-CN" kern="100" dirty="0" err="1">
                <a:effectLst/>
                <a:latin typeface="+mn-ea"/>
              </a:rPr>
              <a:t>left_time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play_time</a:t>
            </a:r>
            <a:r>
              <a:rPr lang="en-US" altLang="zh-CN" kern="100" dirty="0">
                <a:effectLst/>
                <a:latin typeface="+mn-ea"/>
              </a:rPr>
              <a:t> = int(</a:t>
            </a:r>
            <a:r>
              <a:rPr lang="en-US" altLang="zh-CN" kern="100" dirty="0" err="1">
                <a:effectLst/>
                <a:latin typeface="+mn-ea"/>
              </a:rPr>
              <a:t>time.perf_counter</a:t>
            </a:r>
            <a:r>
              <a:rPr lang="en-US" altLang="zh-CN" kern="100" dirty="0">
                <a:effectLst/>
                <a:latin typeface="+mn-ea"/>
              </a:rPr>
              <a:t>() - </a:t>
            </a:r>
            <a:r>
              <a:rPr lang="en-US" altLang="zh-CN" kern="100" dirty="0" err="1">
                <a:effectLst/>
                <a:latin typeface="+mn-ea"/>
              </a:rPr>
              <a:t>start_time</a:t>
            </a:r>
            <a:r>
              <a:rPr lang="en-US" altLang="zh-CN" kern="100" dirty="0">
                <a:effectLst/>
                <a:latin typeface="+mn-ea"/>
              </a:rPr>
              <a:t>)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left_time</a:t>
            </a:r>
            <a:r>
              <a:rPr lang="en-US" altLang="zh-CN" kern="100" dirty="0">
                <a:effectLst/>
                <a:latin typeface="+mn-ea"/>
              </a:rPr>
              <a:t> = 60 - </a:t>
            </a:r>
            <a:r>
              <a:rPr lang="en-US" altLang="zh-CN" kern="100" dirty="0" err="1">
                <a:effectLst/>
                <a:latin typeface="+mn-ea"/>
              </a:rPr>
              <a:t>play_time</a:t>
            </a:r>
            <a:endParaRPr lang="zh-CN" altLang="zh-CN" kern="100" dirty="0">
              <a:effectLst/>
              <a:latin typeface="+mn-ea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修改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draw()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函数，加入显示倒计时的功能：</a:t>
            </a: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</a:t>
            </a:r>
            <a:r>
              <a:rPr lang="en-US" altLang="zh-CN" kern="100" dirty="0" err="1">
                <a:effectLst/>
                <a:latin typeface="+mn-ea"/>
              </a:rPr>
              <a:t>screen.draw.text</a:t>
            </a:r>
            <a:r>
              <a:rPr lang="en-US" altLang="zh-CN" kern="100" dirty="0">
                <a:effectLst/>
                <a:latin typeface="+mn-ea"/>
              </a:rPr>
              <a:t>("Time: " + str(</a:t>
            </a:r>
            <a:r>
              <a:rPr lang="en-US" altLang="zh-CN" kern="100" dirty="0" err="1">
                <a:effectLst/>
                <a:latin typeface="+mn-ea"/>
              </a:rPr>
              <a:t>left_time</a:t>
            </a:r>
            <a:r>
              <a:rPr lang="en-US" altLang="zh-CN" kern="100" dirty="0">
                <a:effectLst/>
                <a:latin typeface="+mn-ea"/>
              </a:rPr>
              <a:t>),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          </a:t>
            </a:r>
            <a:r>
              <a:rPr lang="en-US" altLang="zh-CN" kern="100" dirty="0" err="1">
                <a:effectLst/>
                <a:latin typeface="+mn-ea"/>
              </a:rPr>
              <a:t>bottomleft</a:t>
            </a:r>
            <a:r>
              <a:rPr lang="en-US" altLang="zh-CN" kern="100" dirty="0">
                <a:effectLst/>
                <a:latin typeface="+mn-ea"/>
              </a:rPr>
              <a:t>=(WIDTH - 80, HEIGHT - 10), color="black")</a:t>
            </a:r>
            <a:endParaRPr lang="zh-CN" altLang="zh-CN" kern="100" dirty="0">
              <a:effectLst/>
              <a:latin typeface="+mn-ea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Rectangle 20">
            <a:extLst>
              <a:ext uri="{FF2B5EF4-FFF2-40B4-BE49-F238E27FC236}">
                <a16:creationId xmlns:a16="http://schemas.microsoft.com/office/drawing/2014/main" id="{FCD5CFA4-2224-0B9E-B0AB-25CF7B264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0939" y="323464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44688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696585" y="94125"/>
            <a:ext cx="9783055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4.3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判定游戏结束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定义两个全局变量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win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lost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，分别表示游戏获胜及失败的状态：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win = False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lost = False</a:t>
            </a: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定义函数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check_gameover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对游戏结束的情况进行判定及处理：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def </a:t>
            </a:r>
            <a:r>
              <a:rPr lang="en-US" altLang="zh-CN" kern="100" dirty="0" err="1">
                <a:effectLst/>
                <a:latin typeface="+mn-ea"/>
              </a:rPr>
              <a:t>check_gameover</a:t>
            </a:r>
            <a:r>
              <a:rPr lang="en-US" altLang="zh-CN" kern="100" dirty="0">
                <a:effectLst/>
                <a:latin typeface="+mn-ea"/>
              </a:rPr>
              <a:t>():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global win, lost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if score &gt;= 100: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</a:t>
            </a:r>
            <a:r>
              <a:rPr lang="en-US" altLang="zh-CN" kern="100" dirty="0" err="1">
                <a:effectLst/>
                <a:latin typeface="+mn-ea"/>
              </a:rPr>
              <a:t>sounds.win.play</a:t>
            </a:r>
            <a:r>
              <a:rPr lang="en-US" altLang="zh-CN" kern="100" dirty="0">
                <a:effectLst/>
                <a:latin typeface="+mn-ea"/>
              </a:rPr>
              <a:t>()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win = True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if </a:t>
            </a:r>
            <a:r>
              <a:rPr lang="en-US" altLang="zh-CN" kern="100" dirty="0" err="1">
                <a:effectLst/>
                <a:latin typeface="+mn-ea"/>
              </a:rPr>
              <a:t>left_time</a:t>
            </a:r>
            <a:r>
              <a:rPr lang="en-US" altLang="zh-CN" kern="100" dirty="0">
                <a:effectLst/>
                <a:latin typeface="+mn-ea"/>
              </a:rPr>
              <a:t> &lt;= 0: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</a:t>
            </a:r>
            <a:r>
              <a:rPr lang="en-US" altLang="zh-CN" kern="100" dirty="0" err="1">
                <a:effectLst/>
                <a:latin typeface="+mn-ea"/>
              </a:rPr>
              <a:t>sounds.fail.play</a:t>
            </a:r>
            <a:r>
              <a:rPr lang="en-US" altLang="zh-CN" kern="100" dirty="0">
                <a:effectLst/>
                <a:latin typeface="+mn-ea"/>
              </a:rPr>
              <a:t>()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lost = True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Rectangle 20">
            <a:extLst>
              <a:ext uri="{FF2B5EF4-FFF2-40B4-BE49-F238E27FC236}">
                <a16:creationId xmlns:a16="http://schemas.microsoft.com/office/drawing/2014/main" id="{FCD5CFA4-2224-0B9E-B0AB-25CF7B264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0939" y="323464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16926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696585" y="678311"/>
            <a:ext cx="9783055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4.3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判定游戏结束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update()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函数中调用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check_gameover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函数，以便持续地检查游戏结束的情形。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修改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draw()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函数，显示游戏胜利及失败时的文字提示：</a:t>
            </a: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if win: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</a:t>
            </a:r>
            <a:r>
              <a:rPr lang="en-US" altLang="zh-CN" kern="100" dirty="0" err="1">
                <a:effectLst/>
                <a:latin typeface="+mn-ea"/>
              </a:rPr>
              <a:t>screen.draw.text</a:t>
            </a:r>
            <a:r>
              <a:rPr lang="en-US" altLang="zh-CN" kern="100" dirty="0">
                <a:effectLst/>
                <a:latin typeface="+mn-ea"/>
              </a:rPr>
              <a:t>("You Win!", center=(WIDTH // 2, HEIGHT // 2),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                 </a:t>
            </a:r>
            <a:r>
              <a:rPr lang="en-US" altLang="zh-CN" kern="100" dirty="0" err="1">
                <a:effectLst/>
                <a:latin typeface="+mn-ea"/>
              </a:rPr>
              <a:t>fontsize</a:t>
            </a:r>
            <a:r>
              <a:rPr lang="en-US" altLang="zh-CN" kern="100" dirty="0">
                <a:effectLst/>
                <a:latin typeface="+mn-ea"/>
              </a:rPr>
              <a:t>=50, color="red")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elif</a:t>
            </a:r>
            <a:r>
              <a:rPr lang="en-US" altLang="zh-CN" kern="100" dirty="0">
                <a:effectLst/>
                <a:latin typeface="+mn-ea"/>
              </a:rPr>
              <a:t> lost: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</a:t>
            </a:r>
            <a:r>
              <a:rPr lang="en-US" altLang="zh-CN" kern="100" dirty="0" err="1">
                <a:effectLst/>
                <a:latin typeface="+mn-ea"/>
              </a:rPr>
              <a:t>screen.draw.text</a:t>
            </a:r>
            <a:r>
              <a:rPr lang="en-US" altLang="zh-CN" kern="100" dirty="0">
                <a:effectLst/>
                <a:latin typeface="+mn-ea"/>
              </a:rPr>
              <a:t>("You Lost!", center=(WIDTH // 2, HEIGHT // 2),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                 </a:t>
            </a:r>
            <a:r>
              <a:rPr lang="en-US" altLang="zh-CN" kern="100" dirty="0" err="1">
                <a:effectLst/>
                <a:latin typeface="+mn-ea"/>
              </a:rPr>
              <a:t>fontsize</a:t>
            </a:r>
            <a:r>
              <a:rPr lang="en-US" altLang="zh-CN" kern="100" dirty="0">
                <a:effectLst/>
                <a:latin typeface="+mn-ea"/>
              </a:rPr>
              <a:t>=50, color="red")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Rectangle 20">
            <a:extLst>
              <a:ext uri="{FF2B5EF4-FFF2-40B4-BE49-F238E27FC236}">
                <a16:creationId xmlns:a16="http://schemas.microsoft.com/office/drawing/2014/main" id="{FCD5CFA4-2224-0B9E-B0AB-25CF7B264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0939" y="323464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14121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696585" y="678311"/>
            <a:ext cx="9783055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4.3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判定游戏结束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对程序重构，提取所有显示文本的语句，并将它们放入新定义的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draw_text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函数中。</a:t>
            </a:r>
          </a:p>
          <a:p>
            <a:pPr indent="266700" algn="just">
              <a:lnSpc>
                <a:spcPct val="100000"/>
              </a:lnSpc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Rectangle 20">
            <a:extLst>
              <a:ext uri="{FF2B5EF4-FFF2-40B4-BE49-F238E27FC236}">
                <a16:creationId xmlns:a16="http://schemas.microsoft.com/office/drawing/2014/main" id="{FCD5CFA4-2224-0B9E-B0AB-25CF7B264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0939" y="323464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0242" name="图片 7">
            <a:extLst>
              <a:ext uri="{FF2B5EF4-FFF2-40B4-BE49-F238E27FC236}">
                <a16:creationId xmlns:a16="http://schemas.microsoft.com/office/drawing/2014/main" id="{54C6A949-89A6-B44F-189B-8877D3821A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8294" y="2047733"/>
            <a:ext cx="5289550" cy="352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372623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E1FD12-3765-D577-424E-D275D83AD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回顾与总结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16F0AB-C2B5-60F3-2AD0-A592E9C3D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5012266"/>
          </a:xfrm>
        </p:spPr>
        <p:txBody>
          <a:bodyPr>
            <a:normAutofit/>
          </a:bodyPr>
          <a:lstStyle/>
          <a:p>
            <a:pPr indent="0" algn="just">
              <a:lnSpc>
                <a:spcPct val="150000"/>
              </a:lnSpc>
              <a:buNone/>
            </a:pP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在本章我们学习了如何制作一款打字游戏。我们着重介绍了随机数在游戏设计中的作用，通过随机数的几种不同用法，我们随机生成了气球的位置、速度及字母。然后我们讨论了如何对玩家的按键与气球的字母进行匹配，并详细介绍了如何使用定时器来延缓气球的消除操作。接着我们针对游戏中的</a:t>
            </a:r>
            <a:r>
              <a:rPr lang="en-US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Bug</a:t>
            </a: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进行了处理，从而让游戏操作达到比较理想的效果。最后我们实现了游戏积分及倒计时的功能，并在此基础上完善了游戏的结束规则。此外，在游戏编写过程中，我们还学习了如何使用</a:t>
            </a:r>
            <a:r>
              <a:rPr lang="en-US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的集合数据类型，以及如何使用</a:t>
            </a:r>
            <a:r>
              <a:rPr lang="en-US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time</a:t>
            </a: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库中的函数来获取系统的时间。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1557301"/>
      </p:ext>
    </p:extLst>
  </p:cSld>
  <p:clrMapOvr>
    <a:masterClrMapping/>
  </p:clrMapOvr>
</p:sld>
</file>

<file path=ppt/theme/theme1.xml><?xml version="1.0" encoding="utf-8"?>
<a:theme xmlns:a="http://schemas.openxmlformats.org/drawingml/2006/main" name="回顾">
  <a:themeElements>
    <a:clrScheme name="回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550</TotalTime>
  <Words>2441</Words>
  <Application>Microsoft Office PowerPoint</Application>
  <PresentationFormat>宽屏</PresentationFormat>
  <Paragraphs>249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9" baseType="lpstr">
      <vt:lpstr>等线</vt:lpstr>
      <vt:lpstr>宋体</vt:lpstr>
      <vt:lpstr>微软雅黑</vt:lpstr>
      <vt:lpstr>Calibri</vt:lpstr>
      <vt:lpstr>Calibri Light</vt:lpstr>
      <vt:lpstr>Times New Roman</vt:lpstr>
      <vt:lpstr>Wingdings</vt:lpstr>
      <vt:lpstr>回顾</vt:lpstr>
      <vt:lpstr>打字游戏</vt:lpstr>
      <vt:lpstr>本章知识点</vt:lpstr>
      <vt:lpstr>1.创建一个字母气球</vt:lpstr>
      <vt:lpstr>PowerPoint 演示文稿</vt:lpstr>
      <vt:lpstr>2.添加多个气球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练习</vt:lpstr>
      <vt:lpstr>PowerPoint 演示文稿</vt:lpstr>
      <vt:lpstr>PowerPoint 演示文稿</vt:lpstr>
      <vt:lpstr>3.实现打字功能</vt:lpstr>
      <vt:lpstr>PowerPoint 演示文稿</vt:lpstr>
      <vt:lpstr>PowerPoint 演示文稿</vt:lpstr>
      <vt:lpstr>PowerPoint 演示文稿</vt:lpstr>
      <vt:lpstr>PowerPoint 演示文稿</vt:lpstr>
      <vt:lpstr>练习</vt:lpstr>
      <vt:lpstr>PowerPoint 演示文稿</vt:lpstr>
      <vt:lpstr>PowerPoint 演示文稿</vt:lpstr>
      <vt:lpstr>4.完善游戏规则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回顾与总结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记忆翻牌游戏</dc:title>
  <dc:creator>叶得飞</dc:creator>
  <cp:lastModifiedBy>hawking329@sina.com</cp:lastModifiedBy>
  <cp:revision>99</cp:revision>
  <dcterms:created xsi:type="dcterms:W3CDTF">2022-06-28T01:57:29Z</dcterms:created>
  <dcterms:modified xsi:type="dcterms:W3CDTF">2024-01-08T08:57:31Z</dcterms:modified>
</cp:coreProperties>
</file>