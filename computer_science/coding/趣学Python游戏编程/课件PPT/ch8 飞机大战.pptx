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3582" r:id="rId4"/>
    <p:sldId id="3583" r:id="rId5"/>
    <p:sldId id="3584" r:id="rId6"/>
    <p:sldId id="3585" r:id="rId7"/>
    <p:sldId id="3586" r:id="rId8"/>
    <p:sldId id="3577" r:id="rId9"/>
    <p:sldId id="3587" r:id="rId10"/>
    <p:sldId id="3588" r:id="rId11"/>
    <p:sldId id="3589" r:id="rId12"/>
    <p:sldId id="3590" r:id="rId13"/>
    <p:sldId id="3591" r:id="rId14"/>
    <p:sldId id="3592" r:id="rId15"/>
    <p:sldId id="3593" r:id="rId16"/>
    <p:sldId id="3594" r:id="rId17"/>
    <p:sldId id="3595" r:id="rId18"/>
    <p:sldId id="3596" r:id="rId19"/>
    <p:sldId id="3598" r:id="rId20"/>
    <p:sldId id="3597" r:id="rId21"/>
    <p:sldId id="3599" r:id="rId22"/>
    <p:sldId id="3600" r:id="rId23"/>
    <p:sldId id="3601" r:id="rId24"/>
    <p:sldId id="3602" r:id="rId25"/>
    <p:sldId id="3603" r:id="rId26"/>
    <p:sldId id="3604" r:id="rId27"/>
    <p:sldId id="3605" r:id="rId28"/>
    <p:sldId id="3606" r:id="rId29"/>
    <p:sldId id="3607" r:id="rId30"/>
    <p:sldId id="3608" r:id="rId31"/>
    <p:sldId id="3609" r:id="rId32"/>
    <p:sldId id="358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飞机大战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自动创建角色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设置缓动效果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使用三角函数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实现无敌状态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显示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HUD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创建游戏场景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设置背景图像</a:t>
            </a:r>
            <a:endParaRPr lang="en-US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在程序的开头编写如下代码：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kern="100" dirty="0">
                <a:latin typeface="+mn-ea"/>
              </a:rPr>
              <a:t>  </a:t>
            </a:r>
            <a:r>
              <a:rPr lang="en-US" altLang="zh-CN" sz="2400" kern="100" dirty="0">
                <a:effectLst/>
                <a:latin typeface="+mn-ea"/>
              </a:rPr>
              <a:t>WIDTH = 480              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</a:rPr>
              <a:t>HEIGHT = 680</a:t>
            </a:r>
            <a:endParaRPr lang="zh-CN" altLang="zh-CN" sz="2400" kern="100" dirty="0">
              <a:effectLst/>
              <a:latin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定义背景列表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backgrounds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，分别创建两个背景角色，将它们加入列表中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</a:rPr>
              <a:t>backgrounds = []            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 err="1">
                <a:effectLst/>
                <a:latin typeface="+mn-ea"/>
              </a:rPr>
              <a:t>backgrounds.append</a:t>
            </a:r>
            <a:r>
              <a:rPr lang="en-US" altLang="zh-CN" sz="2400" kern="100" dirty="0">
                <a:effectLst/>
                <a:latin typeface="+mn-ea"/>
              </a:rPr>
              <a:t>(Actor("</a:t>
            </a:r>
            <a:r>
              <a:rPr lang="en-US" altLang="zh-CN" sz="2400" kern="100" dirty="0" err="1">
                <a:effectLst/>
                <a:latin typeface="+mn-ea"/>
              </a:rPr>
              <a:t>warplanes_background</a:t>
            </a:r>
            <a:r>
              <a:rPr lang="en-US" altLang="zh-CN" sz="2400" kern="100" dirty="0">
                <a:effectLst/>
                <a:latin typeface="+mn-ea"/>
              </a:rPr>
              <a:t>", </a:t>
            </a:r>
            <a:r>
              <a:rPr lang="en-US" altLang="zh-CN" sz="2400" kern="100" dirty="0" err="1">
                <a:effectLst/>
                <a:latin typeface="+mn-ea"/>
              </a:rPr>
              <a:t>topleft</a:t>
            </a:r>
            <a:r>
              <a:rPr lang="en-US" altLang="zh-CN" sz="2400" kern="100" dirty="0">
                <a:effectLst/>
                <a:latin typeface="+mn-ea"/>
              </a:rPr>
              <a:t>=(0, 0)))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kern="100" dirty="0" err="1">
                <a:effectLst/>
                <a:latin typeface="+mn-ea"/>
              </a:rPr>
              <a:t>backgrounds.append</a:t>
            </a:r>
            <a:r>
              <a:rPr lang="en-US" altLang="zh-CN" sz="2400" kern="100" dirty="0">
                <a:effectLst/>
                <a:latin typeface="+mn-ea"/>
              </a:rPr>
              <a:t>(Actor("</a:t>
            </a:r>
            <a:r>
              <a:rPr lang="en-US" altLang="zh-CN" sz="2400" kern="100" dirty="0" err="1">
                <a:effectLst/>
                <a:latin typeface="+mn-ea"/>
              </a:rPr>
              <a:t>warplanes_background</a:t>
            </a:r>
            <a:r>
              <a:rPr lang="en-US" altLang="zh-CN" sz="2400" kern="100" dirty="0">
                <a:effectLst/>
                <a:latin typeface="+mn-ea"/>
              </a:rPr>
              <a:t>", </a:t>
            </a:r>
            <a:r>
              <a:rPr lang="en-US" altLang="zh-CN" sz="2400" kern="100" dirty="0" err="1">
                <a:effectLst/>
                <a:latin typeface="+mn-ea"/>
              </a:rPr>
              <a:t>bottomleft</a:t>
            </a:r>
            <a:r>
              <a:rPr lang="en-US" altLang="zh-CN" sz="2400" kern="100" dirty="0">
                <a:effectLst/>
                <a:latin typeface="+mn-ea"/>
              </a:rPr>
              <a:t>=(0, 0)))</a:t>
            </a:r>
            <a:endParaRPr lang="zh-CN" altLang="zh-CN" sz="2400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设置背景图像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函数中编写代码，将背景图像显示出来：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def draw():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for </a:t>
            </a:r>
            <a:r>
              <a:rPr lang="en-US" altLang="zh-CN" sz="2400" kern="100" dirty="0" err="1">
                <a:effectLst/>
                <a:latin typeface="+mn-ea"/>
              </a:rPr>
              <a:t>backimgae</a:t>
            </a:r>
            <a:r>
              <a:rPr lang="en-US" altLang="zh-CN" sz="2400" kern="100" dirty="0">
                <a:effectLst/>
                <a:latin typeface="+mn-ea"/>
              </a:rPr>
              <a:t> in backgrounds: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backimgae.draw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3283D6CD-0DE1-8BD2-2156-C09F7224E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34" y="2212521"/>
            <a:ext cx="24828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滚动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背景图像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飞机大战游戏采取的是垂直滚动，因此让背景向下方移动。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在程序中定义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update_background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函数用来滚动背景图像：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backimage</a:t>
            </a:r>
            <a:r>
              <a:rPr lang="en-US" altLang="zh-CN" kern="100" dirty="0">
                <a:effectLst/>
                <a:latin typeface="+mn-ea"/>
              </a:rPr>
              <a:t> in backgrounds: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backimage.y</a:t>
            </a:r>
            <a:r>
              <a:rPr lang="en-US" altLang="zh-CN" kern="100" dirty="0">
                <a:effectLst/>
                <a:latin typeface="+mn-ea"/>
              </a:rPr>
              <a:t> += 2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backimage.top</a:t>
            </a:r>
            <a:r>
              <a:rPr lang="en-US" altLang="zh-CN" kern="100" dirty="0">
                <a:effectLst/>
                <a:latin typeface="+mn-ea"/>
              </a:rPr>
              <a:t> &gt; HEIGHT: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backimage.bottom</a:t>
            </a:r>
            <a:r>
              <a:rPr lang="en-US" altLang="zh-CN" kern="100" dirty="0">
                <a:effectLst/>
                <a:latin typeface="+mn-ea"/>
              </a:rPr>
              <a:t> = 0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update_background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执行背景滚动的操作：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607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添加英雄战机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控制战机移动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创建一个战机角色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hero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hero = Actor("warplanes_hero1", </a:t>
            </a:r>
            <a:r>
              <a:rPr lang="en-US" altLang="zh-CN" kern="100" dirty="0" err="1">
                <a:effectLst/>
                <a:latin typeface="+mn-ea"/>
              </a:rPr>
              <a:t>midbottom</a:t>
            </a:r>
            <a:r>
              <a:rPr lang="en-US" altLang="zh-CN" kern="100" dirty="0">
                <a:effectLst/>
                <a:latin typeface="+mn-ea"/>
              </a:rPr>
              <a:t>=(WIDTH // 2, HEIGHT - 50))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hero.speed</a:t>
            </a:r>
            <a:r>
              <a:rPr lang="en-US" altLang="zh-CN" kern="100" dirty="0">
                <a:effectLst/>
                <a:latin typeface="+mn-ea"/>
              </a:rPr>
              <a:t> = 5 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函数，加入显示战机的代码：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hero.draw</a:t>
            </a:r>
            <a:r>
              <a:rPr lang="en-US" altLang="zh-CN" kern="100" dirty="0">
                <a:effectLst/>
                <a:latin typeface="+mn-ea"/>
              </a:rPr>
              <a:t>()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函数来实现战机的移动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，代码参见书上第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149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522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953439" y="7357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.2 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播放战机动画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animcount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属性，用来保存图像计数：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hero.animcount</a:t>
            </a:r>
            <a:r>
              <a:rPr lang="en-US" altLang="zh-CN" kern="100" dirty="0">
                <a:effectLst/>
                <a:latin typeface="+mn-ea"/>
              </a:rPr>
              <a:t> = 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函数，用来放置战机移动的代码。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并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加入播放战机动画的代码：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update_hero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move_hero</a:t>
            </a:r>
            <a:r>
              <a:rPr lang="en-US" altLang="zh-CN" kern="100" dirty="0">
                <a:effectLst/>
                <a:latin typeface="+mn-ea"/>
              </a:rPr>
              <a:t>()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hero.animcount</a:t>
            </a:r>
            <a:r>
              <a:rPr lang="en-US" altLang="zh-CN" kern="100" dirty="0">
                <a:effectLst/>
                <a:latin typeface="+mn-ea"/>
              </a:rPr>
              <a:t> = (</a:t>
            </a:r>
            <a:r>
              <a:rPr lang="en-US" altLang="zh-CN" kern="100" dirty="0" err="1">
                <a:effectLst/>
                <a:latin typeface="+mn-ea"/>
              </a:rPr>
              <a:t>hero.animcount</a:t>
            </a:r>
            <a:r>
              <a:rPr lang="en-US" altLang="zh-CN" kern="100" dirty="0">
                <a:effectLst/>
                <a:latin typeface="+mn-ea"/>
              </a:rPr>
              <a:t> + 1) % 20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hero.animcount</a:t>
            </a:r>
            <a:r>
              <a:rPr lang="en-US" altLang="zh-CN" kern="100" dirty="0">
                <a:effectLst/>
                <a:latin typeface="+mn-ea"/>
              </a:rPr>
              <a:t> ==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hero.image</a:t>
            </a:r>
            <a:r>
              <a:rPr lang="en-US" altLang="zh-CN" kern="100" dirty="0">
                <a:effectLst/>
                <a:latin typeface="+mn-ea"/>
              </a:rPr>
              <a:t> = "warplanes_hero1"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hero.animcount</a:t>
            </a:r>
            <a:r>
              <a:rPr lang="en-US" altLang="zh-CN" kern="100" dirty="0">
                <a:effectLst/>
                <a:latin typeface="+mn-ea"/>
              </a:rPr>
              <a:t> == 10: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hero.image</a:t>
            </a:r>
            <a:r>
              <a:rPr lang="en-US" altLang="zh-CN" sz="1800" kern="100" dirty="0">
                <a:effectLst/>
                <a:latin typeface="+mn-ea"/>
              </a:rPr>
              <a:t> = "warplanes_hero2"</a:t>
            </a:r>
            <a:endParaRPr lang="zh-CN" altLang="zh-CN" sz="1800" kern="100" dirty="0">
              <a:effectLst/>
              <a:latin typeface="+mn-ea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图片 3">
            <a:extLst>
              <a:ext uri="{FF2B5EF4-FFF2-40B4-BE49-F238E27FC236}">
                <a16:creationId xmlns:a16="http://schemas.microsoft.com/office/drawing/2014/main" id="{468B731B-7C56-47D4-4ADC-E8DD5964D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531" y="2629911"/>
            <a:ext cx="24828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39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2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试着对上面的代码进行修改，看看怎样才能加快或减慢动画的播放速度。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添加子弹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实现子弹射击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定义一个列表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bullets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，保存所有的子弹角色：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bullets = []     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shoot()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函数，用来发射子弹：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def shoot():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sounds.bullet.play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bullets.append</a:t>
            </a:r>
            <a:r>
              <a:rPr lang="en-US" altLang="zh-CN" kern="100" dirty="0">
                <a:effectLst/>
                <a:latin typeface="+mn-ea"/>
              </a:rPr>
              <a:t>(Actor("</a:t>
            </a:r>
            <a:r>
              <a:rPr lang="en-US" altLang="zh-CN" kern="100" dirty="0" err="1">
                <a:effectLst/>
                <a:latin typeface="+mn-ea"/>
              </a:rPr>
              <a:t>warplanes_bullet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midbottom</a:t>
            </a:r>
            <a:r>
              <a:rPr lang="en-US" altLang="zh-CN" kern="100" dirty="0">
                <a:effectLst/>
                <a:latin typeface="+mn-ea"/>
              </a:rPr>
              <a:t>=(</a:t>
            </a:r>
            <a:r>
              <a:rPr lang="en-US" altLang="zh-CN" kern="100" dirty="0" err="1">
                <a:effectLst/>
                <a:latin typeface="+mn-ea"/>
              </a:rPr>
              <a:t>hero.x</a:t>
            </a:r>
            <a:r>
              <a:rPr lang="en-US" altLang="zh-CN" kern="100" dirty="0">
                <a:effectLst/>
                <a:latin typeface="+mn-ea"/>
              </a:rPr>
              <a:t>, </a:t>
            </a:r>
            <a:r>
              <a:rPr lang="en-US" altLang="zh-CN" kern="100" dirty="0" err="1">
                <a:effectLst/>
                <a:latin typeface="+mn-ea"/>
              </a:rPr>
              <a:t>hero.top</a:t>
            </a:r>
            <a:r>
              <a:rPr lang="en-US" altLang="zh-CN" kern="100" dirty="0">
                <a:effectLst/>
                <a:latin typeface="+mn-ea"/>
              </a:rPr>
              <a:t>)))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2127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79471" y="872664"/>
            <a:ext cx="876591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实现子弹射击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子弹不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能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发射得太频繁，而是间隔一段时间发射一次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考虑借助定时器对象。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函数，加入对键盘空格键的处理代码：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if </a:t>
            </a:r>
            <a:r>
              <a:rPr lang="en-US" altLang="zh-CN" kern="100" dirty="0" err="1">
                <a:effectLst/>
                <a:latin typeface="+mn-ea"/>
              </a:rPr>
              <a:t>keyboard.space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</a:t>
            </a:r>
            <a:r>
              <a:rPr lang="en-US" altLang="zh-CN" kern="100" dirty="0" err="1">
                <a:effectLst/>
                <a:latin typeface="+mn-ea"/>
              </a:rPr>
              <a:t>clock.schedule_unique</a:t>
            </a:r>
            <a:r>
              <a:rPr lang="en-US" altLang="zh-CN" kern="100" dirty="0">
                <a:effectLst/>
                <a:latin typeface="+mn-ea"/>
              </a:rPr>
              <a:t>(shoot, 0.1)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Clock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对象的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schedule_unique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在等待操作的时间内不会接受新的延迟命令，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从而达到我们所希望的效果。</a:t>
            </a: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037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64407" y="76992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实现子弹射击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update_bullets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函数来移动子弹：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  def </a:t>
            </a:r>
            <a:r>
              <a:rPr lang="en-US" altLang="zh-CN" kern="100" dirty="0" err="1">
                <a:effectLst/>
                <a:latin typeface="+mn-ea"/>
              </a:rPr>
              <a:t>update_bullets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for bullet in bullets:</a:t>
            </a:r>
            <a:endParaRPr lang="zh-CN" altLang="zh-CN" kern="100" dirty="0">
              <a:effectLst/>
              <a:latin typeface="+mn-ea"/>
            </a:endParaRPr>
          </a:p>
          <a:p>
            <a:pPr marL="494665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bullet.y</a:t>
            </a:r>
            <a:r>
              <a:rPr lang="en-US" altLang="zh-CN" kern="100" dirty="0">
                <a:effectLst/>
                <a:latin typeface="+mn-ea"/>
              </a:rPr>
              <a:t> -= 10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bullet.bottom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bullets.remove</a:t>
            </a:r>
            <a:r>
              <a:rPr lang="en-US" altLang="zh-CN" kern="100" dirty="0">
                <a:effectLst/>
                <a:latin typeface="+mn-ea"/>
              </a:rPr>
              <a:t>(bullet)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 ，加入显示子弹的代码：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</a:t>
            </a:r>
            <a:r>
              <a:rPr lang="en-US" altLang="zh-CN" kern="100" dirty="0">
                <a:effectLst/>
                <a:latin typeface="+mn-ea"/>
              </a:rPr>
              <a:t>for bullet in bullets: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</a:t>
            </a:r>
            <a:r>
              <a:rPr lang="en-US" altLang="zh-CN" kern="100" dirty="0" err="1">
                <a:effectLst/>
                <a:latin typeface="+mn-ea"/>
              </a:rPr>
              <a:t>bullet.draw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564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64407" y="76992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设置增强道具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powers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，用来保存增强道具角色：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powers = []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update_powerup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函数，用来对增强道具操作：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update_powerup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(1, 1000) &lt; 5: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x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(50, WIDTH)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powerup = Actor("</a:t>
            </a:r>
            <a:r>
              <a:rPr lang="en-US" altLang="zh-CN" kern="100" dirty="0" err="1">
                <a:effectLst/>
                <a:latin typeface="+mn-ea"/>
              </a:rPr>
              <a:t>warplanes_powerup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bottomright</a:t>
            </a:r>
            <a:r>
              <a:rPr lang="en-US" altLang="zh-CN" kern="100" dirty="0">
                <a:effectLst/>
                <a:latin typeface="+mn-ea"/>
              </a:rPr>
              <a:t>=(x, 0))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powers.append</a:t>
            </a:r>
            <a:r>
              <a:rPr lang="en-US" altLang="zh-CN" kern="100" dirty="0">
                <a:effectLst/>
                <a:latin typeface="+mn-ea"/>
              </a:rPr>
              <a:t>(powerup)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72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52756" y="338407"/>
            <a:ext cx="971935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设置增强道具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为战机添加布尔类型的属性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power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用来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标识战机获取道具后的状态：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hero.power</a:t>
            </a:r>
            <a:r>
              <a:rPr lang="en-US" altLang="zh-CN" kern="100" dirty="0">
                <a:effectLst/>
                <a:latin typeface="+mn-ea"/>
              </a:rPr>
              <a:t> = False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update_powerup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powerup in powers: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powerup.y</a:t>
            </a:r>
            <a:r>
              <a:rPr lang="en-US" altLang="zh-CN" kern="100" dirty="0">
                <a:effectLst/>
                <a:latin typeface="+mn-ea"/>
              </a:rPr>
              <a:t> += 2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powerup.top</a:t>
            </a:r>
            <a:r>
              <a:rPr lang="en-US" altLang="zh-CN" kern="100" dirty="0">
                <a:effectLst/>
                <a:latin typeface="+mn-ea"/>
              </a:rPr>
              <a:t> &gt; HEIGHT: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powers.remove</a:t>
            </a:r>
            <a:r>
              <a:rPr lang="en-US" altLang="zh-CN" kern="100" dirty="0">
                <a:effectLst/>
                <a:latin typeface="+mn-ea"/>
              </a:rPr>
              <a:t>(powerup)   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powerup.colliderect</a:t>
            </a:r>
            <a:r>
              <a:rPr lang="en-US" altLang="zh-CN" kern="100" dirty="0">
                <a:effectLst/>
                <a:latin typeface="+mn-ea"/>
              </a:rPr>
              <a:t>(hero):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powers.remove</a:t>
            </a:r>
            <a:r>
              <a:rPr lang="en-US" altLang="zh-CN" kern="100" dirty="0">
                <a:effectLst/>
                <a:latin typeface="+mn-ea"/>
              </a:rPr>
              <a:t>(powerup)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hero.power</a:t>
            </a:r>
            <a:r>
              <a:rPr lang="en-US" altLang="zh-CN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clock.schedule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powerdown</a:t>
            </a:r>
            <a:r>
              <a:rPr lang="en-US" altLang="zh-CN" kern="100" dirty="0">
                <a:effectLst/>
                <a:latin typeface="+mn-ea"/>
              </a:rPr>
              <a:t>, 5.0)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731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95230" y="87266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设置增强道具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powerdown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函数，用来取消增强道具的作用效果：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latin typeface="+mn-ea"/>
              </a:rPr>
              <a:t>  </a:t>
            </a:r>
            <a:r>
              <a:rPr lang="en-US" altLang="zh-CN" sz="2400" kern="100" dirty="0">
                <a:effectLst/>
                <a:latin typeface="+mn-ea"/>
              </a:rPr>
              <a:t>def </a:t>
            </a:r>
            <a:r>
              <a:rPr lang="en-US" altLang="zh-CN" sz="2400" kern="100" dirty="0" err="1">
                <a:effectLst/>
                <a:latin typeface="+mn-ea"/>
              </a:rPr>
              <a:t>powerdown</a:t>
            </a:r>
            <a:r>
              <a:rPr lang="en-US" altLang="zh-CN" sz="2400" kern="100" dirty="0">
                <a:effectLst/>
                <a:latin typeface="+mn-ea"/>
              </a:rPr>
              <a:t>():</a:t>
            </a:r>
            <a:endParaRPr lang="zh-CN" altLang="zh-CN" sz="2400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</a:t>
            </a:r>
            <a:r>
              <a:rPr lang="en-US" altLang="zh-CN" sz="2400" kern="100" dirty="0" err="1">
                <a:effectLst/>
                <a:latin typeface="+mn-ea"/>
              </a:rPr>
              <a:t>hero.power</a:t>
            </a:r>
            <a:r>
              <a:rPr lang="en-US" altLang="zh-CN" sz="2400" kern="100" dirty="0">
                <a:effectLst/>
                <a:latin typeface="+mn-ea"/>
              </a:rPr>
              <a:t> = False</a:t>
            </a:r>
            <a:endParaRPr lang="zh-CN" altLang="zh-CN" sz="2400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函数，在其中加入显示增强道具的代码：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for powerup in powers:</a:t>
            </a:r>
            <a:endParaRPr lang="zh-CN" altLang="zh-CN" sz="2400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</a:t>
            </a:r>
            <a:r>
              <a:rPr lang="en-US" altLang="zh-CN" sz="2400" kern="100" dirty="0" err="1">
                <a:effectLst/>
                <a:latin typeface="+mn-ea"/>
              </a:rPr>
              <a:t>powerup.draw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531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76039" y="944583"/>
            <a:ext cx="1024539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3.3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使用三角函数计算坐标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考虑射击时再增加两颗子弹，让它们以指定的角度从战机的左、右两侧飞出。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shoot()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函数修改，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另外创建两个子弹角色，并设置初始的坐标及角度值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hero.power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leftbullet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warplanes_bullet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midbottom</a:t>
            </a:r>
            <a:r>
              <a:rPr lang="en-US" altLang="zh-CN" kern="100" dirty="0">
                <a:effectLst/>
                <a:latin typeface="+mn-ea"/>
              </a:rPr>
              <a:t>=(</a:t>
            </a:r>
            <a:r>
              <a:rPr lang="en-US" altLang="zh-CN" kern="100" dirty="0" err="1">
                <a:effectLst/>
                <a:latin typeface="+mn-ea"/>
              </a:rPr>
              <a:t>hero.x</a:t>
            </a:r>
            <a:r>
              <a:rPr lang="en-US" altLang="zh-CN" kern="100" dirty="0">
                <a:effectLst/>
                <a:latin typeface="+mn-ea"/>
              </a:rPr>
              <a:t>, </a:t>
            </a:r>
            <a:r>
              <a:rPr lang="en-US" altLang="zh-CN" kern="100" dirty="0" err="1">
                <a:effectLst/>
                <a:latin typeface="+mn-ea"/>
              </a:rPr>
              <a:t>hero.top</a:t>
            </a:r>
            <a:r>
              <a:rPr lang="en-US" altLang="zh-CN" kern="100" dirty="0">
                <a:effectLst/>
                <a:latin typeface="+mn-ea"/>
              </a:rPr>
              <a:t>))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leftbullet.angle</a:t>
            </a:r>
            <a:r>
              <a:rPr lang="en-US" altLang="zh-CN" kern="100" dirty="0">
                <a:effectLst/>
                <a:latin typeface="+mn-ea"/>
              </a:rPr>
              <a:t> = 15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bullets.append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leftbullet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rightbullet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warplanes_bullet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midbottom</a:t>
            </a:r>
            <a:r>
              <a:rPr lang="en-US" altLang="zh-CN" kern="100" dirty="0">
                <a:effectLst/>
                <a:latin typeface="+mn-ea"/>
              </a:rPr>
              <a:t>=(</a:t>
            </a:r>
            <a:r>
              <a:rPr lang="en-US" altLang="zh-CN" kern="100" dirty="0" err="1">
                <a:effectLst/>
                <a:latin typeface="+mn-ea"/>
              </a:rPr>
              <a:t>hero.x</a:t>
            </a:r>
            <a:r>
              <a:rPr lang="en-US" altLang="zh-CN" kern="100" dirty="0">
                <a:effectLst/>
                <a:latin typeface="+mn-ea"/>
              </a:rPr>
              <a:t>, </a:t>
            </a:r>
            <a:r>
              <a:rPr lang="en-US" altLang="zh-CN" kern="100" dirty="0" err="1">
                <a:effectLst/>
                <a:latin typeface="+mn-ea"/>
              </a:rPr>
              <a:t>hero.top</a:t>
            </a:r>
            <a:r>
              <a:rPr lang="en-US" altLang="zh-CN" kern="100" dirty="0">
                <a:effectLst/>
                <a:latin typeface="+mn-ea"/>
              </a:rPr>
              <a:t>))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rightbullet.angle</a:t>
            </a:r>
            <a:r>
              <a:rPr lang="en-US" altLang="zh-CN" kern="100" dirty="0">
                <a:effectLst/>
                <a:latin typeface="+mn-ea"/>
              </a:rPr>
              <a:t> = -15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bullets.append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rightbullet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61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95230" y="87266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使用三角函数计算坐标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计算子弹向前移动时的横坐标和纵坐标，需要借助三角函数公式。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假设子弹每次向前移动一个单位距离，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坐标将会改变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θ的距离，而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坐标则会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θ的距离。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7C834DC-150A-1CE9-67E6-4562DF425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384" y="2709144"/>
            <a:ext cx="5003154" cy="294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0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02763" y="46169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使用三角函数计算坐标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update_bullets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函数，通过三角函数计算子弹坐标：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def </a:t>
            </a:r>
            <a:r>
              <a:rPr lang="en-US" altLang="zh-CN" kern="100" dirty="0" err="1">
                <a:effectLst/>
                <a:latin typeface="+mn-ea"/>
              </a:rPr>
              <a:t>update_bullets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latin typeface="+mn-ea"/>
              </a:rPr>
              <a:t>    </a:t>
            </a:r>
            <a:r>
              <a:rPr lang="en-US" altLang="zh-CN" kern="100" dirty="0">
                <a:effectLst/>
                <a:latin typeface="+mn-ea"/>
              </a:rPr>
              <a:t>for bullet in bullets: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      theta = </a:t>
            </a:r>
            <a:r>
              <a:rPr lang="en-US" altLang="zh-CN" kern="100" dirty="0" err="1">
                <a:effectLst/>
                <a:latin typeface="+mn-ea"/>
              </a:rPr>
              <a:t>math.radians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bullet.angle</a:t>
            </a:r>
            <a:r>
              <a:rPr lang="en-US" altLang="zh-CN" kern="100" dirty="0">
                <a:effectLst/>
                <a:latin typeface="+mn-ea"/>
              </a:rPr>
              <a:t> + 90)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bullet.x</a:t>
            </a:r>
            <a:r>
              <a:rPr lang="en-US" altLang="zh-CN" kern="100" dirty="0">
                <a:effectLst/>
                <a:latin typeface="+mn-ea"/>
              </a:rPr>
              <a:t> += 10 * </a:t>
            </a:r>
            <a:r>
              <a:rPr lang="en-US" altLang="zh-CN" kern="100" dirty="0" err="1">
                <a:effectLst/>
                <a:latin typeface="+mn-ea"/>
              </a:rPr>
              <a:t>math.cos</a:t>
            </a:r>
            <a:r>
              <a:rPr lang="en-US" altLang="zh-CN" kern="100" dirty="0">
                <a:effectLst/>
                <a:latin typeface="+mn-ea"/>
              </a:rPr>
              <a:t>(theta)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bullet.y</a:t>
            </a:r>
            <a:r>
              <a:rPr lang="en-US" altLang="zh-CN" kern="100" dirty="0">
                <a:effectLst/>
                <a:latin typeface="+mn-ea"/>
              </a:rPr>
              <a:t> -= 10 * </a:t>
            </a:r>
            <a:r>
              <a:rPr lang="en-US" altLang="zh-CN" kern="100" dirty="0" err="1">
                <a:effectLst/>
                <a:latin typeface="+mn-ea"/>
              </a:rPr>
              <a:t>math.sin</a:t>
            </a:r>
            <a:r>
              <a:rPr lang="en-US" altLang="zh-CN" kern="100" dirty="0">
                <a:effectLst/>
                <a:latin typeface="+mn-ea"/>
              </a:rPr>
              <a:t>(theta)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bullet.bottom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bullets.remove</a:t>
            </a:r>
            <a:r>
              <a:rPr lang="en-US" altLang="zh-CN" kern="100" dirty="0">
                <a:effectLst/>
                <a:latin typeface="+mn-ea"/>
              </a:rPr>
              <a:t>(bullet)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266" name="图片 2">
            <a:extLst>
              <a:ext uri="{FF2B5EF4-FFF2-40B4-BE49-F238E27FC236}">
                <a16:creationId xmlns:a16="http://schemas.microsoft.com/office/drawing/2014/main" id="{55BB7BA4-70DA-79B5-B1A3-ECC875E4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935" y="1981856"/>
            <a:ext cx="2482850" cy="359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187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2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</a:t>
            </a:r>
            <a:r>
              <a:rPr lang="zh-CN" altLang="en-US" sz="3200" kern="100" dirty="0">
                <a:effectLst/>
                <a:latin typeface="Times New Roman" panose="02020603050405020304" pitchFamily="18" charset="0"/>
                <a:ea typeface="仿宋_GB2312"/>
              </a:rPr>
              <a:t>添加更多不同方向的子弹，形成散射效果。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5516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添加敌机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设置缓动效果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库提供了一个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animate()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函数，专门用来对角色执行缓动操作。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将角色的名字作为参数传递给它，同时传入目标位置的坐标值，该函数便会在角色的初始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位置到目标位置之间实施缓动操作。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animate()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函数还有两个缺省参数，一个是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duration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，表示缓动持续的时间，默认值为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秒；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另一个是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tween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，表示缓动的类型，默认值是“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linear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”，表示匀速直线运动。</a:t>
            </a:r>
            <a:endParaRPr lang="zh-CN" altLang="en-US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还定义了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tween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参数的其它取值，它们都是以字符串的形式来表示的。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00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336991" y="1335001"/>
            <a:ext cx="680354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设置缓动效果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定义了列表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tweens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保存所有的缓动类型字符串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enemies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保存所有的敌机角色：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tweens = ["linear", "accelerate", "decelerate","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accel_decel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\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in_elastic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out_elastic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in_out_elastic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\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bounce_end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bounce_start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bounce_start_end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enemies = []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38453A-28F0-067C-FC56-80603B2F0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267" y="1335001"/>
            <a:ext cx="5175974" cy="396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9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14747" y="276763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设置缓动效果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spawn_enemy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函数，用来创建敌机并设置缓动效果：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spawn_enemy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origin_x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(50, WIDTH)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target_x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(50, WIDTH)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tn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random.choice</a:t>
            </a:r>
            <a:r>
              <a:rPr lang="en-US" altLang="zh-CN" kern="100" dirty="0">
                <a:effectLst/>
                <a:latin typeface="+mn-ea"/>
              </a:rPr>
              <a:t>(tweens)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dn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(3, 6)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enemy = Actor("warplanes_enemy1", </a:t>
            </a:r>
            <a:r>
              <a:rPr lang="en-US" altLang="zh-CN" kern="100" dirty="0" err="1">
                <a:effectLst/>
                <a:latin typeface="+mn-ea"/>
              </a:rPr>
              <a:t>bottomright</a:t>
            </a:r>
            <a:r>
              <a:rPr lang="en-US" altLang="zh-CN" kern="100" dirty="0">
                <a:effectLst/>
                <a:latin typeface="+mn-ea"/>
              </a:rPr>
              <a:t>=(</a:t>
            </a:r>
            <a:r>
              <a:rPr lang="en-US" altLang="zh-CN" kern="100" dirty="0" err="1">
                <a:effectLst/>
                <a:latin typeface="+mn-ea"/>
              </a:rPr>
              <a:t>origin_x</a:t>
            </a:r>
            <a:r>
              <a:rPr lang="en-US" altLang="zh-CN" kern="100" dirty="0">
                <a:effectLst/>
                <a:latin typeface="+mn-ea"/>
              </a:rPr>
              <a:t>, 0))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(1, 100) &lt; 20: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enemy.image</a:t>
            </a:r>
            <a:r>
              <a:rPr lang="en-US" altLang="zh-CN" kern="100" dirty="0">
                <a:effectLst/>
                <a:latin typeface="+mn-ea"/>
              </a:rPr>
              <a:t> = "warplanes_enemy2"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enemies.append</a:t>
            </a:r>
            <a:r>
              <a:rPr lang="en-US" altLang="zh-CN" kern="100" dirty="0">
                <a:effectLst/>
                <a:latin typeface="+mn-ea"/>
              </a:rPr>
              <a:t>(enemy)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</a:rPr>
              <a:t>    animate(enemy, tween=</a:t>
            </a:r>
            <a:r>
              <a:rPr lang="en-US" altLang="zh-CN" sz="1800" kern="100" dirty="0" err="1">
                <a:effectLst/>
                <a:latin typeface="+mn-ea"/>
              </a:rPr>
              <a:t>tn</a:t>
            </a:r>
            <a:r>
              <a:rPr lang="en-US" altLang="zh-CN" sz="1800" kern="100" dirty="0">
                <a:effectLst/>
                <a:latin typeface="+mn-ea"/>
              </a:rPr>
              <a:t>, duration=</a:t>
            </a:r>
            <a:r>
              <a:rPr lang="en-US" altLang="zh-CN" sz="1800" kern="100" dirty="0" err="1">
                <a:effectLst/>
                <a:latin typeface="+mn-ea"/>
              </a:rPr>
              <a:t>dn</a:t>
            </a:r>
            <a:r>
              <a:rPr lang="en-US" altLang="zh-CN" sz="1800" kern="100" dirty="0">
                <a:effectLst/>
                <a:latin typeface="+mn-ea"/>
              </a:rPr>
              <a:t>, </a:t>
            </a:r>
            <a:r>
              <a:rPr lang="en-US" altLang="zh-CN" sz="1800" kern="100" dirty="0" err="1">
                <a:effectLst/>
                <a:latin typeface="+mn-ea"/>
              </a:rPr>
              <a:t>topright</a:t>
            </a:r>
            <a:r>
              <a:rPr lang="en-US" altLang="zh-CN" sz="1800" kern="100" dirty="0">
                <a:effectLst/>
                <a:latin typeface="+mn-ea"/>
              </a:rPr>
              <a:t>=(</a:t>
            </a:r>
            <a:r>
              <a:rPr lang="en-US" altLang="zh-CN" sz="1800" kern="100" dirty="0" err="1">
                <a:effectLst/>
                <a:latin typeface="+mn-ea"/>
              </a:rPr>
              <a:t>target_x</a:t>
            </a:r>
            <a:r>
              <a:rPr lang="en-US" altLang="zh-CN" sz="1800" kern="100" dirty="0">
                <a:effectLst/>
                <a:latin typeface="+mn-ea"/>
              </a:rPr>
              <a:t>, HEIGHT))</a:t>
            </a:r>
            <a:endParaRPr lang="zh-CN" altLang="zh-CN" sz="1800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0178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14747" y="780196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设置缓动效果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schedule_interval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周期性地重复执行某个操作。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schedule_interval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方法，将代码添加到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spawn_enemy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函数后面：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clock.schedule_interval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spawn_enemy</a:t>
            </a:r>
            <a:r>
              <a:rPr lang="en-US" altLang="zh-CN" kern="100" dirty="0">
                <a:effectLst/>
                <a:latin typeface="+mn-ea"/>
              </a:rPr>
              <a:t>, 1.0)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函数进行修改，加入显示敌机的代码：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for enemy in enemies: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</a:t>
            </a:r>
            <a:r>
              <a:rPr lang="en-US" altLang="zh-CN" kern="100" dirty="0" err="1">
                <a:effectLst/>
                <a:latin typeface="+mn-ea"/>
              </a:rPr>
              <a:t>enemy.draw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290" name="图片 7">
            <a:extLst>
              <a:ext uri="{FF2B5EF4-FFF2-40B4-BE49-F238E27FC236}">
                <a16:creationId xmlns:a16="http://schemas.microsoft.com/office/drawing/2014/main" id="{6C2E8C5F-38DD-7A7A-A13B-BFEB3AC55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307" y="2485291"/>
            <a:ext cx="2482850" cy="359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1211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32553" y="194570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敌机与子弹的交互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update_enemy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实现击中敌机后增加游戏积分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</a:t>
            </a:r>
            <a:r>
              <a:rPr lang="en-US" altLang="zh-CN" sz="1800" kern="100" dirty="0" err="1">
                <a:effectLst/>
                <a:latin typeface="+mn-ea"/>
              </a:rPr>
              <a:t>update_enemy</a:t>
            </a:r>
            <a:r>
              <a:rPr lang="en-US" altLang="zh-CN" sz="1800" kern="100" dirty="0">
                <a:effectLst/>
                <a:latin typeface="+mn-ea"/>
              </a:rPr>
              <a:t>():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enemy in enemies: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if </a:t>
            </a:r>
            <a:r>
              <a:rPr lang="en-US" altLang="zh-CN" sz="1800" kern="100" dirty="0" err="1">
                <a:effectLst/>
                <a:latin typeface="+mn-ea"/>
              </a:rPr>
              <a:t>enemy.top</a:t>
            </a:r>
            <a:r>
              <a:rPr lang="en-US" altLang="zh-CN" sz="1800" kern="100" dirty="0">
                <a:effectLst/>
                <a:latin typeface="+mn-ea"/>
              </a:rPr>
              <a:t> &gt;= HEIGHT:  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enemies.remove</a:t>
            </a:r>
            <a:r>
              <a:rPr lang="en-US" altLang="zh-CN" sz="1800" kern="100" dirty="0">
                <a:effectLst/>
                <a:latin typeface="+mn-ea"/>
              </a:rPr>
              <a:t>(enemy)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continue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b="1" kern="100" dirty="0">
                <a:effectLst/>
                <a:latin typeface="+mn-ea"/>
              </a:rPr>
              <a:t>n = </a:t>
            </a:r>
            <a:r>
              <a:rPr lang="en-US" altLang="zh-CN" sz="1800" b="1" kern="100" dirty="0" err="1">
                <a:effectLst/>
                <a:latin typeface="+mn-ea"/>
              </a:rPr>
              <a:t>enemy.collidelist</a:t>
            </a:r>
            <a:r>
              <a:rPr lang="en-US" altLang="zh-CN" sz="1800" b="1" kern="100" dirty="0">
                <a:effectLst/>
                <a:latin typeface="+mn-ea"/>
              </a:rPr>
              <a:t>(bullets)</a:t>
            </a:r>
            <a:endParaRPr lang="zh-CN" altLang="zh-CN" sz="1800" b="1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if n != -1: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enemies.remove</a:t>
            </a:r>
            <a:r>
              <a:rPr lang="en-US" altLang="zh-CN" sz="1800" kern="100" dirty="0">
                <a:effectLst/>
                <a:latin typeface="+mn-ea"/>
              </a:rPr>
              <a:t>(enemy)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bullets.remove</a:t>
            </a:r>
            <a:r>
              <a:rPr lang="en-US" altLang="zh-CN" sz="1800" kern="100" dirty="0">
                <a:effectLst/>
                <a:latin typeface="+mn-ea"/>
              </a:rPr>
              <a:t>(bullets[n])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sounds.shooted.play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b="1" kern="100" dirty="0" err="1">
                <a:effectLst/>
                <a:latin typeface="+mn-ea"/>
              </a:rPr>
              <a:t>hero.score</a:t>
            </a:r>
            <a:r>
              <a:rPr lang="en-US" altLang="zh-CN" sz="1800" b="1" kern="100" dirty="0">
                <a:effectLst/>
                <a:latin typeface="+mn-ea"/>
              </a:rPr>
              <a:t> += 200 if </a:t>
            </a:r>
            <a:r>
              <a:rPr lang="en-US" altLang="zh-CN" sz="1800" b="1" kern="100" dirty="0" err="1">
                <a:effectLst/>
                <a:latin typeface="+mn-ea"/>
              </a:rPr>
              <a:t>enemy.image</a:t>
            </a:r>
            <a:r>
              <a:rPr lang="en-US" altLang="zh-CN" sz="1800" b="1" kern="100" dirty="0">
                <a:effectLst/>
                <a:latin typeface="+mn-ea"/>
              </a:rPr>
              <a:t> == "warplanes_enemy2" else 100</a:t>
            </a:r>
            <a:endParaRPr lang="zh-CN" altLang="zh-CN" sz="1800" b="1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511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14747" y="872664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敌机与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战机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的交互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给战机设置生命值，当战机被敌机撞到之后生命值减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为战机设置“无敌”状态，当战机受到冲撞后，它便进入该状态。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给战机定义三个属性，用来记录生命值以及对无敌状态进行标识：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hero.live</a:t>
            </a:r>
            <a:r>
              <a:rPr lang="en-US" altLang="zh-CN" kern="100" dirty="0">
                <a:effectLst/>
                <a:latin typeface="+mn-ea"/>
              </a:rPr>
              <a:t> = 5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 = False     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= 0 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gameover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，用来表示游戏是否结束的状态：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 = False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011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32553" y="348682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敌机与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战机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的交互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update_enemy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函数，加入敌机与战机的碰撞检测代码：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enemy.colliderect</a:t>
            </a:r>
            <a:r>
              <a:rPr lang="en-US" altLang="zh-CN" kern="100" dirty="0">
                <a:effectLst/>
                <a:latin typeface="+mn-ea"/>
              </a:rPr>
              <a:t>(hero) and not </a:t>
            </a: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hero.live</a:t>
            </a:r>
            <a:r>
              <a:rPr lang="en-US" altLang="zh-CN" kern="100" dirty="0">
                <a:effectLst/>
                <a:latin typeface="+mn-ea"/>
              </a:rPr>
              <a:t> -= 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hero.live</a:t>
            </a:r>
            <a:r>
              <a:rPr lang="en-US" altLang="zh-CN" kern="100" dirty="0">
                <a:effectLst/>
                <a:latin typeface="+mn-ea"/>
              </a:rPr>
              <a:t> &gt;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= 100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enemies.remove</a:t>
            </a:r>
            <a:r>
              <a:rPr lang="en-US" altLang="zh-CN" kern="100" dirty="0">
                <a:effectLst/>
                <a:latin typeface="+mn-ea"/>
              </a:rPr>
              <a:t>(enemy)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sounds.shooted.play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else: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sounds.gameover.play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7303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91456" y="102102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敌机与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战机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的交互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函数，实现对无敌状态的计时，以便战机能及时恢复到正常状态：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-= 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&lt;=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 = False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= 100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函数，用来表现战机在无敌状态时的闪烁效果：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draw_hero</a:t>
            </a:r>
            <a:r>
              <a:rPr lang="en-US" altLang="zh-CN" kern="100" dirty="0">
                <a:effectLst/>
                <a:latin typeface="+mn-ea"/>
              </a:rPr>
              <a:t>():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hero.unattack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hero.ukcount</a:t>
            </a:r>
            <a:r>
              <a:rPr lang="en-US" altLang="zh-CN" kern="100" dirty="0">
                <a:effectLst/>
                <a:latin typeface="+mn-ea"/>
              </a:rPr>
              <a:t> % 5 ==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hero.draw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2393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60633" y="0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draw_hero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来实现闪烁效果，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并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显示</a:t>
            </a:r>
            <a:r>
              <a:rPr lang="zh-CN" altLang="zh-CN" kern="100" dirty="0">
                <a:latin typeface="Times New Roman" panose="02020603050405020304" pitchFamily="18" charset="0"/>
              </a:rPr>
              <a:t>游戏结束的图像：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draw():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if </a:t>
            </a:r>
            <a:r>
              <a:rPr lang="en-US" altLang="zh-CN" sz="1800" kern="100" dirty="0" err="1">
                <a:effectLst/>
                <a:latin typeface="+mn-ea"/>
              </a:rPr>
              <a:t>gameover</a:t>
            </a:r>
            <a:r>
              <a:rPr lang="en-US" altLang="zh-CN" sz="1800" kern="100" dirty="0">
                <a:effectLst/>
                <a:latin typeface="+mn-ea"/>
              </a:rPr>
              <a:t>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screen.blit</a:t>
            </a:r>
            <a:r>
              <a:rPr lang="en-US" altLang="zh-CN" sz="1800" kern="100" dirty="0">
                <a:effectLst/>
                <a:latin typeface="+mn-ea"/>
              </a:rPr>
              <a:t>("</a:t>
            </a:r>
            <a:r>
              <a:rPr lang="en-US" altLang="zh-CN" sz="1800" kern="100" dirty="0" err="1">
                <a:effectLst/>
                <a:latin typeface="+mn-ea"/>
              </a:rPr>
              <a:t>warplanes_gameover</a:t>
            </a:r>
            <a:r>
              <a:rPr lang="en-US" altLang="zh-CN" sz="1800" kern="100" dirty="0">
                <a:effectLst/>
                <a:latin typeface="+mn-ea"/>
              </a:rPr>
              <a:t>", (0, 0))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return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</a:t>
            </a:r>
            <a:r>
              <a:rPr lang="en-US" altLang="zh-CN" sz="1800" kern="100" dirty="0" err="1">
                <a:effectLst/>
                <a:latin typeface="+mn-ea"/>
              </a:rPr>
              <a:t>backimgae</a:t>
            </a:r>
            <a:r>
              <a:rPr lang="en-US" altLang="zh-CN" sz="1800" kern="100" dirty="0">
                <a:effectLst/>
                <a:latin typeface="+mn-ea"/>
              </a:rPr>
              <a:t> in backgrounds: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backimgae.draw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enemy in enemies: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enemy.draw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powerup in powers: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powerup.draw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for bullet in bullets: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bullet.draw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draw_hero</a:t>
            </a:r>
            <a:r>
              <a:rPr lang="en-US" altLang="zh-CN" sz="1800" kern="100" dirty="0">
                <a:effectLst/>
                <a:latin typeface="+mn-ea"/>
              </a:rPr>
              <a:t>()</a:t>
            </a:r>
            <a:endParaRPr lang="zh-CN" altLang="zh-CN" sz="1800" kern="100" dirty="0">
              <a:effectLst/>
              <a:latin typeface="+mn-ea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9587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22278" y="543891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敌机与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战机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的交互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函数，以便游戏结束后能够停止产生敌机：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clock.unschedule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spawn_enemy</a:t>
            </a:r>
            <a:r>
              <a:rPr lang="en-US" altLang="zh-CN" kern="100" dirty="0">
                <a:effectLst/>
                <a:latin typeface="+mn-ea"/>
              </a:rPr>
              <a:t>)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update_hero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update_bullets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update_powerup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update_enemy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8730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试着对程序进行修改，想想怎样能够延长战机的无敌时间，以及如何让战机闪烁得更加频繁一些。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2737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完善游戏效果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8011973" cy="402336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HUD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一切显示在游戏窗口中的重要信息都可统称为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draw_hud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函数来设置游戏的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draw_hud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</a:t>
            </a:r>
            <a:r>
              <a:rPr lang="en-US" altLang="zh-CN" kern="100" dirty="0" err="1">
                <a:effectLst/>
                <a:latin typeface="+mn-ea"/>
              </a:rPr>
              <a:t>hero.live</a:t>
            </a:r>
            <a:r>
              <a:rPr lang="en-US" altLang="zh-CN" kern="100" dirty="0">
                <a:effectLst/>
                <a:latin typeface="+mn-ea"/>
              </a:rPr>
              <a:t>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screen.blit</a:t>
            </a:r>
            <a:r>
              <a:rPr lang="en-US" altLang="zh-CN" kern="100" dirty="0">
                <a:effectLst/>
                <a:latin typeface="+mn-ea"/>
              </a:rPr>
              <a:t>("</a:t>
            </a:r>
            <a:r>
              <a:rPr lang="en-US" altLang="zh-CN" kern="100" dirty="0" err="1">
                <a:effectLst/>
                <a:latin typeface="+mn-ea"/>
              </a:rPr>
              <a:t>warplanes_live</a:t>
            </a:r>
            <a:r>
              <a:rPr lang="en-US" altLang="zh-CN" kern="100" dirty="0">
                <a:effectLst/>
                <a:latin typeface="+mn-ea"/>
              </a:rPr>
              <a:t>", (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* 35, HEIGHT - 35))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(str(</a:t>
            </a:r>
            <a:r>
              <a:rPr lang="en-US" altLang="zh-CN" kern="100" dirty="0" err="1">
                <a:effectLst/>
                <a:latin typeface="+mn-ea"/>
              </a:rPr>
              <a:t>hero.score</a:t>
            </a:r>
            <a:r>
              <a:rPr lang="en-US" altLang="zh-CN" kern="100" dirty="0">
                <a:effectLst/>
                <a:latin typeface="+mn-ea"/>
              </a:rPr>
              <a:t>), </a:t>
            </a:r>
            <a:r>
              <a:rPr lang="en-US" altLang="zh-CN" kern="100" dirty="0" err="1">
                <a:effectLst/>
                <a:latin typeface="+mn-ea"/>
              </a:rPr>
              <a:t>topleft</a:t>
            </a:r>
            <a:r>
              <a:rPr lang="en-US" altLang="zh-CN" kern="100" dirty="0">
                <a:effectLst/>
                <a:latin typeface="+mn-ea"/>
              </a:rPr>
              <a:t>=(20, 20),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      </a:t>
            </a:r>
            <a:r>
              <a:rPr lang="en-US" altLang="zh-CN" kern="100" dirty="0" err="1">
                <a:effectLst/>
                <a:latin typeface="+mn-ea"/>
              </a:rPr>
              <a:t>fontname</a:t>
            </a:r>
            <a:r>
              <a:rPr lang="en-US" altLang="zh-CN" kern="100" dirty="0">
                <a:effectLst/>
                <a:latin typeface="+mn-ea"/>
              </a:rPr>
              <a:t>="</a:t>
            </a:r>
            <a:r>
              <a:rPr lang="en-US" altLang="zh-CN" kern="100" dirty="0" err="1">
                <a:effectLst/>
                <a:latin typeface="+mn-ea"/>
              </a:rPr>
              <a:t>marker_felt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=25)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17020AF-09F1-8BE9-6780-293630627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188" y="2131514"/>
            <a:ext cx="24828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6585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32552" y="872664"/>
            <a:ext cx="97625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播放背景音乐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准备“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warplanes.mp3”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音乐文件，将其放入“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music”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文件夹下。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在程序中加入一行代码：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music.play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("warplanes")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在判定游戏结束的处理语句中加入代码：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</a:t>
            </a:r>
            <a:r>
              <a:rPr lang="en-US" altLang="zh-CN" sz="2400" kern="100" dirty="0" err="1">
                <a:effectLst/>
                <a:latin typeface="+mn-ea"/>
              </a:rPr>
              <a:t>music.stop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 err="1">
                <a:effectLst/>
                <a:latin typeface="+mn-ea"/>
              </a:rPr>
              <a:t>time.sleep</a:t>
            </a:r>
            <a:r>
              <a:rPr lang="en-US" altLang="zh-CN" sz="2400" kern="100" dirty="0">
                <a:effectLst/>
                <a:latin typeface="+mn-ea"/>
              </a:rPr>
              <a:t>(0.5)</a:t>
            </a:r>
            <a:endParaRPr lang="zh-CN" altLang="zh-CN" sz="2400" kern="100" dirty="0"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831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中，我们学习制作了飞机大战游戏。我们首先创建了游戏场景并使其滚动显示，然后分别添加了战机、子弹及敌机角色。对于战机角色，我们使用键盘来控制它移动，并实现了它在移动时的动画播放；对于子弹角色，我们通过设置增强道具来扩大它的攻击范围，并使用三角函数来计算它的移动坐标；对于敌机角色，我们为其设置了缓动效果，并借助随机数来生成复杂多变的移动形式，还使用了定时器来自动产生敌机。接下来我们讨论了敌机与子弹及战机的交互，同时实现了战机的无敌效果。最后我们为游戏设置了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HUD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，并添加了背景音乐，从而进一步完善了游戏效果。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2478</Words>
  <Application>Microsoft Office PowerPoint</Application>
  <PresentationFormat>宽屏</PresentationFormat>
  <Paragraphs>278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回顾</vt:lpstr>
      <vt:lpstr>飞机大战</vt:lpstr>
      <vt:lpstr>本章知识点</vt:lpstr>
      <vt:lpstr>1.创建游戏场景</vt:lpstr>
      <vt:lpstr>PowerPoint 演示文稿</vt:lpstr>
      <vt:lpstr>PowerPoint 演示文稿</vt:lpstr>
      <vt:lpstr>2.添加英雄战机</vt:lpstr>
      <vt:lpstr>PowerPoint 演示文稿</vt:lpstr>
      <vt:lpstr>练习</vt:lpstr>
      <vt:lpstr>3.添加子弹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4.添加敌机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5.完善游戏效果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92</cp:revision>
  <dcterms:created xsi:type="dcterms:W3CDTF">2022-06-28T01:57:29Z</dcterms:created>
  <dcterms:modified xsi:type="dcterms:W3CDTF">2024-01-08T09:26:56Z</dcterms:modified>
</cp:coreProperties>
</file>