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57" r:id="rId3"/>
    <p:sldId id="3562" r:id="rId4"/>
    <p:sldId id="3571" r:id="rId5"/>
    <p:sldId id="3582" r:id="rId6"/>
    <p:sldId id="3583" r:id="rId7"/>
    <p:sldId id="3584" r:id="rId8"/>
    <p:sldId id="3585" r:id="rId9"/>
    <p:sldId id="3586" r:id="rId10"/>
    <p:sldId id="3587" r:id="rId11"/>
    <p:sldId id="3588" r:id="rId12"/>
    <p:sldId id="3589" r:id="rId13"/>
    <p:sldId id="3590" r:id="rId14"/>
    <p:sldId id="3591" r:id="rId15"/>
    <p:sldId id="3592" r:id="rId16"/>
    <p:sldId id="3594" r:id="rId17"/>
    <p:sldId id="3595" r:id="rId18"/>
    <p:sldId id="3596" r:id="rId19"/>
    <p:sldId id="3597" r:id="rId20"/>
    <p:sldId id="3598" r:id="rId21"/>
    <p:sldId id="3599" r:id="rId22"/>
    <p:sldId id="3600" r:id="rId23"/>
    <p:sldId id="3601" r:id="rId24"/>
    <p:sldId id="3581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A75420-F708-49F5-92F8-624229C141A5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3964FB-F2DD-4573-A003-A51F1EB4C9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412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1437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512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0853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257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173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492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3269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654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844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5247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39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71" y="390528"/>
            <a:ext cx="520496" cy="274638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71" y="6524628"/>
            <a:ext cx="2909534" cy="276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2875"/>
            <a:ext cx="10633094" cy="8461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4" name="矩形 23"/>
          <p:cNvSpPr/>
          <p:nvPr userDrawn="1"/>
        </p:nvSpPr>
        <p:spPr>
          <a:xfrm>
            <a:off x="10705111" y="6792874"/>
            <a:ext cx="1486889" cy="846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4678" y="294777"/>
            <a:ext cx="2595399" cy="40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74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117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1EEB1E-5500-9EE0-4B2B-5962B59C57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扫雷游戏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15082F6-BB6D-0F1D-7471-1A20173E0A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792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7F6537-6A07-CFED-561B-2FCC989CD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266700" algn="just">
              <a:lnSpc>
                <a:spcPct val="150000"/>
              </a:lnSpc>
            </a:pPr>
            <a:r>
              <a:rPr lang="zh-CN" altLang="zh-CN" sz="4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本章知识点</a:t>
            </a:r>
            <a:endParaRPr lang="zh-CN" altLang="zh-CN" sz="4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A13118-7275-031A-9151-78481A7B9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33410"/>
            <a:ext cx="10058400" cy="4023360"/>
          </a:xfrm>
        </p:spPr>
        <p:txBody>
          <a:bodyPr>
            <a:normAutofit fontScale="92500" lnSpcReduction="20000"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"/>
            </a:pPr>
            <a:r>
              <a:rPr lang="zh-CN" altLang="zh-CN" sz="32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自动生成方块阵列</a:t>
            </a:r>
            <a:endParaRPr lang="zh-CN" altLang="zh-CN" sz="3200" dirty="0">
              <a:effectLst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"/>
            </a:pPr>
            <a:r>
              <a:rPr lang="zh-CN" altLang="zh-CN" sz="32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操作鼠标的左、右键</a:t>
            </a:r>
            <a:endParaRPr lang="zh-CN" altLang="zh-CN" sz="3200" dirty="0">
              <a:effectLst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"/>
            </a:pPr>
            <a:r>
              <a:rPr lang="zh-CN" altLang="zh-CN" sz="32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布尔变量的作用</a:t>
            </a:r>
            <a:endParaRPr lang="zh-CN" altLang="zh-CN" sz="3200" dirty="0">
              <a:effectLst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"/>
            </a:pPr>
            <a:r>
              <a:rPr lang="zh-CN" altLang="zh-CN" sz="32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递归函数的使用</a:t>
            </a:r>
            <a:endParaRPr lang="zh-CN" altLang="zh-CN" sz="3200" dirty="0">
              <a:effectLst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"/>
            </a:pPr>
            <a:r>
              <a:rPr lang="zh-CN" altLang="zh-CN" sz="32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判定游戏胜利和失败</a:t>
            </a:r>
            <a:endParaRPr lang="zh-CN" altLang="zh-CN" sz="3200" dirty="0">
              <a:effectLst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56144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9938F-FD66-BB38-EF2E-4BEA29A5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创建方块阵列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D3FB9B-EFF6-8DBC-CABE-55530406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99847"/>
            <a:ext cx="4728167" cy="402336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1.1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准备图片资源</a:t>
            </a:r>
            <a:endParaRPr lang="en-US" altLang="zh-CN" sz="24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扫雷游戏中的各个方块会表现出不</a:t>
            </a:r>
            <a:endParaRPr lang="en-US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同的样子</a:t>
            </a:r>
            <a:r>
              <a:rPr lang="zh-CN" altLang="en-US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24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需要准备一些图片分别</a:t>
            </a:r>
            <a:endParaRPr lang="en-US" altLang="zh-CN" sz="2400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zh-CN" sz="24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来表示方块的不同形态。</a:t>
            </a:r>
            <a:endParaRPr lang="zh-CN" altLang="en-US" sz="2400" dirty="0"/>
          </a:p>
        </p:txBody>
      </p:sp>
      <p:pic>
        <p:nvPicPr>
          <p:cNvPr id="1026" name="图片 7">
            <a:extLst>
              <a:ext uri="{FF2B5EF4-FFF2-40B4-BE49-F238E27FC236}">
                <a16:creationId xmlns:a16="http://schemas.microsoft.com/office/drawing/2014/main" id="{1CFDB001-6647-67B5-B5A9-9B2FFF1F9D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2720" y="1999847"/>
            <a:ext cx="4572000" cy="3592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2765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700300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1.2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创建游戏场景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+mn-ea"/>
                <a:cs typeface="Times New Roman" panose="02020603050405020304" pitchFamily="18" charset="0"/>
              </a:rPr>
              <a:t>定义三个常量</a:t>
            </a:r>
            <a:r>
              <a:rPr lang="en-US" altLang="zh-CN" kern="100" dirty="0">
                <a:effectLst/>
                <a:latin typeface="+mn-ea"/>
              </a:rPr>
              <a:t>ROWS</a:t>
            </a:r>
            <a:r>
              <a:rPr lang="zh-CN" altLang="zh-CN" kern="100" dirty="0">
                <a:effectLst/>
                <a:latin typeface="+mn-ea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effectLst/>
                <a:latin typeface="+mn-ea"/>
              </a:rPr>
              <a:t>COLS</a:t>
            </a:r>
            <a:r>
              <a:rPr lang="zh-CN" altLang="zh-CN" kern="100" dirty="0">
                <a:effectLst/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SIZE</a:t>
            </a:r>
            <a:r>
              <a:rPr lang="zh-CN" altLang="zh-CN" kern="100" dirty="0">
                <a:effectLst/>
                <a:latin typeface="+mn-ea"/>
                <a:cs typeface="Times New Roman" panose="02020603050405020304" pitchFamily="18" charset="0"/>
              </a:rPr>
              <a:t>，分别表示方块阵列的行数、列数和方块尺寸。</a:t>
            </a:r>
            <a:endParaRPr lang="en-US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+mn-ea"/>
                <a:cs typeface="Times New Roman" panose="02020603050405020304" pitchFamily="18" charset="0"/>
              </a:rPr>
              <a:t>场景的宽度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WIDTH</a:t>
            </a:r>
            <a:r>
              <a:rPr lang="zh-CN" altLang="zh-CN" kern="100" dirty="0">
                <a:effectLst/>
                <a:latin typeface="+mn-ea"/>
                <a:cs typeface="Times New Roman" panose="02020603050405020304" pitchFamily="18" charset="0"/>
              </a:rPr>
              <a:t>就是方块尺寸与列数的乘积，而场景高度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HEIGHT</a:t>
            </a:r>
            <a:r>
              <a:rPr lang="zh-CN" altLang="zh-CN" kern="100" dirty="0">
                <a:effectLst/>
                <a:latin typeface="+mn-ea"/>
                <a:cs typeface="Times New Roman" panose="02020603050405020304" pitchFamily="18" charset="0"/>
              </a:rPr>
              <a:t>则是方块尺寸</a:t>
            </a:r>
            <a:endParaRPr lang="en-US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+mn-ea"/>
                <a:cs typeface="Times New Roman" panose="02020603050405020304" pitchFamily="18" charset="0"/>
              </a:rPr>
              <a:t>与行数的乘积</a:t>
            </a:r>
            <a:r>
              <a:rPr lang="zh-CN" altLang="en-US" kern="100" dirty="0">
                <a:effectLst/>
                <a:latin typeface="+mn-ea"/>
                <a:cs typeface="Times New Roman" panose="02020603050405020304" pitchFamily="18" charset="0"/>
              </a:rPr>
              <a:t>：</a:t>
            </a:r>
            <a:endParaRPr lang="en-US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ROWS = 15              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COLS = 15               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SIZE = 25               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WIDTH = SIZE * COLS      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 HEIGHT = SIZE * ROWS 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5881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700300"/>
            <a:ext cx="9998812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1.3 </a:t>
            </a:r>
            <a:r>
              <a:rPr lang="zh-CN" altLang="zh-CN" sz="2400" b="1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生成方块阵列</a:t>
            </a:r>
            <a:endParaRPr lang="en-US" altLang="zh-CN" sz="2400" b="1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通过双重循环语句来自动创建方块角色：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blocks = [] 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for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in range(ROWS):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for j in range(COLS):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block = Actor("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minesweep_block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block.left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= j * SIZE      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block.top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* SIZE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blocks.append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(block)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上述代码首先创建了方块列表</a:t>
            </a:r>
            <a:r>
              <a:rPr lang="en-US" altLang="zh-CN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blocks</a:t>
            </a:r>
            <a:r>
              <a:rPr lang="zh-CN" altLang="zh-CN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，然后逐行逐列地创建方块角色，接着设置每</a:t>
            </a:r>
            <a:endParaRPr lang="en-US" altLang="zh-CN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个方块的坐标，并将其加入到列表中。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4293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700301"/>
            <a:ext cx="9228250" cy="5073776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1.3 </a:t>
            </a:r>
            <a:r>
              <a:rPr lang="zh-CN" altLang="zh-CN" sz="2400" b="1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生成方块阵列</a:t>
            </a:r>
            <a:endParaRPr lang="en-US" altLang="zh-CN" sz="2400" b="1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为方块设置好坐标后便可以将它们显示出来，在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draw()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函数中编写如下代码：</a:t>
            </a:r>
          </a:p>
          <a:p>
            <a:pPr indent="266700" algn="just">
              <a:lnSpc>
                <a:spcPct val="15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draw():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for block in blocks: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block.draw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050" name="图片 3">
            <a:extLst>
              <a:ext uri="{FF2B5EF4-FFF2-40B4-BE49-F238E27FC236}">
                <a16:creationId xmlns:a16="http://schemas.microsoft.com/office/drawing/2014/main" id="{E3C995E8-A604-50B6-CA73-09619B9B2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0615" y="2160748"/>
            <a:ext cx="3722687" cy="391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0847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700300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 1.4 </a:t>
            </a:r>
            <a:r>
              <a:rPr lang="zh-CN" altLang="zh-CN" sz="2400" b="1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埋设地雷</a:t>
            </a:r>
            <a:endParaRPr lang="en-US" altLang="zh-CN" sz="2400" b="1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00000"/>
              </a:lnSpc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添加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isbomb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属性，用来表示方块之下是否埋有地雷：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block.isbomb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= False</a:t>
            </a:r>
          </a:p>
          <a:p>
            <a:pPr indent="266700" algn="just">
              <a:lnSpc>
                <a:spcPct val="100000"/>
              </a:lnSpc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使用循环语句从列表中获取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20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个方块，将它们的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isbomb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属性设置为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True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BOMBS = 20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for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in range(BOMBS):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blocks[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].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isbomb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= True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调用随机函数来随机地打乱图片块在列表中的次序：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random.shuffle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(blocks)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4818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9938F-FD66-BB38-EF2E-4BEA29A5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给方块插上旗子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D3FB9B-EFF6-8DBC-CABE-55530406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99847"/>
            <a:ext cx="10058400" cy="402336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在扫雷游戏中，我们可以对方块执行两种操作：将它打开或给它</a:t>
            </a:r>
            <a:endParaRPr lang="en-US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插上旗子。由于方块的数量很多，可以考虑使用鼠标作为交互手</a:t>
            </a:r>
            <a:endParaRPr lang="en-US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段，因为鼠标指针可以快速准确地定位到目标方块，同时鼠标的</a:t>
            </a:r>
            <a:endParaRPr lang="en-US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左、右按键可以分别执行打开方块和插旗子的操作。</a:t>
            </a:r>
          </a:p>
        </p:txBody>
      </p:sp>
    </p:spTree>
    <p:extLst>
      <p:ext uri="{BB962C8B-B14F-4D97-AF65-F5344CB8AC3E}">
        <p14:creationId xmlns:p14="http://schemas.microsoft.com/office/powerpoint/2010/main" val="3648592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68505" y="350150"/>
            <a:ext cx="9721410" cy="6157700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2.1 </a:t>
            </a:r>
            <a:r>
              <a:rPr lang="zh-CN" altLang="zh-CN" sz="2400" b="1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使用鼠标右键来操作</a:t>
            </a:r>
            <a:endParaRPr lang="en-US" altLang="zh-CN" sz="2400" b="1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en-US" altLang="zh-CN" kern="100" dirty="0" err="1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on_mouse_down</a:t>
            </a:r>
            <a:r>
              <a:rPr lang="en-US" altLang="zh-CN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r>
              <a:rPr lang="zh-CN" altLang="zh-CN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函数提供了一个参数“</a:t>
            </a:r>
            <a:r>
              <a:rPr lang="en-US" altLang="zh-CN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button</a:t>
            </a:r>
            <a:r>
              <a:rPr lang="zh-CN" altLang="zh-CN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”，用来保存鼠标的按键信息。</a:t>
            </a:r>
            <a:endParaRPr lang="en-US" altLang="zh-CN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en-US" altLang="zh-CN" kern="100" dirty="0" err="1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Pgzero</a:t>
            </a:r>
            <a:r>
              <a:rPr lang="zh-CN" altLang="zh-CN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还提供了一个内置对象“</a:t>
            </a:r>
            <a:r>
              <a:rPr lang="en-US" altLang="zh-CN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mouse</a:t>
            </a:r>
            <a:r>
              <a:rPr lang="zh-CN" altLang="zh-CN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”，用来表示不同的鼠标按键。</a:t>
            </a:r>
            <a:endParaRPr lang="en-US" altLang="zh-CN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可以使用表达式“</a:t>
            </a:r>
            <a:r>
              <a:rPr lang="en-US" altLang="zh-CN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button == </a:t>
            </a:r>
            <a:r>
              <a:rPr lang="en-US" altLang="zh-CN" kern="100" dirty="0" err="1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mouse.RIGHT</a:t>
            </a:r>
            <a:r>
              <a:rPr lang="zh-CN" altLang="zh-CN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”来判断玩家是否点击了鼠标右键。</a:t>
            </a:r>
            <a:endParaRPr lang="en-US" altLang="zh-CN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on_mouse_down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函数编写如下代码：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on_mouse_down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(pos, button):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for block in blocks: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  if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block.collidepoint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(pos):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  </a:t>
            </a:r>
            <a:r>
              <a:rPr lang="en-US" altLang="zh-CN" kern="1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if button ==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mouse.RIGHT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           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set_flag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(block)	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 err="1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collidepoint</a:t>
            </a:r>
            <a:r>
              <a:rPr lang="en-US" altLang="zh-CN" kern="1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()</a:t>
            </a:r>
            <a:r>
              <a:rPr lang="zh-CN" altLang="zh-CN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方法是</a:t>
            </a:r>
            <a:r>
              <a:rPr lang="en-US" altLang="zh-CN" kern="100" dirty="0" err="1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Pgzero</a:t>
            </a:r>
            <a:r>
              <a:rPr lang="zh-CN" altLang="zh-CN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Actor</a:t>
            </a:r>
            <a:r>
              <a:rPr lang="zh-CN" altLang="zh-CN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类定义的方法，该方法接受一对坐标值作为参数，</a:t>
            </a:r>
            <a:endParaRPr lang="en-US" altLang="zh-CN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zh-CN" altLang="zh-CN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用来判断该坐标是否位于角色范围之内。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11474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700300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2.2 </a:t>
            </a:r>
            <a:r>
              <a:rPr lang="zh-CN" altLang="zh-CN" sz="2400" b="1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定义函数执行插旗操作</a:t>
            </a:r>
            <a:endParaRPr lang="en-US" altLang="zh-CN" sz="2400" b="1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结合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Python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的语法书写伪代码，插旗子操作的伪代码这样描述：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if 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方块没有插上旗子：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将方块的图像改为插上旗子的图像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将方块标记为已插旗子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else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将方块的图像改为没有插旗子的图像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将方块标记为未插旗子</a:t>
            </a:r>
          </a:p>
        </p:txBody>
      </p:sp>
    </p:spTree>
    <p:extLst>
      <p:ext uri="{BB962C8B-B14F-4D97-AF65-F5344CB8AC3E}">
        <p14:creationId xmlns:p14="http://schemas.microsoft.com/office/powerpoint/2010/main" val="14625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8" y="700300"/>
            <a:ext cx="9259073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2.2 </a:t>
            </a:r>
            <a:r>
              <a:rPr lang="zh-CN" altLang="zh-CN" sz="2400" b="1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定义函数执行插旗操作</a:t>
            </a:r>
            <a:endParaRPr lang="en-US" altLang="zh-CN" sz="2400" b="1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为每个方块定义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isflag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属性，用来表示方块是否插了旗子：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block.isflag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= False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set_flag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函数中加入如下代码：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set_flag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(block): 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if not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block.isflag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nb-NO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block.image = "minesweep_flag"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nb-NO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block.isflag = True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nb-NO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else: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block.image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= "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minesweep_block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block.isflag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= False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074" name="图片 4">
            <a:extLst>
              <a:ext uri="{FF2B5EF4-FFF2-40B4-BE49-F238E27FC236}">
                <a16:creationId xmlns:a16="http://schemas.microsoft.com/office/drawing/2014/main" id="{E4038338-8F0E-9A3A-4683-FF6998EBD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489" y="2078555"/>
            <a:ext cx="3727450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6824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9938F-FD66-BB38-EF2E-4BEA29A5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打开方块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D3FB9B-EFF6-8DBC-CABE-55530406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99847"/>
            <a:ext cx="10058400" cy="402336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zh-CN" sz="28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处理完鼠标右键的操作，接下来处理鼠标左键的操作。根据游戏</a:t>
            </a:r>
            <a:endParaRPr lang="en-US" altLang="zh-CN" sz="2800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sz="28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规则，当玩家在方块上点击鼠标左键时，将执行打开方块的操作，</a:t>
            </a:r>
            <a:endParaRPr lang="en-US" altLang="zh-CN" sz="2800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sz="28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而打开方块时还需要对可能引爆地雷的情形进行判断和处理。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76816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8" y="700300"/>
            <a:ext cx="9906345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3.1 </a:t>
            </a:r>
            <a:r>
              <a:rPr lang="zh-CN" altLang="zh-CN" sz="2400" b="1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完善鼠标事件处理</a:t>
            </a:r>
            <a:endParaRPr lang="en-US" altLang="zh-CN" sz="2400" b="1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sz="24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通过表达式“</a:t>
            </a:r>
            <a:r>
              <a:rPr lang="en-US" altLang="zh-CN" sz="24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button == </a:t>
            </a:r>
            <a:r>
              <a:rPr lang="en-US" altLang="zh-CN" sz="2400" kern="100" dirty="0" err="1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mouse.LEFT</a:t>
            </a:r>
            <a:r>
              <a:rPr lang="zh-CN" altLang="zh-CN" sz="24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”来判断鼠标的左键是否被点击。</a:t>
            </a:r>
            <a:endParaRPr lang="en-US" altLang="zh-CN" sz="2400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sz="24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创建方块角色的时候为其设置一个</a:t>
            </a:r>
            <a:r>
              <a:rPr lang="en-US" altLang="zh-CN" sz="2400" kern="100" dirty="0" err="1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isopen</a:t>
            </a:r>
            <a:r>
              <a:rPr lang="zh-CN" altLang="zh-CN" sz="24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属性</a:t>
            </a:r>
            <a:r>
              <a:rPr lang="zh-CN" altLang="en-US" sz="24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24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用来标识它是否被打开。</a:t>
            </a:r>
            <a:endParaRPr lang="en-US" altLang="zh-CN" sz="2400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在创建方块的语句后面加入这样一行代码：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sz="24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block.isopen</a:t>
            </a:r>
            <a:r>
              <a:rPr lang="en-US" altLang="zh-CN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= False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sz="2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on_mouse_down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函数，加入处理鼠标左键的点击事件操作。</a:t>
            </a:r>
            <a:endParaRPr lang="en-US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代码如下所示（粗体部分表示新添加的代码）：</a:t>
            </a:r>
          </a:p>
          <a:p>
            <a:pPr indent="0" algn="just">
              <a:lnSpc>
                <a:spcPct val="100000"/>
              </a:lnSpc>
              <a:buNone/>
            </a:pP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1220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700300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3.1 </a:t>
            </a:r>
            <a:r>
              <a:rPr lang="zh-CN" altLang="zh-CN" sz="2400" b="1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完善鼠标事件处理</a:t>
            </a:r>
            <a:endParaRPr lang="en-US" altLang="zh-CN" sz="2400" b="1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on_mouse_down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(pos, button):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for block in blocks: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if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block.collidepoint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(pos) </a:t>
            </a:r>
            <a:r>
              <a:rPr lang="en-US" altLang="zh-CN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and not </a:t>
            </a:r>
            <a:r>
              <a:rPr lang="en-US" altLang="zh-CN" b="1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block.isopen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    if button ==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mouse.RIGHT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       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set_flag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(block)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b="1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elif</a:t>
            </a:r>
            <a:r>
              <a:rPr lang="en-US" altLang="zh-CN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button == </a:t>
            </a:r>
            <a:r>
              <a:rPr lang="en-US" altLang="zh-CN" b="1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mouse.LEFT</a:t>
            </a:r>
            <a:r>
              <a:rPr lang="en-US" altLang="zh-CN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and not </a:t>
            </a:r>
            <a:r>
              <a:rPr lang="en-US" altLang="zh-CN" b="1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block.isflag</a:t>
            </a:r>
            <a:r>
              <a:rPr lang="en-US" altLang="zh-CN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        if </a:t>
            </a:r>
            <a:r>
              <a:rPr lang="en-US" altLang="zh-CN" b="1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block.isbomb</a:t>
            </a:r>
            <a:r>
              <a:rPr lang="en-US" altLang="zh-CN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            </a:t>
            </a:r>
            <a:r>
              <a:rPr lang="en-US" altLang="zh-CN" b="1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blow_up</a:t>
            </a:r>
            <a:r>
              <a:rPr lang="en-US" altLang="zh-CN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        else: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            </a:t>
            </a:r>
            <a:r>
              <a:rPr lang="en-US" altLang="zh-CN" b="1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open_block</a:t>
            </a:r>
            <a:r>
              <a:rPr lang="en-US" altLang="zh-CN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(block)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57294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8" y="700300"/>
            <a:ext cx="6464571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3.2 </a:t>
            </a:r>
            <a:r>
              <a:rPr lang="zh-CN" altLang="zh-CN" sz="2400" b="1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获取周围的方格</a:t>
            </a:r>
            <a:endParaRPr lang="en-US" altLang="zh-CN" sz="2400" b="1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sz="24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如果打开的方块没有埋地雷，则要将它周围各</a:t>
            </a:r>
            <a:endParaRPr lang="en-US" altLang="zh-CN" sz="2400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sz="24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方块的地雷总数显示出来</a:t>
            </a:r>
            <a:r>
              <a:rPr lang="zh-CN" altLang="en-US" sz="24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24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总共</a:t>
            </a:r>
            <a:r>
              <a:rPr lang="en-US" altLang="zh-CN" sz="24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sz="24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个方块</a:t>
            </a:r>
            <a:r>
              <a:rPr lang="zh-CN" altLang="en-US" sz="24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400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定义一个</a:t>
            </a:r>
            <a:r>
              <a:rPr lang="en-US" altLang="zh-CN" sz="2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get_neighbours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函数，用来获取指定</a:t>
            </a:r>
            <a:endParaRPr lang="en-US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方块周围的其它方块，并以列表的形式将它们</a:t>
            </a:r>
            <a:endParaRPr lang="en-US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返回。代码</a:t>
            </a:r>
            <a:r>
              <a:rPr lang="zh-CN" altLang="en-US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见书上第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51</a:t>
            </a:r>
            <a:r>
              <a:rPr lang="zh-CN" altLang="en-US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页。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Rectangle 24">
            <a:extLst>
              <a:ext uri="{FF2B5EF4-FFF2-40B4-BE49-F238E27FC236}">
                <a16:creationId xmlns:a16="http://schemas.microsoft.com/office/drawing/2014/main" id="{CF378552-ECA1-4E0D-3F49-5EC928C48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679546" y="2045658"/>
            <a:ext cx="2585905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5" name="组合 12">
            <a:extLst>
              <a:ext uri="{FF2B5EF4-FFF2-40B4-BE49-F238E27FC236}">
                <a16:creationId xmlns:a16="http://schemas.microsoft.com/office/drawing/2014/main" id="{320BAAA5-18C7-60E4-EB92-9A764113F325}"/>
              </a:ext>
            </a:extLst>
          </p:cNvPr>
          <p:cNvGrpSpPr>
            <a:grpSpLocks/>
          </p:cNvGrpSpPr>
          <p:nvPr/>
        </p:nvGrpSpPr>
        <p:grpSpPr bwMode="auto">
          <a:xfrm>
            <a:off x="7924801" y="1610657"/>
            <a:ext cx="3385456" cy="3636685"/>
            <a:chOff x="7293" y="8181"/>
            <a:chExt cx="2325" cy="2400"/>
          </a:xfrm>
        </p:grpSpPr>
        <p:pic>
          <p:nvPicPr>
            <p:cNvPr id="4119" name="图片 11">
              <a:extLst>
                <a:ext uri="{FF2B5EF4-FFF2-40B4-BE49-F238E27FC236}">
                  <a16:creationId xmlns:a16="http://schemas.microsoft.com/office/drawing/2014/main" id="{1CEF1EEB-3033-94DC-6AFA-5917DEF826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93" y="8181"/>
              <a:ext cx="2325" cy="2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6" name="组合 2">
              <a:extLst>
                <a:ext uri="{FF2B5EF4-FFF2-40B4-BE49-F238E27FC236}">
                  <a16:creationId xmlns:a16="http://schemas.microsoft.com/office/drawing/2014/main" id="{C493F5F7-0943-BE17-8402-977B718819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25" y="8400"/>
              <a:ext cx="1980" cy="1944"/>
              <a:chOff x="2340" y="10800"/>
              <a:chExt cx="1980" cy="1944"/>
            </a:xfrm>
          </p:grpSpPr>
          <p:sp>
            <p:nvSpPr>
              <p:cNvPr id="17" name="自选图形 3">
                <a:extLst>
                  <a:ext uri="{FF2B5EF4-FFF2-40B4-BE49-F238E27FC236}">
                    <a16:creationId xmlns:a16="http://schemas.microsoft.com/office/drawing/2014/main" id="{D7B99DA8-712B-6E43-611B-F01FC08C92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80" y="11580"/>
                <a:ext cx="540" cy="312"/>
              </a:xfrm>
              <a:prstGeom prst="rightArrow">
                <a:avLst>
                  <a:gd name="adj1" fmla="val 50000"/>
                  <a:gd name="adj2" fmla="val 43269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自选图形 4">
                <a:extLst>
                  <a:ext uri="{FF2B5EF4-FFF2-40B4-BE49-F238E27FC236}">
                    <a16:creationId xmlns:a16="http://schemas.microsoft.com/office/drawing/2014/main" id="{D58AB7B8-AF4D-90D4-8917-4BAE9A8E7A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558207">
                <a:off x="3780" y="12360"/>
                <a:ext cx="540" cy="312"/>
              </a:xfrm>
              <a:prstGeom prst="rightArrow">
                <a:avLst>
                  <a:gd name="adj1" fmla="val 50000"/>
                  <a:gd name="adj2" fmla="val 43269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自选图形 5">
                <a:extLst>
                  <a:ext uri="{FF2B5EF4-FFF2-40B4-BE49-F238E27FC236}">
                    <a16:creationId xmlns:a16="http://schemas.microsoft.com/office/drawing/2014/main" id="{C5FA41F3-F424-B370-5534-94299ED7C6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2436077">
                <a:off x="3780" y="10956"/>
                <a:ext cx="540" cy="312"/>
              </a:xfrm>
              <a:prstGeom prst="rightArrow">
                <a:avLst>
                  <a:gd name="adj1" fmla="val 50000"/>
                  <a:gd name="adj2" fmla="val 43269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" name="自选图形 6">
                <a:extLst>
                  <a:ext uri="{FF2B5EF4-FFF2-40B4-BE49-F238E27FC236}">
                    <a16:creationId xmlns:a16="http://schemas.microsoft.com/office/drawing/2014/main" id="{D30A01C4-0F5F-5665-A162-B5B7954C9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126" y="10914"/>
                <a:ext cx="540" cy="312"/>
              </a:xfrm>
              <a:prstGeom prst="rightArrow">
                <a:avLst>
                  <a:gd name="adj1" fmla="val 50000"/>
                  <a:gd name="adj2" fmla="val 43269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" name="自选图形 7">
                <a:extLst>
                  <a:ext uri="{FF2B5EF4-FFF2-40B4-BE49-F238E27FC236}">
                    <a16:creationId xmlns:a16="http://schemas.microsoft.com/office/drawing/2014/main" id="{073E4BF4-72F4-F8B5-21F6-704B27AA19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126" y="12318"/>
                <a:ext cx="540" cy="312"/>
              </a:xfrm>
              <a:prstGeom prst="rightArrow">
                <a:avLst>
                  <a:gd name="adj1" fmla="val 50000"/>
                  <a:gd name="adj2" fmla="val 43269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自选图形 8">
                <a:extLst>
                  <a:ext uri="{FF2B5EF4-FFF2-40B4-BE49-F238E27FC236}">
                    <a16:creationId xmlns:a16="http://schemas.microsoft.com/office/drawing/2014/main" id="{06AA1142-9285-32FC-DF4C-D3B42CA78B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3749578">
                <a:off x="2406" y="10914"/>
                <a:ext cx="540" cy="312"/>
              </a:xfrm>
              <a:prstGeom prst="rightArrow">
                <a:avLst>
                  <a:gd name="adj1" fmla="val 50000"/>
                  <a:gd name="adj2" fmla="val 43269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自选图形 9">
                <a:extLst>
                  <a:ext uri="{FF2B5EF4-FFF2-40B4-BE49-F238E27FC236}">
                    <a16:creationId xmlns:a16="http://schemas.microsoft.com/office/drawing/2014/main" id="{43C93024-1CA0-99AA-A39B-EB4EBFC2A5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2340" y="11580"/>
                <a:ext cx="540" cy="312"/>
              </a:xfrm>
              <a:prstGeom prst="rightArrow">
                <a:avLst>
                  <a:gd name="adj1" fmla="val 50000"/>
                  <a:gd name="adj2" fmla="val 43269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自选图形 10">
                <a:extLst>
                  <a:ext uri="{FF2B5EF4-FFF2-40B4-BE49-F238E27FC236}">
                    <a16:creationId xmlns:a16="http://schemas.microsoft.com/office/drawing/2014/main" id="{2606A123-0217-1FB7-88E1-8975A7B3D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8414509">
                <a:off x="2340" y="12360"/>
                <a:ext cx="540" cy="312"/>
              </a:xfrm>
              <a:prstGeom prst="rightArrow">
                <a:avLst>
                  <a:gd name="adj1" fmla="val 50000"/>
                  <a:gd name="adj2" fmla="val 43269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20172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700300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3.3 </a:t>
            </a:r>
            <a:r>
              <a:rPr lang="zh-CN" altLang="zh-CN" sz="2400" b="1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统计地雷数量</a:t>
            </a:r>
            <a:endParaRPr lang="en-US" altLang="zh-CN" sz="2400" b="1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首先调用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get_neighbours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函数来获取它周围的所有其他方块，然后逐一的检查这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些方块是否埋有地雷，同时统计一下地雷的总数。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再单独定义一个函数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get_bomb_number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，用来获取指定方格周围的地雷数量：</a:t>
            </a:r>
          </a:p>
          <a:p>
            <a:pPr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get_bomb_number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(bk):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num = 0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for block in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get_neighbours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(bk):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if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block.isbomb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    num += 1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return num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Rectangle 24">
            <a:extLst>
              <a:ext uri="{FF2B5EF4-FFF2-40B4-BE49-F238E27FC236}">
                <a16:creationId xmlns:a16="http://schemas.microsoft.com/office/drawing/2014/main" id="{CF378552-ECA1-4E0D-3F49-5EC928C48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679546" y="2045658"/>
            <a:ext cx="2585905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53877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700300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3.4 </a:t>
            </a:r>
            <a:r>
              <a:rPr lang="zh-CN" altLang="zh-CN" sz="2400" b="1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递归调用打开方块函数</a:t>
            </a:r>
            <a:endParaRPr lang="en-US" altLang="zh-CN" sz="2400" b="1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按照递归函数的设计思路来实现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open_block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函数。首先写出它的伪代码：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open_block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(bk):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将方块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bk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标记为已经打开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显示方块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bk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周围的地雷数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if 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方块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bk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周围有地雷：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    return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for 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与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bk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相邻的每一个方块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block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    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如果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block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没有打开：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kern="1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open_block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(block)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7607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700300"/>
            <a:ext cx="7450821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3.4 </a:t>
            </a:r>
            <a:r>
              <a:rPr lang="zh-CN" altLang="zh-CN" sz="2400" b="1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递归调用打开方块函数</a:t>
            </a:r>
            <a:endParaRPr lang="en-US" altLang="zh-CN" sz="2400" b="1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将上述伪代码转换为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Python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程序代码：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open_block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(bk):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bk.isopen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= True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bombnum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get_bomb_number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(bk)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bk.image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= "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minesweep_number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 + str(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bombnum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if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bombnum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!= 0: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return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for block in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get_neighbours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(bk):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if not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block.isopen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open_block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(block)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7170" name="图片 5">
            <a:extLst>
              <a:ext uri="{FF2B5EF4-FFF2-40B4-BE49-F238E27FC236}">
                <a16:creationId xmlns:a16="http://schemas.microsoft.com/office/drawing/2014/main" id="{79C6921A-AB8B-CD86-5A56-1D5A2A089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1534" y="1288135"/>
            <a:ext cx="3727450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33211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9938F-FD66-BB38-EF2E-4BEA29A5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lang="zh-CN" altLang="en-US" dirty="0"/>
              <a:t>判定游戏胜负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D3FB9B-EFF6-8DBC-CABE-55530406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99847"/>
            <a:ext cx="10058400" cy="402336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zh-CN" sz="28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根据游戏规则，当玩家点击了埋设地雷的方块，游戏便会结束。</a:t>
            </a:r>
            <a:endParaRPr lang="en-US" altLang="zh-CN" sz="2800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sz="28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事实上，扫雷的游戏结束具体分为两种情况：一种情况是玩家点</a:t>
            </a:r>
            <a:endParaRPr lang="en-US" altLang="zh-CN" sz="2800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sz="28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击了地雷方块而结束，这意味着游戏失败；另一种情况是玩家将</a:t>
            </a:r>
            <a:endParaRPr lang="en-US" altLang="zh-CN" sz="2800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sz="28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所有没有地雷的方块都打开了，这可看做是游戏胜利。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7651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700300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4.1 </a:t>
            </a:r>
            <a:r>
              <a:rPr lang="zh-CN" altLang="zh-CN" sz="2400" b="1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游戏失败的处理</a:t>
            </a:r>
            <a:endParaRPr lang="en-US" altLang="zh-CN" sz="2400" b="1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定义全局的布尔变量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failed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，用来表示游戏失败的状态，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将游戏结束时的操作统一放到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blow_up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函数中执行：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blow_up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global failed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failed = True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sounds.bomb.play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for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in range(BOMBS):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blocks[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].image = "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minesweep_bomb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14754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700300"/>
            <a:ext cx="5601473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4.1 </a:t>
            </a:r>
            <a:r>
              <a:rPr lang="zh-CN" altLang="zh-CN" sz="2400" b="1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游戏失败的处理</a:t>
            </a:r>
            <a:endParaRPr lang="en-US" altLang="zh-CN" sz="2400" b="1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draw()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函数中加入一点代码，用来显示游戏失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败时的提示文字：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if failed: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screen.draw.text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("Failed",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center=(WIDTH // 2, HEIGHT // 2),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fontsize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=100, color="red")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8194" name="图片 6">
            <a:extLst>
              <a:ext uri="{FF2B5EF4-FFF2-40B4-BE49-F238E27FC236}">
                <a16:creationId xmlns:a16="http://schemas.microsoft.com/office/drawing/2014/main" id="{5C70F50B-2BE2-BD74-81C5-AD932AFBF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199" y="1586796"/>
            <a:ext cx="3722687" cy="391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74424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47956" y="340704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4.2 </a:t>
            </a:r>
            <a:r>
              <a:rPr lang="zh-CN" altLang="zh-CN" sz="2400" b="1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游戏</a:t>
            </a:r>
            <a:r>
              <a:rPr lang="zh-CN" altLang="en-US" sz="2400" b="1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胜利</a:t>
            </a:r>
            <a:r>
              <a:rPr lang="zh-CN" altLang="zh-CN" sz="2400" b="1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的处理</a:t>
            </a:r>
            <a:endParaRPr lang="en-US" altLang="zh-CN" sz="2400" b="1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定义全局的布尔变量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finished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，用来表示游戏胜利的状态。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update()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函数中对游戏胜利进行判定和处理：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update():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global finished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if finished or failed: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return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for block in blocks: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if not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block.isbomb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and not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block.isopen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    return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finished = True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indent="295275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sounds.win.play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903351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700300"/>
            <a:ext cx="5601473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4.2 </a:t>
            </a:r>
            <a:r>
              <a:rPr lang="zh-CN" altLang="zh-CN" sz="2400" b="1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游戏</a:t>
            </a:r>
            <a:r>
              <a:rPr lang="zh-CN" altLang="en-US" sz="2400" b="1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胜利</a:t>
            </a:r>
            <a:r>
              <a:rPr lang="zh-CN" altLang="zh-CN" sz="2400" b="1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的处理</a:t>
            </a:r>
            <a:endParaRPr lang="en-US" altLang="zh-CN" sz="2400" b="1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draw()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函数，显示游戏胜利的文字提示：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if finished: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screen.draw.text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("Finished",    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center=(WIDTH // 2, HEIGHT // 2),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fontsize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=100, color="red")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9218" name="图片 7">
            <a:extLst>
              <a:ext uri="{FF2B5EF4-FFF2-40B4-BE49-F238E27FC236}">
                <a16:creationId xmlns:a16="http://schemas.microsoft.com/office/drawing/2014/main" id="{3316EFF1-F210-E604-E699-D408EF8A07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5851" y="1470025"/>
            <a:ext cx="3722687" cy="391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05735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E1FD12-3765-D577-424E-D275D83AD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回顾与总结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16F0AB-C2B5-60F3-2AD0-A592E9C3D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 algn="just">
              <a:lnSpc>
                <a:spcPct val="150000"/>
              </a:lnSpc>
              <a:buNone/>
            </a:pP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在本章中，我们学习了如何编写一个扫雷游戏。我们首先创建了方块阵列，并统一将它们添加到列表中。然后对鼠标的右键和左键点击事件分别进行了处理：若玩家点击了鼠标右键，则执行插旗子的操作；若点击左键则执行打开方块的操作。我们着重讨论了打开方块的操作，并介绍了如何使用递归函数实现自动打开方块。最后我们对游戏结束的状态进行了判定，并针对游戏失败和胜利的两种情况分别进行了处理。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1557301"/>
      </p:ext>
    </p:extLst>
  </p:cSld>
  <p:clrMapOvr>
    <a:masterClrMapping/>
  </p:clrMapOvr>
</p:sld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368</TotalTime>
  <Words>1760</Words>
  <Application>Microsoft Office PowerPoint</Application>
  <PresentationFormat>宽屏</PresentationFormat>
  <Paragraphs>182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2" baseType="lpstr">
      <vt:lpstr>等线</vt:lpstr>
      <vt:lpstr>宋体</vt:lpstr>
      <vt:lpstr>微软雅黑</vt:lpstr>
      <vt:lpstr>Calibri</vt:lpstr>
      <vt:lpstr>Calibri Light</vt:lpstr>
      <vt:lpstr>Times New Roman</vt:lpstr>
      <vt:lpstr>Wingdings</vt:lpstr>
      <vt:lpstr>回顾</vt:lpstr>
      <vt:lpstr>扫雷游戏</vt:lpstr>
      <vt:lpstr>本章知识点</vt:lpstr>
      <vt:lpstr>1.创建方块阵列</vt:lpstr>
      <vt:lpstr>PowerPoint 演示文稿</vt:lpstr>
      <vt:lpstr>PowerPoint 演示文稿</vt:lpstr>
      <vt:lpstr>PowerPoint 演示文稿</vt:lpstr>
      <vt:lpstr>PowerPoint 演示文稿</vt:lpstr>
      <vt:lpstr>2.给方块插上旗子</vt:lpstr>
      <vt:lpstr>PowerPoint 演示文稿</vt:lpstr>
      <vt:lpstr>PowerPoint 演示文稿</vt:lpstr>
      <vt:lpstr>PowerPoint 演示文稿</vt:lpstr>
      <vt:lpstr>3.打开方块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4.判定游戏胜负</vt:lpstr>
      <vt:lpstr>PowerPoint 演示文稿</vt:lpstr>
      <vt:lpstr>PowerPoint 演示文稿</vt:lpstr>
      <vt:lpstr>PowerPoint 演示文稿</vt:lpstr>
      <vt:lpstr>PowerPoint 演示文稿</vt:lpstr>
      <vt:lpstr>回顾与总结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记忆翻牌游戏</dc:title>
  <dc:creator>叶得飞</dc:creator>
  <cp:lastModifiedBy>hawking329@sina.com</cp:lastModifiedBy>
  <cp:revision>71</cp:revision>
  <dcterms:created xsi:type="dcterms:W3CDTF">2022-06-28T01:57:29Z</dcterms:created>
  <dcterms:modified xsi:type="dcterms:W3CDTF">2024-01-08T08:45:47Z</dcterms:modified>
</cp:coreProperties>
</file>