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3582" r:id="rId4"/>
    <p:sldId id="3583" r:id="rId5"/>
    <p:sldId id="3584" r:id="rId6"/>
    <p:sldId id="3585" r:id="rId7"/>
    <p:sldId id="3586" r:id="rId8"/>
    <p:sldId id="3587" r:id="rId9"/>
    <p:sldId id="3588" r:id="rId10"/>
    <p:sldId id="3589" r:id="rId11"/>
    <p:sldId id="3590" r:id="rId12"/>
    <p:sldId id="3591" r:id="rId13"/>
    <p:sldId id="3592" r:id="rId14"/>
    <p:sldId id="3593" r:id="rId15"/>
    <p:sldId id="3577" r:id="rId16"/>
    <p:sldId id="3594" r:id="rId17"/>
    <p:sldId id="3595" r:id="rId18"/>
    <p:sldId id="3596" r:id="rId19"/>
    <p:sldId id="3597" r:id="rId20"/>
    <p:sldId id="3598" r:id="rId21"/>
    <p:sldId id="3599" r:id="rId22"/>
    <p:sldId id="3600" r:id="rId23"/>
    <p:sldId id="3601" r:id="rId24"/>
    <p:sldId id="3602" r:id="rId25"/>
    <p:sldId id="3603" r:id="rId26"/>
    <p:sldId id="3604" r:id="rId27"/>
    <p:sldId id="3605" r:id="rId28"/>
    <p:sldId id="3606" r:id="rId29"/>
    <p:sldId id="3607" r:id="rId30"/>
    <p:sldId id="3608" r:id="rId31"/>
    <p:sldId id="358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A75420-F708-49F5-92F8-624229C141A5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64FB-F2DD-4573-A003-A51F1EB4C9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412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43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512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085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1257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17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492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26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65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844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5247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9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71" y="390528"/>
            <a:ext cx="520496" cy="274638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71" y="6524628"/>
            <a:ext cx="2909534" cy="276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2875"/>
            <a:ext cx="10633094" cy="8461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4" name="矩形 23"/>
          <p:cNvSpPr/>
          <p:nvPr userDrawn="1"/>
        </p:nvSpPr>
        <p:spPr>
          <a:xfrm>
            <a:off x="10705111" y="6792874"/>
            <a:ext cx="1486889" cy="8461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4678" y="294777"/>
            <a:ext cx="2595399" cy="40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4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14:flip dir="r"/>
      </p:transition>
    </mc:Choice>
    <mc:Fallback xmlns=""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3A98D1-1EC8-4A94-80E2-BD8F9B9879B3}" type="datetimeFigureOut">
              <a:rPr lang="zh-CN" altLang="en-US" smtClean="0"/>
              <a:t>2024/1/8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4C8F0F4-F8AA-4186-9944-6FC510E21948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117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1EEB1E-5500-9EE0-4B2B-5962B59C57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Flappy Bird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15082F6-BB6D-0F1D-7471-1A20173E0A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792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F6537-6A07-CFED-561B-2FCC989CD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266700" algn="just">
              <a:lnSpc>
                <a:spcPct val="150000"/>
              </a:lnSpc>
            </a:pPr>
            <a:r>
              <a:rPr lang="zh-CN" altLang="zh-CN" sz="4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本章知识点</a:t>
            </a:r>
            <a:endParaRPr lang="zh-CN" altLang="zh-CN" sz="4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A13118-7275-031A-9151-78481A7B9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33410"/>
            <a:ext cx="10058400" cy="4023360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滚动背景图像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模拟重力效果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播放角色动画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设计图形用户界面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"/>
              <a:tabLst>
                <a:tab pos="266700" algn="l"/>
              </a:tabLst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播放游戏音乐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614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创建游戏场景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1.1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设置背景图像</a:t>
            </a:r>
            <a:endParaRPr lang="en-US" altLang="zh-CN" sz="2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本游戏使用图像作为背景，使用的图片尺寸为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138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396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将四幅图片拼起来形成完整的背景图像，场景总宽度是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138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倍，而高度是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396</a:t>
            </a: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在程序的开头编写如下代码：</a:t>
            </a:r>
          </a:p>
          <a:p>
            <a:pPr algn="just">
              <a:lnSpc>
                <a:spcPct val="150000"/>
              </a:lnSpc>
            </a:pPr>
            <a:r>
              <a:rPr lang="en-US" altLang="zh-CN" kern="100" dirty="0">
                <a:latin typeface="+mn-ea"/>
              </a:rPr>
              <a:t>  </a:t>
            </a:r>
            <a:r>
              <a:rPr lang="en-US" altLang="zh-CN" kern="100" dirty="0">
                <a:effectLst/>
                <a:latin typeface="+mn-ea"/>
              </a:rPr>
              <a:t>WIDTH = 138 * 4     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50000"/>
              </a:lnSpc>
            </a:pPr>
            <a:r>
              <a:rPr lang="en-US" altLang="zh-CN" kern="100" dirty="0">
                <a:effectLst/>
                <a:latin typeface="+mn-ea"/>
              </a:rPr>
              <a:t>HEIGHT = 396</a:t>
            </a:r>
            <a:endParaRPr lang="zh-CN" altLang="zh-CN" kern="100" dirty="0">
              <a:effectLst/>
              <a:latin typeface="+mn-ea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53855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7789868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1.1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设置背景图像</a:t>
            </a:r>
            <a:endParaRPr lang="en-US" altLang="zh-CN" sz="2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定义列表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backgrounds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，用来保存所有的背景角色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循环生成各个背景角色，并保存在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backgrounds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中：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backgrounds = []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for </a:t>
            </a:r>
            <a:r>
              <a:rPr lang="en-US" altLang="zh-CN" kern="100" dirty="0" err="1">
                <a:effectLst/>
                <a:latin typeface="+mn-ea"/>
              </a:rPr>
              <a:t>i</a:t>
            </a:r>
            <a:r>
              <a:rPr lang="en-US" altLang="zh-CN" kern="100" dirty="0">
                <a:effectLst/>
                <a:latin typeface="+mn-ea"/>
              </a:rPr>
              <a:t> in range(5):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backimage</a:t>
            </a:r>
            <a:r>
              <a:rPr lang="en-US" altLang="zh-CN" kern="100" dirty="0">
                <a:effectLst/>
                <a:latin typeface="+mn-ea"/>
              </a:rPr>
              <a:t> = Actor("</a:t>
            </a:r>
            <a:r>
              <a:rPr lang="en-US" altLang="zh-CN" kern="100" dirty="0" err="1">
                <a:effectLst/>
                <a:latin typeface="+mn-ea"/>
              </a:rPr>
              <a:t>flappybird_background</a:t>
            </a:r>
            <a:r>
              <a:rPr lang="en-US" altLang="zh-CN" kern="100" dirty="0">
                <a:effectLst/>
                <a:latin typeface="+mn-ea"/>
              </a:rPr>
              <a:t>", 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                    </a:t>
            </a:r>
            <a:r>
              <a:rPr lang="en-US" altLang="zh-CN" kern="100" dirty="0" err="1">
                <a:effectLst/>
                <a:latin typeface="+mn-ea"/>
              </a:rPr>
              <a:t>topleft</a:t>
            </a:r>
            <a:r>
              <a:rPr lang="en-US" altLang="zh-CN" kern="100" dirty="0">
                <a:effectLst/>
                <a:latin typeface="+mn-ea"/>
              </a:rPr>
              <a:t>=(</a:t>
            </a:r>
            <a:r>
              <a:rPr lang="en-US" altLang="zh-CN" kern="100" dirty="0" err="1">
                <a:effectLst/>
                <a:latin typeface="+mn-ea"/>
              </a:rPr>
              <a:t>i</a:t>
            </a:r>
            <a:r>
              <a:rPr lang="en-US" altLang="zh-CN" kern="100" dirty="0">
                <a:effectLst/>
                <a:latin typeface="+mn-ea"/>
              </a:rPr>
              <a:t> * 138, 0))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backgrounds.append</a:t>
            </a:r>
            <a:r>
              <a:rPr lang="en-US" altLang="zh-CN" kern="100" dirty="0">
                <a:effectLst/>
                <a:latin typeface="+mn-ea"/>
              </a:rPr>
              <a:t>(</a:t>
            </a:r>
            <a:r>
              <a:rPr lang="en-US" altLang="zh-CN" kern="100" dirty="0" err="1">
                <a:effectLst/>
                <a:latin typeface="+mn-ea"/>
              </a:rPr>
              <a:t>backimage</a:t>
            </a:r>
            <a:r>
              <a:rPr lang="en-US" altLang="zh-CN" kern="100" dirty="0">
                <a:effectLst/>
                <a:latin typeface="+mn-ea"/>
              </a:rPr>
              <a:t>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 err="1">
                <a:latin typeface="Times New Roman" panose="02020603050405020304" pitchFamily="18" charset="0"/>
              </a:rPr>
              <a:t>Pgzero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为角色的特殊位置定义了参数，便于设定角</a:t>
            </a:r>
            <a:endParaRPr lang="en-US" altLang="zh-CN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色位置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图片 1">
            <a:extLst>
              <a:ext uri="{FF2B5EF4-FFF2-40B4-BE49-F238E27FC236}">
                <a16:creationId xmlns:a16="http://schemas.microsoft.com/office/drawing/2014/main" id="{A97D191A-940F-373A-4E3E-2D12EF305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892" y="1424184"/>
            <a:ext cx="4686942" cy="3086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2811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9" y="700300"/>
            <a:ext cx="5940520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1.1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设置背景图像</a:t>
            </a:r>
            <a:endParaRPr lang="en-US" altLang="zh-CN" sz="2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函数编写代码，将背景图像显示出来：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def draw():</a:t>
            </a:r>
            <a:endParaRPr lang="zh-CN" altLang="zh-CN" sz="24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for </a:t>
            </a:r>
            <a:r>
              <a:rPr lang="en-US" altLang="zh-CN" sz="2400" kern="100" dirty="0" err="1">
                <a:effectLst/>
                <a:latin typeface="+mn-ea"/>
              </a:rPr>
              <a:t>backimage</a:t>
            </a:r>
            <a:r>
              <a:rPr lang="en-US" altLang="zh-CN" sz="2400" kern="100" dirty="0">
                <a:effectLst/>
                <a:latin typeface="+mn-ea"/>
              </a:rPr>
              <a:t> in backgrounds:</a:t>
            </a:r>
            <a:endParaRPr lang="zh-CN" altLang="zh-CN" sz="24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    </a:t>
            </a:r>
            <a:r>
              <a:rPr lang="en-US" altLang="zh-CN" sz="2400" kern="100" dirty="0" err="1">
                <a:effectLst/>
                <a:latin typeface="+mn-ea"/>
              </a:rPr>
              <a:t>backimage.draw</a:t>
            </a:r>
            <a:r>
              <a:rPr lang="en-US" altLang="zh-CN" sz="2400" kern="100" dirty="0">
                <a:effectLst/>
                <a:latin typeface="+mn-ea"/>
              </a:rPr>
              <a:t>() </a:t>
            </a:r>
            <a:endParaRPr lang="zh-CN" altLang="zh-CN" sz="2400" kern="100" dirty="0">
              <a:effectLst/>
              <a:latin typeface="+mn-ea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2785D0F-761F-05E9-32DA-C2DCFA5DB957}"/>
              </a:ext>
            </a:extLst>
          </p:cNvPr>
          <p:cNvGrpSpPr>
            <a:grpSpLocks/>
          </p:cNvGrpSpPr>
          <p:nvPr/>
        </p:nvGrpSpPr>
        <p:grpSpPr bwMode="auto">
          <a:xfrm>
            <a:off x="6496692" y="2361344"/>
            <a:ext cx="4800600" cy="2674938"/>
            <a:chOff x="2340" y="4560"/>
            <a:chExt cx="7560" cy="4212"/>
          </a:xfrm>
        </p:grpSpPr>
        <p:pic>
          <p:nvPicPr>
            <p:cNvPr id="2065" name="图片 3">
              <a:extLst>
                <a:ext uri="{FF2B5EF4-FFF2-40B4-BE49-F238E27FC236}">
                  <a16:creationId xmlns:a16="http://schemas.microsoft.com/office/drawing/2014/main" id="{33C65760-8E23-DD28-C646-D376803550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40" y="4560"/>
              <a:ext cx="6480" cy="3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28834B6-C45D-DD1C-1335-00EADA7D13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40" y="4560"/>
              <a:ext cx="7560" cy="4212"/>
              <a:chOff x="2340" y="4560"/>
              <a:chExt cx="7560" cy="4212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B13F0195-E7B2-D050-CCE9-E53778319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0" y="4560"/>
                <a:ext cx="1620" cy="3432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" name="自选图形 6">
                <a:extLst>
                  <a:ext uri="{FF2B5EF4-FFF2-40B4-BE49-F238E27FC236}">
                    <a16:creationId xmlns:a16="http://schemas.microsoft.com/office/drawing/2014/main" id="{7E2F75C0-8AD8-023E-94A5-28F3C523A5B4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>
                <a:off x="2970" y="7362"/>
                <a:ext cx="360" cy="1620"/>
              </a:xfrm>
              <a:prstGeom prst="leftBrace">
                <a:avLst>
                  <a:gd name="adj1" fmla="val 37500"/>
                  <a:gd name="adj2" fmla="val 48958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" name="自选图形 7">
                <a:extLst>
                  <a:ext uri="{FF2B5EF4-FFF2-40B4-BE49-F238E27FC236}">
                    <a16:creationId xmlns:a16="http://schemas.microsoft.com/office/drawing/2014/main" id="{9D155B5C-0F1B-D660-51DE-FFD6FD85832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>
                <a:off x="4590" y="7362"/>
                <a:ext cx="360" cy="1620"/>
              </a:xfrm>
              <a:prstGeom prst="leftBrace">
                <a:avLst>
                  <a:gd name="adj1" fmla="val 37500"/>
                  <a:gd name="adj2" fmla="val 48958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" name="自选图形 8">
                <a:extLst>
                  <a:ext uri="{FF2B5EF4-FFF2-40B4-BE49-F238E27FC236}">
                    <a16:creationId xmlns:a16="http://schemas.microsoft.com/office/drawing/2014/main" id="{7BE13583-29C9-01BC-CABA-61D4864CB0CA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>
                <a:off x="6210" y="7362"/>
                <a:ext cx="360" cy="1620"/>
              </a:xfrm>
              <a:prstGeom prst="leftBrace">
                <a:avLst>
                  <a:gd name="adj1" fmla="val 37500"/>
                  <a:gd name="adj2" fmla="val 48958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" name="自选图形 9">
                <a:extLst>
                  <a:ext uri="{FF2B5EF4-FFF2-40B4-BE49-F238E27FC236}">
                    <a16:creationId xmlns:a16="http://schemas.microsoft.com/office/drawing/2014/main" id="{D99FEA38-0DF4-0DFF-E743-B5D262B39322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>
                <a:off x="7830" y="7362"/>
                <a:ext cx="360" cy="1620"/>
              </a:xfrm>
              <a:prstGeom prst="leftBrace">
                <a:avLst>
                  <a:gd name="adj1" fmla="val 37500"/>
                  <a:gd name="adj2" fmla="val 48958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自选图形 10">
                <a:extLst>
                  <a:ext uri="{FF2B5EF4-FFF2-40B4-BE49-F238E27FC236}">
                    <a16:creationId xmlns:a16="http://schemas.microsoft.com/office/drawing/2014/main" id="{BA5B80D6-88A6-D13F-9A87-D2813E0D88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20" y="4560"/>
                <a:ext cx="240" cy="3432"/>
              </a:xfrm>
              <a:prstGeom prst="rightBrace">
                <a:avLst>
                  <a:gd name="adj1" fmla="val 119167"/>
                  <a:gd name="adj2" fmla="val 5000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1756465B-294C-CDD1-E928-BAE3C1BED2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80" y="6120"/>
                <a:ext cx="720" cy="46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396</a:t>
                </a:r>
                <a:endParaRPr kumimoji="0" lang="en-US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09ACC8E-0194-255D-0E77-B168B5CC41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8304"/>
                <a:ext cx="720" cy="46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138</a:t>
                </a:r>
                <a:endParaRPr kumimoji="0" lang="en-US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B6E7DA6-1FE4-9087-E4EA-5381DFA728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0" y="8304"/>
                <a:ext cx="720" cy="46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138</a:t>
                </a:r>
                <a:endParaRPr kumimoji="0" lang="en-US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9F1DED6-561B-52E7-7C26-A42C0ADA9A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20" y="8304"/>
                <a:ext cx="720" cy="46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138</a:t>
                </a:r>
                <a:endParaRPr kumimoji="0" lang="en-US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37F64BE-7032-8313-517E-D0A08D8219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40" y="8304"/>
                <a:ext cx="720" cy="46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zh-CN" sz="10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138</a:t>
                </a:r>
                <a:endParaRPr kumimoji="0" lang="en-US" altLang="zh-CN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9C41CC0C-DDE0-4C8E-C64A-A786BBCAFB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0" y="4560"/>
                <a:ext cx="1620" cy="3432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7698006A-BE69-52D2-4415-D5CAA7E48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0" y="4560"/>
                <a:ext cx="1620" cy="3432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B8AC7F29-1158-4CD4-EFE3-B3B7F511D2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0" y="4560"/>
                <a:ext cx="1620" cy="3432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prstDash val="dash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99392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滚动背景图像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所谓滚动显示，就是不断地移动背景图像，当图像从窗口的某个边界移出去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之后，再让其从另一边重新移进来，从而形成连绵不绝的显示效果。</a:t>
            </a: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1" name="组合 84">
            <a:extLst>
              <a:ext uri="{FF2B5EF4-FFF2-40B4-BE49-F238E27FC236}">
                <a16:creationId xmlns:a16="http://schemas.microsoft.com/office/drawing/2014/main" id="{2A260C6A-B4FA-1E42-88EC-7773AF769FC0}"/>
              </a:ext>
            </a:extLst>
          </p:cNvPr>
          <p:cNvGrpSpPr>
            <a:grpSpLocks/>
          </p:cNvGrpSpPr>
          <p:nvPr/>
        </p:nvGrpSpPr>
        <p:grpSpPr bwMode="auto">
          <a:xfrm>
            <a:off x="2414426" y="2835612"/>
            <a:ext cx="6123399" cy="2455570"/>
            <a:chOff x="2310" y="8040"/>
            <a:chExt cx="7035" cy="3027"/>
          </a:xfrm>
        </p:grpSpPr>
        <p:grpSp>
          <p:nvGrpSpPr>
            <p:cNvPr id="22" name="组合 46">
              <a:extLst>
                <a:ext uri="{FF2B5EF4-FFF2-40B4-BE49-F238E27FC236}">
                  <a16:creationId xmlns:a16="http://schemas.microsoft.com/office/drawing/2014/main" id="{4C92F57B-6658-CBA2-BD45-5C502E1F00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5" y="8918"/>
              <a:ext cx="5010" cy="2105"/>
              <a:chOff x="2100" y="8170"/>
              <a:chExt cx="8100" cy="3432"/>
            </a:xfrm>
          </p:grpSpPr>
          <p:pic>
            <p:nvPicPr>
              <p:cNvPr id="3086" name="图片 45">
                <a:extLst>
                  <a:ext uri="{FF2B5EF4-FFF2-40B4-BE49-F238E27FC236}">
                    <a16:creationId xmlns:a16="http://schemas.microsoft.com/office/drawing/2014/main" id="{4D76A84B-7214-0E89-0006-6FA79A999F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580" y="8170"/>
                <a:ext cx="1620" cy="34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5" name="图片 3">
                <a:extLst>
                  <a:ext uri="{FF2B5EF4-FFF2-40B4-BE49-F238E27FC236}">
                    <a16:creationId xmlns:a16="http://schemas.microsoft.com/office/drawing/2014/main" id="{14E18728-D303-80D2-7327-EBC9FD47A3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100" y="8170"/>
                <a:ext cx="6480" cy="34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7" name="组合 44">
                <a:extLst>
                  <a:ext uri="{FF2B5EF4-FFF2-40B4-BE49-F238E27FC236}">
                    <a16:creationId xmlns:a16="http://schemas.microsoft.com/office/drawing/2014/main" id="{694C0FBF-280D-7570-C6A8-51CA71F57E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00" y="8170"/>
                <a:ext cx="8100" cy="3432"/>
                <a:chOff x="2235" y="8080"/>
                <a:chExt cx="8100" cy="3432"/>
              </a:xfrm>
            </p:grpSpPr>
            <p:sp>
              <p:nvSpPr>
                <p:cNvPr id="28" name="矩形 5">
                  <a:extLst>
                    <a:ext uri="{FF2B5EF4-FFF2-40B4-BE49-F238E27FC236}">
                      <a16:creationId xmlns:a16="http://schemas.microsoft.com/office/drawing/2014/main" id="{213B90AB-149A-19F4-3777-F446C4D1AD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35" y="8080"/>
                  <a:ext cx="1620" cy="3432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" name="矩形 16">
                  <a:extLst>
                    <a:ext uri="{FF2B5EF4-FFF2-40B4-BE49-F238E27FC236}">
                      <a16:creationId xmlns:a16="http://schemas.microsoft.com/office/drawing/2014/main" id="{17A1240E-A0C8-5CD2-508F-FAD582D408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55" y="8080"/>
                  <a:ext cx="1620" cy="3432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" name="矩形 17">
                  <a:extLst>
                    <a:ext uri="{FF2B5EF4-FFF2-40B4-BE49-F238E27FC236}">
                      <a16:creationId xmlns:a16="http://schemas.microsoft.com/office/drawing/2014/main" id="{BBD34170-BFFB-518A-9E3B-4BC7453D60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75" y="8080"/>
                  <a:ext cx="1620" cy="3432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1" name="矩形 18">
                  <a:extLst>
                    <a:ext uri="{FF2B5EF4-FFF2-40B4-BE49-F238E27FC236}">
                      <a16:creationId xmlns:a16="http://schemas.microsoft.com/office/drawing/2014/main" id="{F83D9008-E3DF-D3E5-FDB1-B9F862AAE4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095" y="8080"/>
                  <a:ext cx="1620" cy="3432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" name="矩形 16">
                  <a:extLst>
                    <a:ext uri="{FF2B5EF4-FFF2-40B4-BE49-F238E27FC236}">
                      <a16:creationId xmlns:a16="http://schemas.microsoft.com/office/drawing/2014/main" id="{0538E749-50A8-05F9-FCF5-4030DF71AE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15" y="8080"/>
                  <a:ext cx="1620" cy="3432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prstDash val="dashDot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3" name="矩形 47">
              <a:extLst>
                <a:ext uri="{FF2B5EF4-FFF2-40B4-BE49-F238E27FC236}">
                  <a16:creationId xmlns:a16="http://schemas.microsoft.com/office/drawing/2014/main" id="{C8A3A2D0-5E71-DEE2-732D-D521B9D71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5" y="8873"/>
              <a:ext cx="4050" cy="2194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自选图形 51">
              <a:extLst>
                <a:ext uri="{FF2B5EF4-FFF2-40B4-BE49-F238E27FC236}">
                  <a16:creationId xmlns:a16="http://schemas.microsoft.com/office/drawing/2014/main" id="{7CB7B649-4115-BB02-D67E-144F1539B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0" y="9648"/>
              <a:ext cx="735" cy="270"/>
            </a:xfrm>
            <a:prstGeom prst="leftArrow">
              <a:avLst>
                <a:gd name="adj1" fmla="val 22222"/>
                <a:gd name="adj2" fmla="val 84817"/>
              </a:avLst>
            </a:prstGeom>
            <a:solidFill>
              <a:srgbClr val="4BACC6"/>
            </a:solidFill>
            <a:ln w="38100">
              <a:solidFill>
                <a:srgbClr val="00B0F0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205867">
                  <a:alpha val="5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自选图形 52">
              <a:extLst>
                <a:ext uri="{FF2B5EF4-FFF2-40B4-BE49-F238E27FC236}">
                  <a16:creationId xmlns:a16="http://schemas.microsoft.com/office/drawing/2014/main" id="{B5DF1777-165F-2546-11A1-821A5FF18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10" y="9663"/>
              <a:ext cx="735" cy="270"/>
            </a:xfrm>
            <a:prstGeom prst="leftArrow">
              <a:avLst>
                <a:gd name="adj1" fmla="val 22222"/>
                <a:gd name="adj2" fmla="val 84817"/>
              </a:avLst>
            </a:prstGeom>
            <a:solidFill>
              <a:srgbClr val="4BACC6"/>
            </a:solidFill>
            <a:ln w="38100">
              <a:solidFill>
                <a:srgbClr val="00B0F0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205867">
                  <a:alpha val="5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自选图形 83">
              <a:extLst>
                <a:ext uri="{FF2B5EF4-FFF2-40B4-BE49-F238E27FC236}">
                  <a16:creationId xmlns:a16="http://schemas.microsoft.com/office/drawing/2014/main" id="{70F0AAFA-0C88-B6BF-73AF-7CE55F0E2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0" y="8040"/>
              <a:ext cx="3855" cy="535"/>
            </a:xfrm>
            <a:custGeom>
              <a:avLst/>
              <a:gdLst>
                <a:gd name="G0" fmla="+- 4975733 0 0"/>
                <a:gd name="G1" fmla="+- 7183017 0 0"/>
                <a:gd name="G2" fmla="+- 4975733 0 7183017"/>
                <a:gd name="G3" fmla="+- 10800 0 0"/>
                <a:gd name="G4" fmla="+- 0 0 4975733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10800 0 0"/>
                <a:gd name="G9" fmla="+- 0 0 7183017"/>
                <a:gd name="G10" fmla="+- 10800 0 2700"/>
                <a:gd name="G11" fmla="cos G10 4975733"/>
                <a:gd name="G12" fmla="sin G10 4975733"/>
                <a:gd name="G13" fmla="cos 13500 4975733"/>
                <a:gd name="G14" fmla="sin 13500 4975733"/>
                <a:gd name="G15" fmla="+- G11 10800 0"/>
                <a:gd name="G16" fmla="+- G12 10800 0"/>
                <a:gd name="G17" fmla="+- G13 10800 0"/>
                <a:gd name="G18" fmla="+- G14 10800 0"/>
                <a:gd name="G19" fmla="*/ 10800 1 2"/>
                <a:gd name="G20" fmla="+- G19 5400 0"/>
                <a:gd name="G21" fmla="cos G20 4975733"/>
                <a:gd name="G22" fmla="sin G20 4975733"/>
                <a:gd name="G23" fmla="+- G21 10800 0"/>
                <a:gd name="G24" fmla="+- G12 G23 G22"/>
                <a:gd name="G25" fmla="+- G22 G23 G11"/>
                <a:gd name="G26" fmla="cos 10800 4975733"/>
                <a:gd name="G27" fmla="sin 10800 4975733"/>
                <a:gd name="G28" fmla="cos 10800 4975733"/>
                <a:gd name="G29" fmla="sin 10800 4975733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7183017"/>
                <a:gd name="G36" fmla="sin G34 7183017"/>
                <a:gd name="G37" fmla="+/ 7183017 4975733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10800 G39"/>
                <a:gd name="G43" fmla="sin 10800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11320 w 21600"/>
                <a:gd name="T5" fmla="*/ 12 h 21600"/>
                <a:gd name="T6" fmla="*/ 7176 w 21600"/>
                <a:gd name="T7" fmla="*/ 20973 h 21600"/>
                <a:gd name="T8" fmla="*/ 11320 w 21600"/>
                <a:gd name="T9" fmla="*/ 12 h 21600"/>
                <a:gd name="T10" fmla="*/ 14083 w 21600"/>
                <a:gd name="T11" fmla="*/ 23894 h 21600"/>
                <a:gd name="T12" fmla="*/ 10807 w 21600"/>
                <a:gd name="T13" fmla="*/ 21931 h 21600"/>
                <a:gd name="T14" fmla="*/ 12770 w 21600"/>
                <a:gd name="T15" fmla="*/ 18656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3426" y="21275"/>
                  </a:moveTo>
                  <a:cubicBezTo>
                    <a:pt x="18230" y="20071"/>
                    <a:pt x="21600" y="15752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5367"/>
                    <a:pt x="2873" y="19441"/>
                    <a:pt x="7176" y="20973"/>
                  </a:cubicBezTo>
                  <a:cubicBezTo>
                    <a:pt x="2873" y="19441"/>
                    <a:pt x="0" y="15367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5752"/>
                    <a:pt x="18230" y="20071"/>
                    <a:pt x="13426" y="21275"/>
                  </a:cubicBezTo>
                  <a:lnTo>
                    <a:pt x="14083" y="23894"/>
                  </a:lnTo>
                  <a:lnTo>
                    <a:pt x="10807" y="21931"/>
                  </a:lnTo>
                  <a:lnTo>
                    <a:pt x="12770" y="18656"/>
                  </a:lnTo>
                  <a:lnTo>
                    <a:pt x="13426" y="21275"/>
                  </a:lnTo>
                  <a:close/>
                </a:path>
              </a:pathLst>
            </a:custGeom>
            <a:solidFill>
              <a:srgbClr val="4BACC6"/>
            </a:solidFill>
            <a:ln w="38100">
              <a:solidFill>
                <a:srgbClr val="00B0F0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205867">
                  <a:alpha val="5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01717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滚动背景图像</a:t>
            </a:r>
            <a:endParaRPr lang="en-US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定义全局常量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SPEED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来表示背景滚动速度。定义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update_background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函数来滚动背景图像：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SPEED = 3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update_background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for </a:t>
            </a:r>
            <a:r>
              <a:rPr lang="en-US" altLang="zh-CN" kern="100" dirty="0" err="1">
                <a:effectLst/>
                <a:latin typeface="+mn-ea"/>
              </a:rPr>
              <a:t>backimage</a:t>
            </a:r>
            <a:r>
              <a:rPr lang="en-US" altLang="zh-CN" kern="100" dirty="0">
                <a:effectLst/>
                <a:latin typeface="+mn-ea"/>
              </a:rPr>
              <a:t> in backgrounds: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backimage.x</a:t>
            </a:r>
            <a:r>
              <a:rPr lang="en-US" altLang="zh-CN" kern="100" dirty="0">
                <a:effectLst/>
                <a:latin typeface="+mn-ea"/>
              </a:rPr>
              <a:t> -= SPEED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if </a:t>
            </a:r>
            <a:r>
              <a:rPr lang="en-US" altLang="zh-CN" kern="100" dirty="0" err="1">
                <a:effectLst/>
                <a:latin typeface="+mn-ea"/>
              </a:rPr>
              <a:t>backimage.right</a:t>
            </a:r>
            <a:r>
              <a:rPr lang="en-US" altLang="zh-CN" kern="100" dirty="0">
                <a:effectLst/>
                <a:latin typeface="+mn-ea"/>
              </a:rPr>
              <a:t> &lt;= 0: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 </a:t>
            </a:r>
            <a:r>
              <a:rPr lang="en-US" altLang="zh-CN" kern="100" dirty="0" err="1">
                <a:effectLst/>
                <a:latin typeface="+mn-ea"/>
              </a:rPr>
              <a:t>backimage.left</a:t>
            </a:r>
            <a:r>
              <a:rPr lang="en-US" altLang="zh-CN" kern="100" dirty="0">
                <a:effectLst/>
                <a:latin typeface="+mn-ea"/>
              </a:rPr>
              <a:t> = WIDTH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函数编写代码，在其中调用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update_background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update():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update_background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7949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添加障碍物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现在我们已经创建了游戏场景，而且实现了背景图像的滚动显示。然而，背景图像的作用主要是美化游戏场景，它并不会与游戏角色进行交互。为此，我们还要继续在场景中添加用来交互的角色。根据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Flappy Bird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游戏规则，场景中会出现两种障碍物——地面和水管，它们用来阻碍小鸟的飞行。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644695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2.1 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设置地面</a:t>
            </a:r>
            <a:endParaRPr lang="en-US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定义了一个变量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ground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用来保存地面角色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kern="100" dirty="0">
                <a:effectLst/>
                <a:latin typeface="+mn-ea"/>
              </a:rPr>
              <a:t>ground = Actor("</a:t>
            </a:r>
            <a:r>
              <a:rPr lang="en-US" altLang="zh-CN" kern="100" dirty="0" err="1">
                <a:effectLst/>
                <a:latin typeface="+mn-ea"/>
              </a:rPr>
              <a:t>flappybird_ground</a:t>
            </a:r>
            <a:r>
              <a:rPr lang="en-US" altLang="zh-CN" kern="100" dirty="0">
                <a:effectLst/>
                <a:latin typeface="+mn-ea"/>
              </a:rPr>
              <a:t>", </a:t>
            </a:r>
            <a:r>
              <a:rPr lang="en-US" altLang="zh-CN" kern="100" dirty="0" err="1">
                <a:effectLst/>
                <a:latin typeface="+mn-ea"/>
              </a:rPr>
              <a:t>bottomleft</a:t>
            </a:r>
            <a:r>
              <a:rPr lang="en-US" altLang="zh-CN" kern="100" dirty="0">
                <a:effectLst/>
                <a:latin typeface="+mn-ea"/>
              </a:rPr>
              <a:t>=(0, HEIGHT))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函数，加入显示地面的代码，如下所示：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</a:t>
            </a:r>
            <a:r>
              <a:rPr lang="en-US" altLang="zh-CN" kern="100" dirty="0" err="1">
                <a:effectLst/>
                <a:latin typeface="+mn-ea"/>
              </a:rPr>
              <a:t>ground.draw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update_ground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函数，用来移动地面角色：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+mn-ea"/>
              </a:rPr>
              <a:t>  def </a:t>
            </a:r>
            <a:r>
              <a:rPr lang="en-US" altLang="zh-CN" kern="100" dirty="0" err="1">
                <a:effectLst/>
                <a:latin typeface="+mn-ea"/>
              </a:rPr>
              <a:t>update_ground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marL="266700" indent="0" algn="just">
              <a:lnSpc>
                <a:spcPct val="100000"/>
              </a:lnSpc>
              <a:buNone/>
            </a:pPr>
            <a:r>
              <a:rPr lang="en-US" altLang="zh-CN" kern="100" dirty="0"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ground.x</a:t>
            </a:r>
            <a:r>
              <a:rPr lang="en-US" altLang="zh-CN" kern="100" dirty="0">
                <a:effectLst/>
                <a:latin typeface="+mn-ea"/>
              </a:rPr>
              <a:t> -= SPEED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if </a:t>
            </a:r>
            <a:r>
              <a:rPr lang="en-US" altLang="zh-CN" kern="100" dirty="0" err="1">
                <a:effectLst/>
                <a:latin typeface="+mn-ea"/>
              </a:rPr>
              <a:t>ground.right</a:t>
            </a:r>
            <a:r>
              <a:rPr lang="en-US" altLang="zh-CN" kern="100" dirty="0">
                <a:effectLst/>
                <a:latin typeface="+mn-ea"/>
              </a:rPr>
              <a:t> &lt; WIDTH: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</a:t>
            </a:r>
            <a:r>
              <a:rPr lang="en-US" altLang="zh-CN" kern="100" dirty="0" err="1">
                <a:effectLst/>
                <a:latin typeface="+mn-ea"/>
              </a:rPr>
              <a:t>ground.left</a:t>
            </a:r>
            <a:r>
              <a:rPr lang="en-US" altLang="zh-CN" kern="100" dirty="0">
                <a:effectLst/>
                <a:latin typeface="+mn-ea"/>
              </a:rPr>
              <a:t> = 0</a:t>
            </a:r>
            <a:endParaRPr lang="zh-CN" altLang="zh-CN" kern="100" dirty="0">
              <a:effectLst/>
              <a:latin typeface="+mn-ea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564F4A8-0DFB-B8EE-5B20-9FA3183A5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5" name="组合 96">
            <a:extLst>
              <a:ext uri="{FF2B5EF4-FFF2-40B4-BE49-F238E27FC236}">
                <a16:creationId xmlns:a16="http://schemas.microsoft.com/office/drawing/2014/main" id="{364E2687-7AD1-B241-3268-CF85C0807E96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4222679"/>
            <a:ext cx="5153025" cy="1076325"/>
            <a:chOff x="1998" y="4607"/>
            <a:chExt cx="8114" cy="1696"/>
          </a:xfrm>
        </p:grpSpPr>
        <p:grpSp>
          <p:nvGrpSpPr>
            <p:cNvPr id="6" name="组合 86">
              <a:extLst>
                <a:ext uri="{FF2B5EF4-FFF2-40B4-BE49-F238E27FC236}">
                  <a16:creationId xmlns:a16="http://schemas.microsoft.com/office/drawing/2014/main" id="{739A7E97-1D92-603D-1D30-AB74F5D950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98" y="4607"/>
              <a:ext cx="3747" cy="1684"/>
              <a:chOff x="3405" y="5129"/>
              <a:chExt cx="5112" cy="2194"/>
            </a:xfrm>
          </p:grpSpPr>
          <p:pic>
            <p:nvPicPr>
              <p:cNvPr id="4107" name="图片 3">
                <a:extLst>
                  <a:ext uri="{FF2B5EF4-FFF2-40B4-BE49-F238E27FC236}">
                    <a16:creationId xmlns:a16="http://schemas.microsoft.com/office/drawing/2014/main" id="{86AF791D-7609-00AC-7456-C552F4F665C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32" y="5159"/>
                <a:ext cx="4008" cy="21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6" name="图片 85">
                <a:extLst>
                  <a:ext uri="{FF2B5EF4-FFF2-40B4-BE49-F238E27FC236}">
                    <a16:creationId xmlns:a16="http://schemas.microsoft.com/office/drawing/2014/main" id="{97839779-A34E-C4C6-3495-B4486218D9D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32" y="6813"/>
                <a:ext cx="5085" cy="49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矩形 78">
                <a:extLst>
                  <a:ext uri="{FF2B5EF4-FFF2-40B4-BE49-F238E27FC236}">
                    <a16:creationId xmlns:a16="http://schemas.microsoft.com/office/drawing/2014/main" id="{41E240F8-6E0E-115A-1217-F49BE13A0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5" y="5129"/>
                <a:ext cx="4050" cy="2194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" name="组合 91">
              <a:extLst>
                <a:ext uri="{FF2B5EF4-FFF2-40B4-BE49-F238E27FC236}">
                  <a16:creationId xmlns:a16="http://schemas.microsoft.com/office/drawing/2014/main" id="{B74000FE-9E66-D86D-C3C7-897730A96F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3" y="4619"/>
              <a:ext cx="3729" cy="1684"/>
              <a:chOff x="6128" y="4619"/>
              <a:chExt cx="3729" cy="1684"/>
            </a:xfrm>
          </p:grpSpPr>
          <p:pic>
            <p:nvPicPr>
              <p:cNvPr id="4103" name="图片 3">
                <a:extLst>
                  <a:ext uri="{FF2B5EF4-FFF2-40B4-BE49-F238E27FC236}">
                    <a16:creationId xmlns:a16="http://schemas.microsoft.com/office/drawing/2014/main" id="{5604269E-3397-1530-2BF8-B10F68BE7D6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08" y="4642"/>
                <a:ext cx="2938" cy="164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102" name="图片 89">
                <a:extLst>
                  <a:ext uri="{FF2B5EF4-FFF2-40B4-BE49-F238E27FC236}">
                    <a16:creationId xmlns:a16="http://schemas.microsoft.com/office/drawing/2014/main" id="{66C4329F-A67A-DBDE-4CC2-6CB8943F5B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28" y="5912"/>
                <a:ext cx="3727" cy="3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矩形 90">
                <a:extLst>
                  <a:ext uri="{FF2B5EF4-FFF2-40B4-BE49-F238E27FC236}">
                    <a16:creationId xmlns:a16="http://schemas.microsoft.com/office/drawing/2014/main" id="{878BE9A6-9202-02DC-8291-32B3C2369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88" y="4619"/>
                <a:ext cx="2969" cy="1684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" name="自选图形 92">
              <a:extLst>
                <a:ext uri="{FF2B5EF4-FFF2-40B4-BE49-F238E27FC236}">
                  <a16:creationId xmlns:a16="http://schemas.microsoft.com/office/drawing/2014/main" id="{68DB56D5-336A-7EC7-7703-09C5E5786D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5" y="5220"/>
              <a:ext cx="758" cy="150"/>
            </a:xfrm>
            <a:prstGeom prst="leftArrow">
              <a:avLst>
                <a:gd name="adj1" fmla="val 50000"/>
                <a:gd name="adj2" fmla="val 126333"/>
              </a:avLst>
            </a:prstGeom>
            <a:solidFill>
              <a:srgbClr val="4BACC6"/>
            </a:solidFill>
            <a:ln w="38100">
              <a:solidFill>
                <a:srgbClr val="00B0F0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205867">
                  <a:alpha val="5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自选图形 94">
              <a:extLst>
                <a:ext uri="{FF2B5EF4-FFF2-40B4-BE49-F238E27FC236}">
                  <a16:creationId xmlns:a16="http://schemas.microsoft.com/office/drawing/2014/main" id="{879DC1C5-4D1C-BD3F-A473-309DDC2599D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625" y="4770"/>
              <a:ext cx="758" cy="150"/>
            </a:xfrm>
            <a:prstGeom prst="leftArrow">
              <a:avLst>
                <a:gd name="adj1" fmla="val 50000"/>
                <a:gd name="adj2" fmla="val 126333"/>
              </a:avLst>
            </a:prstGeom>
            <a:solidFill>
              <a:srgbClr val="4BACC6"/>
            </a:solidFill>
            <a:ln w="38100">
              <a:solidFill>
                <a:srgbClr val="00B0F0"/>
              </a:solidFill>
              <a:miter lim="800000"/>
              <a:headEnd/>
              <a:tailEnd/>
            </a:ln>
            <a:effectLst>
              <a:outerShdw dist="28398" dir="3806097" algn="ctr" rotWithShape="0">
                <a:srgbClr val="205867">
                  <a:alpha val="50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44349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686311" y="361253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2.2 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设置水管</a:t>
            </a:r>
            <a:endParaRPr lang="en-US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定义变量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pipe_top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pipe_bottom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，分别保存上方和下方水管角色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</a:t>
            </a:r>
            <a:r>
              <a:rPr lang="en-US" altLang="zh-CN" kern="100" dirty="0" err="1">
                <a:effectLst/>
                <a:latin typeface="+mn-ea"/>
              </a:rPr>
              <a:t>pipe_top</a:t>
            </a:r>
            <a:r>
              <a:rPr lang="en-US" altLang="zh-CN" kern="100" dirty="0">
                <a:effectLst/>
                <a:latin typeface="+mn-ea"/>
              </a:rPr>
              <a:t> = Actor("</a:t>
            </a:r>
            <a:r>
              <a:rPr lang="en-US" altLang="zh-CN" kern="100" dirty="0" err="1">
                <a:effectLst/>
                <a:latin typeface="+mn-ea"/>
              </a:rPr>
              <a:t>flappybird_top_pipe</a:t>
            </a:r>
            <a:r>
              <a:rPr lang="en-US" altLang="zh-CN" kern="100" dirty="0">
                <a:effectLst/>
                <a:latin typeface="+mn-ea"/>
              </a:rPr>
              <a:t>")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pipe_bottom</a:t>
            </a:r>
            <a:r>
              <a:rPr lang="en-US" altLang="zh-CN" kern="100" dirty="0">
                <a:effectLst/>
                <a:latin typeface="+mn-ea"/>
              </a:rPr>
              <a:t> = Actor("_</a:t>
            </a:r>
            <a:r>
              <a:rPr lang="en-US" altLang="zh-CN" kern="100" dirty="0" err="1">
                <a:effectLst/>
                <a:latin typeface="+mn-ea"/>
              </a:rPr>
              <a:t>bottom_pipe</a:t>
            </a:r>
            <a:r>
              <a:rPr lang="en-US" altLang="zh-CN" kern="100" dirty="0">
                <a:effectLst/>
                <a:latin typeface="+mn-ea"/>
              </a:rPr>
              <a:t>")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定义全局常量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GAP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表示上、下水管的间距。定义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reset_pipes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来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设置水管出现位置：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GAP = 150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reset_pipes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pipe_top.bottom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random.randint</a:t>
            </a:r>
            <a:r>
              <a:rPr lang="en-US" altLang="zh-CN" kern="100" dirty="0">
                <a:effectLst/>
                <a:latin typeface="+mn-ea"/>
              </a:rPr>
              <a:t>(50, 150)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pipe_bottom.top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pipe_top.bottom</a:t>
            </a:r>
            <a:r>
              <a:rPr lang="en-US" altLang="zh-CN" kern="100" dirty="0">
                <a:effectLst/>
                <a:latin typeface="+mn-ea"/>
              </a:rPr>
              <a:t> + GAP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pipe_top.left</a:t>
            </a:r>
            <a:r>
              <a:rPr lang="en-US" altLang="zh-CN" kern="100" dirty="0">
                <a:effectLst/>
                <a:latin typeface="+mn-ea"/>
              </a:rPr>
              <a:t> = WIDTH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pipe_bottom.left</a:t>
            </a:r>
            <a:r>
              <a:rPr lang="en-US" altLang="zh-CN" kern="100" dirty="0">
                <a:effectLst/>
                <a:latin typeface="+mn-ea"/>
              </a:rPr>
              <a:t> = WIDTH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reset_pipes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564F4A8-0DFB-B8EE-5B20-9FA3183A5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20426B-8D2F-F571-0843-9DF20E461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60" y="33391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3" name="组合 109">
            <a:extLst>
              <a:ext uri="{FF2B5EF4-FFF2-40B4-BE49-F238E27FC236}">
                <a16:creationId xmlns:a16="http://schemas.microsoft.com/office/drawing/2014/main" id="{AE99FF1D-53FD-B032-D3D1-136F18787BA5}"/>
              </a:ext>
            </a:extLst>
          </p:cNvPr>
          <p:cNvGrpSpPr>
            <a:grpSpLocks/>
          </p:cNvGrpSpPr>
          <p:nvPr/>
        </p:nvGrpSpPr>
        <p:grpSpPr bwMode="auto">
          <a:xfrm>
            <a:off x="7217594" y="3112383"/>
            <a:ext cx="4114800" cy="2773363"/>
            <a:chOff x="2880" y="5640"/>
            <a:chExt cx="6480" cy="4368"/>
          </a:xfrm>
        </p:grpSpPr>
        <p:pic>
          <p:nvPicPr>
            <p:cNvPr id="6154" name="图片 57">
              <a:extLst>
                <a:ext uri="{FF2B5EF4-FFF2-40B4-BE49-F238E27FC236}">
                  <a16:creationId xmlns:a16="http://schemas.microsoft.com/office/drawing/2014/main" id="{7D2444C4-3C31-1AF3-6B6E-EA074CA094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6264"/>
              <a:ext cx="6480" cy="34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3" name="图片 37">
              <a:extLst>
                <a:ext uri="{FF2B5EF4-FFF2-40B4-BE49-F238E27FC236}">
                  <a16:creationId xmlns:a16="http://schemas.microsoft.com/office/drawing/2014/main" id="{2F9E105B-8C8D-0CE3-5DE4-F83326CBAD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0" y="8448"/>
              <a:ext cx="558" cy="15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152" name="图片 38">
              <a:extLst>
                <a:ext uri="{FF2B5EF4-FFF2-40B4-BE49-F238E27FC236}">
                  <a16:creationId xmlns:a16="http://schemas.microsoft.com/office/drawing/2014/main" id="{B947B15C-514C-73B0-44FC-1EEDDE384A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0" y="5640"/>
              <a:ext cx="550" cy="20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自选图形 39">
              <a:extLst>
                <a:ext uri="{FF2B5EF4-FFF2-40B4-BE49-F238E27FC236}">
                  <a16:creationId xmlns:a16="http://schemas.microsoft.com/office/drawing/2014/main" id="{6B8B6403-9E5E-EFCC-BD3C-3826006E5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0" y="6264"/>
              <a:ext cx="360" cy="1404"/>
            </a:xfrm>
            <a:prstGeom prst="rightBrace">
              <a:avLst>
                <a:gd name="adj1" fmla="val 32500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自选图形 40">
              <a:extLst>
                <a:ext uri="{FF2B5EF4-FFF2-40B4-BE49-F238E27FC236}">
                  <a16:creationId xmlns:a16="http://schemas.microsoft.com/office/drawing/2014/main" id="{45DCD766-E8C0-8768-41CE-B3C50D36AA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0" y="8448"/>
              <a:ext cx="360" cy="1248"/>
            </a:xfrm>
            <a:prstGeom prst="rightBrace">
              <a:avLst>
                <a:gd name="adj1" fmla="val 28889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自选图形 41">
              <a:extLst>
                <a:ext uri="{FF2B5EF4-FFF2-40B4-BE49-F238E27FC236}">
                  <a16:creationId xmlns:a16="http://schemas.microsoft.com/office/drawing/2014/main" id="{BD1CB5CB-5C45-8570-4594-8C8D07AB5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0" y="7668"/>
              <a:ext cx="360" cy="780"/>
            </a:xfrm>
            <a:prstGeom prst="rightBrace">
              <a:avLst>
                <a:gd name="adj1" fmla="val 18056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文本框 44">
              <a:extLst>
                <a:ext uri="{FF2B5EF4-FFF2-40B4-BE49-F238E27FC236}">
                  <a16:creationId xmlns:a16="http://schemas.microsoft.com/office/drawing/2014/main" id="{ED2B09DA-DEF2-AA29-B8F8-2A02F509B7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" y="6735"/>
              <a:ext cx="1605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上方水管高度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文本框 45">
              <a:extLst>
                <a:ext uri="{FF2B5EF4-FFF2-40B4-BE49-F238E27FC236}">
                  <a16:creationId xmlns:a16="http://schemas.microsoft.com/office/drawing/2014/main" id="{CBF38C30-FC4C-947A-7FF6-8579A1E797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" y="8760"/>
              <a:ext cx="1605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下方水管高度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文本框 46">
              <a:extLst>
                <a:ext uri="{FF2B5EF4-FFF2-40B4-BE49-F238E27FC236}">
                  <a16:creationId xmlns:a16="http://schemas.microsoft.com/office/drawing/2014/main" id="{CE7529E4-1B13-13B1-4FAC-81DA421EE4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0" y="7824"/>
              <a:ext cx="2160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zh-CN" altLang="zh-CN" sz="1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水管的间距</a:t>
              </a:r>
              <a:endParaRPr kumimoji="0" lang="zh-CN" altLang="zh-C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3764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865425" y="801695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2.2 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设置水管</a:t>
            </a:r>
            <a:endParaRPr lang="en-US" altLang="zh-CN" sz="24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update_pipes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函数，用来移动上、下水管：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+mn-ea"/>
              </a:rPr>
              <a:t>  def </a:t>
            </a:r>
            <a:r>
              <a:rPr lang="en-US" altLang="zh-CN" kern="100" dirty="0" err="1">
                <a:effectLst/>
                <a:latin typeface="+mn-ea"/>
              </a:rPr>
              <a:t>update_pipes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pipe_top.x</a:t>
            </a:r>
            <a:r>
              <a:rPr lang="en-US" altLang="zh-CN" kern="100" dirty="0">
                <a:effectLst/>
                <a:latin typeface="+mn-ea"/>
              </a:rPr>
              <a:t> -= SPEED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pipe_bottom.x</a:t>
            </a:r>
            <a:r>
              <a:rPr lang="en-US" altLang="zh-CN" kern="100" dirty="0">
                <a:effectLst/>
                <a:latin typeface="+mn-ea"/>
              </a:rPr>
              <a:t> -= SPEED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pipe_top.right</a:t>
            </a:r>
            <a:r>
              <a:rPr lang="en-US" altLang="zh-CN" kern="100" dirty="0">
                <a:effectLst/>
                <a:latin typeface="+mn-ea"/>
              </a:rPr>
              <a:t> &lt; 0: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reset_pipes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函数，加入显示水管的代码：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</a:t>
            </a:r>
            <a:r>
              <a:rPr lang="en-US" altLang="zh-CN" kern="100" dirty="0" err="1">
                <a:effectLst/>
                <a:latin typeface="+mn-ea"/>
              </a:rPr>
              <a:t>pipe_top.draw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</a:t>
            </a:r>
            <a:r>
              <a:rPr lang="en-US" altLang="zh-CN" kern="100" dirty="0" err="1">
                <a:effectLst/>
                <a:latin typeface="+mn-ea"/>
              </a:rPr>
              <a:t>pipe_bottom.draw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3564F4A8-0DFB-B8EE-5B20-9FA3183A5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20426B-8D2F-F571-0843-9DF20E461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60" y="333910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170" name="图片 6">
            <a:extLst>
              <a:ext uri="{FF2B5EF4-FFF2-40B4-BE49-F238E27FC236}">
                <a16:creationId xmlns:a16="http://schemas.microsoft.com/office/drawing/2014/main" id="{1A6C970B-B949-09E1-F2DF-6348E08610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766" y="2006592"/>
            <a:ext cx="5289550" cy="404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2573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添加小鸟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创建小鸟角色</a:t>
            </a:r>
            <a:endParaRPr lang="zh-CN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创建一个小鸟角色，并将它保存在变量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bird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bird = Actor("flappybird1", (WIDTH // 2, HEIGHT // 2))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+mn-ea"/>
              </a:rPr>
              <a:t>  </a:t>
            </a:r>
            <a:r>
              <a:rPr lang="en-US" altLang="zh-CN" kern="100" dirty="0" err="1">
                <a:effectLst/>
                <a:latin typeface="+mn-ea"/>
              </a:rPr>
              <a:t>bird.vy</a:t>
            </a:r>
            <a:r>
              <a:rPr lang="en-US" altLang="zh-CN" kern="100" dirty="0">
                <a:effectLst/>
                <a:latin typeface="+mn-ea"/>
              </a:rPr>
              <a:t> = 0</a:t>
            </a: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函数，在其中加入显示小鸟的代码：</a:t>
            </a:r>
          </a:p>
          <a:p>
            <a:pPr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</a:t>
            </a:r>
            <a:r>
              <a:rPr lang="en-US" altLang="zh-CN" kern="100" dirty="0" err="1">
                <a:effectLst/>
                <a:latin typeface="+mn-ea"/>
              </a:rPr>
              <a:t>bird.draw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3980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68504" y="700300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3.2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模拟重力下的飞行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加入重力作用后小鸟的速度不再保持恒定，会在重力影响下产生加速度，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速度会变得越来越快，位置的变化也会愈来愈大。</a:t>
            </a: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D01432D8-0247-C210-2D4B-7389A2AC5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941" y="2571706"/>
            <a:ext cx="7655833" cy="3185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21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676037" y="71920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定义全局常量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FLAP_VELOCITY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，用来表示小鸟飞扬时的初始速度：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</a:t>
            </a:r>
            <a:r>
              <a:rPr lang="en-US" altLang="zh-CN" kern="100" dirty="0">
                <a:effectLst/>
                <a:latin typeface="+mn-ea"/>
              </a:rPr>
              <a:t>GRAVITY = 0.2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</a:t>
            </a:r>
            <a:r>
              <a:rPr lang="en-US" altLang="zh-CN" kern="100" dirty="0">
                <a:effectLst/>
                <a:latin typeface="+mn-ea"/>
              </a:rPr>
              <a:t>FLAP_VELOCITY = -5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fly()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函数用来实现小鸟的飞扬：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def fly ():        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    </a:t>
            </a:r>
            <a:r>
              <a:rPr lang="en-US" altLang="zh-CN" kern="100" dirty="0" err="1">
                <a:effectLst/>
                <a:latin typeface="+mn-ea"/>
              </a:rPr>
              <a:t>bird.vy</a:t>
            </a:r>
            <a:r>
              <a:rPr lang="en-US" altLang="zh-CN" kern="100" dirty="0">
                <a:effectLst/>
                <a:latin typeface="+mn-ea"/>
              </a:rPr>
              <a:t> += GRAVITY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	</a:t>
            </a:r>
            <a:r>
              <a:rPr lang="en-US" altLang="zh-CN" kern="100" dirty="0" err="1">
                <a:effectLst/>
                <a:latin typeface="+mn-ea"/>
              </a:rPr>
              <a:t>bird.y</a:t>
            </a:r>
            <a:r>
              <a:rPr lang="en-US" altLang="zh-CN" kern="100" dirty="0">
                <a:effectLst/>
                <a:latin typeface="+mn-ea"/>
              </a:rPr>
              <a:t> += </a:t>
            </a:r>
            <a:r>
              <a:rPr lang="en-US" altLang="zh-CN" kern="100" dirty="0" err="1">
                <a:effectLst/>
                <a:latin typeface="+mn-ea"/>
              </a:rPr>
              <a:t>bird.vy</a:t>
            </a:r>
            <a:r>
              <a:rPr lang="en-US" altLang="zh-CN" kern="100" dirty="0">
                <a:effectLst/>
                <a:latin typeface="+mn-ea"/>
              </a:rPr>
              <a:t>  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	if </a:t>
            </a:r>
            <a:r>
              <a:rPr lang="en-US" altLang="zh-CN" kern="100" dirty="0" err="1">
                <a:effectLst/>
                <a:latin typeface="+mn-ea"/>
              </a:rPr>
              <a:t>bird.top</a:t>
            </a:r>
            <a:r>
              <a:rPr lang="en-US" altLang="zh-CN" kern="100" dirty="0">
                <a:effectLst/>
                <a:latin typeface="+mn-ea"/>
              </a:rPr>
              <a:t> &lt; 0: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</a:t>
            </a:r>
            <a:r>
              <a:rPr lang="en-US" altLang="zh-CN" kern="100" dirty="0" err="1">
                <a:effectLst/>
                <a:latin typeface="+mn-ea"/>
              </a:rPr>
              <a:t>bird.top</a:t>
            </a:r>
            <a:r>
              <a:rPr lang="en-US" altLang="zh-CN" kern="100" dirty="0">
                <a:effectLst/>
                <a:latin typeface="+mn-ea"/>
              </a:rPr>
              <a:t> = 0</a:t>
            </a: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为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on_mouse_down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函数编写代码，用来处理鼠标的点击事件：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</a:t>
            </a: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on_mouse_down</a:t>
            </a:r>
            <a:r>
              <a:rPr lang="en-US" altLang="zh-CN" kern="100" dirty="0">
                <a:effectLst/>
                <a:latin typeface="+mn-ea"/>
              </a:rPr>
              <a:t>(pos):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	</a:t>
            </a:r>
            <a:r>
              <a:rPr lang="en-US" altLang="zh-CN" kern="100" dirty="0" err="1">
                <a:effectLst/>
                <a:latin typeface="+mn-ea"/>
              </a:rPr>
              <a:t>bird.vy</a:t>
            </a:r>
            <a:r>
              <a:rPr lang="en-US" altLang="zh-CN" kern="100" dirty="0">
                <a:effectLst/>
                <a:latin typeface="+mn-ea"/>
              </a:rPr>
              <a:t> = FLAP_VELOCITY     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	</a:t>
            </a:r>
            <a:r>
              <a:rPr lang="en-US" altLang="zh-CN" kern="100" dirty="0" err="1">
                <a:effectLst/>
                <a:latin typeface="+mn-ea"/>
              </a:rPr>
              <a:t>sounds.flap.play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38271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C08CF-9878-9C84-348D-E802464B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62DB0-CA5C-4C75-2A78-1537583A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3200" kern="0" dirty="0">
              <a:effectLst/>
              <a:latin typeface="Times New Roman" panose="02020603050405020304" pitchFamily="18" charset="0"/>
              <a:ea typeface="仿宋_GB231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试着修改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FLAP_VELOCITY 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和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GRAVITY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的值，观察小鸟的飞行效果会发生什么改变。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390647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.3 </a:t>
            </a:r>
            <a:r>
              <a:rPr lang="zh-CN" altLang="en-US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播放飞行动画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+mn-ea"/>
                <a:cs typeface="Times New Roman" panose="02020603050405020304" pitchFamily="18" charset="0"/>
              </a:rPr>
              <a:t>动画是由一幅幅静止的图像组成，当图像快速切换时，人眼误认为图像是活动的。</a:t>
            </a:r>
            <a:endParaRPr lang="en-US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若要播放小鸟飞行的动画，还得另外为小鸟角色准备两张图片，分别呈现小鸟翅膀放平以及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翅膀下摆的姿态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9218" name="图片 7">
            <a:extLst>
              <a:ext uri="{FF2B5EF4-FFF2-40B4-BE49-F238E27FC236}">
                <a16:creationId xmlns:a16="http://schemas.microsoft.com/office/drawing/2014/main" id="{454E5CB0-E390-6CCE-D96D-ADB5785B2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455" y="3215756"/>
            <a:ext cx="6458106" cy="2137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18564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68503" y="82193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定义全局变量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anim_counter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作为延迟变量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animation()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函数用来播放小鸟的飞行动画：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 err="1">
                <a:effectLst/>
                <a:latin typeface="+mn-ea"/>
              </a:rPr>
              <a:t>anim_counter</a:t>
            </a:r>
            <a:r>
              <a:rPr lang="en-US" altLang="zh-CN" sz="1800" kern="100" dirty="0">
                <a:effectLst/>
                <a:latin typeface="+mn-ea"/>
              </a:rPr>
              <a:t> = 0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def animation():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global </a:t>
            </a:r>
            <a:r>
              <a:rPr lang="en-US" altLang="zh-CN" sz="1800" kern="100" dirty="0" err="1">
                <a:effectLst/>
                <a:latin typeface="+mn-ea"/>
              </a:rPr>
              <a:t>anim_counter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</a:t>
            </a:r>
            <a:r>
              <a:rPr lang="en-US" altLang="zh-CN" sz="1800" kern="100" dirty="0" err="1">
                <a:effectLst/>
                <a:latin typeface="+mn-ea"/>
              </a:rPr>
              <a:t>anim_counter</a:t>
            </a:r>
            <a:r>
              <a:rPr lang="en-US" altLang="zh-CN" sz="1800" kern="100" dirty="0">
                <a:effectLst/>
                <a:latin typeface="+mn-ea"/>
              </a:rPr>
              <a:t> += 1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if </a:t>
            </a:r>
            <a:r>
              <a:rPr lang="en-US" altLang="zh-CN" sz="1800" kern="100" dirty="0" err="1">
                <a:effectLst/>
                <a:latin typeface="+mn-ea"/>
              </a:rPr>
              <a:t>anim_counter</a:t>
            </a:r>
            <a:r>
              <a:rPr lang="en-US" altLang="zh-CN" sz="1800" kern="100" dirty="0">
                <a:effectLst/>
                <a:latin typeface="+mn-ea"/>
              </a:rPr>
              <a:t> == 2: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</a:t>
            </a:r>
            <a:r>
              <a:rPr lang="en-US" altLang="zh-CN" sz="1800" kern="100" dirty="0" err="1">
                <a:effectLst/>
                <a:latin typeface="+mn-ea"/>
              </a:rPr>
              <a:t>bird.image</a:t>
            </a:r>
            <a:r>
              <a:rPr lang="en-US" altLang="zh-CN" sz="1800" kern="100" dirty="0">
                <a:effectLst/>
                <a:latin typeface="+mn-ea"/>
              </a:rPr>
              <a:t> = "flappybird1"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</a:t>
            </a:r>
            <a:r>
              <a:rPr lang="en-US" altLang="zh-CN" sz="1800" kern="100" dirty="0" err="1">
                <a:effectLst/>
                <a:latin typeface="+mn-ea"/>
              </a:rPr>
              <a:t>elif</a:t>
            </a:r>
            <a:r>
              <a:rPr lang="en-US" altLang="zh-CN" sz="1800" kern="100" dirty="0">
                <a:effectLst/>
                <a:latin typeface="+mn-ea"/>
              </a:rPr>
              <a:t> </a:t>
            </a:r>
            <a:r>
              <a:rPr lang="en-US" altLang="zh-CN" sz="1800" kern="100" dirty="0" err="1">
                <a:effectLst/>
                <a:latin typeface="+mn-ea"/>
              </a:rPr>
              <a:t>anim_counter</a:t>
            </a:r>
            <a:r>
              <a:rPr lang="en-US" altLang="zh-CN" sz="1800" kern="100" dirty="0">
                <a:effectLst/>
                <a:latin typeface="+mn-ea"/>
              </a:rPr>
              <a:t> == 4: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</a:t>
            </a:r>
            <a:r>
              <a:rPr lang="en-US" altLang="zh-CN" sz="1800" kern="100" dirty="0" err="1">
                <a:effectLst/>
                <a:latin typeface="+mn-ea"/>
              </a:rPr>
              <a:t>bird.image</a:t>
            </a:r>
            <a:r>
              <a:rPr lang="en-US" altLang="zh-CN" sz="1800" kern="100" dirty="0">
                <a:effectLst/>
                <a:latin typeface="+mn-ea"/>
              </a:rPr>
              <a:t> = "flappybird2"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</a:t>
            </a:r>
            <a:r>
              <a:rPr lang="en-US" altLang="zh-CN" sz="1800" kern="100" dirty="0" err="1">
                <a:effectLst/>
                <a:latin typeface="+mn-ea"/>
              </a:rPr>
              <a:t>elif</a:t>
            </a:r>
            <a:r>
              <a:rPr lang="en-US" altLang="zh-CN" sz="1800" kern="100" dirty="0">
                <a:effectLst/>
                <a:latin typeface="+mn-ea"/>
              </a:rPr>
              <a:t> </a:t>
            </a:r>
            <a:r>
              <a:rPr lang="en-US" altLang="zh-CN" sz="1800" kern="100" dirty="0" err="1">
                <a:effectLst/>
                <a:latin typeface="+mn-ea"/>
              </a:rPr>
              <a:t>anim_counter</a:t>
            </a:r>
            <a:r>
              <a:rPr lang="en-US" altLang="zh-CN" sz="1800" kern="100" dirty="0">
                <a:effectLst/>
                <a:latin typeface="+mn-ea"/>
              </a:rPr>
              <a:t> == 6: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</a:t>
            </a:r>
            <a:r>
              <a:rPr lang="en-US" altLang="zh-CN" sz="1800" kern="100" dirty="0" err="1">
                <a:effectLst/>
                <a:latin typeface="+mn-ea"/>
              </a:rPr>
              <a:t>bird.image</a:t>
            </a:r>
            <a:r>
              <a:rPr lang="en-US" altLang="zh-CN" sz="1800" kern="100" dirty="0">
                <a:effectLst/>
                <a:latin typeface="+mn-ea"/>
              </a:rPr>
              <a:t> = "flappybird3"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</a:t>
            </a:r>
            <a:r>
              <a:rPr lang="en-US" altLang="zh-CN" sz="1800" kern="100" dirty="0" err="1">
                <a:effectLst/>
                <a:latin typeface="+mn-ea"/>
              </a:rPr>
              <a:t>elif</a:t>
            </a:r>
            <a:r>
              <a:rPr lang="en-US" altLang="zh-CN" sz="1800" kern="100" dirty="0">
                <a:effectLst/>
                <a:latin typeface="+mn-ea"/>
              </a:rPr>
              <a:t> </a:t>
            </a:r>
            <a:r>
              <a:rPr lang="en-US" altLang="zh-CN" sz="1800" kern="100" dirty="0" err="1">
                <a:effectLst/>
                <a:latin typeface="+mn-ea"/>
              </a:rPr>
              <a:t>anim_counter</a:t>
            </a:r>
            <a:r>
              <a:rPr lang="en-US" altLang="zh-CN" sz="1800" kern="100" dirty="0">
                <a:effectLst/>
                <a:latin typeface="+mn-ea"/>
              </a:rPr>
              <a:t> == 8: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</a:t>
            </a:r>
            <a:r>
              <a:rPr lang="en-US" altLang="zh-CN" sz="1800" kern="100" dirty="0" err="1">
                <a:effectLst/>
                <a:latin typeface="+mn-ea"/>
              </a:rPr>
              <a:t>bird.image</a:t>
            </a:r>
            <a:r>
              <a:rPr lang="en-US" altLang="zh-CN" sz="1800" kern="100" dirty="0">
                <a:effectLst/>
                <a:latin typeface="+mn-ea"/>
              </a:rPr>
              <a:t> = "flappybird2"</a:t>
            </a:r>
            <a:endParaRPr lang="zh-CN" altLang="zh-CN" sz="18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800" kern="100" dirty="0">
                <a:effectLst/>
                <a:latin typeface="+mn-ea"/>
              </a:rPr>
              <a:t>        </a:t>
            </a:r>
            <a:r>
              <a:rPr lang="en-US" altLang="zh-CN" sz="1800" kern="100" dirty="0" err="1">
                <a:effectLst/>
                <a:latin typeface="+mn-ea"/>
              </a:rPr>
              <a:t>anim_counter</a:t>
            </a:r>
            <a:r>
              <a:rPr lang="en-US" altLang="zh-CN" sz="1800" kern="100" dirty="0">
                <a:effectLst/>
                <a:latin typeface="+mn-ea"/>
              </a:rPr>
              <a:t> = 0</a:t>
            </a:r>
            <a:endParaRPr lang="zh-CN" altLang="zh-CN" sz="1800" kern="100" dirty="0">
              <a:effectLst/>
              <a:latin typeface="+mn-ea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5513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6C08CF-9878-9C84-348D-E802464B3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862DB0-CA5C-4C75-2A78-1537583AE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zh-CN" sz="4800" kern="0" dirty="0">
              <a:effectLst/>
              <a:latin typeface="Times New Roman" panose="02020603050405020304" pitchFamily="18" charset="0"/>
              <a:ea typeface="仿宋_GB2312"/>
              <a:cs typeface="宋体" panose="02010600030101010101" pitchFamily="2" charset="-122"/>
            </a:endParaRPr>
          </a:p>
          <a:p>
            <a:pPr indent="0" algn="just">
              <a:lnSpc>
                <a:spcPct val="150000"/>
              </a:lnSpc>
              <a:buNone/>
            </a:pP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如果希望小鸟的飞行动画加快或减慢，又该如何修改</a:t>
            </a:r>
            <a:r>
              <a:rPr lang="en-US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 </a:t>
            </a:r>
            <a:r>
              <a:rPr lang="en-US" altLang="zh-CN" sz="3200" kern="100" dirty="0" err="1">
                <a:effectLst/>
                <a:latin typeface="Times New Roman" panose="02020603050405020304" pitchFamily="18" charset="0"/>
                <a:ea typeface="仿宋_GB2312"/>
              </a:rPr>
              <a:t>anim_counter</a:t>
            </a:r>
            <a:r>
              <a:rPr lang="zh-CN" altLang="zh-CN" sz="3200" kern="100" dirty="0">
                <a:effectLst/>
                <a:latin typeface="Times New Roman" panose="02020603050405020304" pitchFamily="18" charset="0"/>
                <a:ea typeface="仿宋_GB2312"/>
              </a:rPr>
              <a:t>的判断条件？动手试试看。</a:t>
            </a:r>
            <a:endParaRPr lang="zh-CN" altLang="zh-CN" sz="32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612507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小鸟与障碍物的交互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现在小鸟虽然可以飞行了，但看上去似乎畅通无阻，无论是水管还是地面都不能阻止它的前进。那是因为我们还没有实现小鸟与障碍物之间的交互行为，接下来便要分别对小鸟与地面，以及小鸟与水管实施碰撞检测。</a:t>
            </a:r>
          </a:p>
        </p:txBody>
      </p:sp>
    </p:spTree>
    <p:extLst>
      <p:ext uri="{BB962C8B-B14F-4D97-AF65-F5344CB8AC3E}">
        <p14:creationId xmlns:p14="http://schemas.microsoft.com/office/powerpoint/2010/main" val="11422573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小鸟与地面碰撞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en-US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布尔类型的属性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dead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，用来表示小鸟是否存活：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 err="1">
                <a:effectLst/>
                <a:latin typeface="+mn-ea"/>
              </a:rPr>
              <a:t>bird.dead</a:t>
            </a:r>
            <a:r>
              <a:rPr lang="en-US" altLang="zh-CN" sz="2400" kern="100" dirty="0">
                <a:effectLst/>
                <a:latin typeface="+mn-ea"/>
              </a:rPr>
              <a:t> = False</a:t>
            </a:r>
            <a:endParaRPr lang="zh-CN" altLang="zh-CN" sz="2400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check_collision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函数来执行碰撞检测：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def </a:t>
            </a:r>
            <a:r>
              <a:rPr lang="en-US" altLang="zh-CN" sz="2400" kern="100" dirty="0" err="1">
                <a:effectLst/>
                <a:latin typeface="+mn-ea"/>
              </a:rPr>
              <a:t>check_collision</a:t>
            </a:r>
            <a:r>
              <a:rPr lang="en-US" altLang="zh-CN" sz="2400" kern="100" dirty="0">
                <a:effectLst/>
                <a:latin typeface="+mn-ea"/>
              </a:rPr>
              <a:t>():</a:t>
            </a:r>
            <a:endParaRPr lang="zh-CN" altLang="zh-CN" sz="24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if </a:t>
            </a:r>
            <a:r>
              <a:rPr lang="en-US" altLang="zh-CN" sz="2400" kern="100" dirty="0" err="1">
                <a:effectLst/>
                <a:latin typeface="+mn-ea"/>
              </a:rPr>
              <a:t>bird.colliderect</a:t>
            </a:r>
            <a:r>
              <a:rPr lang="en-US" altLang="zh-CN" sz="2400" kern="100" dirty="0">
                <a:effectLst/>
                <a:latin typeface="+mn-ea"/>
              </a:rPr>
              <a:t>(ground):</a:t>
            </a:r>
            <a:endParaRPr lang="zh-CN" altLang="zh-CN" sz="24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    </a:t>
            </a:r>
            <a:r>
              <a:rPr lang="en-US" altLang="zh-CN" sz="2400" kern="100" dirty="0" err="1">
                <a:effectLst/>
                <a:latin typeface="+mn-ea"/>
              </a:rPr>
              <a:t>sounds.fall.play</a:t>
            </a:r>
            <a:r>
              <a:rPr lang="en-US" altLang="zh-CN" sz="2400" kern="100" dirty="0">
                <a:effectLst/>
                <a:latin typeface="+mn-ea"/>
              </a:rPr>
              <a:t>()</a:t>
            </a:r>
            <a:endParaRPr lang="zh-CN" altLang="zh-CN" sz="24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    </a:t>
            </a:r>
            <a:r>
              <a:rPr lang="en-US" altLang="zh-CN" sz="2400" kern="100" dirty="0" err="1">
                <a:effectLst/>
                <a:latin typeface="+mn-ea"/>
              </a:rPr>
              <a:t>bird.dead</a:t>
            </a:r>
            <a:r>
              <a:rPr lang="en-US" altLang="zh-CN" sz="2400" kern="100" dirty="0">
                <a:effectLst/>
                <a:latin typeface="+mn-ea"/>
              </a:rPr>
              <a:t> = True  </a:t>
            </a:r>
            <a:endParaRPr lang="zh-CN" altLang="zh-CN" sz="2400" kern="100" dirty="0">
              <a:effectLst/>
              <a:latin typeface="+mn-ea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086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小鸟与地面碰撞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latin typeface="Times New Roman" panose="02020603050405020304" pitchFamily="18" charset="0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update()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函数，以便小鸟撞上地面后停止游戏运行：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update():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bird.dead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return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update_background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update_ground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update_pipes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fly()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animation()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check_collision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268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778778" y="700300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小鸟与水管碰撞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水管分为上、下两根，需要分别对上方水管和下方水管实施碰撞检测。</a:t>
            </a:r>
            <a:endParaRPr lang="en-US" altLang="zh-CN" sz="2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在</a:t>
            </a:r>
            <a:r>
              <a:rPr lang="en-US" altLang="zh-CN" sz="24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check_collision</a:t>
            </a:r>
            <a:r>
              <a:rPr lang="en-US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24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函数中加入如下代码：</a:t>
            </a:r>
          </a:p>
          <a:p>
            <a:pPr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if </a:t>
            </a:r>
            <a:r>
              <a:rPr lang="en-US" altLang="zh-CN" sz="2400" kern="100" dirty="0" err="1">
                <a:effectLst/>
                <a:latin typeface="+mn-ea"/>
              </a:rPr>
              <a:t>bird.colliderect</a:t>
            </a:r>
            <a:r>
              <a:rPr lang="en-US" altLang="zh-CN" sz="2400" kern="100" dirty="0">
                <a:effectLst/>
                <a:latin typeface="+mn-ea"/>
              </a:rPr>
              <a:t>(</a:t>
            </a:r>
            <a:r>
              <a:rPr lang="en-US" altLang="zh-CN" sz="2400" kern="100" dirty="0" err="1">
                <a:effectLst/>
                <a:latin typeface="+mn-ea"/>
              </a:rPr>
              <a:t>pipe_top</a:t>
            </a:r>
            <a:r>
              <a:rPr lang="en-US" altLang="zh-CN" sz="2400" kern="100" dirty="0">
                <a:effectLst/>
                <a:latin typeface="+mn-ea"/>
              </a:rPr>
              <a:t>) or </a:t>
            </a:r>
            <a:r>
              <a:rPr lang="en-US" altLang="zh-CN" sz="2400" kern="100" dirty="0" err="1">
                <a:effectLst/>
                <a:latin typeface="+mn-ea"/>
              </a:rPr>
              <a:t>bird.colliderect</a:t>
            </a:r>
            <a:r>
              <a:rPr lang="en-US" altLang="zh-CN" sz="2400" kern="100" dirty="0">
                <a:effectLst/>
                <a:latin typeface="+mn-ea"/>
              </a:rPr>
              <a:t>(</a:t>
            </a:r>
            <a:r>
              <a:rPr lang="en-US" altLang="zh-CN" sz="2400" kern="100" dirty="0" err="1">
                <a:effectLst/>
                <a:latin typeface="+mn-ea"/>
              </a:rPr>
              <a:t>pipe_bottom</a:t>
            </a:r>
            <a:r>
              <a:rPr lang="en-US" altLang="zh-CN" sz="2400" kern="100" dirty="0">
                <a:effectLst/>
                <a:latin typeface="+mn-ea"/>
              </a:rPr>
              <a:t>):</a:t>
            </a:r>
            <a:endParaRPr lang="zh-CN" altLang="zh-CN" sz="2400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    </a:t>
            </a:r>
            <a:r>
              <a:rPr lang="en-US" altLang="zh-CN" sz="2400" kern="100" dirty="0" err="1">
                <a:effectLst/>
                <a:latin typeface="+mn-ea"/>
              </a:rPr>
              <a:t>sounds.collide.play</a:t>
            </a:r>
            <a:r>
              <a:rPr lang="en-US" altLang="zh-CN" sz="2400" kern="100" dirty="0">
                <a:effectLst/>
                <a:latin typeface="+mn-ea"/>
              </a:rPr>
              <a:t>()</a:t>
            </a:r>
            <a:endParaRPr lang="zh-CN" altLang="zh-CN" sz="2400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400" kern="100" dirty="0">
                <a:effectLst/>
                <a:latin typeface="+mn-ea"/>
              </a:rPr>
              <a:t>        </a:t>
            </a:r>
            <a:r>
              <a:rPr lang="en-US" altLang="zh-CN" sz="2400" kern="100" dirty="0" err="1">
                <a:effectLst/>
                <a:latin typeface="+mn-ea"/>
              </a:rPr>
              <a:t>bird.dead</a:t>
            </a:r>
            <a:r>
              <a:rPr lang="en-US" altLang="zh-CN" sz="2400" kern="100" dirty="0">
                <a:effectLst/>
                <a:latin typeface="+mn-ea"/>
              </a:rPr>
              <a:t> = True</a:t>
            </a:r>
            <a:endParaRPr lang="zh-CN" altLang="zh-CN" sz="2400" kern="100" dirty="0">
              <a:effectLst/>
              <a:latin typeface="+mn-ea"/>
            </a:endParaRPr>
          </a:p>
          <a:p>
            <a:pPr indent="266700" algn="just">
              <a:lnSpc>
                <a:spcPct val="15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161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865425" y="248237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小鸟飞越水管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定义全局变量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score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和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score_flag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，用来表示游戏分数值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及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控制游戏积分的操作：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score = 0              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score_flag</a:t>
            </a:r>
            <a:r>
              <a:rPr lang="en-US" altLang="zh-CN" kern="100" dirty="0">
                <a:effectLst/>
                <a:latin typeface="+mn-ea"/>
              </a:rPr>
              <a:t> = False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reset_pipes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函数，在其中对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score_flag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的值进行设置：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reset_pipes</a:t>
            </a:r>
            <a:r>
              <a:rPr lang="en-US" altLang="zh-CN" kern="100" dirty="0">
                <a:effectLst/>
                <a:latin typeface="+mn-ea"/>
              </a:rPr>
              <a:t>():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100" dirty="0">
                <a:effectLst/>
                <a:latin typeface="+mn-ea"/>
              </a:rPr>
              <a:t>    global </a:t>
            </a:r>
            <a:r>
              <a:rPr lang="en-US" altLang="zh-CN" b="1" kern="100" dirty="0" err="1">
                <a:effectLst/>
                <a:latin typeface="+mn-ea"/>
              </a:rPr>
              <a:t>score_flag</a:t>
            </a:r>
            <a:r>
              <a:rPr lang="en-US" altLang="zh-CN" b="1" kern="100" dirty="0">
                <a:effectLst/>
                <a:latin typeface="+mn-ea"/>
              </a:rPr>
              <a:t> 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b="1" kern="100" dirty="0">
                <a:effectLst/>
                <a:latin typeface="+mn-ea"/>
              </a:rPr>
              <a:t>    </a:t>
            </a:r>
            <a:r>
              <a:rPr lang="en-US" altLang="zh-CN" b="1" kern="100" dirty="0" err="1">
                <a:effectLst/>
                <a:latin typeface="+mn-ea"/>
              </a:rPr>
              <a:t>score_flag</a:t>
            </a:r>
            <a:r>
              <a:rPr lang="en-US" altLang="zh-CN" b="1" kern="100" dirty="0">
                <a:effectLst/>
                <a:latin typeface="+mn-ea"/>
              </a:rPr>
              <a:t> = True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pipe_top.bottom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random.randint</a:t>
            </a:r>
            <a:r>
              <a:rPr lang="en-US" altLang="zh-CN" kern="100" dirty="0">
                <a:effectLst/>
                <a:latin typeface="+mn-ea"/>
              </a:rPr>
              <a:t>(50, 150)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pipe_bottom.top</a:t>
            </a:r>
            <a:r>
              <a:rPr lang="en-US" altLang="zh-CN" kern="100" dirty="0">
                <a:effectLst/>
                <a:latin typeface="+mn-ea"/>
              </a:rPr>
              <a:t> = </a:t>
            </a:r>
            <a:r>
              <a:rPr lang="en-US" altLang="zh-CN" kern="100" dirty="0" err="1">
                <a:effectLst/>
                <a:latin typeface="+mn-ea"/>
              </a:rPr>
              <a:t>pipe_top.bottom</a:t>
            </a:r>
            <a:r>
              <a:rPr lang="en-US" altLang="zh-CN" kern="100" dirty="0">
                <a:effectLst/>
                <a:latin typeface="+mn-ea"/>
              </a:rPr>
              <a:t> + GAP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pipe_top.left</a:t>
            </a:r>
            <a:r>
              <a:rPr lang="en-US" altLang="zh-CN" kern="100" dirty="0">
                <a:effectLst/>
                <a:latin typeface="+mn-ea"/>
              </a:rPr>
              <a:t> = WIDTH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pipe_bottom.left</a:t>
            </a:r>
            <a:r>
              <a:rPr lang="en-US" altLang="zh-CN" kern="100" dirty="0">
                <a:effectLst/>
                <a:latin typeface="+mn-ea"/>
              </a:rPr>
              <a:t> = WIDTH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900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060634" y="628381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小鸟飞越水管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fly()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函数，在其中添加代码来实现游戏积分的功能：</a:t>
            </a: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+mn-ea"/>
              </a:rPr>
              <a:t>  def fly(): </a:t>
            </a:r>
            <a:endParaRPr lang="zh-CN" altLang="zh-CN" kern="100" dirty="0">
              <a:effectLst/>
              <a:latin typeface="+mn-ea"/>
            </a:endParaRPr>
          </a:p>
          <a:p>
            <a:pPr marL="266700" indent="266700" algn="just">
              <a:lnSpc>
                <a:spcPct val="100000"/>
              </a:lnSpc>
            </a:pPr>
            <a:r>
              <a:rPr lang="en-US" altLang="zh-CN" b="1" kern="100" dirty="0">
                <a:effectLst/>
                <a:latin typeface="+mn-ea"/>
              </a:rPr>
              <a:t>   global score, </a:t>
            </a:r>
            <a:r>
              <a:rPr lang="en-US" altLang="zh-CN" b="1" kern="100" dirty="0" err="1">
                <a:effectLst/>
                <a:latin typeface="+mn-ea"/>
              </a:rPr>
              <a:t>score_flag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b="1" kern="100" dirty="0">
                <a:effectLst/>
                <a:latin typeface="+mn-ea"/>
              </a:rPr>
              <a:t>    	if </a:t>
            </a:r>
            <a:r>
              <a:rPr lang="en-US" altLang="zh-CN" b="1" kern="100" dirty="0" err="1">
                <a:effectLst/>
                <a:latin typeface="+mn-ea"/>
              </a:rPr>
              <a:t>score_flag</a:t>
            </a:r>
            <a:r>
              <a:rPr lang="en-US" altLang="zh-CN" b="1" kern="100" dirty="0">
                <a:effectLst/>
                <a:latin typeface="+mn-ea"/>
              </a:rPr>
              <a:t> and </a:t>
            </a:r>
            <a:r>
              <a:rPr lang="en-US" altLang="zh-CN" b="1" kern="100" dirty="0" err="1">
                <a:effectLst/>
                <a:latin typeface="+mn-ea"/>
              </a:rPr>
              <a:t>bird.x</a:t>
            </a:r>
            <a:r>
              <a:rPr lang="en-US" altLang="zh-CN" b="1" kern="100" dirty="0">
                <a:effectLst/>
                <a:latin typeface="+mn-ea"/>
              </a:rPr>
              <a:t> &gt; </a:t>
            </a:r>
            <a:r>
              <a:rPr lang="en-US" altLang="zh-CN" b="1" kern="100" dirty="0" err="1">
                <a:effectLst/>
                <a:latin typeface="+mn-ea"/>
              </a:rPr>
              <a:t>pipe_top.right</a:t>
            </a:r>
            <a:r>
              <a:rPr lang="en-US" altLang="zh-CN" b="1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b="1" kern="100" dirty="0">
                <a:effectLst/>
                <a:latin typeface="+mn-ea"/>
              </a:rPr>
              <a:t>          score += 1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b="1" kern="100" dirty="0">
                <a:effectLst/>
                <a:latin typeface="+mn-ea"/>
              </a:rPr>
              <a:t>          </a:t>
            </a:r>
            <a:r>
              <a:rPr lang="en-US" altLang="zh-CN" b="1" kern="100" dirty="0" err="1">
                <a:effectLst/>
                <a:latin typeface="+mn-ea"/>
              </a:rPr>
              <a:t>score_flag</a:t>
            </a:r>
            <a:r>
              <a:rPr lang="en-US" altLang="zh-CN" b="1" kern="100" dirty="0">
                <a:effectLst/>
                <a:latin typeface="+mn-ea"/>
              </a:rPr>
              <a:t> = False   </a:t>
            </a:r>
            <a:r>
              <a:rPr lang="en-US" altLang="zh-CN" kern="100" dirty="0">
                <a:effectLst/>
                <a:latin typeface="+mn-ea"/>
              </a:rPr>
              <a:t>  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	</a:t>
            </a:r>
            <a:r>
              <a:rPr lang="en-US" altLang="zh-CN" kern="100" dirty="0" err="1">
                <a:effectLst/>
                <a:latin typeface="+mn-ea"/>
              </a:rPr>
              <a:t>bird.vy</a:t>
            </a:r>
            <a:r>
              <a:rPr lang="en-US" altLang="zh-CN" kern="100" dirty="0">
                <a:effectLst/>
                <a:latin typeface="+mn-ea"/>
              </a:rPr>
              <a:t> += GRAVITY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</a:t>
            </a:r>
            <a:r>
              <a:rPr lang="en-US" altLang="zh-CN" kern="100" dirty="0">
                <a:latin typeface="+mn-ea"/>
              </a:rPr>
              <a:t>   </a:t>
            </a:r>
            <a:r>
              <a:rPr lang="en-US" altLang="zh-CN" kern="100" dirty="0" err="1">
                <a:effectLst/>
                <a:latin typeface="+mn-ea"/>
              </a:rPr>
              <a:t>bird.y</a:t>
            </a:r>
            <a:r>
              <a:rPr lang="en-US" altLang="zh-CN" kern="100" dirty="0">
                <a:effectLst/>
                <a:latin typeface="+mn-ea"/>
              </a:rPr>
              <a:t> += </a:t>
            </a:r>
            <a:r>
              <a:rPr lang="en-US" altLang="zh-CN" kern="100" dirty="0" err="1">
                <a:effectLst/>
                <a:latin typeface="+mn-ea"/>
              </a:rPr>
              <a:t>bird.vy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	if </a:t>
            </a:r>
            <a:r>
              <a:rPr lang="en-US" altLang="zh-CN" kern="100" dirty="0" err="1">
                <a:effectLst/>
                <a:latin typeface="+mn-ea"/>
              </a:rPr>
              <a:t>bird.top</a:t>
            </a:r>
            <a:r>
              <a:rPr lang="en-US" altLang="zh-CN" kern="100" dirty="0">
                <a:effectLst/>
                <a:latin typeface="+mn-ea"/>
              </a:rPr>
              <a:t> &lt; 0:</a:t>
            </a:r>
            <a:endParaRPr lang="zh-CN" altLang="zh-CN" kern="100" dirty="0">
              <a:effectLst/>
              <a:latin typeface="+mn-ea"/>
            </a:endParaRP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  </a:t>
            </a:r>
            <a:r>
              <a:rPr lang="en-US" altLang="zh-CN" kern="100" dirty="0" err="1">
                <a:effectLst/>
                <a:latin typeface="+mn-ea"/>
              </a:rPr>
              <a:t>bird.top</a:t>
            </a:r>
            <a:r>
              <a:rPr lang="en-US" altLang="zh-CN" kern="100" dirty="0">
                <a:effectLst/>
                <a:latin typeface="+mn-ea"/>
              </a:rPr>
              <a:t> = 0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7427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060634" y="628381"/>
            <a:ext cx="834021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小鸟飞越水管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函数，添加一行代码来显示游戏积分：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kern="100" dirty="0" err="1">
                <a:effectLst/>
                <a:latin typeface="+mn-ea"/>
              </a:rPr>
              <a:t>screen.draw.text</a:t>
            </a:r>
            <a:r>
              <a:rPr lang="en-US" altLang="zh-CN" kern="100" dirty="0">
                <a:effectLst/>
                <a:latin typeface="+mn-ea"/>
              </a:rPr>
              <a:t>(str(score), </a:t>
            </a:r>
            <a:r>
              <a:rPr lang="en-US" altLang="zh-CN" kern="100" dirty="0" err="1">
                <a:effectLst/>
                <a:latin typeface="+mn-ea"/>
              </a:rPr>
              <a:t>topleft</a:t>
            </a:r>
            <a:r>
              <a:rPr lang="en-US" altLang="zh-CN" kern="100" dirty="0">
                <a:effectLst/>
                <a:latin typeface="+mn-ea"/>
              </a:rPr>
              <a:t>=(30, 30), </a:t>
            </a:r>
            <a:r>
              <a:rPr lang="en-US" altLang="zh-CN" kern="100" dirty="0" err="1">
                <a:effectLst/>
                <a:latin typeface="+mn-ea"/>
              </a:rPr>
              <a:t>fontsize</a:t>
            </a:r>
            <a:r>
              <a:rPr lang="en-US" altLang="zh-CN" kern="100" dirty="0">
                <a:effectLst/>
                <a:latin typeface="+mn-ea"/>
              </a:rPr>
              <a:t>=30)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0242" name="图片 12">
            <a:extLst>
              <a:ext uri="{FF2B5EF4-FFF2-40B4-BE49-F238E27FC236}">
                <a16:creationId xmlns:a16="http://schemas.microsoft.com/office/drawing/2014/main" id="{0ADBDA86-1883-C5CB-9039-A8D9AAA00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8712" y="2515456"/>
            <a:ext cx="4575949" cy="35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32283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AA9938F-FD66-BB38-EF2E-4BEA29A5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设计图形用户界面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D3FB9B-EFF6-8DBC-CABE-55530406B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99846"/>
            <a:ext cx="10058400" cy="4023360"/>
          </a:xfrm>
        </p:spPr>
        <p:txBody>
          <a:bodyPr>
            <a:norm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不难发现目前的游戏缺少一个初始界面，其中包含了游戏标题、开始按钮、游戏提示等基本元素。这个初始界面就是通常所说的图形用户界面（简称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GUI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），它往往由一些文字或图像的元素组成，用来显示游戏的基本信息，或者提供一些游戏设置的选项。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011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050360" y="761944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5.1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显示</a:t>
            </a: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GUI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图像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创建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GUI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角色，并将它们显示在游戏窗口中：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gui_title</a:t>
            </a:r>
            <a:r>
              <a:rPr lang="en-US" altLang="zh-CN" kern="100" dirty="0">
                <a:effectLst/>
                <a:latin typeface="+mn-ea"/>
              </a:rPr>
              <a:t> = Actor("</a:t>
            </a:r>
            <a:r>
              <a:rPr lang="en-US" altLang="zh-CN" kern="100" dirty="0" err="1">
                <a:effectLst/>
                <a:latin typeface="+mn-ea"/>
              </a:rPr>
              <a:t>flappybird_title</a:t>
            </a:r>
            <a:r>
              <a:rPr lang="en-US" altLang="zh-CN" kern="100" dirty="0">
                <a:effectLst/>
                <a:latin typeface="+mn-ea"/>
              </a:rPr>
              <a:t>", (WIDTH // 2, 72))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gui_ready</a:t>
            </a:r>
            <a:r>
              <a:rPr lang="en-US" altLang="zh-CN" kern="100" dirty="0">
                <a:effectLst/>
                <a:latin typeface="+mn-ea"/>
              </a:rPr>
              <a:t> = Actor("</a:t>
            </a:r>
            <a:r>
              <a:rPr lang="en-US" altLang="zh-CN" kern="100" dirty="0" err="1">
                <a:effectLst/>
                <a:latin typeface="+mn-ea"/>
              </a:rPr>
              <a:t>flappybird_get_ready</a:t>
            </a:r>
            <a:r>
              <a:rPr lang="en-US" altLang="zh-CN" kern="100" dirty="0">
                <a:effectLst/>
                <a:latin typeface="+mn-ea"/>
              </a:rPr>
              <a:t>", (WIDTH // 2, 204 ))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gui_start</a:t>
            </a:r>
            <a:r>
              <a:rPr lang="en-US" altLang="zh-CN" kern="100" dirty="0">
                <a:effectLst/>
                <a:latin typeface="+mn-ea"/>
              </a:rPr>
              <a:t> = Actor("</a:t>
            </a:r>
            <a:r>
              <a:rPr lang="en-US" altLang="zh-CN" kern="100" dirty="0" err="1">
                <a:effectLst/>
                <a:latin typeface="+mn-ea"/>
              </a:rPr>
              <a:t>flappybird_start_button</a:t>
            </a:r>
            <a:r>
              <a:rPr lang="en-US" altLang="zh-CN" kern="100" dirty="0">
                <a:effectLst/>
                <a:latin typeface="+mn-ea"/>
              </a:rPr>
              <a:t>", (WIDTH // 2, 345))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gui_over</a:t>
            </a:r>
            <a:r>
              <a:rPr lang="en-US" altLang="zh-CN" kern="100" dirty="0">
                <a:effectLst/>
                <a:latin typeface="+mn-ea"/>
              </a:rPr>
              <a:t> = Actor("</a:t>
            </a:r>
            <a:r>
              <a:rPr lang="en-US" altLang="zh-CN" kern="100" dirty="0" err="1">
                <a:effectLst/>
                <a:latin typeface="+mn-ea"/>
              </a:rPr>
              <a:t>flappybird_game_over</a:t>
            </a:r>
            <a:r>
              <a:rPr lang="en-US" altLang="zh-CN" kern="100" dirty="0">
                <a:effectLst/>
                <a:latin typeface="+mn-ea"/>
              </a:rPr>
              <a:t>",(WIDTH // 2, HEIGHT // 2))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定义全局布尔变量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started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，用来表示游戏是否开始：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started = False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draw()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函数，在其中加入显示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GUI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角色的代码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5719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029812" y="0"/>
            <a:ext cx="7662126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266700" algn="just">
              <a:lnSpc>
                <a:spcPct val="100000"/>
              </a:lnSpc>
            </a:pPr>
            <a:r>
              <a:rPr lang="en-US" altLang="zh-CN" sz="1600" kern="100" dirty="0">
                <a:effectLst/>
                <a:latin typeface="+mn-ea"/>
              </a:rPr>
              <a:t>def draw():</a:t>
            </a:r>
            <a:endParaRPr lang="zh-CN" altLang="zh-CN" sz="16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600" kern="100" dirty="0">
                <a:effectLst/>
                <a:latin typeface="+mn-ea"/>
              </a:rPr>
              <a:t>    for </a:t>
            </a:r>
            <a:r>
              <a:rPr lang="en-US" altLang="zh-CN" sz="1600" kern="100" dirty="0" err="1">
                <a:effectLst/>
                <a:latin typeface="+mn-ea"/>
              </a:rPr>
              <a:t>backimage</a:t>
            </a:r>
            <a:r>
              <a:rPr lang="en-US" altLang="zh-CN" sz="1600" kern="100" dirty="0">
                <a:effectLst/>
                <a:latin typeface="+mn-ea"/>
              </a:rPr>
              <a:t> in backgrounds:</a:t>
            </a:r>
            <a:endParaRPr lang="zh-CN" altLang="zh-CN" sz="16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600" kern="100" dirty="0">
                <a:effectLst/>
                <a:latin typeface="+mn-ea"/>
              </a:rPr>
              <a:t>        </a:t>
            </a:r>
            <a:r>
              <a:rPr lang="en-US" altLang="zh-CN" sz="1600" kern="100" dirty="0" err="1">
                <a:effectLst/>
                <a:latin typeface="+mn-ea"/>
              </a:rPr>
              <a:t>backimage.draw</a:t>
            </a:r>
            <a:r>
              <a:rPr lang="en-US" altLang="zh-CN" sz="1600" kern="100" dirty="0">
                <a:effectLst/>
                <a:latin typeface="+mn-ea"/>
              </a:rPr>
              <a:t>()</a:t>
            </a:r>
            <a:endParaRPr lang="zh-CN" altLang="zh-CN" sz="16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600" b="1" kern="100" dirty="0">
                <a:effectLst/>
                <a:latin typeface="+mn-ea"/>
              </a:rPr>
              <a:t>    if not started:</a:t>
            </a:r>
            <a:endParaRPr lang="zh-CN" altLang="zh-CN" sz="16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600" b="1" kern="100" dirty="0">
                <a:effectLst/>
                <a:latin typeface="+mn-ea"/>
              </a:rPr>
              <a:t>        </a:t>
            </a:r>
            <a:r>
              <a:rPr lang="en-US" altLang="zh-CN" sz="1600" b="1" kern="100" dirty="0" err="1">
                <a:effectLst/>
                <a:latin typeface="+mn-ea"/>
              </a:rPr>
              <a:t>gui_title.draw</a:t>
            </a:r>
            <a:r>
              <a:rPr lang="en-US" altLang="zh-CN" sz="1600" b="1" kern="100" dirty="0">
                <a:effectLst/>
                <a:latin typeface="+mn-ea"/>
              </a:rPr>
              <a:t>()</a:t>
            </a:r>
            <a:endParaRPr lang="zh-CN" altLang="zh-CN" sz="16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600" b="1" kern="100" dirty="0">
                <a:effectLst/>
                <a:latin typeface="+mn-ea"/>
              </a:rPr>
              <a:t>        </a:t>
            </a:r>
            <a:r>
              <a:rPr lang="en-US" altLang="zh-CN" sz="1600" b="1" kern="100" dirty="0" err="1">
                <a:effectLst/>
                <a:latin typeface="+mn-ea"/>
              </a:rPr>
              <a:t>gui_ready.draw</a:t>
            </a:r>
            <a:r>
              <a:rPr lang="en-US" altLang="zh-CN" sz="1600" b="1" kern="100" dirty="0">
                <a:effectLst/>
                <a:latin typeface="+mn-ea"/>
              </a:rPr>
              <a:t>()</a:t>
            </a:r>
            <a:endParaRPr lang="zh-CN" altLang="zh-CN" sz="16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600" b="1" kern="100" dirty="0">
                <a:effectLst/>
                <a:latin typeface="+mn-ea"/>
              </a:rPr>
              <a:t>        </a:t>
            </a:r>
            <a:r>
              <a:rPr lang="en-US" altLang="zh-CN" sz="1600" b="1" kern="100" dirty="0" err="1">
                <a:effectLst/>
                <a:latin typeface="+mn-ea"/>
              </a:rPr>
              <a:t>gui_start.draw</a:t>
            </a:r>
            <a:r>
              <a:rPr lang="en-US" altLang="zh-CN" sz="1600" b="1" kern="100" dirty="0">
                <a:effectLst/>
                <a:latin typeface="+mn-ea"/>
              </a:rPr>
              <a:t>()</a:t>
            </a:r>
            <a:endParaRPr lang="zh-CN" altLang="zh-CN" sz="16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600" b="1" kern="100" dirty="0">
                <a:effectLst/>
                <a:latin typeface="+mn-ea"/>
              </a:rPr>
              <a:t>        return</a:t>
            </a:r>
            <a:endParaRPr lang="zh-CN" altLang="zh-CN" sz="16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600" kern="100" dirty="0">
                <a:effectLst/>
                <a:latin typeface="+mn-ea"/>
              </a:rPr>
              <a:t>    </a:t>
            </a:r>
            <a:r>
              <a:rPr lang="en-US" altLang="zh-CN" sz="1600" kern="100" dirty="0" err="1">
                <a:effectLst/>
                <a:latin typeface="+mn-ea"/>
              </a:rPr>
              <a:t>pipe_top.draw</a:t>
            </a:r>
            <a:r>
              <a:rPr lang="en-US" altLang="zh-CN" sz="1600" kern="100" dirty="0">
                <a:effectLst/>
                <a:latin typeface="+mn-ea"/>
              </a:rPr>
              <a:t>()</a:t>
            </a:r>
            <a:endParaRPr lang="zh-CN" altLang="zh-CN" sz="16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600" kern="100" dirty="0">
                <a:effectLst/>
                <a:latin typeface="+mn-ea"/>
              </a:rPr>
              <a:t>    </a:t>
            </a:r>
            <a:r>
              <a:rPr lang="en-US" altLang="zh-CN" sz="1600" kern="100" dirty="0" err="1">
                <a:effectLst/>
                <a:latin typeface="+mn-ea"/>
              </a:rPr>
              <a:t>pipe_bottom.draw</a:t>
            </a:r>
            <a:r>
              <a:rPr lang="en-US" altLang="zh-CN" sz="1600" kern="100" dirty="0">
                <a:effectLst/>
                <a:latin typeface="+mn-ea"/>
              </a:rPr>
              <a:t>()</a:t>
            </a:r>
            <a:endParaRPr lang="zh-CN" altLang="zh-CN" sz="16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600" kern="100" dirty="0">
                <a:effectLst/>
                <a:latin typeface="+mn-ea"/>
              </a:rPr>
              <a:t>    </a:t>
            </a:r>
            <a:r>
              <a:rPr lang="en-US" altLang="zh-CN" sz="1600" kern="100" dirty="0" err="1">
                <a:effectLst/>
                <a:latin typeface="+mn-ea"/>
              </a:rPr>
              <a:t>ground.draw</a:t>
            </a:r>
            <a:r>
              <a:rPr lang="en-US" altLang="zh-CN" sz="1600" kern="100" dirty="0">
                <a:effectLst/>
                <a:latin typeface="+mn-ea"/>
              </a:rPr>
              <a:t>()</a:t>
            </a:r>
            <a:endParaRPr lang="zh-CN" altLang="zh-CN" sz="16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600" kern="100" dirty="0">
                <a:effectLst/>
                <a:latin typeface="+mn-ea"/>
              </a:rPr>
              <a:t>    </a:t>
            </a:r>
            <a:r>
              <a:rPr lang="en-US" altLang="zh-CN" sz="1600" kern="100" dirty="0" err="1">
                <a:effectLst/>
                <a:latin typeface="+mn-ea"/>
              </a:rPr>
              <a:t>bird.draw</a:t>
            </a:r>
            <a:r>
              <a:rPr lang="en-US" altLang="zh-CN" sz="1600" kern="100" dirty="0">
                <a:effectLst/>
                <a:latin typeface="+mn-ea"/>
              </a:rPr>
              <a:t>()</a:t>
            </a:r>
            <a:endParaRPr lang="zh-CN" altLang="zh-CN" sz="16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600" kern="100" dirty="0">
                <a:effectLst/>
                <a:latin typeface="+mn-ea"/>
              </a:rPr>
              <a:t>    </a:t>
            </a:r>
            <a:r>
              <a:rPr lang="en-US" altLang="zh-CN" sz="1600" kern="100" dirty="0" err="1">
                <a:effectLst/>
                <a:latin typeface="+mn-ea"/>
              </a:rPr>
              <a:t>screen.draw.text</a:t>
            </a:r>
            <a:r>
              <a:rPr lang="en-US" altLang="zh-CN" sz="1600" kern="100" dirty="0">
                <a:effectLst/>
                <a:latin typeface="+mn-ea"/>
              </a:rPr>
              <a:t>(str(score), </a:t>
            </a:r>
            <a:r>
              <a:rPr lang="en-US" altLang="zh-CN" sz="1600" kern="100" dirty="0" err="1">
                <a:effectLst/>
                <a:latin typeface="+mn-ea"/>
              </a:rPr>
              <a:t>topleft</a:t>
            </a:r>
            <a:r>
              <a:rPr lang="en-US" altLang="zh-CN" sz="1600" kern="100" dirty="0">
                <a:effectLst/>
                <a:latin typeface="+mn-ea"/>
              </a:rPr>
              <a:t>=(30, 30), </a:t>
            </a:r>
            <a:r>
              <a:rPr lang="en-US" altLang="zh-CN" sz="1600" kern="100" dirty="0" err="1">
                <a:effectLst/>
                <a:latin typeface="+mn-ea"/>
              </a:rPr>
              <a:t>fontsize</a:t>
            </a:r>
            <a:r>
              <a:rPr lang="en-US" altLang="zh-CN" sz="1600" kern="100" dirty="0">
                <a:effectLst/>
                <a:latin typeface="+mn-ea"/>
              </a:rPr>
              <a:t>=30)</a:t>
            </a:r>
            <a:endParaRPr lang="zh-CN" altLang="zh-CN" sz="16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600" b="1" kern="100" dirty="0">
                <a:effectLst/>
                <a:latin typeface="+mn-ea"/>
              </a:rPr>
              <a:t>    if </a:t>
            </a:r>
            <a:r>
              <a:rPr lang="en-US" altLang="zh-CN" sz="1600" b="1" kern="100" dirty="0" err="1">
                <a:effectLst/>
                <a:latin typeface="+mn-ea"/>
              </a:rPr>
              <a:t>bird.dead</a:t>
            </a:r>
            <a:r>
              <a:rPr lang="en-US" altLang="zh-CN" sz="1600" b="1" kern="100" dirty="0">
                <a:effectLst/>
                <a:latin typeface="+mn-ea"/>
              </a:rPr>
              <a:t>:</a:t>
            </a:r>
            <a:endParaRPr lang="zh-CN" altLang="zh-CN" sz="1600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r>
              <a:rPr lang="en-US" altLang="zh-CN" sz="1600" b="1" kern="100" dirty="0">
                <a:effectLst/>
                <a:latin typeface="+mn-ea"/>
              </a:rPr>
              <a:t>        </a:t>
            </a:r>
            <a:r>
              <a:rPr lang="en-US" altLang="zh-CN" sz="1600" b="1" kern="100" dirty="0" err="1">
                <a:effectLst/>
                <a:latin typeface="+mn-ea"/>
              </a:rPr>
              <a:t>gui_over.draw</a:t>
            </a:r>
            <a:r>
              <a:rPr lang="en-US" altLang="zh-CN" sz="1600" b="1" kern="100" dirty="0">
                <a:effectLst/>
                <a:latin typeface="+mn-ea"/>
              </a:rPr>
              <a:t>()</a:t>
            </a:r>
            <a:endParaRPr lang="zh-CN" altLang="zh-CN" sz="1600" kern="100" dirty="0">
              <a:effectLst/>
              <a:latin typeface="+mn-ea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550F6F62-3F87-F8C0-AB96-6B14F5C61D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304" y="531479"/>
            <a:ext cx="5289550" cy="404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17870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947618" y="0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5.2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点击开始按钮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on_mouse_down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函数，在其中加入点击开始按钮的功能：</a:t>
            </a:r>
          </a:p>
          <a:p>
            <a:pPr algn="just">
              <a:lnSpc>
                <a:spcPct val="100000"/>
              </a:lnSpc>
            </a:pPr>
            <a:r>
              <a:rPr lang="en-US" altLang="zh-CN" kern="100" dirty="0">
                <a:latin typeface="+mn-ea"/>
              </a:rPr>
              <a:t>  </a:t>
            </a:r>
            <a:r>
              <a:rPr lang="en-US" altLang="zh-CN" kern="100" dirty="0">
                <a:effectLst/>
                <a:latin typeface="+mn-ea"/>
              </a:rPr>
              <a:t>def </a:t>
            </a:r>
            <a:r>
              <a:rPr lang="en-US" altLang="zh-CN" kern="100" dirty="0" err="1">
                <a:effectLst/>
                <a:latin typeface="+mn-ea"/>
              </a:rPr>
              <a:t>on_mouse_down</a:t>
            </a:r>
            <a:r>
              <a:rPr lang="en-US" altLang="zh-CN" kern="100" dirty="0">
                <a:effectLst/>
                <a:latin typeface="+mn-ea"/>
              </a:rPr>
              <a:t>(pos):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global started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bird.dead</a:t>
            </a:r>
            <a:r>
              <a:rPr lang="en-US" altLang="zh-CN" kern="100" dirty="0">
                <a:effectLst/>
                <a:latin typeface="+mn-ea"/>
              </a:rPr>
              <a:t>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return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started: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bird.vy</a:t>
            </a:r>
            <a:r>
              <a:rPr lang="en-US" altLang="zh-CN" kern="100" dirty="0">
                <a:effectLst/>
                <a:latin typeface="+mn-ea"/>
              </a:rPr>
              <a:t> = FLAP_VELOCITY     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</a:t>
            </a:r>
            <a:r>
              <a:rPr lang="en-US" altLang="zh-CN" kern="100" dirty="0" err="1">
                <a:effectLst/>
                <a:latin typeface="+mn-ea"/>
              </a:rPr>
              <a:t>sounds.flap.play</a:t>
            </a:r>
            <a:r>
              <a:rPr lang="en-US" altLang="zh-CN" kern="100" dirty="0">
                <a:effectLst/>
                <a:latin typeface="+mn-ea"/>
              </a:rPr>
              <a:t>()        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return   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if </a:t>
            </a:r>
            <a:r>
              <a:rPr lang="en-US" altLang="zh-CN" kern="100" dirty="0" err="1">
                <a:effectLst/>
                <a:latin typeface="+mn-ea"/>
              </a:rPr>
              <a:t>gui_start.collidepoint</a:t>
            </a:r>
            <a:r>
              <a:rPr lang="en-US" altLang="zh-CN" kern="100" dirty="0">
                <a:effectLst/>
                <a:latin typeface="+mn-ea"/>
              </a:rPr>
              <a:t>(pos):</a:t>
            </a:r>
            <a:endParaRPr lang="zh-CN" altLang="zh-CN" kern="100" dirty="0">
              <a:effectLst/>
              <a:latin typeface="+mn-ea"/>
            </a:endParaRPr>
          </a:p>
          <a:p>
            <a:pPr marL="266700" algn="just"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started = True</a:t>
            </a:r>
            <a:endParaRPr lang="zh-CN" altLang="zh-CN" kern="100" dirty="0">
              <a:effectLst/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kern="100" dirty="0">
                <a:effectLst/>
                <a:latin typeface="+mn-ea"/>
              </a:rPr>
              <a:t>         </a:t>
            </a:r>
            <a:r>
              <a:rPr lang="en-US" altLang="zh-CN" kern="100" dirty="0" err="1">
                <a:effectLst/>
                <a:latin typeface="+mn-ea"/>
              </a:rPr>
              <a:t>reset_pipes</a:t>
            </a:r>
            <a:r>
              <a:rPr lang="en-US" altLang="zh-CN" kern="100" dirty="0">
                <a:effectLst/>
                <a:latin typeface="+mn-ea"/>
              </a:rPr>
              <a:t>() </a:t>
            </a:r>
            <a:endParaRPr lang="zh-CN" altLang="zh-CN" kern="100" dirty="0">
              <a:effectLst/>
              <a:latin typeface="+mn-ea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2741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4EE10F1-EF06-2248-B3DB-7B40CBDE1A96}"/>
              </a:ext>
            </a:extLst>
          </p:cNvPr>
          <p:cNvSpPr txBox="1">
            <a:spLocks/>
          </p:cNvSpPr>
          <p:nvPr/>
        </p:nvSpPr>
        <p:spPr>
          <a:xfrm>
            <a:off x="1050360" y="761944"/>
            <a:ext cx="10461149" cy="5112671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en-US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5.3 </a:t>
            </a:r>
            <a:r>
              <a:rPr lang="zh-CN" altLang="zh-CN" sz="24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播放背景音乐</a:t>
            </a:r>
            <a:endParaRPr lang="en-US" altLang="zh-CN" sz="24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Pgzero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库提供了一个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music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对象，实现音乐的播放及控制功能。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music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对象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有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两个方法</a:t>
            </a:r>
            <a:r>
              <a:rPr lang="zh-CN" altLang="en-US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play()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方法用来播放音乐文件；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stop()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方法用来停止播放音乐。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准备“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flappybird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.mp3”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音乐文件，将其放入“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music”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文件夹下。</a:t>
            </a:r>
            <a:endParaRPr lang="en-US" altLang="zh-CN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on_mouse_down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函数，在鼠标点击开始按钮后的操作中加入一行代码：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music.play</a:t>
            </a:r>
            <a:r>
              <a:rPr lang="en-US" altLang="zh-CN" kern="100" dirty="0">
                <a:effectLst/>
                <a:latin typeface="+mn-ea"/>
              </a:rPr>
              <a:t>("</a:t>
            </a:r>
            <a:r>
              <a:rPr lang="en-US" altLang="zh-CN" kern="100" dirty="0" err="1">
                <a:effectLst/>
                <a:latin typeface="+mn-ea"/>
              </a:rPr>
              <a:t>flappybird</a:t>
            </a:r>
            <a:r>
              <a:rPr lang="en-US" altLang="zh-CN" kern="100" dirty="0">
                <a:effectLst/>
                <a:latin typeface="+mn-ea"/>
              </a:rPr>
              <a:t>")</a:t>
            </a:r>
            <a:endParaRPr lang="zh-CN" altLang="zh-CN" kern="100" dirty="0">
              <a:effectLst/>
              <a:latin typeface="+mn-ea"/>
            </a:endParaRPr>
          </a:p>
          <a:p>
            <a:pPr indent="0" algn="just">
              <a:lnSpc>
                <a:spcPct val="100000"/>
              </a:lnSpc>
              <a:buNone/>
            </a:pP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修改</a:t>
            </a:r>
            <a:r>
              <a:rPr lang="en-US" altLang="zh-CN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check_collision</a:t>
            </a:r>
            <a:r>
              <a:rPr lang="en-US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函数，在小鸟碰撞地面及水管后的处理中分别加入下面这行代码：</a:t>
            </a:r>
          </a:p>
          <a:p>
            <a:pPr indent="266700" algn="just">
              <a:lnSpc>
                <a:spcPct val="100000"/>
              </a:lnSpc>
            </a:pPr>
            <a:r>
              <a:rPr lang="en-US" altLang="zh-CN" kern="100" dirty="0" err="1">
                <a:effectLst/>
                <a:latin typeface="+mn-ea"/>
              </a:rPr>
              <a:t>music.stop</a:t>
            </a:r>
            <a:r>
              <a:rPr lang="en-US" altLang="zh-CN" kern="100" dirty="0">
                <a:effectLst/>
                <a:latin typeface="+mn-ea"/>
              </a:rPr>
              <a:t>()</a:t>
            </a:r>
            <a:endParaRPr lang="zh-CN" altLang="zh-CN" kern="100" dirty="0">
              <a:effectLst/>
              <a:latin typeface="+mn-ea"/>
            </a:endParaRPr>
          </a:p>
          <a:p>
            <a:pPr indent="266700" algn="just">
              <a:lnSpc>
                <a:spcPct val="100000"/>
              </a:lnSpc>
            </a:pP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8BA8B1F4-9AE0-EB98-8A86-9DFF30C64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5154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8785C577-FB70-1475-A7E3-5A5D05ACF6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5123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E1FD12-3765-D577-424E-D275D83A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回顾与总结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6F0AB-C2B5-60F3-2AD0-A592E9C3D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在本章中，我们学习制作了</a:t>
            </a:r>
            <a:r>
              <a:rPr lang="en-US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Flappy Bird</a:t>
            </a:r>
            <a:r>
              <a:rPr lang="zh-CN" altLang="zh-CN" sz="2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游戏。我们首先讨论了如何滚动游戏的背景图像，并设法让地面及水管障碍物跟随背景一起移动，同时还介绍了如何随机生成一对水管的高度。然后我们重点讨论了小鸟角色的操作，一方面通过模拟重力效果实现了它的垂直飞行，另一方面为其播放了飞行时的动画。接着对小鸟与地面及水管的碰撞进行了处理，并实现了游戏积分的功能。最后我们为游戏添加了图形用户界面，并实现了背景音乐的播放。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1557301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654</TotalTime>
  <Words>2234</Words>
  <Application>Microsoft Office PowerPoint</Application>
  <PresentationFormat>宽屏</PresentationFormat>
  <Paragraphs>236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等线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回顾</vt:lpstr>
      <vt:lpstr>Flappy Bird</vt:lpstr>
      <vt:lpstr>本章知识点</vt:lpstr>
      <vt:lpstr>1.创建游戏场景</vt:lpstr>
      <vt:lpstr>PowerPoint 演示文稿</vt:lpstr>
      <vt:lpstr>PowerPoint 演示文稿</vt:lpstr>
      <vt:lpstr>PowerPoint 演示文稿</vt:lpstr>
      <vt:lpstr>PowerPoint 演示文稿</vt:lpstr>
      <vt:lpstr>2.添加障碍物</vt:lpstr>
      <vt:lpstr>PowerPoint 演示文稿</vt:lpstr>
      <vt:lpstr>PowerPoint 演示文稿</vt:lpstr>
      <vt:lpstr>PowerPoint 演示文稿</vt:lpstr>
      <vt:lpstr>3.添加小鸟</vt:lpstr>
      <vt:lpstr>PowerPoint 演示文稿</vt:lpstr>
      <vt:lpstr>PowerPoint 演示文稿</vt:lpstr>
      <vt:lpstr>练习</vt:lpstr>
      <vt:lpstr>PowerPoint 演示文稿</vt:lpstr>
      <vt:lpstr>PowerPoint 演示文稿</vt:lpstr>
      <vt:lpstr>练习</vt:lpstr>
      <vt:lpstr>4.小鸟与障碍物的交互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5.设计图形用户界面</vt:lpstr>
      <vt:lpstr>PowerPoint 演示文稿</vt:lpstr>
      <vt:lpstr>PowerPoint 演示文稿</vt:lpstr>
      <vt:lpstr>PowerPoint 演示文稿</vt:lpstr>
      <vt:lpstr>PowerPoint 演示文稿</vt:lpstr>
      <vt:lpstr>回顾与总结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记忆翻牌游戏</dc:title>
  <dc:creator>叶得飞</dc:creator>
  <cp:lastModifiedBy>hawking329@sina.com</cp:lastModifiedBy>
  <cp:revision>93</cp:revision>
  <dcterms:created xsi:type="dcterms:W3CDTF">2022-06-28T01:57:29Z</dcterms:created>
  <dcterms:modified xsi:type="dcterms:W3CDTF">2024-01-08T09:17:04Z</dcterms:modified>
</cp:coreProperties>
</file>