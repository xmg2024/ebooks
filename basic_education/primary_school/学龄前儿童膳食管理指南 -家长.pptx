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notesSlides/notesSlide1.xml" Type="http://schemas.openxmlformats.org/officeDocument/2006/relationships/notesSlide"/><Relationship Id="rId33" Target="notesSlides/notesSlide2.xml" Type="http://schemas.openxmlformats.org/officeDocument/2006/relationships/notesSlide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notesSlides/notesSlide6.xml" Type="http://schemas.openxmlformats.org/officeDocument/2006/relationships/notesSlide"/><Relationship Id="rId38" Target="notesSlides/notesSlide7.xml" Type="http://schemas.openxmlformats.org/officeDocument/2006/relationships/notesSlide"/><Relationship Id="rId39" Target="notesSlides/notesSlide8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notesSlides/notesSlide18.xml" Type="http://schemas.openxmlformats.org/officeDocument/2006/relationships/notesSlide"/><Relationship Id="rId50" Target="notesSlides/notesSlide19.xml" Type="http://schemas.openxmlformats.org/officeDocument/2006/relationships/notesSlide"/><Relationship Id="rId51" Target="notesSlides/notesSlide20.xml" Type="http://schemas.openxmlformats.org/officeDocument/2006/relationships/notesSlide"/><Relationship Id="rId52" Target="notesSlides/notesSlide21.xml" Type="http://schemas.openxmlformats.org/officeDocument/2006/relationships/notesSlide"/><Relationship Id="rId53" Target="notesSlides/notesSlide22.xml" Type="http://schemas.openxmlformats.org/officeDocument/2006/relationships/notesSlide"/><Relationship Id="rId54" Target="notesSlides/notesSlide23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各位家长，大家好！欢迎参加今天的讲座。今天，我们将一起探讨如何为我们的孩子打造一个健康、快乐的“食”光，帮助他们快乐成长。这份指南将为您提供科学、实用的膳食管理建议。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！我们今天坐在这里，是因为“吃饭”这件事对孩子的成长至关重要。从挑食到营养均衡，从身高体重到智力发育，学龄前阶段的饮食决定了孩子的未来。今天，我们将一起学习如何成为孩子健康饮食的智慧领航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我们来了解为什么学龄前阶段如此重要。这是孩子成长的“第二个高峰期”。大家看这张生长曲线图，学龄前阶段虽然不如婴儿期迅猛，但身高体重、大脑发育和免疫系统都在飞速发展，这一切都离不开充足的营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早期的营养状况，就像给孩子的健康“编程”。它不仅影响孩子的智力和免疫力，甚至会决定他们成年后是否容易患上肥胖、糖尿病等慢性病。所以，我们现在的每一口饭，都在为孩子的未来投资。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然而，我们身边的挑战不容忽视。儿童肥胖率上升，同时“隐形饥饿”普遍存在。挑食看似小毛病，却可能导致生长迟缓、免疫力低下。这些真实的案例提醒我们，食物多样性是健康的基石，任何单一的饮食模式都是极其危险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那么，具体应该怎么吃呢？这就是我们的核心工具——中国学龄前儿童平衡膳食宝塔。它就像一张地图，清晰地告诉我们，每天应该为孩子准备哪些食物，每种食物吃多少才合适。接下来，我们将逐层解读。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膳食宝塔的最底层是谷薯类，是孩子能量的主要来源。每天推荐摄入150-200克。关键在于“粗细搭配”，一半的主食应该换成糙米、燕麦这样的全谷物，这样不仅能提供更持久的能量，还能帮助孩子预防便秘。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第二层是蔬菜水果，是维生素和膳食纤维的宝库。每天蔬菜要吃150-250克，水果100-150克。记住，蔬菜要“好色”，深色蔬菜要占一半以上。水果不能过量，更不能用果汁代替新鲜水果。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第三层是鱼、禽、肉、蛋，是优质蛋白质的主要来源。每天推荐摄入鱼禽肉100-150克，鸡蛋一个。我们推荐优先选择鱼类，特别是深海鱼，因为它富含DHA，对大脑发育非常好。红肉则是补铁的好帮手。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第四层是奶、豆、坚果，是孩子长高和健脑的“加油站”。牛奶是补钙之王，每天必须保证350-500毫升。大豆是优质的植物蛋白。坚果虽然营养丰富，但一定要注意安全，最好磨碎了给孩子吃。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膳食宝塔的顶端是油和盐，这是我们需要做“减法”的部分。每天烹调油不超过25克，盐不超过3克。要从小培养孩子清淡的口味，同时警惕酱油、咸菜这些“隐形盐”。烹饪方式上，多蒸煮，少油炸。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最后，我们不能忘记宝塔顶端的水。水是被忽视的重要营养素。学龄前儿童每天需要喝800-1000毫升水。要少量多次饮用，白开水是最佳选择，远离含糖饮料。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除了食物种类，我们还要关注几个关键的“黄金营养素”。钙是长高的基石，铁是大脑的氧气泵，锌是食欲的开关，维生素A守护眼睛，DHA是脑黄金。确保这些营养素的充足摄入，对孩子的成长至关重要。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有了科学的食谱，我们还需要智慧的引导。首先，要创造一个让孩子爱上吃饭的环境。定时定点、专心进餐、控制时长，最重要的是，尽可能和家人一起吃饭，让吃饭成为一件快乐的事。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我们要学会放手，从“喂饭”过渡到“自主进食”。鼓励孩子自己动手，即使吃得一团糟，这也是他们成长的一部分。给他们一些选择的权利，并用极大的耐心等待他们接受新食物。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家长是孩子最好的榜样。我们自己的饮食习惯，直接影响着孩子。所以，请以身作则，不要在孩子面前评价食物的好坏。我们还可以通过改变食物形状、混合搭配、邀请孩子参与制作等方式，巧妙地让孩子接受健康食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对付挑食的孩子，我们需要一些小妙招。可以用故事引导，用游戏互动，多给予正向激励。同时，合理安排零食也很重要。选择健康的零食，在两餐之间适量提供，既能补充能量，又不会影响正餐食欲。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健康成长不仅要吃好，更要动好！学龄前儿童每天需要至少3小时的身体活动，其中2小时应该是户外活动。多跑跑跳跳，多晒太阳，不仅能增强体质，还能促进钙的吸收，帮助孩子长得更高。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“睡得好，长得高”这句话是有科学依据的。因为生长激素主要在夜间深度睡眠时分泌。所以，保证孩子每天10-13小时的充足睡眠，建立良好的睡前仪式，对他们的成长至关重要。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在这个数字化时代，我们必须管好孩子的“屏幕时间”。建议每天视屏时间不超过1小时，越少越好。家长要以身作则，用更多的亲子游戏、户外活动来替代电子产品，守护孩子的专注力和视力。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最后，别忘了定期体检。这是我们监测孩子生长发育的“标尺”。每年至少一次的健康检查，能帮助我们及时发现问题，动态观察孩子的生长趋势，并寻求专业的帮助。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总结一下今天的内容，就是五个要点：吃好、喝好、养好、动好、睡好。这需要我们家长用耐心、智慧和爱去引导。让我们从今天做起，一起为孩子的健康“食”光护航！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我的分享到此结束，非常感谢大家的聆听。现在是问答环节，大家有任何关于孩子饮食的问题，都欢迎提出来，我们一起交流探讨。谢谢！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6.sv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12" Target="../media/image40.svg" Type="http://schemas.openxmlformats.org/officeDocument/2006/relationships/image"/><Relationship Id="rId13" Target="../notesSlides/notesSlide16.xml" Type="http://schemas.openxmlformats.org/officeDocument/2006/relationships/notesSlide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8.svg" Type="http://schemas.openxmlformats.org/officeDocument/2006/relationships/image"/><Relationship Id="rId11" Target="../notesSlides/notesSlide17.xml" Type="http://schemas.openxmlformats.org/officeDocument/2006/relationships/notesSlide"/><Relationship Id="rId2" Target="../media/image2.jpeg" Type="http://schemas.openxmlformats.org/officeDocument/2006/relationships/image"/><Relationship Id="rId3" Target="../media/image41.png" Type="http://schemas.openxmlformats.org/officeDocument/2006/relationships/image"/><Relationship Id="rId4" Target="../media/image42.sv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6.svg" Type="http://schemas.openxmlformats.org/officeDocument/2006/relationships/image"/><Relationship Id="rId11" Target="../notesSlides/notesSlide18.xml" Type="http://schemas.openxmlformats.org/officeDocument/2006/relationships/notesSlide"/><Relationship Id="rId2" Target="../media/image2.jpeg" Type="http://schemas.openxmlformats.org/officeDocument/2006/relationships/imag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0.svg" Type="http://schemas.openxmlformats.org/officeDocument/2006/relationships/image"/><Relationship Id="rId11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57.png" Type="http://schemas.openxmlformats.org/officeDocument/2006/relationships/image"/><Relationship Id="rId8" Target="../media/image58.sv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6.svg" Type="http://schemas.openxmlformats.org/officeDocument/2006/relationships/image"/><Relationship Id="rId11" Target="../notesSlides/notesSlide21.xml" Type="http://schemas.openxmlformats.org/officeDocument/2006/relationships/notesSlide"/><Relationship Id="rId2" Target="../media/image2.jpeg" Type="http://schemas.openxmlformats.org/officeDocument/2006/relationships/imag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63.png" Type="http://schemas.openxmlformats.org/officeDocument/2006/relationships/image"/><Relationship Id="rId6" Target="../media/image64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7.jpeg" Type="http://schemas.openxmlformats.org/officeDocument/2006/relationships/image"/><Relationship Id="rId3" Target="../notesSlides/notesSlide23.xml" Type="http://schemas.openxmlformats.org/officeDocument/2006/relationships/notesSlide"/><Relationship Id="rId4" Target="../media/image6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905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健康“食”光，快乐成长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1115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学龄前儿童膳食管理指南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4127500"/>
            <a:ext cx="1219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面向幼儿园家长的健康教育讲座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302000" y="5207000"/>
            <a:ext cx="558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solidFill>
              <a:srgbClr val="84CC16">
                <a:alpha val="7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429000" y="5308600"/>
            <a:ext cx="533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主讲人：[您的姓名/机构]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29000" y="57150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2026年6月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为什么今天我们要坐在这里聊“吃饭”这件事？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415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育儿路上的“舌尖”难题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413000"/>
            <a:ext cx="3175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当孩子步入幼儿园，挑食、抗拒蔬菜、吃饭拖沓成了许多家庭的日常挑战。我们常常焦虑：怎么吃才能让孩子营养均衡？怎样才能让孩子爱上吃饭，拥有棒棒的身体？这些看似琐碎的“吃饭”问题，实则是育儿中最核心的健康课题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08500" y="1651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085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18415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3-6岁 成长的黄金窗口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413000"/>
            <a:ext cx="3175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龄前不仅是身体发育的“冲刺期”，更是饮食习惯养成的关键定型期。这一阶段的营养摄入，直接影响孩子的身高增长、大脑发育和免疫力构建。我们深知，今天的每一口饭，都在为孩子一生的健康大厦打下基石，容不得半点马虎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91500" y="1651000"/>
            <a:ext cx="3556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91500" y="1651000"/>
            <a:ext cx="3556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82000" y="1841500"/>
            <a:ext cx="317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权威指南 科学护航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413000"/>
            <a:ext cx="3175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拒绝经验主义，本次分享将严格遵循《中国居民膳食指南（2022）》与《中国居民膳食营养素参考摄入量（2023版）》。我们将把晦涩的营养数据转化为生活化的实操方案，让每一位家长都能掌握科学的喂养逻辑。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508500"/>
            <a:ext cx="10985500" cy="1841500"/>
          </a:xfrm>
          <a:prstGeom prst="roundRect">
            <a:avLst>
              <a:gd name="adj" fmla="val 0"/>
            </a:avLst>
          </a:prstGeom>
          <a:solidFill>
            <a:srgbClr val="F0F9E5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16000" y="4673600"/>
            <a:ext cx="10414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C5A14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我们的愿景：做孩子健康饮食的“智慧领航员”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232400"/>
            <a:ext cx="1041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希望通过今天的交流，帮助各位家长跳出“喂饭焦虑”，掌握让孩子主动吃饭的小妙招。从一日三餐的搭配到饮食习惯的培养，让我们一起用科学的爱，守护孩子的每一次成长，让健康的种子在孩子的味蕾与身体中生根发芽，为他们充满活力的未来提供源源不断的能量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基石与警钟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学龄前：孩子成长的“第二个高峰期”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虽然速度不如婴儿期那般迅猛，但学龄前儿童的生长发育依然保持着关键的加速度。这是一个承上启下的阶段，身体的各项机能都在悄然积蓄能量，为未来的健康人生打下决定性的基础。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857500"/>
            <a:ext cx="34671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857500"/>
            <a:ext cx="34671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022600"/>
            <a:ext cx="3111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体格发育的“筑底期”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556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身高每年稳步增长5-7厘米，体重增长2-3公斤。骨骼正处于快速矿化的关键阶段，如同为高楼搭建钢筋骨架。此时的营养摄入与运动习惯，直接决定了孩子未来的体态与骨骼健康。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2857500"/>
            <a:ext cx="34671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94200" y="2857500"/>
            <a:ext cx="34671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84700" y="3022600"/>
            <a:ext cx="3111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智力爆发的“窗口期”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84700" y="3556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大脑重量已接近成人的85%，神经突触连接呈指数级增长。孩子的认知、语言表达与社交能力迎来飞跃式发展，每一次新的体验都在重塑神经网络，这是塑造学习能力与思维模式的黄金时期。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26400" y="2857500"/>
            <a:ext cx="34671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26400" y="2857500"/>
            <a:ext cx="34671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16900" y="3022600"/>
            <a:ext cx="3111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免疫防线的“成长期”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16900" y="3556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来自母体的抗体保护逐渐减弱，自身免疫系统开始独立“实战”。这一时期，身体需要充足的营养作为“弹药”，来帮助免疫系统识别病原体、建立记忆，从而构建起一生健康的第一道坚固防线。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207000"/>
            <a:ext cx="10731500" cy="1206500"/>
          </a:xfrm>
          <a:prstGeom prst="roundRect">
            <a:avLst>
              <a:gd name="adj" fmla="val 0"/>
            </a:avLst>
          </a:prstGeom>
          <a:solidFill>
            <a:srgbClr val="ECF7D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5308600"/>
            <a:ext cx="10223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283719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一阶段的发育质量，不仅关乎当下的健康状态，更深远地影响着孩子未来的身心潜能。作为家长和养育者，我们需要敏锐捕捉这些成长信号，抓住这个不可逆转的“黄金窗口期”，用科学的营养供给和温暖的成长引导，为孩子的一生筑牢最坚实的生命根基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营养，决定一生健康的“密码”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58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生命早期的营养状况，如同编程代码，深刻影响终身健康。从大脑发育到免疫防线，再到未来的慢病风险，每一份营养都是在为生命编写底层逻辑。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3429000" cy="635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0480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影响智力潜能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683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34343"/>
                </a:solidFill>
                <a:latin typeface="Noto Sans SC"/>
                <a:ea typeface="Noto Sans SC"/>
                <a:cs typeface="Noto Sans SC"/>
                <a:sym typeface="Noto Sans SC"/>
              </a:rPr>
              <a:t>蛋白质、DHA、铁、锌是大脑发育的核心“建筑材料”。早期营养的缺失不仅会造成脑细胞数量不足，更会直接关联到孩子未来的认知能力与学习效率，为智力发展埋下关键伏笔。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5270500"/>
            <a:ext cx="3048000" cy="5715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79500" y="53086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557814"/>
                </a:solidFill>
                <a:latin typeface="Noto Sans SC"/>
                <a:ea typeface="Noto Sans SC"/>
                <a:cs typeface="Noto Sans SC"/>
                <a:sym typeface="Noto Sans SC"/>
              </a:rPr>
              <a:t>警惕：认知低下与学习困难的隐形根源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794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81500" y="2794000"/>
            <a:ext cx="3429000" cy="635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72000" y="30480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关乎免疫能力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3683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34343"/>
                </a:solidFill>
                <a:latin typeface="Noto Sans SC"/>
                <a:ea typeface="Noto Sans SC"/>
                <a:cs typeface="Noto Sans SC"/>
                <a:sym typeface="Noto Sans SC"/>
              </a:rPr>
              <a:t>维生素A、C、D及锌元素是构建身体防御系统的“工程师”。营养失衡会直接削弱免疫防线，使孩子成为感冒、腹泻等感染性疾病的易感人群，影响生长节奏与生活质量。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72000" y="5270500"/>
            <a:ext cx="3048000" cy="5715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699000" y="53086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55781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关键：筑牢儿童成长的第一道健康防线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2794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2794000"/>
            <a:ext cx="3429000" cy="635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91500" y="3048000"/>
            <a:ext cx="3048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埋下慢病“种子”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91500" y="36830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3434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基于DOHaD理论，生命早期的营养印记将持续一生。学龄前的肥胖或营养不良，会显著改变代谢轨迹，大幅增加成年后患糖尿病、高血压、心血管疾病等慢性非传染性疾病的风险。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91500" y="5270500"/>
            <a:ext cx="3048000" cy="5715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18500" y="53086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557814"/>
                </a:solidFill>
                <a:latin typeface="Noto Sans SC"/>
                <a:ea typeface="Noto Sans SC"/>
                <a:cs typeface="Noto Sans SC"/>
                <a:sym typeface="Noto Sans SC"/>
              </a:rPr>
              <a:t>警示：成年期健康的“发育起源”密码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我们身边的挑战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84CC1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714500"/>
            <a:ext cx="482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肥胖问题严峻，低龄化趋势明显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225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据《中国居民营养与慢性病状况报告》显示，我国6岁以下儿童肥胖率已达3.6%且持续上升。小胖墩不仅面临行动不便的困扰，更可能诱发性早熟、儿童脂肪肝等健康隐患，给成长埋下沉重的身体负担。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52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84CC1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413500" y="1714500"/>
            <a:ext cx="482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体重达标，却仍“隐形饥饿”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13500" y="2222500"/>
            <a:ext cx="482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很多孩子体重正常甚至超重，但营养素摄入并不均衡。缺铁性贫血仍是我国儿童高发问题，这种“隐形饥饿”会直接影响孩子的注意力集中程度、记忆力与学习效率，看似健康的表象下，身体正处于营养失衡的危险边缘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683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8EB">
              <a:alpha val="92000"/>
            </a:srgbClr>
          </a:solidFill>
          <a:ln w="12700" cmpd="sng" cap="flat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683000"/>
            <a:ext cx="5207000" cy="50800"/>
          </a:xfrm>
          <a:prstGeom prst="roundRect">
            <a:avLst>
              <a:gd name="adj" fmla="val 0"/>
            </a:avLst>
          </a:prstGeom>
          <a:solidFill>
            <a:srgbClr val="F59E0B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3835400"/>
            <a:ext cx="482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挑食的代价：2岁宝宝的成长警报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43180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2岁7个月的朵朵长期只吃白米饭配肉松，拒绝蔬果肉类。半年体重未增、身高落后，还反复感冒。就医确诊轻度贫血，血清铁蛋白与锌含量严重偏低，长期挑食已影响正常生长发育。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5207000"/>
            <a:ext cx="4826000" cy="571500"/>
          </a:xfrm>
          <a:prstGeom prst="roundRect">
            <a:avLst>
              <a:gd name="adj" fmla="val 0"/>
            </a:avLst>
          </a:prstGeom>
          <a:solidFill>
            <a:srgbClr val="F59E0B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79500" y="52451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警示：</a:t>
            </a:r>
            <a:r>
              <a:rPr lang="en-US" b="false" i="false" strike="noStrike" u="none" sz="1200">
                <a:solidFill>
                  <a:srgbClr val="6432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单一饮食结构会导致关键微量元素流失，拖慢成长脚步。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3683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FFF0F0">
              <a:alpha val="92000"/>
            </a:srgbClr>
          </a:solidFill>
          <a:ln w="12700" cmpd="sng" cap="flat">
            <a:solidFill>
              <a:srgbClr val="EF4444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3683000"/>
            <a:ext cx="5207000" cy="50800"/>
          </a:xfrm>
          <a:prstGeom prst="roundRect">
            <a:avLst>
              <a:gd name="adj" fmla="val 0"/>
            </a:avLst>
          </a:prstGeom>
          <a:solidFill>
            <a:srgbClr val="EF4444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13500" y="3835400"/>
            <a:ext cx="482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极端偏食：12岁男孩的永久失明之痛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13500" y="4318000"/>
            <a:ext cx="4826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美国一名自闭症男孩长期只吃汉堡、薯条和甜点。因严重缺乏维生素B12，导致视神经不可逆受损，最终双目永久失明。这个沉重的案例为我们敲响了警钟：长期单一饮食可能带来毁灭性的健康后果。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13500" y="5207000"/>
            <a:ext cx="4826000" cy="571500"/>
          </a:xfrm>
          <a:prstGeom prst="roundRect">
            <a:avLst>
              <a:gd name="adj" fmla="val 0"/>
            </a:avLst>
          </a:prstGeom>
          <a:solidFill>
            <a:srgbClr val="EF4444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40500" y="52451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反思：</a:t>
            </a:r>
            <a:r>
              <a:rPr lang="en-US" b="false" i="false" strike="noStrike" u="none" sz="1200">
                <a:solidFill>
                  <a:srgbClr val="640000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食物多样性是健康的基石，任何偏食都可能埋下看不见的健康隐患。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第二部分：科学喂养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solidFill>
              <a:srgbClr val="84CC16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79500" y="1968500"/>
            <a:ext cx="10033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怎么吃才均衡？膳食宝塔来帮忙！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79500" y="3048000"/>
            <a:ext cx="10033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膳食宝塔是将《中国居民膳食指南》可视化的实用工具，它像一份清晰的“饮食地图”，直观地告诉我们每天应该为孩子准备什么、每种食物吃多少才合适。它不仅是科学饮食的标准，更是家长在日常烹饪中可以随时参考的依据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4699000"/>
            <a:ext cx="10033000" cy="1079500"/>
          </a:xfrm>
          <a:prstGeom prst="roundRect">
            <a:avLst>
              <a:gd name="adj" fmla="val 0"/>
            </a:avLst>
          </a:prstGeom>
          <a:solidFill>
            <a:srgbClr val="84CC1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4826000"/>
            <a:ext cx="9652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我们将基于2022版中国学龄前儿童平衡膳食宝塔，逐层解析各类食物的科学配比，为3-6岁的孩子量身定制营养充足、结构合理的每日食谱，帮助家长轻松掌握科学喂养的核心方法，让孩子在每一餐中获得均衡的成长能量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第一层：谷薯类——能量的基础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6510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526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150-200</a:t>
            </a: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克/天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1841500"/>
            <a:ext cx="647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相当于每天吃 1-1.5 碗米饭，是身体能量的核心来源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72000" y="2349500"/>
            <a:ext cx="6477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作为膳食宝塔的最底层，谷薯类是我们一日三餐中分量最大的食物。它们能为身体提供最基础、最直接的碳水化合物，支撑日常的学习、玩耍和成长活动。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556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556000"/>
            <a:ext cx="76200" cy="2413000"/>
          </a:xfrm>
          <a:prstGeom prst="roundRect">
            <a:avLst>
              <a:gd name="adj" fmla="val 0"/>
            </a:avLst>
          </a:prstGeom>
          <a:solidFill>
            <a:srgbClr val="84CC16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3683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粗细搭配，营养加倍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3180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建议一半主食换成全谷物和杂豆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16000" y="4826000"/>
            <a:ext cx="476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像糙米、燕麦、小米、红豆这类粗粮，不仅富含膳食纤维能帮助预防便秘，还含有丰富的B族维生素，消化吸收慢，能为孩子提供更持久的饱腹感和稳定的血糖能量。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3556000"/>
            <a:ext cx="52705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3556000"/>
            <a:ext cx="76200" cy="2413000"/>
          </a:xfrm>
          <a:prstGeom prst="roundRect">
            <a:avLst>
              <a:gd name="adj" fmla="val 0"/>
            </a:avLst>
          </a:prstGeom>
          <a:solidFill>
            <a:srgbClr val="84CC16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3683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薯类巧替换，主食不单调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4318000"/>
            <a:ext cx="476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AB308"/>
                </a:solidFill>
                <a:latin typeface="Noto Sans SC"/>
                <a:ea typeface="Noto Sans SC"/>
                <a:cs typeface="Noto Sans SC"/>
                <a:sym typeface="Noto Sans SC"/>
              </a:rPr>
              <a:t>每周安排 2-3 次薯类主食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4826000"/>
            <a:ext cx="4762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土豆、红薯、山药、紫薯等可以部分替代白米饭或白面条。它们含有独特的黏液蛋白和矿物质，口味丰富多变，既能增加孩子吃饭的乐趣，又能实现营养的多样化互补。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第二层：蔬菜水果——维生素与纤维的宝库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651000"/>
            <a:ext cx="5016500" cy="12065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1714500"/>
            <a:ext cx="4762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每日蔬菜推荐量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0701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150 - 250 克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 天，是身体获取膳食纤维、矿物质与植物化学物的核心来源，助力肠道健康。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60028" flipH="false" flipV="false">
            <a:off x="5549900" y="2216187"/>
            <a:ext cx="1092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D1D5DB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016500" cy="1206500"/>
          </a:xfrm>
          <a:prstGeom prst="roundRect">
            <a:avLst>
              <a:gd name="adj" fmla="val 0"/>
            </a:avLst>
          </a:prstGeom>
          <a:solidFill>
            <a:srgbClr val="FB923C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0" y="1714500"/>
            <a:ext cx="4762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C2410C"/>
                </a:solidFill>
                <a:latin typeface="Noto Sans SC"/>
                <a:ea typeface="Noto Sans SC"/>
                <a:cs typeface="Noto Sans SC"/>
                <a:sym typeface="Noto Sans SC"/>
              </a:rPr>
              <a:t>每日水果推荐量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070100"/>
            <a:ext cx="476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2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100 - 150 克</a:t>
            </a: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 天，天然的维生素与糖分补给站，为日常活动提供轻盈且易吸收的能量。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175000"/>
            <a:ext cx="34925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1750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3365500"/>
            <a:ext cx="3111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蔬菜要“好色”，选深弃浅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3937000"/>
            <a:ext cx="31115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天吃的蔬菜中，深色蔬菜（如菠菜、西兰花、胡萝卜、番茄）应占一半以上。这类蔬菜通常含有更丰富的维生素A、叶绿素和抗氧化物质，在增强免疫力和保护视力方面效果更显著，是健康饮食的“黄金选择”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445000" y="3175000"/>
            <a:ext cx="34925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45000" y="3175000"/>
            <a:ext cx="3492500" cy="50800"/>
          </a:xfrm>
          <a:prstGeom prst="roundRect">
            <a:avLst>
              <a:gd name="adj" fmla="val 0"/>
            </a:avLst>
          </a:prstGeom>
          <a:solidFill>
            <a:srgbClr val="F472B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35500" y="3365500"/>
            <a:ext cx="3111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水果虽甜，莫要贪多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35500" y="3937000"/>
            <a:ext cx="31115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水果富含天然糖分，过量摄入会额外增加热量负担，提升肥胖和龋齿的风险。建议将水果安排在两餐之间作为加餐，既能缓解饥饿感，又能避免因正餐过饱影响营养吸收，让美味与健康达到平衡。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3175000"/>
            <a:ext cx="34925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0" y="3175000"/>
            <a:ext cx="34925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18500" y="3365500"/>
            <a:ext cx="3111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鲜榨果汁，难替鲜果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18500" y="3937000"/>
            <a:ext cx="31115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榨汁过程会破坏水果的细胞结构，导致大量膳食纤维流失，同时糖分更易被人体快速吸收。直接食用新鲜水果，不仅能获取完整的膳食纤维，促进肠道蠕动，还能通过咀嚼动作锻炼口腔肌肉，获得更纯粹的营养体验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第三层：动物性食物——优质蛋白的来源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87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87500"/>
            <a:ext cx="76200" cy="13970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714500"/>
            <a:ext cx="571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鱼、禽、肉 100-150克/天 + 鸡蛋 1个/天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为身体提供易于吸收的优质动物蛋白，是维持肌肉力量、组织修复与免疫功能的重要物质基础。</a:t>
            </a:r>
          </a:p>
        </p:txBody>
      </p:sp>
      <p:cxnSp>
        <p:nvCxnSpPr>
          <p:cNvPr name="Connector 7" id="7"/>
          <p:cNvCxnSpPr/>
          <p:nvPr/>
        </p:nvCxnSpPr>
        <p:spPr>
          <a:xfrm rot="5359557" flipH="false" flipV="false">
            <a:off x="6318250" y="2247937"/>
            <a:ext cx="107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4CC1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7048500" y="1752600"/>
            <a:ext cx="419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这一量级既能满足成年人日常的蛋白质需求，又能有效控制脂肪和胆固醇的过量摄入，是平衡膳食的关键一环。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175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1750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365500"/>
            <a:ext cx="3111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优选顺序：鱼类 &gt; 禽类 &gt; 畜类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3937000"/>
            <a:ext cx="311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深海鱼富含DHA，对大脑发育和视力保护非常有益，建议每周至少吃2次。禽类脂肪多为不饱和脂肪酸，更易消化；畜类则建议适量食用，减少饱和脂肪摄入。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3175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31750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35500" y="3365500"/>
            <a:ext cx="3111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红肉：补铁的黄金来源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35500" y="3937000"/>
            <a:ext cx="311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猪、牛、羊等红肉中的血红素铁，吸收率远高于植物性铁。对于缺铁性贫血风险较高的人群，适量摄入红肉是预防和改善缺铁状况最直接有效的饮食方法。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3175000"/>
            <a:ext cx="3492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31750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18500" y="3365500"/>
            <a:ext cx="31115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鸡蛋：平价全能营养库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18500" y="3937000"/>
            <a:ext cx="3111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一个鸡蛋约含6-7g优质蛋白，氨基酸组成与人体几乎完全一致，极易被吸收。每天一个鸡蛋，不仅性价比极高，还能提供卵磷脂、维生素等多种关键营养素。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524500"/>
            <a:ext cx="10858500" cy="1079500"/>
          </a:xfrm>
          <a:prstGeom prst="roundRect">
            <a:avLst>
              <a:gd name="adj" fmla="val 0"/>
            </a:avLst>
          </a:prstGeom>
          <a:solidFill>
            <a:srgbClr val="84CC16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" y="5613400"/>
            <a:ext cx="104775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24B1E"/>
                </a:solidFill>
                <a:latin typeface="Noto Sans SC"/>
                <a:ea typeface="Noto Sans SC"/>
                <a:cs typeface="Noto Sans SC"/>
                <a:sym typeface="Noto Sans SC"/>
              </a:rPr>
              <a:t>温馨小建议：</a:t>
            </a:r>
            <a:r>
              <a:rPr lang="en-US" b="false" i="false" strike="noStrike" u="none" sz="1300">
                <a:solidFill>
                  <a:srgbClr val="324B1E"/>
                </a:solidFill>
                <a:latin typeface="Noto Sans SC"/>
                <a:ea typeface="Noto Sans SC"/>
                <a:cs typeface="Noto Sans SC"/>
                <a:sym typeface="Noto Sans SC"/>
              </a:rPr>
              <a:t>肉类虽好，烹饪方式很重要。建议多采用蒸、煮、快炒的方式，最大程度保留营养且减少油脂。同时，别忘了搭配足量的新鲜蔬菜，让营养摄入更均衡、更健康！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第四层：奶类、大豆及坚果——长高与健脑的“加油站”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76200" cy="13970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41500"/>
            <a:ext cx="1905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每日推荐量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3495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奶及奶制品 350-500毫升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每日足量摄入，是儿童补钙的最佳选择</a:t>
            </a:r>
          </a:p>
        </p:txBody>
      </p:sp>
      <p:cxnSp>
        <p:nvCxnSpPr>
          <p:cNvPr name="Connector 8" id="8"/>
          <p:cNvCxnSpPr/>
          <p:nvPr/>
        </p:nvCxnSpPr>
        <p:spPr>
          <a:xfrm rot="5357030" flipH="false" flipV="false">
            <a:off x="3937000" y="2470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4CC1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4635500" y="2349500"/>
            <a:ext cx="317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大豆及制品 适量食用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豆腐、豆干等，补充优质植物蛋白</a:t>
            </a:r>
          </a:p>
        </p:txBody>
      </p:sp>
      <p:cxnSp>
        <p:nvCxnSpPr>
          <p:cNvPr name="Connector 10" id="10"/>
          <p:cNvCxnSpPr/>
          <p:nvPr/>
        </p:nvCxnSpPr>
        <p:spPr>
          <a:xfrm rot="5357030" flipH="false" flipV="false">
            <a:off x="7429500" y="247019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4CC1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8064500" y="2349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坚果 10-15克（约1小把）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营养密度高，作为每日健康小零食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429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619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3619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牛奶：天然“补钙之王”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42545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学龄前儿童骨骼生长发育迅速，对钙的需求量大。牛奶中的钙吸收率高，每天350-500ml是骨骼成长的坚实基础。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5270500"/>
            <a:ext cx="3048000" cy="698500"/>
          </a:xfrm>
          <a:prstGeom prst="roundRect">
            <a:avLst>
              <a:gd name="adj" fmla="val 0"/>
            </a:avLst>
          </a:prstGeom>
          <a:solidFill>
            <a:srgbClr val="84CC1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79500" y="53086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C501E"/>
                </a:solidFill>
                <a:latin typeface="Noto Sans SC"/>
                <a:ea typeface="Noto Sans SC"/>
                <a:cs typeface="Noto Sans SC"/>
                <a:sym typeface="Noto Sans SC"/>
              </a:rPr>
              <a:t>小提示：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酸奶、奶酪也是很好的替代品，可换着吃增加趣味。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45000" y="3429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35500" y="3619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207000" y="3619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大豆：植物蛋白冠军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35500" y="42545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大豆是唯一能媲美肉类的植物性完全蛋白来源。对于不喜欢吃肉或素食的孩子，豆制品是补充优质蛋白的绝佳选择。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35500" y="5270500"/>
            <a:ext cx="3048000" cy="698500"/>
          </a:xfrm>
          <a:prstGeom prst="roundRect">
            <a:avLst>
              <a:gd name="adj" fmla="val 0"/>
            </a:avLst>
          </a:prstGeom>
          <a:solidFill>
            <a:srgbClr val="84CC1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762500" y="53086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C501E"/>
                </a:solidFill>
                <a:latin typeface="Noto Sans SC"/>
                <a:ea typeface="Noto Sans SC"/>
                <a:cs typeface="Noto Sans SC"/>
                <a:sym typeface="Noto Sans SC"/>
              </a:rPr>
              <a:t>好选择：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嫩豆腐口感软嫩适合幼儿，老豆腐钙含量更高。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064500" y="34290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064500" y="3429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3619500"/>
            <a:ext cx="406400" cy="4064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826500" y="3619500"/>
            <a:ext cx="2413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坚果：健脑“小金库”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255000" y="4254500"/>
            <a:ext cx="3048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富含对大脑发育至关重要的不饱和脂肪酸。但因其颗粒小，对于低龄儿童有呛噎风险，需特别注意食用方式。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255000" y="5270500"/>
            <a:ext cx="3048000" cy="698500"/>
          </a:xfrm>
          <a:prstGeom prst="roundRect">
            <a:avLst>
              <a:gd name="adj" fmla="val 0"/>
            </a:avLst>
          </a:prstGeom>
          <a:solidFill>
            <a:srgbClr val="84CC1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382000" y="5308600"/>
            <a:ext cx="279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3C501E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安全吃法：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磨成坚果粉、坚果酱，或打成豆浆加入辅食。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第五层：油和盐——健康饮食的“减法”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1587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52500" y="1778000"/>
            <a:ext cx="5143500" cy="1333500"/>
          </a:xfrm>
          <a:prstGeom prst="roundRect">
            <a:avLst>
              <a:gd name="adj" fmla="val 0"/>
            </a:avLst>
          </a:prstGeom>
          <a:solidFill>
            <a:srgbClr val="84CC16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79500" y="1841500"/>
            <a:ext cx="190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20-25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克/天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111500" y="1879600"/>
            <a:ext cx="2857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每日烹调油推荐量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约普通白瓷勺 2-3 汤匙，控制油脂摄入是平衡膳食的关键一步。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5361804" flipH="false" flipV="false">
            <a:off x="5588000" y="24066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4CC16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6286500" y="1778000"/>
            <a:ext cx="5143500" cy="1333500"/>
          </a:xfrm>
          <a:prstGeom prst="roundRect">
            <a:avLst>
              <a:gd name="adj" fmla="val 0"/>
            </a:avLst>
          </a:prstGeom>
          <a:solidFill>
            <a:srgbClr val="EF4444">
              <a:alpha val="9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1841500"/>
            <a:ext cx="177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F4444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&lt; 3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克/天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318500" y="1879600"/>
            <a:ext cx="2984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每日食盐严格限量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相当于不到半啤酒瓶盖的量，是保护儿童肾脏与心血管的安全底线。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492500"/>
            <a:ext cx="3492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mpd="sng" cap="flat">
            <a:solidFill>
              <a:srgbClr val="84CC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4925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7084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36830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口味清淡 从小养成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4318000"/>
            <a:ext cx="3111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学龄前儿童味觉正处于发育关键期，味蕾对咸味更敏感。家庭烹饪应主动减少盐、酱油、味精等调味品的添加，通过食物本味激发食欲，从小建立清淡的饮食习惯，降低成年后患高血压等慢性疾病的风险。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381500" y="3492500"/>
            <a:ext cx="3492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mpd="sng" cap="flat">
            <a:solidFill>
              <a:srgbClr val="84CC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381500" y="3492500"/>
            <a:ext cx="34925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37084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080000" y="36830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警惕“隐形盐”陷阱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572000" y="4318000"/>
            <a:ext cx="3111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除了看得见的食盐，酱油、咸菜、加工肉制品、薯片等零食中都藏有大量“隐形盐”。这些往往是儿童高盐摄入的“重灾区”。选购食品时要学会查看营养成分表，尽量选择无盐或低盐食品，让孩子远离“隐形盐”伤害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001000" y="3492500"/>
            <a:ext cx="34925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94000"/>
            </a:srgbClr>
          </a:solidFill>
          <a:ln w="12700" cmpd="sng" cap="flat">
            <a:solidFill>
              <a:srgbClr val="84CC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001000" y="3492500"/>
            <a:ext cx="34925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37084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8699500" y="36830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优选健康烹饪法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91500" y="4318000"/>
            <a:ext cx="31115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减少油脂氧化和有害物质生成，多采用蒸、煮、炖、快炒等温和烹调方式。相比高温油炸，这些方法不仅能最大程度保留食材的营养成分，还能让食物保持本真鲜味，同时有效控制油脂摄入量，让每一餐都更健康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宝塔顶端：水——被忽视的营养素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87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84CC16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87500"/>
            <a:ext cx="76200" cy="13970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1714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每日推荐饮水量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79500" y="2159000"/>
            <a:ext cx="355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800-1000</a:t>
            </a:r>
            <a:r>
              <a:rPr lang="en-US" b="false" i="false" strike="noStrike" u="none" sz="16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毫升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0" y="1778000"/>
            <a:ext cx="609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水是生命之源，也是学龄前儿童生长发育中极易被忽视的关键营养素。充足的水分摄入能帮助身体调节体温、运输营养、排出废物，对维持新陈代谢至关重要。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2385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238500"/>
            <a:ext cx="3429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492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60500" y="34671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少量多次，主动饮水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40640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不要等到口渴才喝水，这是身体缺水的信号。建议在晨起空腹、餐前半小时、两餐之间以及户外活动后，定时主动给孩子补充水分，养成良好的饮水习惯。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381500" y="32385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381500" y="3238500"/>
            <a:ext cx="3429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72000" y="34925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080000" y="34671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白水是最佳选择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0" y="40640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尽量不喝或少喝含糖饮料，它们不仅会增加龋齿和肥胖风险，还会影响食欲。鲜榨果汁也要限量饮用，因为去除了膳食纤维后含糖量较高，最健康的选择始终是白开水。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001000" y="3238500"/>
            <a:ext cx="34290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001000" y="3238500"/>
            <a:ext cx="3429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191500" y="34925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699500" y="3467100"/>
            <a:ext cx="2540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观察尿液颜色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91500" y="40640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这是判断孩子是否缺水的简单方法。如果尿液呈现透明或淡黄色，说明饮水量充足；如果颜色变深呈深黄色，则提示身体处于缺水状态，需要及时补充水分。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92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关键营养素加油站：孩子成长必需的“黄金营养素”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922000" cy="571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14986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基于《中国居民膳食营养素参考摄入量（2023版）》，我们精选出这五种核心营养素，它们是孩子生长发育、智力发展和免疫力构建过程中不可或缺的“黄金元素”。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3505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286000"/>
            <a:ext cx="35052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2387600"/>
            <a:ext cx="3251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钙 Calcium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819400"/>
            <a:ext cx="325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“长高的基石”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175000"/>
            <a:ext cx="3251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构建骨骼和牙齿的核心原料，支撑孩子挺拔身姿，是生长发育的物质基础。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708400"/>
            <a:ext cx="3251200" cy="5080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3746500"/>
            <a:ext cx="3124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  <a:t>每日800mg | 推荐：奶及奶制品、豆腐、深绿菜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57700" y="2286000"/>
            <a:ext cx="3505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57700" y="2286000"/>
            <a:ext cx="35052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84700" y="2387600"/>
            <a:ext cx="3251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铁 Iron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84700" y="2819400"/>
            <a:ext cx="325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“大脑的氧气泵”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84700" y="3175000"/>
            <a:ext cx="3251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参与血红蛋白合成，高效输送氧气，预防贫血，让孩子精力充沛不疲倦。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84700" y="3708400"/>
            <a:ext cx="3251200" cy="5080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48200" y="3746500"/>
            <a:ext cx="3124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  <a:t>每日10mg | 推荐：红肉、动物肝脏、动物血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53400" y="2286000"/>
            <a:ext cx="35052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53400" y="2286000"/>
            <a:ext cx="35052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80400" y="2387600"/>
            <a:ext cx="3251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锌 Zinc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80400" y="2819400"/>
            <a:ext cx="32512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“食欲的开关”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80400" y="3175000"/>
            <a:ext cx="32512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促进味蕾发育与食欲，助力生长发育，同时增强免疫力，少生病更健康。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80400" y="3708400"/>
            <a:ext cx="3251200" cy="5080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343900" y="3746500"/>
            <a:ext cx="3124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  <a:t>每日5.5mg | 推荐：贝类海鲜、红肉、坚果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2000" y="4381500"/>
            <a:ext cx="5334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4381500"/>
            <a:ext cx="5334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89000" y="44831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维生素A Vitamin A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89000" y="49149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“眼睛的守护神”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89000" y="5245100"/>
            <a:ext cx="2476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维持暗视力与上皮细胞健康，是孩子在成长中保护视力、抵御感染的重要防线。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492500" y="5245100"/>
            <a:ext cx="2476500" cy="6985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3556000" y="5270500"/>
            <a:ext cx="234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  <a:t>每日约400μg视黄醇当量</a:t>
            </a:r>
            <a: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推荐：动物肝脏、胡萝卜、南瓜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286500" y="4381500"/>
            <a:ext cx="53721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286500" y="4381500"/>
            <a:ext cx="53721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413500" y="44831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DHA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6413500" y="4914900"/>
            <a:ext cx="495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“脑黄金”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413500" y="5245100"/>
            <a:ext cx="254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神经系统细胞生长的关键成分，促进大脑发育与视网膜成熟，提升认知能力。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080500" y="5245100"/>
            <a:ext cx="2413000" cy="6985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144000" y="5270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  <a:t>每日250mg</a:t>
            </a:r>
            <a: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3C4632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推荐：深海鱼、藻类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第三部分：智慧引导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922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创造一个让孩子爱上吃饭的环境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266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59000"/>
            <a:ext cx="2667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3495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3495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定时定点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2921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每天在固定的时间和地点安排就餐，帮助孩子建立稳定的生理节律，让身体形成“到点吃饭”的条件反射，养成规律的饮食习惯。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556000" y="2159000"/>
            <a:ext cx="266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556000" y="2159000"/>
            <a:ext cx="2667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746500" y="2349500"/>
            <a:ext cx="355600" cy="3556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254500" y="23495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专心进餐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2921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用餐时远离电视、玩具和手机等干扰源。为孩子营造安静、愉快的氛围，让他们专注于食物的味道，感受吃饭本身带来的满足感。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2159000"/>
            <a:ext cx="266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2159000"/>
            <a:ext cx="2667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40500" y="23495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48500" y="23495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控制时长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2921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将每餐时间合理控制在20-30分钟内。避免无休止的喂食和边吃边玩，既保证进食效率，又能让孩子体会到适度的时间边界感。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144000" y="2159000"/>
            <a:ext cx="26670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144000" y="2159000"/>
            <a:ext cx="2667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334500" y="2349500"/>
            <a:ext cx="355600" cy="355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842500" y="23495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家人共餐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271000" y="2921000"/>
            <a:ext cx="241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尽可能让孩子参与家庭正餐。在轻松的交流和共同进食中，感受家庭的温暖，不仅增进亲子关系，更能让孩子从大人身上学习良好的餐桌礼仪。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508500"/>
            <a:ext cx="11049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4508500"/>
            <a:ext cx="50800" cy="1651000"/>
          </a:xfrm>
          <a:prstGeom prst="roundRect">
            <a:avLst>
              <a:gd name="adj" fmla="val 0"/>
            </a:avLst>
          </a:prstGeom>
          <a:solidFill>
            <a:srgbClr val="84CC1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79500" y="4635500"/>
            <a:ext cx="1041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吃饭不仅仅是满足生理需求，更是一次温馨的家庭连接。当我们为孩子建立了规律的就餐节奏，排除了外界的干扰，并以家人共餐的形式陪伴左右时，吃饭就变成了一场充满爱与安全感的日常仪式。在这样的环境中，孩子不仅能吃得好、吃得香，更能在潜移默化中学会珍惜食物，感受家庭的温暖，从而发自内心地爱上每一餐饭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从“喂饭”到“自主进食”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0955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鼓励自主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给孩子提供适合抓握的专属餐具，大胆允许他们自己动手尝试。哪怕吃得满脸满身都是食物，这也是宝贵的学习与探索过程，是成长的必经之路。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191000"/>
            <a:ext cx="2921000" cy="13970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43000" y="43180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C4B28"/>
                </a:solidFill>
                <a:latin typeface="Noto Sans SC"/>
                <a:ea typeface="Noto Sans SC"/>
                <a:cs typeface="Noto Sans SC"/>
                <a:sym typeface="Noto Sans SC"/>
              </a:rPr>
              <a:t>放下“整洁”的执念，把吃饭的主动权交还给孩子。这不仅是技能的习得，更是自信心与独立意识萌芽的开始。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45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0955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334000" y="20955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提供选择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2794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在可控范围内给予孩子选择权，比如“今天想戴小熊还是兔子围兜？”“加餐想吃蓝莓还是小番茄？”。这种有限的选择能极大地增加孩子的掌控感。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4191000"/>
            <a:ext cx="2921000" cy="13970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26000" y="43180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C4B28"/>
                </a:solidFill>
                <a:latin typeface="Noto Sans SC"/>
                <a:ea typeface="Noto Sans SC"/>
                <a:cs typeface="Noto Sans SC"/>
                <a:sym typeface="Noto Sans SC"/>
              </a:rPr>
              <a:t>被尊重的孩子会更有积极性。当孩子感到自己有能力决定一些小事时，他们会更愿意配合，吃饭也会变成一件充满乐趣的“游戏”。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778000"/>
            <a:ext cx="3429000" cy="762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095500"/>
            <a:ext cx="457200" cy="457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017000" y="2095500"/>
            <a:ext cx="2286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耐心等待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2794000"/>
            <a:ext cx="292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对于陌生的新食物，孩子往往需要反复尝试8-15次才能从抗拒转为接受。这是他们用自己的节奏在认知世界，过程可能很慢，但切勿操之过急。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82000" y="4191000"/>
            <a:ext cx="2921000" cy="1397000"/>
          </a:xfrm>
          <a:prstGeom prst="roundRect">
            <a:avLst>
              <a:gd name="adj" fmla="val 0"/>
            </a:avLst>
          </a:prstGeom>
          <a:solidFill>
            <a:srgbClr val="84CC16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509000" y="4318000"/>
            <a:ext cx="2667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C4B28"/>
                </a:solidFill>
                <a:latin typeface="Noto Sans SC"/>
                <a:ea typeface="Noto Sans SC"/>
                <a:cs typeface="Noto Sans SC"/>
                <a:sym typeface="Noto Sans SC"/>
              </a:rPr>
              <a:t>不强迫喂食，也不轻易放弃。温柔而坚定地持续提供，给孩子充足的时间适应。耐心的陪伴，是帮助孩子建立健康饮食习惯最好的土壤。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您的行为，孩子的镜子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4CC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79500" y="18415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78000" y="18415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以身作则，做好榜样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2413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家长是孩子的第一任老师，自己首先要不挑食、不偏食，带头吃各种健康食物。孩子的模仿能力极强，您对食物的积极态度会潜移默化地感染他们，让他们更愿意尝试新的食材。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4CC16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540500" y="18415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239000" y="1841500"/>
            <a:ext cx="3937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慎言，不贴“负面标签”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40500" y="24130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千万不要在孩子面前随意评价食物，比如“这个菜好难吃”。孩子对食物的第一印象很重要，成年人的负面语言会直接影响他们的接受度，甚至让孩子对某些食物产生长久的抗拒心理。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746500"/>
            <a:ext cx="34671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84CC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3746500"/>
            <a:ext cx="34671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39370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460500" y="39370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趣味造型，颜值加分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4508500"/>
            <a:ext cx="30861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把蔬菜切成星星、小动物等可爱的形状，或者将它们做成蔬菜小饼、彩色饭团。好看的食物能瞬间吸引孩子的注意力，让他们从“不想吃”变成“想要尝一尝”。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483100" y="3746500"/>
            <a:ext cx="34671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84CC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83100" y="3746500"/>
            <a:ext cx="34671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673600" y="39370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181600" y="39370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隐蔽融合，口感升级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73600" y="4508500"/>
            <a:ext cx="30861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将孩子不爱吃的蔬菜悄悄“藏”起来。比如把胡萝卜、菠菜加入肉馅做成丸子，或把南瓜、紫薯揉进面团里。在不改变整体口味的前提下，让孩子在不知不觉中摄入丰富的营养。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04200" y="3746500"/>
            <a:ext cx="34671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12700" cmpd="sng" cap="flat">
            <a:solidFill>
              <a:srgbClr val="84CC16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204200" y="3746500"/>
            <a:ext cx="34671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8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8394700" y="3937000"/>
            <a:ext cx="355600" cy="3556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902700" y="3937000"/>
            <a:ext cx="2667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小小主厨，共同参与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94700" y="4508500"/>
            <a:ext cx="30861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邀请孩子一起参与洗菜、择菜，甚至简单的搅拌。当孩子亲手参与制作过程时，会产生强烈的成就感，对自己的“劳动成果”也会更有食欲，吃饭变成了一件充满乐趣的亲子互动游戏。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小妙招，搞定挑食娃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587500" y="18161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故事引导：让吃饭更有画面感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2413000"/>
            <a:ext cx="476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借助《好饿的毛毛虫》等经典绘本，或是家长即兴编创的趣味小故事，把胡萝卜、青菜变成“能量魔法棒”，把吃肉变成“变强壮的秘密”。用孩子听得懂的语言，让他们在故事里理解每种食物的独特价值，主动产生尝试的兴趣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223000" y="165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1841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048500" y="18161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游戏互动：把餐桌变成游乐场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2413000"/>
            <a:ext cx="476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试试“蒙眼尝鲜”挑战，让孩子猜猜吃的是哪种蔬菜；或是开启“光盘收集计划”，每吃完一碗饭就贴一枚贴纸，集齐兑换心仪的小玩具或亲子活动。在轻松的游戏氛围中，消除孩子对陌生食物的抵触，让吃饭成为快乐的亲子时光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06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406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2545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87500" y="42291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正向激励：给点阳光就灿烂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4826000"/>
            <a:ext cx="476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当孩子哪怕只是碰了一口以前拒绝的青菜，或者主动吃完了小半碗饭，请不要吝啬你的夸奖！具体的鼓励比笼统的“真棒”更有效，比如“宝宝今天把西兰花都吃完了，牙齿变得更有力量了！”。积极的心理暗示，会让孩子越来越自信地探索新口味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406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064000"/>
            <a:ext cx="76200" cy="21590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254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048500" y="4229100"/>
            <a:ext cx="4191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科学控零食：吃对不影响正餐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826000"/>
            <a:ext cx="4762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两餐之间（距正餐1.5-2小时）适量加餐，优选酸奶、时令鲜果、原味坚果等天然食物。同时要控制零食热量，不超过全天总能量的10%。既满足孩子的生长能量需求，又能保护他们的正餐食欲，避免因为吃了太多高糖高油零食而拒绝健康饭菜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889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第四部分：全面发展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吃好，更要动好！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59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F0F9E5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260600"/>
            <a:ext cx="10160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充足的身体活动不仅是促进骨骼发育的关键，更是增强体质、预防肥胖的有效方式。让孩子在阳光下尽情释放天性，在奔跑与欢笑中积累成长的能量，才能拥有更棒的身体去探索这个多彩的世界。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302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30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5306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35179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每日3小时活力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127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3小时+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953000"/>
            <a:ext cx="222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学龄前儿童每天身体活动的总时长基准，让孩子的身体时刻保持舒展与活跃。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467100" y="3302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67100" y="330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57600" y="35306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102100" y="35179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户外拥抱阳光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657600" y="4127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2小时+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657600" y="4953000"/>
            <a:ext cx="222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沐浴自然光线，促进维生素D合成与钙吸收，为骨骼发育筑牢坚实基础。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172200" y="3302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172200" y="330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62700" y="35306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07200" y="35179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快乐多样玩法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362700" y="4127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趣味无定式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62700" y="4953000"/>
            <a:ext cx="222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跑跳、攀爬、游泳或球类游戏，在丰富的运动形式中锻炼协调性，收获快乐。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877300" y="3302000"/>
            <a:ext cx="25400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877300" y="3302000"/>
            <a:ext cx="2540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067800" y="3530600"/>
            <a:ext cx="355600" cy="3556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512300" y="3517900"/>
            <a:ext cx="1841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动静交替有度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067800" y="4127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&lt; 1小时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067800" y="4953000"/>
            <a:ext cx="22225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单次静坐（阅读、绘画）不宜过长，定时起身活动，呵护视力与体态健康。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睡得好，长得高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587500"/>
            <a:ext cx="10287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生长激素主要在夜间深度睡眠时分泌，这是孩子身体发育的“黄金时间”。充足且高质量的睡眠不仅是身高增长的关键动力，还能帮助孩子恢复精力、增强免疫力，为每一天的成长积蓄能量。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8575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84CC16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8575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30480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0480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充足睡眠时长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556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对于5岁以下的幼儿，建议每天保证</a:t>
            </a:r>
            <a:r>
              <a:rPr lang="en-US" b="true" i="false" strike="noStrike" u="none" sz="13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10-13小时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的总睡眠时间（包含午后小憩）。足够的时长是生长激素持续分泌的基础，也是孩子大脑和身体发育的重要保障。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28575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84CC16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406900" y="28575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597400" y="30480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105400" y="30480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固定睡前仪式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97400" y="3556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建立一套固定的睡前流程，比如温水洗澡、亲子读绘本或听轻柔的摇篮曲。这种可预期的仪式感能让孩子情绪平复，从兴奋的玩耍状态自然过渡到放松的睡眠准备阶段。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64500" y="2857500"/>
            <a:ext cx="3492500" cy="2095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12700" cmpd="sng" cap="flat">
            <a:solidFill>
              <a:srgbClr val="84CC16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64500" y="28575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55000" y="30480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763000" y="3048000"/>
            <a:ext cx="2667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优质睡眠环境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3556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打造“静、暗、凉”的卧室环境：拉上遮光窗帘、保持环境安静、调节适宜的室温。同时避免睡前接触电子屏幕，减少蓝光对褪黑素分泌的干扰，让孩子睡得更安稳。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207000"/>
            <a:ext cx="10795000" cy="1206500"/>
          </a:xfrm>
          <a:prstGeom prst="roundRect">
            <a:avLst>
              <a:gd name="adj" fmla="val 0"/>
            </a:avLst>
          </a:prstGeom>
          <a:solidFill>
            <a:srgbClr val="FEFCE8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3594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460500" y="5359400"/>
            <a:ext cx="990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5A4B32"/>
                </a:solidFill>
                <a:latin typeface="Noto Sans SC"/>
                <a:ea typeface="Noto Sans SC"/>
                <a:cs typeface="Noto Sans SC"/>
                <a:sym typeface="Noto Sans SC"/>
              </a:rPr>
              <a:t>育儿小叮咛：坚持每天在固定时间让孩子入睡，即使周末也尽量保持作息一致，帮助孩子建立稳定的生物钟。当睡眠成为一种愉快的日常习惯，孩子的成长自然会在甜美的梦乡中悄然发生。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远离屏幕，亲近自然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51000"/>
            <a:ext cx="1016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这个数字化时代，过早、过长时间接触电子产品，不仅会对孩子的视力发育造成不可逆的影响，还可能在潜移默化中阻碍其语言表达与社会交往能力的发展。为了孩子的身心健康，我们呼吁共同守护孩子的“无屏”快乐时光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3048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23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严格限制时长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8100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每日不超过 1 小时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4572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学龄前儿童视网膜发育尚未成熟，建议越少越好。避免在睡前使用电子屏幕，保障高质量睡眠。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3048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304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323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家长言传身教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72000" y="38100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放下手机做榜样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72000" y="4572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减少在孩子面前频繁使用手机、电脑。高质量的亲子陪伴远胜过被动的屏幕娱乐，建立良好的家庭氛围。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3048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3048000"/>
            <a:ext cx="3429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91500" y="3238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丰富线下时光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91500" y="38100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替代屏幕的乐趣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91500" y="4572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用亲子游戏、户外探索、绘本阅读或创意手工填满闲暇。在真实的互动和自然体验中，激发孩子的好奇心与创造力。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588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84CC16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16000" y="5689600"/>
            <a:ext cx="1016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让孩子回归真实的世界，感受泥土的温度、阳光的色彩和家人的陪伴。少一点屏幕蓝光，多一点成长中的欢声笑语，共同为孩子构筑一个健康、温暖的成长环境。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定期体检，为健康保驾护航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25600"/>
            <a:ext cx="10160000" cy="939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期的体格检查是监测孩子生长发育是否正常的“标尺”，它能帮助我们及时捕捉孩子成长过程中的细微变化。通过标准化的检查流程，我们可以从客观数据中了解孩子的健康状况，为科学养育和早期干预提供重要依据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921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63500" cy="22225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90600" y="3073400"/>
            <a:ext cx="330200" cy="330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048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规范监测频率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90600" y="3556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按照国家儿童保健规范，3岁以上儿童建议每年至少进行一次全面健康检查。这是一个基础的时间底线，对于体质特殊或处于快速发育期的孩子，可根据医生建议适当增加检查频次。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921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921000"/>
            <a:ext cx="63500" cy="22225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10100" y="3073400"/>
            <a:ext cx="330200" cy="330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080000" y="3048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核心生长指标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10100" y="3556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重点关注身高、体重、头围等关键发育指标，并将每次的测量数据准确绘制在生长曲线图上。通过连续的动态观察，而非单次数据，能更科学地判断孩子的生长趋势是否平稳正常。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2921000"/>
            <a:ext cx="34671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921000"/>
            <a:ext cx="63500" cy="22225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29600" y="3073400"/>
            <a:ext cx="330200" cy="3302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8699500" y="30480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及时专业干预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29600" y="3556000"/>
            <a:ext cx="3111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一旦发现孩子的生长曲线偏离正常范围，或在养育过程中存在疑虑时，应第一时间咨询儿保医生或专业营养师。早期的专业评估和科学指导，是帮助孩子回归健康成长轨道的关键。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397500"/>
            <a:ext cx="10706100" cy="1079500"/>
          </a:xfrm>
          <a:prstGeom prst="roundRect">
            <a:avLst>
              <a:gd name="adj" fmla="val 0"/>
            </a:avLst>
          </a:prstGeom>
          <a:solidFill>
            <a:srgbClr val="84CC16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52500" y="5537200"/>
            <a:ext cx="304800" cy="3048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1397000" y="5537200"/>
            <a:ext cx="9906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434343"/>
                </a:solidFill>
                <a:latin typeface="Noto Sans SC"/>
                <a:ea typeface="Noto Sans SC"/>
                <a:cs typeface="Noto Sans SC"/>
                <a:sym typeface="Noto Sans SC"/>
              </a:rPr>
              <a:t>温馨提示：</a:t>
            </a:r>
            <a:r>
              <a:rPr lang="en-US" b="false" i="false" strike="noStrike" u="none" sz="1300">
                <a:solidFill>
                  <a:srgbClr val="434343"/>
                </a:solidFill>
                <a:latin typeface="Noto Sans SC"/>
                <a:ea typeface="Noto Sans SC"/>
                <a:cs typeface="Noto Sans SC"/>
                <a:sym typeface="Noto Sans SC"/>
              </a:rPr>
              <a:t>儿童体检不仅是简单的身体检查，更是建立长期健康档案的开始。让我们一起用科学的监测方式，关注每一个成长细节，为孩子的未来筑牢坚实的健康基础。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79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让我们一起，为孩子的健康“食”光护航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92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803400"/>
            <a:ext cx="3111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吃好 · 膳食均衡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3114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遵循膳食宝塔的科学指引，让食物种类丰富多样，荤素合理搭配。在每一餐中为孩子提供全面均衡的营养，是身体茁壮成长的基础。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492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1803400"/>
            <a:ext cx="3111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喝好 · 水润童心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35500" y="23114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培养孩子足量饮水的好习惯，白开水是最好的饮品。主动远离含糖饮料和碳酸饮品，呵护稚嫩的肠胃，让纯净的水分滋养每一个细胞。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492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3492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318500" y="1803400"/>
            <a:ext cx="3111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养好 · 习惯养成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2311400"/>
            <a:ext cx="3111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一日三餐定时定量，不挑食不偏食。营造轻松愉快的用餐氛围，让孩子在没有催促和压力的环境下，慢慢学会享受食物，爱上吃饭。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683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3683000"/>
            <a:ext cx="52070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38354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动好 · 活力成长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4318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保证每天充足的户外活动时间，在阳光下奔跑跳跃，增强体质。不仅能促进骨骼发育，还能让孩子释放天性，在自然中收获快乐与健康。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3683000"/>
            <a:ext cx="53975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3683000"/>
            <a:ext cx="5397500" cy="50800"/>
          </a:xfrm>
          <a:prstGeom prst="roundRect">
            <a:avLst>
              <a:gd name="adj" fmla="val 0"/>
            </a:avLst>
          </a:prstGeom>
          <a:solidFill>
            <a:srgbClr val="84CC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413500" y="3835400"/>
            <a:ext cx="5016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4CC16"/>
                </a:solidFill>
                <a:latin typeface="Noto Sans SC"/>
                <a:ea typeface="Noto Sans SC"/>
                <a:cs typeface="Noto Sans SC"/>
                <a:sym typeface="Noto Sans SC"/>
              </a:rPr>
              <a:t>睡好 · 甜蜜梦乡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13500" y="4318000"/>
            <a:ext cx="5016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建立规律的睡眠作息，保证充足的夜间睡眠。良好的睡眠不仅能恢复体力，更是生长激素分泌的关键期，为孩子的长高和大脑发育提供保障。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397500"/>
            <a:ext cx="10858500" cy="1206500"/>
          </a:xfrm>
          <a:prstGeom prst="roundRect">
            <a:avLst>
              <a:gd name="adj" fmla="val 0"/>
            </a:avLst>
          </a:prstGeom>
          <a:solidFill>
            <a:srgbClr val="F0F9EB">
              <a:alpha val="9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52500" y="5524500"/>
            <a:ext cx="104775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健康的饮食习惯与生活方式并非一蹴而就，它需要我们家长用耐心、智慧和爱去长期引导。让我们从今天的每一餐、每一次陪伴做起，为孩子打造一个健康、快乐的成长环境，让每一刻都成为充满温暖与滋养的美好时光！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2540000"/>
            <a:ext cx="12192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Q&amp;A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937000"/>
            <a:ext cx="1219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感谢聆听，欢迎提问！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{"Label":"1","ContentProducer":"001191110102MACQD9K64010000","ProduceID":"7646129278136634580","ReservedCode1":"","ContentPropagator":"","PropagateID":"","ReservedCode2":""}</vt:lpwstr>
  </property>
</Properties>
</file>